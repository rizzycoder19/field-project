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trend</c:v>
                </c:pt>
              </c:strCache>
            </c:strRef>
          </c:tx>
          <c:spPr>
            <a:solidFill>
              <a:srgbClr val="4C78A8"/>
            </a:solidFill>
            <a:ln w="25400" cap="flat">
              <a:solidFill>
                <a:srgbClr val="4C78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C78A8"/>
              </a:solidFill>
              <a:ln w="9525" cap="flat">
                <a:solidFill>
                  <a:srgbClr val="4C78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  <c:pt idx="4">
                    <c:v>Week 5</c:v>
                  </c:pt>
                  <c:pt idx="5">
                    <c:v>Week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8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8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Approved series</c:v>
                </c:pt>
              </c:strCache>
            </c:strRef>
          </c:tx>
          <c:spPr>
            <a:solidFill>
              <a:srgbClr val="4C78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8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8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image" Target="../media/image-10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5" name="Shape 2"/>
          <p:cNvSpPr/>
          <p:nvPr/>
        </p:nvSpPr>
        <p:spPr>
          <a:xfrm>
            <a:off x="628650" y="1418109"/>
            <a:ext cx="257175" cy="19050"/>
          </a:xfrm>
          <a:custGeom>
            <a:avLst/>
            <a:gdLst/>
            <a:ahLst/>
            <a:cxnLst/>
            <a:rect l="l" t="t" r="r" b="b"/>
            <a:pathLst>
              <a:path w="257175" h="19050">
                <a:moveTo>
                  <a:pt x="0" y="0"/>
                </a:moveTo>
                <a:lnTo>
                  <a:pt x="257175" y="0"/>
                </a:lnTo>
                <a:lnTo>
                  <a:pt x="257175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4C78A8"/>
          </a:solidFill>
          <a:ln/>
        </p:spPr>
      </p:sp>
      <p:sp>
        <p:nvSpPr>
          <p:cNvPr id="6" name="Shape 3"/>
          <p:cNvSpPr/>
          <p:nvPr/>
        </p:nvSpPr>
        <p:spPr>
          <a:xfrm>
            <a:off x="962174" y="1358616"/>
            <a:ext cx="2286000" cy="138113"/>
          </a:xfrm>
          <a:custGeom>
            <a:avLst/>
            <a:gdLst/>
            <a:ahLst/>
            <a:cxnLst/>
            <a:rect l="l" t="t" r="r" b="b"/>
            <a:pathLst>
              <a:path w="2286000" h="138113">
                <a:moveTo>
                  <a:pt x="0" y="0"/>
                </a:moveTo>
                <a:lnTo>
                  <a:pt x="2286000" y="0"/>
                </a:lnTo>
                <a:lnTo>
                  <a:pt x="22860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62174" y="1358616"/>
            <a:ext cx="22860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ACADEMIC RESEARCH PROJECT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28650" y="1629296"/>
            <a:ext cx="3762375" cy="700088"/>
          </a:xfrm>
          <a:custGeom>
            <a:avLst/>
            <a:gdLst/>
            <a:ahLst/>
            <a:cxnLst/>
            <a:rect l="l" t="t" r="r" b="b"/>
            <a:pathLst>
              <a:path w="3762375" h="700088">
                <a:moveTo>
                  <a:pt x="0" y="0"/>
                </a:moveTo>
                <a:lnTo>
                  <a:pt x="3762375" y="0"/>
                </a:lnTo>
                <a:lnTo>
                  <a:pt x="3762375" y="700088"/>
                </a:lnTo>
                <a:lnTo>
                  <a:pt x="0" y="7000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28650" y="1629296"/>
            <a:ext cx="3762375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Maharashtra Through Official Data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28650" y="2472854"/>
            <a:ext cx="3429000" cy="409575"/>
          </a:xfrm>
          <a:custGeom>
            <a:avLst/>
            <a:gdLst/>
            <a:ahLst/>
            <a:cxnLst/>
            <a:rect l="l" t="t" r="r" b="b"/>
            <a:pathLst>
              <a:path w="3429000" h="409575">
                <a:moveTo>
                  <a:pt x="0" y="0"/>
                </a:moveTo>
                <a:lnTo>
                  <a:pt x="3429000" y="0"/>
                </a:lnTo>
                <a:lnTo>
                  <a:pt x="342900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28650" y="2472854"/>
            <a:ext cx="3429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structured analysis of public reports, timelines, and regional evidence.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8054" y="3512417"/>
            <a:ext cx="2143125" cy="328613"/>
          </a:xfrm>
          <a:custGeom>
            <a:avLst/>
            <a:gdLst/>
            <a:ahLst/>
            <a:cxnLst/>
            <a:rect l="l" t="t" r="r" b="b"/>
            <a:pathLst>
              <a:path w="2143125" h="328613">
                <a:moveTo>
                  <a:pt x="0" y="0"/>
                </a:moveTo>
                <a:lnTo>
                  <a:pt x="2143125" y="0"/>
                </a:lnTo>
                <a:lnTo>
                  <a:pt x="2143125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51879" y="3511004"/>
            <a:ext cx="2019300" cy="138113"/>
          </a:xfrm>
          <a:custGeom>
            <a:avLst/>
            <a:gdLst/>
            <a:ahLst/>
            <a:cxnLst/>
            <a:rect l="l" t="t" r="r" b="b"/>
            <a:pathLst>
              <a:path w="2019300" h="138113">
                <a:moveTo>
                  <a:pt x="0" y="0"/>
                </a:moveTo>
                <a:lnTo>
                  <a:pt x="2019300" y="0"/>
                </a:lnTo>
                <a:lnTo>
                  <a:pt x="20193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51879" y="3511004"/>
            <a:ext cx="20193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UNIVERSITY VIVA PRESENTATION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51879" y="3704332"/>
            <a:ext cx="2019300" cy="138113"/>
          </a:xfrm>
          <a:custGeom>
            <a:avLst/>
            <a:gdLst/>
            <a:ahLst/>
            <a:cxnLst/>
            <a:rect l="l" t="t" r="r" b="b"/>
            <a:pathLst>
              <a:path w="2019300" h="138113">
                <a:moveTo>
                  <a:pt x="0" y="0"/>
                </a:moveTo>
                <a:lnTo>
                  <a:pt x="2019300" y="0"/>
                </a:lnTo>
                <a:lnTo>
                  <a:pt x="20193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51879" y="3704332"/>
            <a:ext cx="20193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storytelling · evidence-led inquiry</a:t>
            </a:r>
            <a:endParaRPr lang="en-US" sz="9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8229" y="0"/>
            <a:ext cx="4205288" cy="51435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938229" y="0"/>
            <a:ext cx="4205288" cy="5143500"/>
          </a:xfrm>
          <a:custGeom>
            <a:avLst/>
            <a:gdLst/>
            <a:ahLst/>
            <a:cxnLst/>
            <a:rect l="l" t="t" r="r" b="b"/>
            <a:pathLst>
              <a:path w="4205288" h="5143500">
                <a:moveTo>
                  <a:pt x="0" y="0"/>
                </a:moveTo>
                <a:lnTo>
                  <a:pt x="4205288" y="0"/>
                </a:lnTo>
                <a:lnTo>
                  <a:pt x="4205288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111418">
              <a:alpha val="23922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5281687" y="4562475"/>
            <a:ext cx="2028825" cy="114300"/>
          </a:xfrm>
          <a:custGeom>
            <a:avLst/>
            <a:gdLst/>
            <a:ahLst/>
            <a:cxnLst/>
            <a:rect l="l" t="t" r="r" b="b"/>
            <a:pathLst>
              <a:path w="2028825" h="114300">
                <a:moveTo>
                  <a:pt x="0" y="0"/>
                </a:moveTo>
                <a:lnTo>
                  <a:pt x="2028825" y="0"/>
                </a:lnTo>
                <a:lnTo>
                  <a:pt x="2028825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5281687" y="4562475"/>
            <a:ext cx="20288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B8C7D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 / STRUCTURE / CONTEXT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280645" y="4724400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  <a:lnTo>
                  <a:pt x="1047750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4C78A8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54" y="3512417"/>
            <a:ext cx="2143125" cy="3286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370991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70991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DESIGN / 01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575481"/>
            <a:ext cx="8229600" cy="342900"/>
          </a:xfrm>
          <a:custGeom>
            <a:avLst/>
            <a:gdLst/>
            <a:ahLst/>
            <a:cxnLst/>
            <a:rect l="l" t="t" r="r" b="b"/>
            <a:pathLst>
              <a:path w="8229600" h="342900">
                <a:moveTo>
                  <a:pt x="0" y="0"/>
                </a:moveTo>
                <a:lnTo>
                  <a:pt x="8229600" y="0"/>
                </a:lnTo>
                <a:lnTo>
                  <a:pt x="8229600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75481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Question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985242"/>
            <a:ext cx="4667250" cy="385763"/>
          </a:xfrm>
          <a:custGeom>
            <a:avLst/>
            <a:gdLst/>
            <a:ahLst/>
            <a:cxnLst/>
            <a:rect l="l" t="t" r="r" b="b"/>
            <a:pathLst>
              <a:path w="4667250" h="385763">
                <a:moveTo>
                  <a:pt x="0" y="0"/>
                </a:moveTo>
                <a:lnTo>
                  <a:pt x="4667250" y="0"/>
                </a:lnTo>
                <a:lnTo>
                  <a:pt x="466725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985242"/>
            <a:ext cx="4667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an open research concern to a question precise enough to investigate.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914227"/>
            <a:ext cx="5934075" cy="2886075"/>
          </a:xfrm>
          <a:custGeom>
            <a:avLst/>
            <a:gdLst/>
            <a:ahLst/>
            <a:cxnLst/>
            <a:rect l="l" t="t" r="r" b="b"/>
            <a:pathLst>
              <a:path w="5934075" h="2886075">
                <a:moveTo>
                  <a:pt x="0" y="0"/>
                </a:moveTo>
                <a:lnTo>
                  <a:pt x="5934075" y="0"/>
                </a:lnTo>
                <a:lnTo>
                  <a:pt x="5934075" y="2886075"/>
                </a:lnTo>
                <a:lnTo>
                  <a:pt x="0" y="2886075"/>
                </a:lnTo>
                <a:close/>
              </a:path>
            </a:pathLst>
          </a:custGeom>
          <a:solidFill>
            <a:srgbClr val="111418"/>
          </a:solidFill>
          <a:ln/>
        </p:spPr>
      </p:sp>
      <p:sp>
        <p:nvSpPr>
          <p:cNvPr id="12" name="Shape 9"/>
          <p:cNvSpPr/>
          <p:nvPr/>
        </p:nvSpPr>
        <p:spPr>
          <a:xfrm>
            <a:off x="818592" y="2238710"/>
            <a:ext cx="2319337" cy="123825"/>
          </a:xfrm>
          <a:custGeom>
            <a:avLst/>
            <a:gdLst/>
            <a:ahLst/>
            <a:cxnLst/>
            <a:rect l="l" t="t" r="r" b="b"/>
            <a:pathLst>
              <a:path w="2319337" h="123825">
                <a:moveTo>
                  <a:pt x="0" y="0"/>
                </a:moveTo>
                <a:lnTo>
                  <a:pt x="2319337" y="0"/>
                </a:lnTo>
                <a:lnTo>
                  <a:pt x="2319337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18592" y="2238710"/>
            <a:ext cx="23193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A9D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RESEARCH-QUESTION PROTOTYPE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57665" y="2238710"/>
            <a:ext cx="371475" cy="123825"/>
          </a:xfrm>
          <a:custGeom>
            <a:avLst/>
            <a:gdLst/>
            <a:ahLst/>
            <a:cxnLst/>
            <a:rect l="l" t="t" r="r" b="b"/>
            <a:pathLst>
              <a:path w="371475" h="123825">
                <a:moveTo>
                  <a:pt x="0" y="0"/>
                </a:moveTo>
                <a:lnTo>
                  <a:pt x="371475" y="0"/>
                </a:lnTo>
                <a:lnTo>
                  <a:pt x="371475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657665" y="2238710"/>
            <a:ext cx="3714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7A8B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RQ / 01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19150" y="2559769"/>
            <a:ext cx="4905375" cy="185738"/>
          </a:xfrm>
          <a:custGeom>
            <a:avLst/>
            <a:gdLst/>
            <a:ahLst/>
            <a:cxnLst/>
            <a:rect l="l" t="t" r="r" b="b"/>
            <a:pathLst>
              <a:path w="4905375" h="185738">
                <a:moveTo>
                  <a:pt x="0" y="0"/>
                </a:moveTo>
                <a:lnTo>
                  <a:pt x="4905375" y="0"/>
                </a:lnTo>
                <a:lnTo>
                  <a:pt x="4905375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19150" y="2559769"/>
            <a:ext cx="49053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B9C2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 question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19150" y="2878411"/>
            <a:ext cx="4905375" cy="1238250"/>
          </a:xfrm>
          <a:custGeom>
            <a:avLst/>
            <a:gdLst/>
            <a:ahLst/>
            <a:cxnLst/>
            <a:rect l="l" t="t" r="r" b="b"/>
            <a:pathLst>
              <a:path w="4905375" h="1238250">
                <a:moveTo>
                  <a:pt x="0" y="0"/>
                </a:moveTo>
                <a:lnTo>
                  <a:pt x="4905375" y="0"/>
                </a:lnTo>
                <a:lnTo>
                  <a:pt x="4905375" y="1238250"/>
                </a:lnTo>
                <a:lnTo>
                  <a:pt x="0" y="12382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819150" y="2878411"/>
            <a:ext cx="490537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870"/>
              </a:lnSpc>
              <a:spcBef>
                <a:spcPts val="281"/>
              </a:spcBef>
              <a:buNone/>
            </a:pPr>
            <a:r>
              <a:rPr lang="en-US" sz="2098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can official data be structured into evidence that clarifies the problem — and supports a credible response?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19150" y="4312444"/>
            <a:ext cx="5210175" cy="4763"/>
          </a:xfrm>
          <a:custGeom>
            <a:avLst/>
            <a:gdLst/>
            <a:ahLst/>
            <a:cxnLst/>
            <a:rect l="l" t="t" r="r" b="b"/>
            <a:pathLst>
              <a:path w="5210175" h="4763">
                <a:moveTo>
                  <a:pt x="0" y="0"/>
                </a:moveTo>
                <a:lnTo>
                  <a:pt x="5210175" y="0"/>
                </a:lnTo>
                <a:lnTo>
                  <a:pt x="5210175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5B6672"/>
          </a:solidFill>
          <a:ln/>
        </p:spPr>
      </p:sp>
      <p:sp>
        <p:nvSpPr>
          <p:cNvPr id="21" name="Shape 18"/>
          <p:cNvSpPr/>
          <p:nvPr/>
        </p:nvSpPr>
        <p:spPr>
          <a:xfrm>
            <a:off x="820303" y="4401741"/>
            <a:ext cx="323850" cy="133350"/>
          </a:xfrm>
          <a:custGeom>
            <a:avLst/>
            <a:gdLst/>
            <a:ahLst/>
            <a:cxnLst/>
            <a:rect l="l" t="t" r="r" b="b"/>
            <a:pathLst>
              <a:path w="323850" h="133350">
                <a:moveTo>
                  <a:pt x="0" y="0"/>
                </a:moveTo>
                <a:lnTo>
                  <a:pt x="323850" y="0"/>
                </a:lnTo>
                <a:lnTo>
                  <a:pt x="323850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820303" y="4401741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B9C2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077593" y="4401741"/>
            <a:ext cx="1952625" cy="133350"/>
          </a:xfrm>
          <a:custGeom>
            <a:avLst/>
            <a:gdLst/>
            <a:ahLst/>
            <a:cxnLst/>
            <a:rect l="l" t="t" r="r" b="b"/>
            <a:pathLst>
              <a:path w="1952625" h="133350">
                <a:moveTo>
                  <a:pt x="0" y="0"/>
                </a:moveTo>
                <a:lnTo>
                  <a:pt x="1952625" y="0"/>
                </a:lnTo>
                <a:lnTo>
                  <a:pt x="1952625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4077593" y="4401741"/>
            <a:ext cx="1952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→ structure → interpretation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638925" y="1914227"/>
            <a:ext cx="2047875" cy="2886075"/>
          </a:xfrm>
          <a:custGeom>
            <a:avLst/>
            <a:gdLst/>
            <a:ahLst/>
            <a:cxnLst/>
            <a:rect l="l" t="t" r="r" b="b"/>
            <a:pathLst>
              <a:path w="2047875" h="2886075">
                <a:moveTo>
                  <a:pt x="0" y="0"/>
                </a:moveTo>
                <a:lnTo>
                  <a:pt x="2047875" y="0"/>
                </a:lnTo>
                <a:lnTo>
                  <a:pt x="2047875" y="2886075"/>
                </a:lnTo>
                <a:lnTo>
                  <a:pt x="0" y="2886075"/>
                </a:lnTo>
                <a:close/>
              </a:path>
            </a:pathLst>
          </a:custGeom>
          <a:solidFill>
            <a:srgbClr val="EEF2F5"/>
          </a:solidFill>
          <a:ln/>
        </p:spPr>
      </p:sp>
      <p:sp>
        <p:nvSpPr>
          <p:cNvPr id="26" name="Shape 23"/>
          <p:cNvSpPr/>
          <p:nvPr/>
        </p:nvSpPr>
        <p:spPr>
          <a:xfrm>
            <a:off x="6829425" y="2114885"/>
            <a:ext cx="1666875" cy="123825"/>
          </a:xfrm>
          <a:custGeom>
            <a:avLst/>
            <a:gdLst/>
            <a:ahLst/>
            <a:cxnLst/>
            <a:rect l="l" t="t" r="r" b="b"/>
            <a:pathLst>
              <a:path w="1666875" h="123825">
                <a:moveTo>
                  <a:pt x="0" y="0"/>
                </a:moveTo>
                <a:lnTo>
                  <a:pt x="1666875" y="0"/>
                </a:lnTo>
                <a:lnTo>
                  <a:pt x="1666875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829425" y="2114885"/>
            <a:ext cx="16668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ACADEMIC FRAMING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829425" y="2344936"/>
            <a:ext cx="1666875" cy="381000"/>
          </a:xfrm>
          <a:custGeom>
            <a:avLst/>
            <a:gdLst/>
            <a:ahLst/>
            <a:cxnLst/>
            <a:rect l="l" t="t" r="r" b="b"/>
            <a:pathLst>
              <a:path w="1666875" h="381000">
                <a:moveTo>
                  <a:pt x="0" y="0"/>
                </a:moveTo>
                <a:lnTo>
                  <a:pt x="1666875" y="0"/>
                </a:lnTo>
                <a:lnTo>
                  <a:pt x="1666875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6829425" y="2344936"/>
            <a:ext cx="1666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question is a method boundary.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829425" y="2831233"/>
            <a:ext cx="1666875" cy="676275"/>
          </a:xfrm>
          <a:custGeom>
            <a:avLst/>
            <a:gdLst/>
            <a:ahLst/>
            <a:cxnLst/>
            <a:rect l="l" t="t" r="r" b="b"/>
            <a:pathLst>
              <a:path w="1666875" h="676275">
                <a:moveTo>
                  <a:pt x="0" y="0"/>
                </a:moveTo>
                <a:lnTo>
                  <a:pt x="1666875" y="0"/>
                </a:lnTo>
                <a:lnTo>
                  <a:pt x="1666875" y="676275"/>
                </a:lnTo>
                <a:lnTo>
                  <a:pt x="0" y="6762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6829425" y="2831233"/>
            <a:ext cx="1666875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696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defines what counts as evidence, what remains outside scope, and how the analysis will be judged.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829425" y="3507508"/>
            <a:ext cx="1666875" cy="114300"/>
          </a:xfrm>
          <a:custGeom>
            <a:avLst/>
            <a:gdLst/>
            <a:ahLst/>
            <a:cxnLst/>
            <a:rect l="l" t="t" r="r" b="b"/>
            <a:pathLst>
              <a:path w="1666875" h="114300">
                <a:moveTo>
                  <a:pt x="0" y="0"/>
                </a:moveTo>
                <a:lnTo>
                  <a:pt x="1666875" y="0"/>
                </a:lnTo>
                <a:lnTo>
                  <a:pt x="1666875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6829425" y="3507508"/>
            <a:ext cx="1666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 ARCHITECTURE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829425" y="3706564"/>
            <a:ext cx="1666875" cy="314325"/>
          </a:xfrm>
          <a:custGeom>
            <a:avLst/>
            <a:gdLst/>
            <a:ahLst/>
            <a:cxnLst/>
            <a:rect l="l" t="t" r="r" b="b"/>
            <a:pathLst>
              <a:path w="1666875" h="314325">
                <a:moveTo>
                  <a:pt x="0" y="0"/>
                </a:moveTo>
                <a:lnTo>
                  <a:pt x="1666875" y="0"/>
                </a:lnTo>
                <a:lnTo>
                  <a:pt x="1666875" y="314325"/>
                </a:lnTo>
                <a:lnTo>
                  <a:pt x="0" y="3143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6829425" y="3706564"/>
            <a:ext cx="16668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829425" y="4018954"/>
            <a:ext cx="1666875" cy="314325"/>
          </a:xfrm>
          <a:custGeom>
            <a:avLst/>
            <a:gdLst/>
            <a:ahLst/>
            <a:cxnLst/>
            <a:rect l="l" t="t" r="r" b="b"/>
            <a:pathLst>
              <a:path w="1666875" h="314325">
                <a:moveTo>
                  <a:pt x="0" y="0"/>
                </a:moveTo>
                <a:lnTo>
                  <a:pt x="1666875" y="0"/>
                </a:lnTo>
                <a:lnTo>
                  <a:pt x="1666875" y="314325"/>
                </a:lnTo>
                <a:lnTo>
                  <a:pt x="0" y="3143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6829425" y="4018954"/>
            <a:ext cx="16668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829425" y="4331345"/>
            <a:ext cx="1666875" cy="323850"/>
          </a:xfrm>
          <a:custGeom>
            <a:avLst/>
            <a:gdLst/>
            <a:ahLst/>
            <a:cxnLst/>
            <a:rect l="l" t="t" r="r" b="b"/>
            <a:pathLst>
              <a:path w="1666875" h="323850">
                <a:moveTo>
                  <a:pt x="0" y="0"/>
                </a:moveTo>
                <a:lnTo>
                  <a:pt x="1666875" y="0"/>
                </a:lnTo>
                <a:lnTo>
                  <a:pt x="1666875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6829425" y="4331345"/>
            <a:ext cx="16668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Response</a:t>
            </a:r>
            <a:endParaRPr lang="en-US" sz="90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9425" y="3706564"/>
            <a:ext cx="1666875" cy="314325"/>
          </a:xfrm>
          <a:prstGeom prst="rect">
            <a:avLst/>
          </a:prstGeom>
        </p:spPr>
      </p:pic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425" y="4018954"/>
            <a:ext cx="1666875" cy="314325"/>
          </a:xfrm>
          <a:prstGeom prst="rect">
            <a:avLst/>
          </a:prstGeom>
        </p:spPr>
      </p:pic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425" y="4331345"/>
            <a:ext cx="1666875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5" name="Shape 2"/>
          <p:cNvSpPr/>
          <p:nvPr/>
        </p:nvSpPr>
        <p:spPr>
          <a:xfrm>
            <a:off x="438150" y="370991"/>
            <a:ext cx="8267700" cy="138113"/>
          </a:xfrm>
          <a:custGeom>
            <a:avLst/>
            <a:gdLst/>
            <a:ahLst/>
            <a:cxnLst/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38150" y="370991"/>
            <a:ext cx="82677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 / RESEARCH JOURNEY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8150" y="585862"/>
            <a:ext cx="8267700" cy="347663"/>
          </a:xfrm>
          <a:custGeom>
            <a:avLst/>
            <a:gdLst/>
            <a:ahLst/>
            <a:cxnLst/>
            <a:rect l="l" t="t" r="r" b="b"/>
            <a:pathLst>
              <a:path w="8267700" h="347663">
                <a:moveTo>
                  <a:pt x="0" y="0"/>
                </a:moveTo>
                <a:lnTo>
                  <a:pt x="8267700" y="0"/>
                </a:lnTo>
                <a:lnTo>
                  <a:pt x="82677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8150" y="585862"/>
            <a:ext cx="82677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Study Framework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150" y="1011213"/>
            <a:ext cx="5334000" cy="204787"/>
          </a:xfrm>
          <a:custGeom>
            <a:avLst/>
            <a:gdLst/>
            <a:ahLst/>
            <a:cxnLst/>
            <a:rect l="l" t="t" r="r" b="b"/>
            <a:pathLst>
              <a:path w="5334000" h="204787">
                <a:moveTo>
                  <a:pt x="0" y="0"/>
                </a:moveTo>
                <a:lnTo>
                  <a:pt x="5334000" y="0"/>
                </a:lnTo>
                <a:lnTo>
                  <a:pt x="5334000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38150" y="1011213"/>
            <a:ext cx="533400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official surveillance records to interpretable seasonal insight.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8150" y="1786942"/>
            <a:ext cx="2628900" cy="3014663"/>
          </a:xfrm>
          <a:custGeom>
            <a:avLst/>
            <a:gdLst/>
            <a:ahLst/>
            <a:cxnLst/>
            <a:rect l="l" t="t" r="r" b="b"/>
            <a:pathLst>
              <a:path w="2628900" h="3014663">
                <a:moveTo>
                  <a:pt x="29812" y="0"/>
                </a:moveTo>
                <a:lnTo>
                  <a:pt x="2599088" y="0"/>
                </a:lnTo>
                <a:quadBezTo>
                  <a:pt x="2628900" y="0"/>
                  <a:pt x="2628900" y="29812"/>
                </a:quadBezTo>
                <a:lnTo>
                  <a:pt x="2628900" y="2984851"/>
                </a:lnTo>
                <a:quadBezTo>
                  <a:pt x="2628900" y="3014663"/>
                  <a:pt x="2599088" y="3014663"/>
                </a:quadBezTo>
                <a:lnTo>
                  <a:pt x="29812" y="3014663"/>
                </a:lnTo>
                <a:quadBezTo>
                  <a:pt x="0" y="3014663"/>
                  <a:pt x="0" y="2984851"/>
                </a:quadBezTo>
                <a:lnTo>
                  <a:pt x="0" y="29812"/>
                </a:lnTo>
                <a:quadBezTo>
                  <a:pt x="0" y="0"/>
                  <a:pt x="29812" y="0"/>
                </a:quadBezTo>
                <a:close/>
              </a:path>
            </a:pathLst>
          </a:custGeom>
          <a:solidFill>
            <a:srgbClr val="EEF2F5"/>
          </a:solidFill>
          <a:ln/>
        </p:spPr>
      </p:sp>
      <p:sp>
        <p:nvSpPr>
          <p:cNvPr id="12" name="Shape 9"/>
          <p:cNvSpPr/>
          <p:nvPr/>
        </p:nvSpPr>
        <p:spPr>
          <a:xfrm>
            <a:off x="638175" y="1997497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50801" y="0"/>
                </a:moveTo>
                <a:lnTo>
                  <a:pt x="292099" y="0"/>
                </a:lnTo>
                <a:quadBezTo>
                  <a:pt x="342900" y="0"/>
                  <a:pt x="342900" y="50801"/>
                </a:quadBezTo>
                <a:lnTo>
                  <a:pt x="342900" y="292099"/>
                </a:lnTo>
                <a:quadBezTo>
                  <a:pt x="342900" y="342900"/>
                  <a:pt x="292099" y="342900"/>
                </a:quadBezTo>
                <a:lnTo>
                  <a:pt x="50801" y="342900"/>
                </a:lnTo>
                <a:quadBezTo>
                  <a:pt x="0" y="342900"/>
                  <a:pt x="0" y="292099"/>
                </a:quadBezTo>
                <a:lnTo>
                  <a:pt x="0" y="50801"/>
                </a:lnTo>
                <a:quadBezTo>
                  <a:pt x="0" y="0"/>
                  <a:pt x="50801" y="0"/>
                </a:quadBezTo>
                <a:close/>
              </a:path>
            </a:pathLst>
          </a:custGeom>
          <a:solidFill>
            <a:srgbClr val="4C78A8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663" y="2087984"/>
            <a:ext cx="161925" cy="1619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737284" y="2090365"/>
            <a:ext cx="128588" cy="157163"/>
          </a:xfrm>
          <a:custGeom>
            <a:avLst/>
            <a:gdLst/>
            <a:ahLst/>
            <a:cxnLst/>
            <a:rect l="l" t="t" r="r" b="b"/>
            <a:pathLst>
              <a:path w="128588" h="157163">
                <a:moveTo>
                  <a:pt x="0" y="0"/>
                </a:moveTo>
                <a:lnTo>
                  <a:pt x="128588" y="0"/>
                </a:lnTo>
                <a:lnTo>
                  <a:pt x="128588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2737284" y="2090365"/>
            <a:ext cx="12858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7A8B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38175" y="2598503"/>
            <a:ext cx="2228850" cy="195263"/>
          </a:xfrm>
          <a:custGeom>
            <a:avLst/>
            <a:gdLst/>
            <a:ahLst/>
            <a:cxnLst/>
            <a:rect l="l" t="t" r="r" b="b"/>
            <a:pathLst>
              <a:path w="2228850" h="195263">
                <a:moveTo>
                  <a:pt x="0" y="0"/>
                </a:moveTo>
                <a:lnTo>
                  <a:pt x="2228850" y="0"/>
                </a:lnTo>
                <a:lnTo>
                  <a:pt x="222885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638175" y="2598503"/>
            <a:ext cx="222885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Intake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38175" y="2880568"/>
            <a:ext cx="2047875" cy="538163"/>
          </a:xfrm>
          <a:custGeom>
            <a:avLst/>
            <a:gdLst/>
            <a:ahLst/>
            <a:cxnLst/>
            <a:rect l="l" t="t" r="r" b="b"/>
            <a:pathLst>
              <a:path w="2047875" h="538163">
                <a:moveTo>
                  <a:pt x="0" y="0"/>
                </a:moveTo>
                <a:lnTo>
                  <a:pt x="2047875" y="0"/>
                </a:lnTo>
                <a:lnTo>
                  <a:pt x="2047875" y="538163"/>
                </a:lnTo>
                <a:lnTo>
                  <a:pt x="0" y="538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638175" y="2880568"/>
            <a:ext cx="2047875" cy="538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Government surveillance data forms the empirical foundation of the study.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38175" y="45181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21" name="Shape 17"/>
          <p:cNvSpPr/>
          <p:nvPr/>
        </p:nvSpPr>
        <p:spPr>
          <a:xfrm>
            <a:off x="752326" y="4472955"/>
            <a:ext cx="814388" cy="138113"/>
          </a:xfrm>
          <a:custGeom>
            <a:avLst/>
            <a:gdLst/>
            <a:ahLst/>
            <a:cxnLst/>
            <a:rect l="l" t="t" r="r" b="b"/>
            <a:pathLst>
              <a:path w="814388" h="138113">
                <a:moveTo>
                  <a:pt x="0" y="0"/>
                </a:moveTo>
                <a:lnTo>
                  <a:pt x="814388" y="0"/>
                </a:lnTo>
                <a:lnTo>
                  <a:pt x="814388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752326" y="4472955"/>
            <a:ext cx="81438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Official records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257550" y="1786942"/>
            <a:ext cx="2628900" cy="3014663"/>
          </a:xfrm>
          <a:custGeom>
            <a:avLst/>
            <a:gdLst/>
            <a:ahLst/>
            <a:cxnLst/>
            <a:rect l="l" t="t" r="r" b="b"/>
            <a:pathLst>
              <a:path w="2628900" h="3014663">
                <a:moveTo>
                  <a:pt x="29812" y="0"/>
                </a:moveTo>
                <a:lnTo>
                  <a:pt x="2599088" y="0"/>
                </a:lnTo>
                <a:quadBezTo>
                  <a:pt x="2628900" y="0"/>
                  <a:pt x="2628900" y="29812"/>
                </a:quadBezTo>
                <a:lnTo>
                  <a:pt x="2628900" y="2984851"/>
                </a:lnTo>
                <a:quadBezTo>
                  <a:pt x="2628900" y="3014663"/>
                  <a:pt x="2599088" y="3014663"/>
                </a:quadBezTo>
                <a:lnTo>
                  <a:pt x="29812" y="3014663"/>
                </a:lnTo>
                <a:quadBezTo>
                  <a:pt x="0" y="3014663"/>
                  <a:pt x="0" y="2984851"/>
                </a:quadBezTo>
                <a:lnTo>
                  <a:pt x="0" y="29812"/>
                </a:lnTo>
                <a:quadBezTo>
                  <a:pt x="0" y="0"/>
                  <a:pt x="29812" y="0"/>
                </a:quadBezTo>
                <a:close/>
              </a:path>
            </a:pathLst>
          </a:custGeom>
          <a:solidFill>
            <a:srgbClr val="111418"/>
          </a:solidFill>
          <a:ln/>
          <a:effectLst>
            <a:outerShdw sx="100000" sy="100000" kx="0" ky="0" algn="bl" rotWithShape="0" blurRad="161925" dist="85725" dir="2700000">
              <a:srgbClr val="111418">
                <a:alpha val="14118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457575" y="1997497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50801" y="0"/>
                </a:moveTo>
                <a:lnTo>
                  <a:pt x="292099" y="0"/>
                </a:lnTo>
                <a:quadBezTo>
                  <a:pt x="342900" y="0"/>
                  <a:pt x="342900" y="50801"/>
                </a:quadBezTo>
                <a:lnTo>
                  <a:pt x="342900" y="292099"/>
                </a:lnTo>
                <a:quadBezTo>
                  <a:pt x="342900" y="342900"/>
                  <a:pt x="292099" y="342900"/>
                </a:quadBezTo>
                <a:lnTo>
                  <a:pt x="50801" y="342900"/>
                </a:lnTo>
                <a:quadBezTo>
                  <a:pt x="0" y="342900"/>
                  <a:pt x="0" y="292099"/>
                </a:quadBezTo>
                <a:lnTo>
                  <a:pt x="0" y="50801"/>
                </a:lnTo>
                <a:quadBezTo>
                  <a:pt x="0" y="0"/>
                  <a:pt x="50801" y="0"/>
                </a:quadBezTo>
                <a:close/>
              </a:path>
            </a:pathLst>
          </a:custGeom>
          <a:solidFill>
            <a:srgbClr val="2A9D8F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062" y="2087984"/>
            <a:ext cx="161925" cy="161925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534397" y="2090365"/>
            <a:ext cx="152400" cy="157163"/>
          </a:xfrm>
          <a:custGeom>
            <a:avLst/>
            <a:gdLst/>
            <a:ahLst/>
            <a:cxnLst/>
            <a:rect l="l" t="t" r="r" b="b"/>
            <a:pathLst>
              <a:path w="152400" h="157163">
                <a:moveTo>
                  <a:pt x="0" y="0"/>
                </a:moveTo>
                <a:lnTo>
                  <a:pt x="152400" y="0"/>
                </a:lnTo>
                <a:lnTo>
                  <a:pt x="1524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5534397" y="2090365"/>
            <a:ext cx="1524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7A8B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3457575" y="2598503"/>
            <a:ext cx="2228850" cy="195263"/>
          </a:xfrm>
          <a:custGeom>
            <a:avLst/>
            <a:gdLst/>
            <a:ahLst/>
            <a:cxnLst/>
            <a:rect l="l" t="t" r="r" b="b"/>
            <a:pathLst>
              <a:path w="2228850" h="195263">
                <a:moveTo>
                  <a:pt x="0" y="0"/>
                </a:moveTo>
                <a:lnTo>
                  <a:pt x="2228850" y="0"/>
                </a:lnTo>
                <a:lnTo>
                  <a:pt x="222885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4"/>
          <p:cNvSpPr/>
          <p:nvPr/>
        </p:nvSpPr>
        <p:spPr>
          <a:xfrm>
            <a:off x="3457575" y="2598503"/>
            <a:ext cx="222885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 the Signal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3457575" y="2880568"/>
            <a:ext cx="2047875" cy="538163"/>
          </a:xfrm>
          <a:custGeom>
            <a:avLst/>
            <a:gdLst/>
            <a:ahLst/>
            <a:cxnLst/>
            <a:rect l="l" t="t" r="r" b="b"/>
            <a:pathLst>
              <a:path w="2047875" h="538163">
                <a:moveTo>
                  <a:pt x="0" y="0"/>
                </a:moveTo>
                <a:lnTo>
                  <a:pt x="2047875" y="0"/>
                </a:lnTo>
                <a:lnTo>
                  <a:pt x="2047875" y="538163"/>
                </a:lnTo>
                <a:lnTo>
                  <a:pt x="0" y="538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3457575" y="2880568"/>
            <a:ext cx="2047875" cy="538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Cleaning and classification convert raw reports into a consistent analytical dataset.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3457575" y="45181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>
            <a:srgbClr val="C58B2B"/>
          </a:solidFill>
          <a:ln/>
        </p:spPr>
      </p:sp>
      <p:sp>
        <p:nvSpPr>
          <p:cNvPr id="33" name="Shape 28"/>
          <p:cNvSpPr/>
          <p:nvPr/>
        </p:nvSpPr>
        <p:spPr>
          <a:xfrm>
            <a:off x="3571317" y="4472955"/>
            <a:ext cx="1081087" cy="138113"/>
          </a:xfrm>
          <a:custGeom>
            <a:avLst/>
            <a:gdLst/>
            <a:ahLst/>
            <a:cxnLst/>
            <a:rect l="l" t="t" r="r" b="b"/>
            <a:pathLst>
              <a:path w="1081087" h="138113">
                <a:moveTo>
                  <a:pt x="0" y="0"/>
                </a:moveTo>
                <a:lnTo>
                  <a:pt x="1081087" y="0"/>
                </a:lnTo>
                <a:lnTo>
                  <a:pt x="1081087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3571317" y="4472955"/>
            <a:ext cx="1081087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Repeatable pipeline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076950" y="1786942"/>
            <a:ext cx="2628900" cy="3014663"/>
          </a:xfrm>
          <a:custGeom>
            <a:avLst/>
            <a:gdLst/>
            <a:ahLst/>
            <a:cxnLst/>
            <a:rect l="l" t="t" r="r" b="b"/>
            <a:pathLst>
              <a:path w="2628900" h="3014663">
                <a:moveTo>
                  <a:pt x="29812" y="0"/>
                </a:moveTo>
                <a:lnTo>
                  <a:pt x="2599088" y="0"/>
                </a:lnTo>
                <a:quadBezTo>
                  <a:pt x="2628900" y="0"/>
                  <a:pt x="2628900" y="29812"/>
                </a:quadBezTo>
                <a:lnTo>
                  <a:pt x="2628900" y="2984851"/>
                </a:lnTo>
                <a:quadBezTo>
                  <a:pt x="2628900" y="3014663"/>
                  <a:pt x="2599088" y="3014663"/>
                </a:quadBezTo>
                <a:lnTo>
                  <a:pt x="29812" y="3014663"/>
                </a:lnTo>
                <a:quadBezTo>
                  <a:pt x="0" y="3014663"/>
                  <a:pt x="0" y="2984851"/>
                </a:quadBezTo>
                <a:lnTo>
                  <a:pt x="0" y="29812"/>
                </a:lnTo>
                <a:quadBezTo>
                  <a:pt x="0" y="0"/>
                  <a:pt x="29812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Shape 31"/>
          <p:cNvSpPr/>
          <p:nvPr/>
        </p:nvSpPr>
        <p:spPr>
          <a:xfrm>
            <a:off x="6276975" y="1997497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50801" y="0"/>
                </a:moveTo>
                <a:lnTo>
                  <a:pt x="292099" y="0"/>
                </a:lnTo>
                <a:quadBezTo>
                  <a:pt x="342900" y="0"/>
                  <a:pt x="342900" y="50801"/>
                </a:quadBezTo>
                <a:lnTo>
                  <a:pt x="342900" y="292099"/>
                </a:lnTo>
                <a:quadBezTo>
                  <a:pt x="342900" y="342900"/>
                  <a:pt x="292099" y="342900"/>
                </a:quadBezTo>
                <a:lnTo>
                  <a:pt x="50801" y="342900"/>
                </a:lnTo>
                <a:quadBezTo>
                  <a:pt x="0" y="342900"/>
                  <a:pt x="0" y="292099"/>
                </a:quadBezTo>
                <a:lnTo>
                  <a:pt x="0" y="50801"/>
                </a:lnTo>
                <a:quadBezTo>
                  <a:pt x="0" y="0"/>
                  <a:pt x="50801" y="0"/>
                </a:quadBezTo>
                <a:close/>
              </a:path>
            </a:pathLst>
          </a:custGeom>
          <a:solidFill>
            <a:srgbClr val="C58B2B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462" y="2087984"/>
            <a:ext cx="161925" cy="161925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8354021" y="2090365"/>
            <a:ext cx="152400" cy="157163"/>
          </a:xfrm>
          <a:custGeom>
            <a:avLst/>
            <a:gdLst/>
            <a:ahLst/>
            <a:cxnLst/>
            <a:rect l="l" t="t" r="r" b="b"/>
            <a:pathLst>
              <a:path w="152400" h="157163">
                <a:moveTo>
                  <a:pt x="0" y="0"/>
                </a:moveTo>
                <a:lnTo>
                  <a:pt x="152400" y="0"/>
                </a:lnTo>
                <a:lnTo>
                  <a:pt x="1524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3"/>
          <p:cNvSpPr/>
          <p:nvPr/>
        </p:nvSpPr>
        <p:spPr>
          <a:xfrm>
            <a:off x="8354021" y="2090365"/>
            <a:ext cx="1524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7A8B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6276975" y="2598503"/>
            <a:ext cx="2228850" cy="195263"/>
          </a:xfrm>
          <a:custGeom>
            <a:avLst/>
            <a:gdLst/>
            <a:ahLst/>
            <a:cxnLst/>
            <a:rect l="l" t="t" r="r" b="b"/>
            <a:pathLst>
              <a:path w="2228850" h="195263">
                <a:moveTo>
                  <a:pt x="0" y="0"/>
                </a:moveTo>
                <a:lnTo>
                  <a:pt x="2228850" y="0"/>
                </a:lnTo>
                <a:lnTo>
                  <a:pt x="222885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5"/>
          <p:cNvSpPr/>
          <p:nvPr/>
        </p:nvSpPr>
        <p:spPr>
          <a:xfrm>
            <a:off x="6276975" y="2598503"/>
            <a:ext cx="222885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the Pattern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6276975" y="2880568"/>
            <a:ext cx="2047875" cy="538163"/>
          </a:xfrm>
          <a:custGeom>
            <a:avLst/>
            <a:gdLst/>
            <a:ahLst/>
            <a:cxnLst/>
            <a:rect l="l" t="t" r="r" b="b"/>
            <a:pathLst>
              <a:path w="2047875" h="538163">
                <a:moveTo>
                  <a:pt x="0" y="0"/>
                </a:moveTo>
                <a:lnTo>
                  <a:pt x="2047875" y="0"/>
                </a:lnTo>
                <a:lnTo>
                  <a:pt x="2047875" y="538163"/>
                </a:lnTo>
                <a:lnTo>
                  <a:pt x="0" y="538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7"/>
          <p:cNvSpPr/>
          <p:nvPr/>
        </p:nvSpPr>
        <p:spPr>
          <a:xfrm>
            <a:off x="6276975" y="2880568"/>
            <a:ext cx="2047875" cy="538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 analysis leads into seasonal interpretation and research insight.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276975" y="45181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>
            <a:srgbClr val="4C78A8"/>
          </a:solidFill>
          <a:ln/>
        </p:spPr>
      </p:sp>
      <p:sp>
        <p:nvSpPr>
          <p:cNvPr id="45" name="Shape 39"/>
          <p:cNvSpPr/>
          <p:nvPr/>
        </p:nvSpPr>
        <p:spPr>
          <a:xfrm>
            <a:off x="6392056" y="4472955"/>
            <a:ext cx="1419225" cy="138113"/>
          </a:xfrm>
          <a:custGeom>
            <a:avLst/>
            <a:gdLst/>
            <a:ahLst/>
            <a:cxnLst/>
            <a:rect l="l" t="t" r="r" b="b"/>
            <a:pathLst>
              <a:path w="1419225" h="138113">
                <a:moveTo>
                  <a:pt x="0" y="0"/>
                </a:moveTo>
                <a:lnTo>
                  <a:pt x="1419225" y="0"/>
                </a:lnTo>
                <a:lnTo>
                  <a:pt x="141922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6" name="Text 40"/>
          <p:cNvSpPr/>
          <p:nvPr/>
        </p:nvSpPr>
        <p:spPr>
          <a:xfrm>
            <a:off x="6392056" y="4472955"/>
            <a:ext cx="14192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Time-aware interpretation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361466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61466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 · DATA PROVENANCE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566699"/>
            <a:ext cx="8229600" cy="338137"/>
          </a:xfrm>
          <a:custGeom>
            <a:avLst/>
            <a:gdLst/>
            <a:ahLst/>
            <a:cxnLst/>
            <a:rect l="l" t="t" r="r" b="b"/>
            <a:pathLst>
              <a:path w="8229600" h="338137">
                <a:moveTo>
                  <a:pt x="0" y="0"/>
                </a:moveTo>
                <a:lnTo>
                  <a:pt x="8229600" y="0"/>
                </a:lnTo>
                <a:lnTo>
                  <a:pt x="8229600" y="338137"/>
                </a:lnTo>
                <a:lnTo>
                  <a:pt x="0" y="338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66699"/>
            <a:ext cx="8229600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972443"/>
            <a:ext cx="4857750" cy="385763"/>
          </a:xfrm>
          <a:custGeom>
            <a:avLst/>
            <a:gdLst/>
            <a:ahLst/>
            <a:cxnLst/>
            <a:rect l="l" t="t" r="r" b="b"/>
            <a:pathLst>
              <a:path w="4857750" h="385763">
                <a:moveTo>
                  <a:pt x="0" y="0"/>
                </a:moveTo>
                <a:lnTo>
                  <a:pt x="4857750" y="0"/>
                </a:lnTo>
                <a:lnTo>
                  <a:pt x="485775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972443"/>
            <a:ext cx="4857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Official surveillance inputs are preserved as a transparent path from source to analysis.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088" y="1929260"/>
            <a:ext cx="3671888" cy="2871788"/>
          </a:xfrm>
          <a:custGeom>
            <a:avLst/>
            <a:gdLst/>
            <a:ahLst/>
            <a:cxnLst/>
            <a:rect l="l" t="t" r="r" b="b"/>
            <a:pathLst>
              <a:path w="3671888" h="2871788">
                <a:moveTo>
                  <a:pt x="39430" y="0"/>
                </a:moveTo>
                <a:lnTo>
                  <a:pt x="3632458" y="0"/>
                </a:lnTo>
                <a:quadBezTo>
                  <a:pt x="3671888" y="0"/>
                  <a:pt x="3671888" y="39430"/>
                </a:quadBezTo>
                <a:lnTo>
                  <a:pt x="3671888" y="2832358"/>
                </a:lnTo>
                <a:quadBezTo>
                  <a:pt x="3671888" y="2871788"/>
                  <a:pt x="3632458" y="2871788"/>
                </a:quadBezTo>
                <a:lnTo>
                  <a:pt x="39430" y="2871788"/>
                </a:lnTo>
                <a:quadBezTo>
                  <a:pt x="0" y="2871788"/>
                  <a:pt x="0" y="2832358"/>
                </a:quadBezTo>
                <a:lnTo>
                  <a:pt x="0" y="39430"/>
                </a:lnTo>
                <a:quadBezTo>
                  <a:pt x="0" y="0"/>
                  <a:pt x="39430" y="0"/>
                </a:quadBezTo>
                <a:close/>
              </a:path>
            </a:pathLst>
          </a:custGeom>
          <a:solidFill>
            <a:srgbClr val="EEF2F5"/>
          </a:solidFill>
          <a:ln/>
        </p:spPr>
      </p:sp>
      <p:sp>
        <p:nvSpPr>
          <p:cNvPr id="12" name="Shape 9"/>
          <p:cNvSpPr/>
          <p:nvPr/>
        </p:nvSpPr>
        <p:spPr>
          <a:xfrm>
            <a:off x="714375" y="2206823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62346" y="0"/>
                </a:moveTo>
                <a:lnTo>
                  <a:pt x="251979" y="0"/>
                </a:lnTo>
                <a:quadBezTo>
                  <a:pt x="314325" y="0"/>
                  <a:pt x="314325" y="62346"/>
                </a:quadBezTo>
                <a:lnTo>
                  <a:pt x="314325" y="251979"/>
                </a:lnTo>
                <a:quadBezTo>
                  <a:pt x="314325" y="314325"/>
                  <a:pt x="251979" y="314325"/>
                </a:quadBezTo>
                <a:lnTo>
                  <a:pt x="62346" y="314325"/>
                </a:lnTo>
                <a:quadBezTo>
                  <a:pt x="0" y="314325"/>
                  <a:pt x="0" y="251979"/>
                </a:quadBezTo>
                <a:lnTo>
                  <a:pt x="0" y="62346"/>
                </a:lnTo>
                <a:quadBezTo>
                  <a:pt x="0" y="0"/>
                  <a:pt x="62346" y="0"/>
                </a:quadBezTo>
                <a:close/>
              </a:path>
            </a:pathLst>
          </a:custGeom>
          <a:solidFill>
            <a:srgbClr val="4C78A8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338" y="2287786"/>
            <a:ext cx="152400" cy="152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122797" y="2178286"/>
            <a:ext cx="2657475" cy="123825"/>
          </a:xfrm>
          <a:custGeom>
            <a:avLst/>
            <a:gdLst/>
            <a:ahLst/>
            <a:cxnLst/>
            <a:rect l="l" t="t" r="r" b="b"/>
            <a:pathLst>
              <a:path w="2657475" h="123825">
                <a:moveTo>
                  <a:pt x="0" y="0"/>
                </a:moveTo>
                <a:lnTo>
                  <a:pt x="2657475" y="0"/>
                </a:lnTo>
                <a:lnTo>
                  <a:pt x="2657475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1122797" y="2178286"/>
            <a:ext cx="26574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SOURCE ARCHITECTURE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122797" y="2341141"/>
            <a:ext cx="2657475" cy="209550"/>
          </a:xfrm>
          <a:custGeom>
            <a:avLst/>
            <a:gdLst/>
            <a:ahLst/>
            <a:cxnLst/>
            <a:rect l="l" t="t" r="r" b="b"/>
            <a:pathLst>
              <a:path w="2657475" h="209550">
                <a:moveTo>
                  <a:pt x="0" y="0"/>
                </a:moveTo>
                <a:lnTo>
                  <a:pt x="2657475" y="0"/>
                </a:lnTo>
                <a:lnTo>
                  <a:pt x="2657475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1122797" y="2341141"/>
            <a:ext cx="26574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Official surveillance inputs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14263" y="2750716"/>
            <a:ext cx="3157538" cy="4763"/>
          </a:xfrm>
          <a:custGeom>
            <a:avLst/>
            <a:gdLst/>
            <a:ahLst/>
            <a:cxnLst/>
            <a:rect l="l" t="t" r="r" b="b"/>
            <a:pathLst>
              <a:path w="3157538" h="4763">
                <a:moveTo>
                  <a:pt x="0" y="0"/>
                </a:moveTo>
                <a:lnTo>
                  <a:pt x="3157538" y="0"/>
                </a:lnTo>
                <a:lnTo>
                  <a:pt x="3157538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C9D2D9"/>
          </a:solidFill>
          <a:ln/>
        </p:spPr>
      </p:sp>
      <p:sp>
        <p:nvSpPr>
          <p:cNvPr id="19" name="Shape 15"/>
          <p:cNvSpPr/>
          <p:nvPr/>
        </p:nvSpPr>
        <p:spPr>
          <a:xfrm>
            <a:off x="714375" y="2906799"/>
            <a:ext cx="3095625" cy="590550"/>
          </a:xfrm>
          <a:custGeom>
            <a:avLst/>
            <a:gdLst/>
            <a:ahLst/>
            <a:cxnLst/>
            <a:rect l="l" t="t" r="r" b="b"/>
            <a:pathLst>
              <a:path w="3095625" h="590550">
                <a:moveTo>
                  <a:pt x="0" y="0"/>
                </a:moveTo>
                <a:lnTo>
                  <a:pt x="3095625" y="0"/>
                </a:lnTo>
                <a:lnTo>
                  <a:pt x="3095625" y="590550"/>
                </a:lnTo>
                <a:lnTo>
                  <a:pt x="0" y="590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714375" y="2906799"/>
            <a:ext cx="309562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architecture begins with 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NCDC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IDSP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records, grounding the study in official public-health reporting.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4051548"/>
            <a:ext cx="133350" cy="13335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23813" y="4050356"/>
            <a:ext cx="2947987" cy="157163"/>
          </a:xfrm>
          <a:custGeom>
            <a:avLst/>
            <a:gdLst/>
            <a:ahLst/>
            <a:cxnLst/>
            <a:rect l="l" t="t" r="r" b="b"/>
            <a:pathLst>
              <a:path w="2947987" h="157163">
                <a:moveTo>
                  <a:pt x="0" y="0"/>
                </a:moveTo>
                <a:lnTo>
                  <a:pt x="2947987" y="0"/>
                </a:lnTo>
                <a:lnTo>
                  <a:pt x="2947987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923813" y="4050356"/>
            <a:ext cx="294798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Weekly outbreak surveillance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923813" y="4243908"/>
            <a:ext cx="2947987" cy="309562"/>
          </a:xfrm>
          <a:custGeom>
            <a:avLst/>
            <a:gdLst/>
            <a:ahLst/>
            <a:cxnLst/>
            <a:rect l="l" t="t" r="r" b="b"/>
            <a:pathLst>
              <a:path w="2947987" h="309562">
                <a:moveTo>
                  <a:pt x="0" y="0"/>
                </a:moveTo>
                <a:lnTo>
                  <a:pt x="2947987" y="0"/>
                </a:lnTo>
                <a:lnTo>
                  <a:pt x="2947987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923813" y="4243908"/>
            <a:ext cx="2947987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recurring reporting context, not a fabricated count.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376626" y="1929260"/>
            <a:ext cx="4310062" cy="2871788"/>
          </a:xfrm>
          <a:custGeom>
            <a:avLst/>
            <a:gdLst/>
            <a:ahLst/>
            <a:cxnLst/>
            <a:rect l="l" t="t" r="r" b="b"/>
            <a:pathLst>
              <a:path w="4310062" h="2871788">
                <a:moveTo>
                  <a:pt x="39430" y="0"/>
                </a:moveTo>
                <a:lnTo>
                  <a:pt x="4270633" y="0"/>
                </a:lnTo>
                <a:quadBezTo>
                  <a:pt x="4310062" y="0"/>
                  <a:pt x="4310062" y="39430"/>
                </a:quadBezTo>
                <a:lnTo>
                  <a:pt x="4310062" y="2832358"/>
                </a:lnTo>
                <a:quadBezTo>
                  <a:pt x="4310062" y="2871788"/>
                  <a:pt x="4270633" y="2871788"/>
                </a:quadBezTo>
                <a:lnTo>
                  <a:pt x="39430" y="2871788"/>
                </a:lnTo>
                <a:quadBezTo>
                  <a:pt x="0" y="2871788"/>
                  <a:pt x="0" y="2832358"/>
                </a:quadBezTo>
                <a:lnTo>
                  <a:pt x="0" y="39430"/>
                </a:lnTo>
                <a:quadBezTo>
                  <a:pt x="0" y="0"/>
                  <a:pt x="39430" y="0"/>
                </a:quadBezTo>
                <a:close/>
              </a:path>
            </a:pathLst>
          </a:custGeom>
          <a:solidFill>
            <a:srgbClr val="111418"/>
          </a:solidFill>
          <a:ln/>
        </p:spPr>
      </p:sp>
      <p:sp>
        <p:nvSpPr>
          <p:cNvPr id="27" name="Shape 22"/>
          <p:cNvSpPr/>
          <p:nvPr/>
        </p:nvSpPr>
        <p:spPr>
          <a:xfrm>
            <a:off x="4633689" y="2206823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62346" y="0"/>
                </a:moveTo>
                <a:lnTo>
                  <a:pt x="251979" y="0"/>
                </a:lnTo>
                <a:quadBezTo>
                  <a:pt x="314325" y="0"/>
                  <a:pt x="314325" y="62346"/>
                </a:quadBezTo>
                <a:lnTo>
                  <a:pt x="314325" y="251979"/>
                </a:lnTo>
                <a:quadBezTo>
                  <a:pt x="314325" y="314325"/>
                  <a:pt x="251979" y="314325"/>
                </a:quadBezTo>
                <a:lnTo>
                  <a:pt x="62346" y="314325"/>
                </a:lnTo>
                <a:quadBezTo>
                  <a:pt x="0" y="314325"/>
                  <a:pt x="0" y="251979"/>
                </a:quadBezTo>
                <a:lnTo>
                  <a:pt x="0" y="62346"/>
                </a:lnTo>
                <a:quadBezTo>
                  <a:pt x="0" y="0"/>
                  <a:pt x="62346" y="0"/>
                </a:quadBezTo>
                <a:close/>
              </a:path>
            </a:pathLst>
          </a:custGeom>
          <a:solidFill>
            <a:srgbClr val="2A9D8F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889" y="2283023"/>
            <a:ext cx="161925" cy="161925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042670" y="2178286"/>
            <a:ext cx="2833687" cy="123825"/>
          </a:xfrm>
          <a:custGeom>
            <a:avLst/>
            <a:gdLst/>
            <a:ahLst/>
            <a:cxnLst/>
            <a:rect l="l" t="t" r="r" b="b"/>
            <a:pathLst>
              <a:path w="2833687" h="123825">
                <a:moveTo>
                  <a:pt x="0" y="0"/>
                </a:moveTo>
                <a:lnTo>
                  <a:pt x="2833687" y="0"/>
                </a:lnTo>
                <a:lnTo>
                  <a:pt x="2833687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5042670" y="2178286"/>
            <a:ext cx="28336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AAB6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ANALYSIS PATHWAY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042670" y="2341141"/>
            <a:ext cx="2833687" cy="209550"/>
          </a:xfrm>
          <a:custGeom>
            <a:avLst/>
            <a:gdLst/>
            <a:ahLst/>
            <a:cxnLst/>
            <a:rect l="l" t="t" r="r" b="b"/>
            <a:pathLst>
              <a:path w="2833687" h="209550">
                <a:moveTo>
                  <a:pt x="0" y="0"/>
                </a:moveTo>
                <a:lnTo>
                  <a:pt x="2833687" y="0"/>
                </a:lnTo>
                <a:lnTo>
                  <a:pt x="2833687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5042670" y="2341141"/>
            <a:ext cx="28336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1485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→ dataset → analysis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633689" y="2751609"/>
            <a:ext cx="3714750" cy="371475"/>
          </a:xfrm>
          <a:custGeom>
            <a:avLst/>
            <a:gdLst/>
            <a:ahLst/>
            <a:cxnLst/>
            <a:rect l="l" t="t" r="r" b="b"/>
            <a:pathLst>
              <a:path w="3714750" h="371475">
                <a:moveTo>
                  <a:pt x="0" y="0"/>
                </a:moveTo>
                <a:lnTo>
                  <a:pt x="3714750" y="0"/>
                </a:lnTo>
                <a:lnTo>
                  <a:pt x="3714750" y="371475"/>
                </a:lnTo>
                <a:lnTo>
                  <a:pt x="0" y="3714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8"/>
          <p:cNvSpPr/>
          <p:nvPr/>
        </p:nvSpPr>
        <p:spPr>
          <a:xfrm>
            <a:off x="4633689" y="2751609"/>
            <a:ext cx="37147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826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D5DC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official input is carried forward into a structured dataset before interpretation.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4633726" y="3247206"/>
            <a:ext cx="1062038" cy="781050"/>
          </a:xfrm>
          <a:custGeom>
            <a:avLst/>
            <a:gdLst/>
            <a:ahLst/>
            <a:cxnLst/>
            <a:rect l="l" t="t" r="r" b="b"/>
            <a:pathLst>
              <a:path w="1062038" h="781050">
                <a:moveTo>
                  <a:pt x="100357" y="0"/>
                </a:moveTo>
                <a:lnTo>
                  <a:pt x="961680" y="0"/>
                </a:lnTo>
                <a:quadBezTo>
                  <a:pt x="1062038" y="0"/>
                  <a:pt x="1062038" y="100357"/>
                </a:quadBezTo>
                <a:lnTo>
                  <a:pt x="1062038" y="680693"/>
                </a:lnTo>
                <a:quadBezTo>
                  <a:pt x="1062038" y="781050"/>
                  <a:pt x="961680" y="781050"/>
                </a:quadBezTo>
                <a:lnTo>
                  <a:pt x="100357" y="781050"/>
                </a:lnTo>
                <a:quadBezTo>
                  <a:pt x="0" y="781050"/>
                  <a:pt x="0" y="680693"/>
                </a:quadBezTo>
                <a:lnTo>
                  <a:pt x="0" y="100357"/>
                </a:lnTo>
                <a:quadBezTo>
                  <a:pt x="0" y="0"/>
                  <a:pt x="100357" y="0"/>
                </a:quadBezTo>
                <a:close/>
              </a:path>
            </a:pathLst>
          </a:custGeom>
          <a:solidFill>
            <a:srgbClr val="1B2430"/>
          </a:solidFill>
          <a:ln/>
        </p:spPr>
      </p:sp>
      <p:sp>
        <p:nvSpPr>
          <p:cNvPr id="36" name="Shape 30"/>
          <p:cNvSpPr/>
          <p:nvPr/>
        </p:nvSpPr>
        <p:spPr>
          <a:xfrm>
            <a:off x="4757551" y="3381524"/>
            <a:ext cx="814388" cy="114300"/>
          </a:xfrm>
          <a:custGeom>
            <a:avLst/>
            <a:gdLst/>
            <a:ahLst/>
            <a:cxnLst/>
            <a:rect l="l" t="t" r="r" b="b"/>
            <a:pathLst>
              <a:path w="814388" h="114300">
                <a:moveTo>
                  <a:pt x="0" y="0"/>
                </a:moveTo>
                <a:lnTo>
                  <a:pt x="814388" y="0"/>
                </a:lnTo>
                <a:lnTo>
                  <a:pt x="814388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4757551" y="3381524"/>
            <a:ext cx="8143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7A8B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4757551" y="3561531"/>
            <a:ext cx="814388" cy="333375"/>
          </a:xfrm>
          <a:custGeom>
            <a:avLst/>
            <a:gdLst/>
            <a:ahLst/>
            <a:cxnLst/>
            <a:rect l="l" t="t" r="r" b="b"/>
            <a:pathLst>
              <a:path w="814388" h="333375">
                <a:moveTo>
                  <a:pt x="0" y="0"/>
                </a:moveTo>
                <a:lnTo>
                  <a:pt x="814388" y="0"/>
                </a:lnTo>
                <a:lnTo>
                  <a:pt x="814388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3"/>
          <p:cNvSpPr/>
          <p:nvPr/>
        </p:nvSpPr>
        <p:spPr>
          <a:xfrm>
            <a:off x="4757551" y="3561531"/>
            <a:ext cx="8143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NCDC + IDSP</a:t>
            </a:r>
            <a:endParaRPr lang="en-US" sz="900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526" y="3571056"/>
            <a:ext cx="133350" cy="133350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6000638" y="3247206"/>
            <a:ext cx="1062038" cy="781050"/>
          </a:xfrm>
          <a:custGeom>
            <a:avLst/>
            <a:gdLst/>
            <a:ahLst/>
            <a:cxnLst/>
            <a:rect l="l" t="t" r="r" b="b"/>
            <a:pathLst>
              <a:path w="1062038" h="781050">
                <a:moveTo>
                  <a:pt x="100357" y="0"/>
                </a:moveTo>
                <a:lnTo>
                  <a:pt x="961680" y="0"/>
                </a:lnTo>
                <a:quadBezTo>
                  <a:pt x="1062038" y="0"/>
                  <a:pt x="1062038" y="100357"/>
                </a:quadBezTo>
                <a:lnTo>
                  <a:pt x="1062038" y="680693"/>
                </a:lnTo>
                <a:quadBezTo>
                  <a:pt x="1062038" y="781050"/>
                  <a:pt x="961680" y="781050"/>
                </a:quadBezTo>
                <a:lnTo>
                  <a:pt x="100357" y="781050"/>
                </a:lnTo>
                <a:quadBezTo>
                  <a:pt x="0" y="781050"/>
                  <a:pt x="0" y="680693"/>
                </a:quadBezTo>
                <a:lnTo>
                  <a:pt x="0" y="100357"/>
                </a:lnTo>
                <a:quadBezTo>
                  <a:pt x="0" y="0"/>
                  <a:pt x="100357" y="0"/>
                </a:quadBezTo>
                <a:close/>
              </a:path>
            </a:pathLst>
          </a:custGeom>
          <a:solidFill>
            <a:srgbClr val="1B2430"/>
          </a:solidFill>
          <a:ln/>
        </p:spPr>
      </p:sp>
      <p:sp>
        <p:nvSpPr>
          <p:cNvPr id="42" name="Shape 35"/>
          <p:cNvSpPr/>
          <p:nvPr/>
        </p:nvSpPr>
        <p:spPr>
          <a:xfrm>
            <a:off x="6124463" y="3381524"/>
            <a:ext cx="814388" cy="114300"/>
          </a:xfrm>
          <a:custGeom>
            <a:avLst/>
            <a:gdLst/>
            <a:ahLst/>
            <a:cxnLst/>
            <a:rect l="l" t="t" r="r" b="b"/>
            <a:pathLst>
              <a:path w="814388" h="114300">
                <a:moveTo>
                  <a:pt x="0" y="0"/>
                </a:moveTo>
                <a:lnTo>
                  <a:pt x="814388" y="0"/>
                </a:lnTo>
                <a:lnTo>
                  <a:pt x="814388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6"/>
          <p:cNvSpPr/>
          <p:nvPr/>
        </p:nvSpPr>
        <p:spPr>
          <a:xfrm>
            <a:off x="6124463" y="3381524"/>
            <a:ext cx="8143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7A8B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6124463" y="3562015"/>
            <a:ext cx="814388" cy="166688"/>
          </a:xfrm>
          <a:custGeom>
            <a:avLst/>
            <a:gdLst/>
            <a:ahLst/>
            <a:cxnLst/>
            <a:rect l="l" t="t" r="r" b="b"/>
            <a:pathLst>
              <a:path w="814388" h="166688">
                <a:moveTo>
                  <a:pt x="0" y="0"/>
                </a:moveTo>
                <a:lnTo>
                  <a:pt x="814388" y="0"/>
                </a:lnTo>
                <a:lnTo>
                  <a:pt x="814388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38"/>
          <p:cNvSpPr/>
          <p:nvPr/>
        </p:nvSpPr>
        <p:spPr>
          <a:xfrm>
            <a:off x="6124463" y="3562015"/>
            <a:ext cx="81438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</a:t>
            </a:r>
            <a:endParaRPr lang="en-US" sz="900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8438" y="3571056"/>
            <a:ext cx="133350" cy="133350"/>
          </a:xfrm>
          <a:prstGeom prst="rect">
            <a:avLst/>
          </a:prstGeom>
        </p:spPr>
      </p:pic>
      <p:sp>
        <p:nvSpPr>
          <p:cNvPr id="47" name="Shape 39"/>
          <p:cNvSpPr/>
          <p:nvPr/>
        </p:nvSpPr>
        <p:spPr>
          <a:xfrm>
            <a:off x="7367549" y="3247206"/>
            <a:ext cx="1062038" cy="781050"/>
          </a:xfrm>
          <a:custGeom>
            <a:avLst/>
            <a:gdLst/>
            <a:ahLst/>
            <a:cxnLst/>
            <a:rect l="l" t="t" r="r" b="b"/>
            <a:pathLst>
              <a:path w="1062038" h="781050">
                <a:moveTo>
                  <a:pt x="100357" y="0"/>
                </a:moveTo>
                <a:lnTo>
                  <a:pt x="961680" y="0"/>
                </a:lnTo>
                <a:quadBezTo>
                  <a:pt x="1062038" y="0"/>
                  <a:pt x="1062038" y="100357"/>
                </a:quadBezTo>
                <a:lnTo>
                  <a:pt x="1062038" y="680693"/>
                </a:lnTo>
                <a:quadBezTo>
                  <a:pt x="1062038" y="781050"/>
                  <a:pt x="961680" y="781050"/>
                </a:quadBezTo>
                <a:lnTo>
                  <a:pt x="100357" y="781050"/>
                </a:lnTo>
                <a:quadBezTo>
                  <a:pt x="0" y="781050"/>
                  <a:pt x="0" y="680693"/>
                </a:quadBezTo>
                <a:lnTo>
                  <a:pt x="0" y="100357"/>
                </a:lnTo>
                <a:quadBezTo>
                  <a:pt x="0" y="0"/>
                  <a:pt x="100357" y="0"/>
                </a:quadBezTo>
                <a:close/>
              </a:path>
            </a:pathLst>
          </a:custGeom>
          <a:solidFill>
            <a:srgbClr val="1B2430"/>
          </a:solidFill>
          <a:ln/>
        </p:spPr>
      </p:sp>
      <p:sp>
        <p:nvSpPr>
          <p:cNvPr id="48" name="Shape 40"/>
          <p:cNvSpPr/>
          <p:nvPr/>
        </p:nvSpPr>
        <p:spPr>
          <a:xfrm>
            <a:off x="7491374" y="3381524"/>
            <a:ext cx="814388" cy="114300"/>
          </a:xfrm>
          <a:custGeom>
            <a:avLst/>
            <a:gdLst/>
            <a:ahLst/>
            <a:cxnLst/>
            <a:rect l="l" t="t" r="r" b="b"/>
            <a:pathLst>
              <a:path w="814388" h="114300">
                <a:moveTo>
                  <a:pt x="0" y="0"/>
                </a:moveTo>
                <a:lnTo>
                  <a:pt x="814388" y="0"/>
                </a:lnTo>
                <a:lnTo>
                  <a:pt x="814388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9" name="Text 41"/>
          <p:cNvSpPr/>
          <p:nvPr/>
        </p:nvSpPr>
        <p:spPr>
          <a:xfrm>
            <a:off x="7491374" y="3381524"/>
            <a:ext cx="8143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7A8B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7491374" y="3562015"/>
            <a:ext cx="814388" cy="166688"/>
          </a:xfrm>
          <a:custGeom>
            <a:avLst/>
            <a:gdLst/>
            <a:ahLst/>
            <a:cxnLst/>
            <a:rect l="l" t="t" r="r" b="b"/>
            <a:pathLst>
              <a:path w="814388" h="166688">
                <a:moveTo>
                  <a:pt x="0" y="0"/>
                </a:moveTo>
                <a:lnTo>
                  <a:pt x="814388" y="0"/>
                </a:lnTo>
                <a:lnTo>
                  <a:pt x="814388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1" name="Text 43"/>
          <p:cNvSpPr/>
          <p:nvPr/>
        </p:nvSpPr>
        <p:spPr>
          <a:xfrm>
            <a:off x="7491374" y="3562015"/>
            <a:ext cx="81438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4633801" y="4161532"/>
            <a:ext cx="3795712" cy="390525"/>
          </a:xfrm>
          <a:custGeom>
            <a:avLst/>
            <a:gdLst/>
            <a:ahLst/>
            <a:cxnLst/>
            <a:rect l="l" t="t" r="r" b="b"/>
            <a:pathLst>
              <a:path w="3795712" h="390525">
                <a:moveTo>
                  <a:pt x="0" y="0"/>
                </a:moveTo>
                <a:lnTo>
                  <a:pt x="3795712" y="0"/>
                </a:lnTo>
                <a:lnTo>
                  <a:pt x="3795712" y="390525"/>
                </a:lnTo>
                <a:lnTo>
                  <a:pt x="0" y="3905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3" name="Text 45"/>
          <p:cNvSpPr/>
          <p:nvPr/>
        </p:nvSpPr>
        <p:spPr>
          <a:xfrm>
            <a:off x="4633801" y="4161532"/>
            <a:ext cx="379571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AAB6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 note: this slide describes provenance only — no statistics or counts are introduced.</a:t>
            </a:r>
            <a:endParaRPr lang="en-US" sz="900" dirty="0"/>
          </a:p>
        </p:txBody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3801" y="4161532"/>
            <a:ext cx="3795712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5" name="Shape 2"/>
          <p:cNvSpPr/>
          <p:nvPr/>
        </p:nvSpPr>
        <p:spPr>
          <a:xfrm>
            <a:off x="438150" y="447675"/>
            <a:ext cx="200025" cy="19050"/>
          </a:xfrm>
          <a:custGeom>
            <a:avLst/>
            <a:gdLst/>
            <a:ahLst/>
            <a:cxnLst/>
            <a:rect l="l" t="t" r="r" b="b"/>
            <a:pathLst>
              <a:path w="200025" h="19050">
                <a:moveTo>
                  <a:pt x="0" y="0"/>
                </a:moveTo>
                <a:lnTo>
                  <a:pt x="200025" y="0"/>
                </a:lnTo>
                <a:lnTo>
                  <a:pt x="200025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4C78A8"/>
          </a:solidFill>
          <a:ln/>
        </p:spPr>
      </p:sp>
      <p:sp>
        <p:nvSpPr>
          <p:cNvPr id="6" name="Shape 3"/>
          <p:cNvSpPr/>
          <p:nvPr/>
        </p:nvSpPr>
        <p:spPr>
          <a:xfrm>
            <a:off x="714375" y="385763"/>
            <a:ext cx="891183" cy="138113"/>
          </a:xfrm>
          <a:custGeom>
            <a:avLst/>
            <a:gdLst/>
            <a:ahLst/>
            <a:cxnLst/>
            <a:rect l="l" t="t" r="r" b="b"/>
            <a:pathLst>
              <a:path w="891183" h="138113">
                <a:moveTo>
                  <a:pt x="0" y="0"/>
                </a:moveTo>
                <a:lnTo>
                  <a:pt x="891183" y="0"/>
                </a:lnTo>
                <a:lnTo>
                  <a:pt x="891183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385763"/>
            <a:ext cx="891183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Study area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38150" y="610641"/>
            <a:ext cx="8267700" cy="347663"/>
          </a:xfrm>
          <a:custGeom>
            <a:avLst/>
            <a:gdLst/>
            <a:ahLst/>
            <a:cxnLst/>
            <a:rect l="l" t="t" r="r" b="b"/>
            <a:pathLst>
              <a:path w="8267700" h="347663">
                <a:moveTo>
                  <a:pt x="0" y="0"/>
                </a:moveTo>
                <a:lnTo>
                  <a:pt x="8267700" y="0"/>
                </a:lnTo>
                <a:lnTo>
                  <a:pt x="82677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38150" y="610641"/>
            <a:ext cx="82677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Study Area — Maharashtra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8150" y="1026022"/>
            <a:ext cx="4667250" cy="385763"/>
          </a:xfrm>
          <a:custGeom>
            <a:avLst/>
            <a:gdLst/>
            <a:ahLst/>
            <a:cxnLst/>
            <a:rect l="l" t="t" r="r" b="b"/>
            <a:pathLst>
              <a:path w="4667250" h="385763">
                <a:moveTo>
                  <a:pt x="0" y="0"/>
                </a:moveTo>
                <a:lnTo>
                  <a:pt x="4667250" y="0"/>
                </a:lnTo>
                <a:lnTo>
                  <a:pt x="466725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38150" y="1026022"/>
            <a:ext cx="4667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clean geographic frame for district-level analysis and focused surveillance interpretation.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8150" y="1982241"/>
            <a:ext cx="4953000" cy="2819400"/>
          </a:xfrm>
          <a:custGeom>
            <a:avLst/>
            <a:gdLst/>
            <a:ahLst/>
            <a:cxnLst/>
            <a:rect l="l" t="t" r="r" b="b"/>
            <a:pathLst>
              <a:path w="4953000" h="2819400">
                <a:moveTo>
                  <a:pt x="43250" y="0"/>
                </a:moveTo>
                <a:lnTo>
                  <a:pt x="4909750" y="0"/>
                </a:lnTo>
                <a:quadBezTo>
                  <a:pt x="4953000" y="0"/>
                  <a:pt x="4953000" y="43250"/>
                </a:quadBezTo>
                <a:lnTo>
                  <a:pt x="4953000" y="2776150"/>
                </a:lnTo>
                <a:quadBezTo>
                  <a:pt x="4953000" y="2819400"/>
                  <a:pt x="4909750" y="2819400"/>
                </a:quadBezTo>
                <a:lnTo>
                  <a:pt x="43250" y="2819400"/>
                </a:lnTo>
                <a:quadBezTo>
                  <a:pt x="0" y="2819400"/>
                  <a:pt x="0" y="2776150"/>
                </a:quadBezTo>
                <a:lnTo>
                  <a:pt x="0" y="43250"/>
                </a:lnTo>
                <a:quadBezTo>
                  <a:pt x="0" y="0"/>
                  <a:pt x="43250" y="0"/>
                </a:quadBezTo>
                <a:close/>
              </a:path>
            </a:pathLst>
          </a:custGeom>
          <a:solidFill>
            <a:srgbClr val="EEF2F5"/>
          </a:solidFill>
          <a:ln/>
        </p:spPr>
      </p:sp>
      <p:sp>
        <p:nvSpPr>
          <p:cNvPr id="13" name="Shape 10"/>
          <p:cNvSpPr/>
          <p:nvPr/>
        </p:nvSpPr>
        <p:spPr>
          <a:xfrm>
            <a:off x="638807" y="2183309"/>
            <a:ext cx="1252537" cy="200025"/>
          </a:xfrm>
          <a:custGeom>
            <a:avLst/>
            <a:gdLst/>
            <a:ahLst/>
            <a:cxnLst/>
            <a:rect l="l" t="t" r="r" b="b"/>
            <a:pathLst>
              <a:path w="1252537" h="200025">
                <a:moveTo>
                  <a:pt x="0" y="0"/>
                </a:moveTo>
                <a:lnTo>
                  <a:pt x="1252537" y="0"/>
                </a:lnTo>
                <a:lnTo>
                  <a:pt x="1252537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38807" y="2183309"/>
            <a:ext cx="12525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Geographic frame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342247" y="2211884"/>
            <a:ext cx="847725" cy="142875"/>
          </a:xfrm>
          <a:custGeom>
            <a:avLst/>
            <a:gdLst/>
            <a:ahLst/>
            <a:cxnLst/>
            <a:rect l="l" t="t" r="r" b="b"/>
            <a:pathLst>
              <a:path w="847725" h="142875">
                <a:moveTo>
                  <a:pt x="0" y="0"/>
                </a:moveTo>
                <a:lnTo>
                  <a:pt x="847725" y="0"/>
                </a:lnTo>
                <a:lnTo>
                  <a:pt x="8477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342247" y="2211884"/>
            <a:ext cx="847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MAHARASHTRA</a:t>
            </a:r>
            <a:endParaRPr lang="en-US" sz="9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75" y="2487066"/>
            <a:ext cx="4552950" cy="185737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38175" y="450056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4C78A8"/>
          </a:solidFill>
          <a:ln/>
        </p:spPr>
      </p:sp>
      <p:sp>
        <p:nvSpPr>
          <p:cNvPr id="19" name="Shape 15"/>
          <p:cNvSpPr/>
          <p:nvPr/>
        </p:nvSpPr>
        <p:spPr>
          <a:xfrm>
            <a:off x="752475" y="4471988"/>
            <a:ext cx="2980060" cy="114300"/>
          </a:xfrm>
          <a:custGeom>
            <a:avLst/>
            <a:gdLst/>
            <a:ahLst/>
            <a:cxnLst/>
            <a:rect l="l" t="t" r="r" b="b"/>
            <a:pathLst>
              <a:path w="2980060" h="114300">
                <a:moveTo>
                  <a:pt x="0" y="0"/>
                </a:moveTo>
                <a:lnTo>
                  <a:pt x="2980060" y="0"/>
                </a:lnTo>
                <a:lnTo>
                  <a:pt x="298006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752475" y="4471988"/>
            <a:ext cx="29800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Highlight zones indicate analytical focus — not disease values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734050" y="1956867"/>
            <a:ext cx="2924175" cy="157163"/>
          </a:xfrm>
          <a:custGeom>
            <a:avLst/>
            <a:gdLst/>
            <a:ahLst/>
            <a:cxnLst/>
            <a:rect l="l" t="t" r="r" b="b"/>
            <a:pathLst>
              <a:path w="2924175" h="157163">
                <a:moveTo>
                  <a:pt x="0" y="0"/>
                </a:moveTo>
                <a:lnTo>
                  <a:pt x="2924175" y="0"/>
                </a:lnTo>
                <a:lnTo>
                  <a:pt x="2924175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5734050" y="1956867"/>
            <a:ext cx="29241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 OF ANALYSIS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734050" y="2199903"/>
            <a:ext cx="2924175" cy="485775"/>
          </a:xfrm>
          <a:custGeom>
            <a:avLst/>
            <a:gdLst/>
            <a:ahLst/>
            <a:cxnLst/>
            <a:rect l="l" t="t" r="r" b="b"/>
            <a:pathLst>
              <a:path w="2924175" h="485775">
                <a:moveTo>
                  <a:pt x="0" y="0"/>
                </a:moveTo>
                <a:lnTo>
                  <a:pt x="2924175" y="0"/>
                </a:lnTo>
                <a:lnTo>
                  <a:pt x="2924175" y="485775"/>
                </a:lnTo>
                <a:lnTo>
                  <a:pt x="0" y="4857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5734050" y="2199903"/>
            <a:ext cx="292417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15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state outline</a:t>
            </a:r>
            <a:endParaRPr lang="en-US" sz="900" dirty="0"/>
          </a:p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15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district insight.</a:t>
            </a:r>
            <a:endParaRPr lang="en-US" sz="9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050" y="2895376"/>
            <a:ext cx="133350" cy="13335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953125" y="2885851"/>
            <a:ext cx="2705100" cy="166688"/>
          </a:xfrm>
          <a:custGeom>
            <a:avLst/>
            <a:gdLst/>
            <a:ahLst/>
            <a:cxnLst/>
            <a:rect l="l" t="t" r="r" b="b"/>
            <a:pathLst>
              <a:path w="2705100" h="166688">
                <a:moveTo>
                  <a:pt x="0" y="0"/>
                </a:moveTo>
                <a:lnTo>
                  <a:pt x="2705100" y="0"/>
                </a:lnTo>
                <a:lnTo>
                  <a:pt x="2705100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5953125" y="2885851"/>
            <a:ext cx="270510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District-level potential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5953125" y="3085876"/>
            <a:ext cx="2705100" cy="333375"/>
          </a:xfrm>
          <a:custGeom>
            <a:avLst/>
            <a:gdLst/>
            <a:ahLst/>
            <a:cxnLst/>
            <a:rect l="l" t="t" r="r" b="b"/>
            <a:pathLst>
              <a:path w="2705100" h="333375">
                <a:moveTo>
                  <a:pt x="0" y="0"/>
                </a:moveTo>
                <a:lnTo>
                  <a:pt x="2705100" y="0"/>
                </a:lnTo>
                <a:lnTo>
                  <a:pt x="2705100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4"/>
          <p:cNvSpPr/>
          <p:nvPr/>
        </p:nvSpPr>
        <p:spPr>
          <a:xfrm>
            <a:off x="5953125" y="3085876"/>
            <a:ext cx="27051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state frame supports finer geographic comparison.</a:t>
            </a:r>
            <a:endParaRPr lang="en-US" sz="9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050" y="3562126"/>
            <a:ext cx="133350" cy="13335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5953125" y="3552601"/>
            <a:ext cx="2705100" cy="166688"/>
          </a:xfrm>
          <a:custGeom>
            <a:avLst/>
            <a:gdLst/>
            <a:ahLst/>
            <a:cxnLst/>
            <a:rect l="l" t="t" r="r" b="b"/>
            <a:pathLst>
              <a:path w="2705100" h="166688">
                <a:moveTo>
                  <a:pt x="0" y="0"/>
                </a:moveTo>
                <a:lnTo>
                  <a:pt x="2705100" y="0"/>
                </a:lnTo>
                <a:lnTo>
                  <a:pt x="2705100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5953125" y="3552601"/>
            <a:ext cx="270510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Analytical highlights only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5953125" y="3752626"/>
            <a:ext cx="2705100" cy="333375"/>
          </a:xfrm>
          <a:custGeom>
            <a:avLst/>
            <a:gdLst/>
            <a:ahLst/>
            <a:cxnLst/>
            <a:rect l="l" t="t" r="r" b="b"/>
            <a:pathLst>
              <a:path w="2705100" h="333375">
                <a:moveTo>
                  <a:pt x="0" y="0"/>
                </a:moveTo>
                <a:lnTo>
                  <a:pt x="2705100" y="0"/>
                </a:lnTo>
                <a:lnTo>
                  <a:pt x="2705100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8"/>
          <p:cNvSpPr/>
          <p:nvPr/>
        </p:nvSpPr>
        <p:spPr>
          <a:xfrm>
            <a:off x="5953125" y="3752626"/>
            <a:ext cx="27051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Selected zones signal where analysis can be concentrated.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5734050" y="4285059"/>
            <a:ext cx="2924175" cy="542925"/>
          </a:xfrm>
          <a:custGeom>
            <a:avLst/>
            <a:gdLst/>
            <a:ahLst/>
            <a:cxnLst/>
            <a:rect l="l" t="t" r="r" b="b"/>
            <a:pathLst>
              <a:path w="2924175" h="542925">
                <a:moveTo>
                  <a:pt x="144380" y="0"/>
                </a:moveTo>
                <a:lnTo>
                  <a:pt x="2779795" y="0"/>
                </a:lnTo>
                <a:quadBezTo>
                  <a:pt x="2924175" y="0"/>
                  <a:pt x="2924175" y="144380"/>
                </a:quadBezTo>
                <a:lnTo>
                  <a:pt x="2924175" y="398545"/>
                </a:lnTo>
                <a:quadBezTo>
                  <a:pt x="2924175" y="542925"/>
                  <a:pt x="2779795" y="542925"/>
                </a:quadBezTo>
                <a:lnTo>
                  <a:pt x="144380" y="542925"/>
                </a:lnTo>
                <a:quadBezTo>
                  <a:pt x="0" y="542925"/>
                  <a:pt x="0" y="398545"/>
                </a:quadBezTo>
                <a:lnTo>
                  <a:pt x="0" y="144380"/>
                </a:lnTo>
                <a:quadBezTo>
                  <a:pt x="0" y="0"/>
                  <a:pt x="144380" y="0"/>
                </a:quadBezTo>
                <a:close/>
              </a:path>
            </a:pathLst>
          </a:custGeom>
          <a:solidFill>
            <a:srgbClr val="111418"/>
          </a:solidFill>
          <a:ln/>
        </p:spPr>
      </p:sp>
      <p:sp>
        <p:nvSpPr>
          <p:cNvPr id="36" name="Text 30"/>
          <p:cNvSpPr/>
          <p:nvPr/>
        </p:nvSpPr>
        <p:spPr>
          <a:xfrm>
            <a:off x="5734050" y="4285059"/>
            <a:ext cx="29241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district disease values are shown on this study-area view.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5" name="Shape 2"/>
          <p:cNvSpPr/>
          <p:nvPr/>
        </p:nvSpPr>
        <p:spPr>
          <a:xfrm>
            <a:off x="438150" y="438150"/>
            <a:ext cx="200025" cy="19050"/>
          </a:xfrm>
          <a:custGeom>
            <a:avLst/>
            <a:gdLst/>
            <a:ahLst/>
            <a:cxnLst/>
            <a:rect l="l" t="t" r="r" b="b"/>
            <a:pathLst>
              <a:path w="200025" h="19050">
                <a:moveTo>
                  <a:pt x="0" y="0"/>
                </a:moveTo>
                <a:lnTo>
                  <a:pt x="200025" y="0"/>
                </a:lnTo>
                <a:lnTo>
                  <a:pt x="200025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4C78A8"/>
          </a:solidFill>
          <a:ln/>
        </p:spPr>
      </p:sp>
      <p:sp>
        <p:nvSpPr>
          <p:cNvPr id="6" name="Shape 3"/>
          <p:cNvSpPr/>
          <p:nvPr/>
        </p:nvSpPr>
        <p:spPr>
          <a:xfrm>
            <a:off x="723937" y="361950"/>
            <a:ext cx="1900238" cy="171450"/>
          </a:xfrm>
          <a:custGeom>
            <a:avLst/>
            <a:gdLst/>
            <a:ahLst/>
            <a:cxnLst/>
            <a:rect l="l" t="t" r="r" b="b"/>
            <a:pathLst>
              <a:path w="1900238" h="171450">
                <a:moveTo>
                  <a:pt x="0" y="0"/>
                </a:moveTo>
                <a:lnTo>
                  <a:pt x="1900238" y="0"/>
                </a:lnTo>
                <a:lnTo>
                  <a:pt x="1900238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23937" y="361950"/>
            <a:ext cx="19002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 SCHEMA / 01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38150" y="601005"/>
            <a:ext cx="8267700" cy="338137"/>
          </a:xfrm>
          <a:custGeom>
            <a:avLst/>
            <a:gdLst/>
            <a:ahLst/>
            <a:cxnLst/>
            <a:rect l="l" t="t" r="r" b="b"/>
            <a:pathLst>
              <a:path w="8267700" h="338137">
                <a:moveTo>
                  <a:pt x="0" y="0"/>
                </a:moveTo>
                <a:lnTo>
                  <a:pt x="8267700" y="0"/>
                </a:lnTo>
                <a:lnTo>
                  <a:pt x="8267700" y="338137"/>
                </a:lnTo>
                <a:lnTo>
                  <a:pt x="0" y="338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38150" y="601005"/>
            <a:ext cx="8267700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Structure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8150" y="1005557"/>
            <a:ext cx="5048250" cy="195263"/>
          </a:xfrm>
          <a:custGeom>
            <a:avLst/>
            <a:gdLst/>
            <a:ahLst/>
            <a:cxnLst/>
            <a:rect l="l" t="t" r="r" b="b"/>
            <a:pathLst>
              <a:path w="5048250" h="195263">
                <a:moveTo>
                  <a:pt x="0" y="0"/>
                </a:moveTo>
                <a:lnTo>
                  <a:pt x="5048250" y="0"/>
                </a:lnTo>
                <a:lnTo>
                  <a:pt x="504825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38150" y="1005557"/>
            <a:ext cx="504825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clean foundation for organizing surveillance records before analysis.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8150" y="1742815"/>
            <a:ext cx="6162675" cy="3076575"/>
          </a:xfrm>
          <a:custGeom>
            <a:avLst/>
            <a:gdLst/>
            <a:ahLst/>
            <a:cxnLst/>
            <a:rect l="l" t="t" r="r" b="b"/>
            <a:pathLst>
              <a:path w="6162675" h="3076575">
                <a:moveTo>
                  <a:pt x="33965" y="0"/>
                </a:moveTo>
                <a:lnTo>
                  <a:pt x="6128710" y="0"/>
                </a:lnTo>
                <a:quadBezTo>
                  <a:pt x="6162675" y="0"/>
                  <a:pt x="6162675" y="33965"/>
                </a:quadBezTo>
                <a:lnTo>
                  <a:pt x="6162675" y="3042610"/>
                </a:lnTo>
                <a:quadBezTo>
                  <a:pt x="6162675" y="3076575"/>
                  <a:pt x="6128710" y="3076575"/>
                </a:quadBezTo>
                <a:lnTo>
                  <a:pt x="33965" y="3076575"/>
                </a:lnTo>
                <a:quadBezTo>
                  <a:pt x="0" y="3076575"/>
                  <a:pt x="0" y="3042610"/>
                </a:quadBezTo>
                <a:lnTo>
                  <a:pt x="0" y="33965"/>
                </a:lnTo>
                <a:quadBezTo>
                  <a:pt x="0" y="0"/>
                  <a:pt x="33965" y="0"/>
                </a:quadBezTo>
                <a:close/>
              </a:path>
            </a:pathLst>
          </a:custGeom>
          <a:solidFill>
            <a:srgbClr val="EEF2F5"/>
          </a:solidFill>
          <a:ln/>
        </p:spPr>
      </p:sp>
      <p:sp>
        <p:nvSpPr>
          <p:cNvPr id="13" name="Shape 10"/>
          <p:cNvSpPr/>
          <p:nvPr/>
        </p:nvSpPr>
        <p:spPr>
          <a:xfrm>
            <a:off x="647440" y="1942579"/>
            <a:ext cx="2938463" cy="157163"/>
          </a:xfrm>
          <a:custGeom>
            <a:avLst/>
            <a:gdLst/>
            <a:ahLst/>
            <a:cxnLst/>
            <a:rect l="l" t="t" r="r" b="b"/>
            <a:pathLst>
              <a:path w="2938463" h="157163">
                <a:moveTo>
                  <a:pt x="0" y="0"/>
                </a:moveTo>
                <a:lnTo>
                  <a:pt x="2938463" y="0"/>
                </a:lnTo>
                <a:lnTo>
                  <a:pt x="2938463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47440" y="1942579"/>
            <a:ext cx="29384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MOCK DATASET PREVIEW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7440" y="2157821"/>
            <a:ext cx="2938463" cy="195263"/>
          </a:xfrm>
          <a:custGeom>
            <a:avLst/>
            <a:gdLst/>
            <a:ahLst/>
            <a:cxnLst/>
            <a:rect l="l" t="t" r="r" b="b"/>
            <a:pathLst>
              <a:path w="2938463" h="195263">
                <a:moveTo>
                  <a:pt x="0" y="0"/>
                </a:moveTo>
                <a:lnTo>
                  <a:pt x="2938463" y="0"/>
                </a:lnTo>
                <a:lnTo>
                  <a:pt x="2938463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47440" y="2157821"/>
            <a:ext cx="293846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record, one structured story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991905" y="1942579"/>
            <a:ext cx="2400300" cy="266700"/>
          </a:xfrm>
          <a:custGeom>
            <a:avLst/>
            <a:gdLst/>
            <a:ahLst/>
            <a:cxnLst/>
            <a:rect l="l" t="t" r="r" b="b"/>
            <a:pathLst>
              <a:path w="2400300" h="266700">
                <a:moveTo>
                  <a:pt x="32657" y="0"/>
                </a:moveTo>
                <a:lnTo>
                  <a:pt x="2367643" y="0"/>
                </a:lnTo>
                <a:quadBezTo>
                  <a:pt x="2400300" y="0"/>
                  <a:pt x="2400300" y="32657"/>
                </a:quadBezTo>
                <a:lnTo>
                  <a:pt x="2400300" y="234043"/>
                </a:lnTo>
                <a:quadBezTo>
                  <a:pt x="2400300" y="266700"/>
                  <a:pt x="2367643" y="266700"/>
                </a:quadBezTo>
                <a:lnTo>
                  <a:pt x="32657" y="266700"/>
                </a:lnTo>
                <a:quadBezTo>
                  <a:pt x="0" y="266700"/>
                  <a:pt x="0" y="234043"/>
                </a:quadBezTo>
                <a:lnTo>
                  <a:pt x="0" y="32657"/>
                </a:lnTo>
                <a:quadBezTo>
                  <a:pt x="0" y="0"/>
                  <a:pt x="32657" y="0"/>
                </a:quadBezTo>
                <a:close/>
              </a:path>
            </a:pathLst>
          </a:custGeom>
          <a:solidFill>
            <a:srgbClr val="111418"/>
          </a:solidFill>
          <a:ln/>
        </p:spPr>
      </p:sp>
      <p:sp>
        <p:nvSpPr>
          <p:cNvPr id="18" name="Text 15"/>
          <p:cNvSpPr/>
          <p:nvPr/>
        </p:nvSpPr>
        <p:spPr>
          <a:xfrm>
            <a:off x="3991905" y="1942579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SAMPLE — NOT FINAL RESEARCH DATA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7700" y="2487364"/>
            <a:ext cx="5743575" cy="314325"/>
          </a:xfrm>
          <a:custGeom>
            <a:avLst/>
            <a:gdLst/>
            <a:ahLst/>
            <a:cxnLst/>
            <a:rect l="l" t="t" r="r" b="b"/>
            <a:pathLst>
              <a:path w="5743575" h="314325">
                <a:moveTo>
                  <a:pt x="34635" y="0"/>
                </a:moveTo>
                <a:lnTo>
                  <a:pt x="5708940" y="0"/>
                </a:lnTo>
                <a:quadBezTo>
                  <a:pt x="5743575" y="0"/>
                  <a:pt x="5743575" y="34635"/>
                </a:quadBezTo>
                <a:lnTo>
                  <a:pt x="5743575" y="279690"/>
                </a:lnTo>
                <a:quadBezTo>
                  <a:pt x="5743575" y="314325"/>
                  <a:pt x="5708940" y="314325"/>
                </a:quadBezTo>
                <a:lnTo>
                  <a:pt x="34635" y="314325"/>
                </a:lnTo>
                <a:quadBezTo>
                  <a:pt x="0" y="314325"/>
                  <a:pt x="0" y="279690"/>
                </a:quadBezTo>
                <a:lnTo>
                  <a:pt x="0" y="34635"/>
                </a:lnTo>
                <a:quadBezTo>
                  <a:pt x="0" y="0"/>
                  <a:pt x="34635" y="0"/>
                </a:quadBezTo>
                <a:close/>
              </a:path>
            </a:pathLst>
          </a:custGeom>
          <a:solidFill>
            <a:srgbClr val="D9E1E7"/>
          </a:solidFill>
          <a:ln/>
        </p:spPr>
      </p:sp>
      <p:sp>
        <p:nvSpPr>
          <p:cNvPr id="20" name="Text 17"/>
          <p:cNvSpPr/>
          <p:nvPr/>
        </p:nvSpPr>
        <p:spPr>
          <a:xfrm>
            <a:off x="647700" y="2487364"/>
            <a:ext cx="57435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YEARWEEKDISTRICTDISEASECASESDEATHS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7700" y="2848124"/>
            <a:ext cx="5743575" cy="423862"/>
          </a:xfrm>
          <a:custGeom>
            <a:avLst/>
            <a:gdLst/>
            <a:ahLst/>
            <a:cxnLst/>
            <a:rect l="l" t="t" r="r" b="b"/>
            <a:pathLst>
              <a:path w="5743575" h="423862">
                <a:moveTo>
                  <a:pt x="25686" y="0"/>
                </a:moveTo>
                <a:lnTo>
                  <a:pt x="5717889" y="0"/>
                </a:lnTo>
                <a:quadBezTo>
                  <a:pt x="5743575" y="0"/>
                  <a:pt x="5743575" y="25686"/>
                </a:quadBezTo>
                <a:lnTo>
                  <a:pt x="5743575" y="398176"/>
                </a:lnTo>
                <a:quadBezTo>
                  <a:pt x="5743575" y="423862"/>
                  <a:pt x="5717889" y="423862"/>
                </a:quadBezTo>
                <a:lnTo>
                  <a:pt x="25686" y="423862"/>
                </a:lnTo>
                <a:quadBezTo>
                  <a:pt x="0" y="423862"/>
                  <a:pt x="0" y="398176"/>
                </a:quadBezTo>
                <a:lnTo>
                  <a:pt x="0" y="25686"/>
                </a:lnTo>
                <a:quadBezTo>
                  <a:pt x="0" y="0"/>
                  <a:pt x="25686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647700" y="2848124"/>
            <a:ext cx="5743575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4C78A8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2024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11418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W14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PuneDengue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2A9D8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—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C58B2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—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7700" y="3317230"/>
            <a:ext cx="5743575" cy="423862"/>
          </a:xfrm>
          <a:custGeom>
            <a:avLst/>
            <a:gdLst/>
            <a:ahLst/>
            <a:cxnLst/>
            <a:rect l="l" t="t" r="r" b="b"/>
            <a:pathLst>
              <a:path w="5743575" h="423862">
                <a:moveTo>
                  <a:pt x="25686" y="0"/>
                </a:moveTo>
                <a:lnTo>
                  <a:pt x="5717889" y="0"/>
                </a:lnTo>
                <a:quadBezTo>
                  <a:pt x="5743575" y="0"/>
                  <a:pt x="5743575" y="25686"/>
                </a:quadBezTo>
                <a:lnTo>
                  <a:pt x="5743575" y="398176"/>
                </a:lnTo>
                <a:quadBezTo>
                  <a:pt x="5743575" y="423862"/>
                  <a:pt x="5717889" y="423862"/>
                </a:quadBezTo>
                <a:lnTo>
                  <a:pt x="25686" y="423862"/>
                </a:lnTo>
                <a:quadBezTo>
                  <a:pt x="0" y="423862"/>
                  <a:pt x="0" y="398176"/>
                </a:quadBezTo>
                <a:lnTo>
                  <a:pt x="0" y="25686"/>
                </a:lnTo>
                <a:quadBezTo>
                  <a:pt x="0" y="0"/>
                  <a:pt x="25686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647700" y="3317230"/>
            <a:ext cx="5743575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4C78A8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2024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11418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W15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NashikChikungunya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2A9D8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—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C58B2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47700" y="3786336"/>
            <a:ext cx="5743575" cy="423862"/>
          </a:xfrm>
          <a:custGeom>
            <a:avLst/>
            <a:gdLst/>
            <a:ahLst/>
            <a:cxnLst/>
            <a:rect l="l" t="t" r="r" b="b"/>
            <a:pathLst>
              <a:path w="5743575" h="423862">
                <a:moveTo>
                  <a:pt x="25686" y="0"/>
                </a:moveTo>
                <a:lnTo>
                  <a:pt x="5717889" y="0"/>
                </a:lnTo>
                <a:quadBezTo>
                  <a:pt x="5743575" y="0"/>
                  <a:pt x="5743575" y="25686"/>
                </a:quadBezTo>
                <a:lnTo>
                  <a:pt x="5743575" y="398176"/>
                </a:lnTo>
                <a:quadBezTo>
                  <a:pt x="5743575" y="423862"/>
                  <a:pt x="5717889" y="423862"/>
                </a:quadBezTo>
                <a:lnTo>
                  <a:pt x="25686" y="423862"/>
                </a:lnTo>
                <a:quadBezTo>
                  <a:pt x="0" y="423862"/>
                  <a:pt x="0" y="398176"/>
                </a:quadBezTo>
                <a:lnTo>
                  <a:pt x="0" y="25686"/>
                </a:lnTo>
                <a:quadBezTo>
                  <a:pt x="0" y="0"/>
                  <a:pt x="25686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647700" y="3786336"/>
            <a:ext cx="5743575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4C78A8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2024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11418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W16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NagpurMalaria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2A9D8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—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C58B2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—</a:t>
            </a:r>
            <a:endParaRPr lang="en-US" sz="9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4513436"/>
            <a:ext cx="114300" cy="11430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827968" y="4501530"/>
            <a:ext cx="3067050" cy="138113"/>
          </a:xfrm>
          <a:custGeom>
            <a:avLst/>
            <a:gdLst/>
            <a:ahLst/>
            <a:cxnLst/>
            <a:rect l="l" t="t" r="r" b="b"/>
            <a:pathLst>
              <a:path w="3067050" h="138113">
                <a:moveTo>
                  <a:pt x="0" y="0"/>
                </a:moveTo>
                <a:lnTo>
                  <a:pt x="3067050" y="0"/>
                </a:lnTo>
                <a:lnTo>
                  <a:pt x="306705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5"/>
          <p:cNvSpPr/>
          <p:nvPr/>
        </p:nvSpPr>
        <p:spPr>
          <a:xfrm>
            <a:off x="827968" y="4501530"/>
            <a:ext cx="30670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Outbreak start date can be appended as the event anchor.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6848475" y="1742815"/>
            <a:ext cx="1857375" cy="3076575"/>
          </a:xfrm>
          <a:custGeom>
            <a:avLst/>
            <a:gdLst/>
            <a:ahLst/>
            <a:cxnLst/>
            <a:rect l="l" t="t" r="r" b="b"/>
            <a:pathLst>
              <a:path w="1857375" h="3076575">
                <a:moveTo>
                  <a:pt x="56278" y="0"/>
                </a:moveTo>
                <a:lnTo>
                  <a:pt x="1801097" y="0"/>
                </a:lnTo>
                <a:quadBezTo>
                  <a:pt x="1857375" y="0"/>
                  <a:pt x="1857375" y="56278"/>
                </a:quadBezTo>
                <a:lnTo>
                  <a:pt x="1857375" y="3020297"/>
                </a:lnTo>
                <a:quadBezTo>
                  <a:pt x="1857375" y="3076575"/>
                  <a:pt x="1801097" y="3076575"/>
                </a:quadBezTo>
                <a:lnTo>
                  <a:pt x="56278" y="3076575"/>
                </a:lnTo>
                <a:quadBezTo>
                  <a:pt x="0" y="3076575"/>
                  <a:pt x="0" y="3020297"/>
                </a:quadBezTo>
                <a:lnTo>
                  <a:pt x="0" y="56278"/>
                </a:lnTo>
                <a:quadBezTo>
                  <a:pt x="0" y="0"/>
                  <a:pt x="56278" y="0"/>
                </a:quadBezTo>
                <a:close/>
              </a:path>
            </a:pathLst>
          </a:custGeom>
          <a:solidFill>
            <a:srgbClr val="111418"/>
          </a:solidFill>
          <a:ln/>
        </p:spPr>
      </p:sp>
      <p:sp>
        <p:nvSpPr>
          <p:cNvPr id="31" name="Shape 27"/>
          <p:cNvSpPr/>
          <p:nvPr/>
        </p:nvSpPr>
        <p:spPr>
          <a:xfrm>
            <a:off x="7029450" y="1932384"/>
            <a:ext cx="1495425" cy="133350"/>
          </a:xfrm>
          <a:custGeom>
            <a:avLst/>
            <a:gdLst/>
            <a:ahLst/>
            <a:cxnLst/>
            <a:rect l="l" t="t" r="r" b="b"/>
            <a:pathLst>
              <a:path w="1495425" h="133350">
                <a:moveTo>
                  <a:pt x="0" y="0"/>
                </a:moveTo>
                <a:lnTo>
                  <a:pt x="1495425" y="0"/>
                </a:lnTo>
                <a:lnTo>
                  <a:pt x="1495425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8"/>
          <p:cNvSpPr/>
          <p:nvPr/>
        </p:nvSpPr>
        <p:spPr>
          <a:xfrm>
            <a:off x="7029450" y="1932384"/>
            <a:ext cx="1495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435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8FA9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 LOGIC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7029450" y="2198414"/>
            <a:ext cx="295275" cy="23812"/>
          </a:xfrm>
          <a:custGeom>
            <a:avLst/>
            <a:gdLst/>
            <a:ahLst/>
            <a:cxnLst/>
            <a:rect l="l" t="t" r="r" b="b"/>
            <a:pathLst>
              <a:path w="295275" h="23812">
                <a:moveTo>
                  <a:pt x="0" y="0"/>
                </a:moveTo>
                <a:lnTo>
                  <a:pt x="295275" y="0"/>
                </a:lnTo>
                <a:lnTo>
                  <a:pt x="295275" y="23812"/>
                </a:lnTo>
                <a:lnTo>
                  <a:pt x="0" y="23812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34" name="Shape 30"/>
          <p:cNvSpPr/>
          <p:nvPr/>
        </p:nvSpPr>
        <p:spPr>
          <a:xfrm>
            <a:off x="7029450" y="2355839"/>
            <a:ext cx="1495425" cy="509587"/>
          </a:xfrm>
          <a:custGeom>
            <a:avLst/>
            <a:gdLst/>
            <a:ahLst/>
            <a:cxnLst/>
            <a:rect l="l" t="t" r="r" b="b"/>
            <a:pathLst>
              <a:path w="1495425" h="509587">
                <a:moveTo>
                  <a:pt x="0" y="0"/>
                </a:moveTo>
                <a:lnTo>
                  <a:pt x="1495425" y="0"/>
                </a:lnTo>
                <a:lnTo>
                  <a:pt x="1495425" y="509587"/>
                </a:lnTo>
                <a:lnTo>
                  <a:pt x="0" y="5095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31"/>
          <p:cNvSpPr/>
          <p:nvPr/>
        </p:nvSpPr>
        <p:spPr>
          <a:xfrm>
            <a:off x="7029450" y="2355839"/>
            <a:ext cx="1495425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row connects place, time, disease, and impact.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7030008" y="3093541"/>
            <a:ext cx="100013" cy="209550"/>
          </a:xfrm>
          <a:custGeom>
            <a:avLst/>
            <a:gdLst/>
            <a:ahLst/>
            <a:cxnLst/>
            <a:rect l="l" t="t" r="r" b="b"/>
            <a:pathLst>
              <a:path w="100013" h="209550">
                <a:moveTo>
                  <a:pt x="0" y="0"/>
                </a:moveTo>
                <a:lnTo>
                  <a:pt x="100013" y="0"/>
                </a:lnTo>
                <a:lnTo>
                  <a:pt x="100013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33"/>
          <p:cNvSpPr/>
          <p:nvPr/>
        </p:nvSpPr>
        <p:spPr>
          <a:xfrm>
            <a:off x="7030008" y="3093541"/>
            <a:ext cx="1000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69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7215746" y="3094769"/>
            <a:ext cx="1309687" cy="123825"/>
          </a:xfrm>
          <a:custGeom>
            <a:avLst/>
            <a:gdLst/>
            <a:ahLst/>
            <a:cxnLst/>
            <a:rect l="l" t="t" r="r" b="b"/>
            <a:pathLst>
              <a:path w="1309687" h="123825">
                <a:moveTo>
                  <a:pt x="0" y="0"/>
                </a:moveTo>
                <a:lnTo>
                  <a:pt x="1309687" y="0"/>
                </a:lnTo>
                <a:lnTo>
                  <a:pt x="1309687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5"/>
          <p:cNvSpPr/>
          <p:nvPr/>
        </p:nvSpPr>
        <p:spPr>
          <a:xfrm>
            <a:off x="7215746" y="3094769"/>
            <a:ext cx="13096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7215746" y="3252713"/>
            <a:ext cx="1309687" cy="247650"/>
          </a:xfrm>
          <a:custGeom>
            <a:avLst/>
            <a:gdLst/>
            <a:ahLst/>
            <a:cxnLst/>
            <a:rect l="l" t="t" r="r" b="b"/>
            <a:pathLst>
              <a:path w="1309687" h="247650">
                <a:moveTo>
                  <a:pt x="0" y="0"/>
                </a:moveTo>
                <a:lnTo>
                  <a:pt x="1309687" y="0"/>
                </a:lnTo>
                <a:lnTo>
                  <a:pt x="1309687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7"/>
          <p:cNvSpPr/>
          <p:nvPr/>
        </p:nvSpPr>
        <p:spPr>
          <a:xfrm>
            <a:off x="7215746" y="3252713"/>
            <a:ext cx="13096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AEB8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Year and epidemiological week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7028594" y="3614589"/>
            <a:ext cx="133350" cy="104775"/>
          </a:xfrm>
          <a:custGeom>
            <a:avLst/>
            <a:gdLst/>
            <a:ahLst/>
            <a:cxnLst/>
            <a:rect l="l" t="t" r="r" b="b"/>
            <a:pathLst>
              <a:path w="133350" h="104775">
                <a:moveTo>
                  <a:pt x="0" y="0"/>
                </a:moveTo>
                <a:lnTo>
                  <a:pt x="133350" y="0"/>
                </a:lnTo>
                <a:lnTo>
                  <a:pt x="133350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9"/>
          <p:cNvSpPr/>
          <p:nvPr/>
        </p:nvSpPr>
        <p:spPr>
          <a:xfrm>
            <a:off x="7028594" y="3614589"/>
            <a:ext cx="1333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69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A9D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7246294" y="3615444"/>
            <a:ext cx="1247775" cy="123825"/>
          </a:xfrm>
          <a:custGeom>
            <a:avLst/>
            <a:gdLst/>
            <a:ahLst/>
            <a:cxnLst/>
            <a:rect l="l" t="t" r="r" b="b"/>
            <a:pathLst>
              <a:path w="1247775" h="123825">
                <a:moveTo>
                  <a:pt x="0" y="0"/>
                </a:moveTo>
                <a:lnTo>
                  <a:pt x="1247775" y="0"/>
                </a:lnTo>
                <a:lnTo>
                  <a:pt x="1247775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41"/>
          <p:cNvSpPr/>
          <p:nvPr/>
        </p:nvSpPr>
        <p:spPr>
          <a:xfrm>
            <a:off x="7246294" y="3615444"/>
            <a:ext cx="12477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Place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7246294" y="3773239"/>
            <a:ext cx="1247775" cy="123825"/>
          </a:xfrm>
          <a:custGeom>
            <a:avLst/>
            <a:gdLst/>
            <a:ahLst/>
            <a:cxnLst/>
            <a:rect l="l" t="t" r="r" b="b"/>
            <a:pathLst>
              <a:path w="1247775" h="123825">
                <a:moveTo>
                  <a:pt x="0" y="0"/>
                </a:moveTo>
                <a:lnTo>
                  <a:pt x="1247775" y="0"/>
                </a:lnTo>
                <a:lnTo>
                  <a:pt x="1247775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7" name="Text 43"/>
          <p:cNvSpPr/>
          <p:nvPr/>
        </p:nvSpPr>
        <p:spPr>
          <a:xfrm>
            <a:off x="7246294" y="3773239"/>
            <a:ext cx="12477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AEB8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District-level reporting unit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7030082" y="4010769"/>
            <a:ext cx="109537" cy="209550"/>
          </a:xfrm>
          <a:custGeom>
            <a:avLst/>
            <a:gdLst/>
            <a:ahLst/>
            <a:cxnLst/>
            <a:rect l="l" t="t" r="r" b="b"/>
            <a:pathLst>
              <a:path w="109537" h="209550">
                <a:moveTo>
                  <a:pt x="0" y="0"/>
                </a:moveTo>
                <a:lnTo>
                  <a:pt x="109537" y="0"/>
                </a:lnTo>
                <a:lnTo>
                  <a:pt x="109537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9" name="Text 45"/>
          <p:cNvSpPr/>
          <p:nvPr/>
        </p:nvSpPr>
        <p:spPr>
          <a:xfrm>
            <a:off x="7030082" y="4010769"/>
            <a:ext cx="1095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69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C58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7225345" y="4011997"/>
            <a:ext cx="1300163" cy="123825"/>
          </a:xfrm>
          <a:custGeom>
            <a:avLst/>
            <a:gdLst/>
            <a:ahLst/>
            <a:cxnLst/>
            <a:rect l="l" t="t" r="r" b="b"/>
            <a:pathLst>
              <a:path w="1300163" h="123825">
                <a:moveTo>
                  <a:pt x="0" y="0"/>
                </a:moveTo>
                <a:lnTo>
                  <a:pt x="1300163" y="0"/>
                </a:lnTo>
                <a:lnTo>
                  <a:pt x="1300163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1" name="Text 47"/>
          <p:cNvSpPr/>
          <p:nvPr/>
        </p:nvSpPr>
        <p:spPr>
          <a:xfrm>
            <a:off x="7225345" y="4011997"/>
            <a:ext cx="13001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7225345" y="4169941"/>
            <a:ext cx="1300163" cy="247650"/>
          </a:xfrm>
          <a:custGeom>
            <a:avLst/>
            <a:gdLst/>
            <a:ahLst/>
            <a:cxnLst/>
            <a:rect l="l" t="t" r="r" b="b"/>
            <a:pathLst>
              <a:path w="1300163" h="247650">
                <a:moveTo>
                  <a:pt x="0" y="0"/>
                </a:moveTo>
                <a:lnTo>
                  <a:pt x="1300163" y="0"/>
                </a:lnTo>
                <a:lnTo>
                  <a:pt x="1300163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3" name="Text 49"/>
          <p:cNvSpPr/>
          <p:nvPr/>
        </p:nvSpPr>
        <p:spPr>
          <a:xfrm>
            <a:off x="7225345" y="4169941"/>
            <a:ext cx="13001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AEB8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Cases and deaths, when available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7029450" y="4418707"/>
            <a:ext cx="1495425" cy="323850"/>
          </a:xfrm>
          <a:custGeom>
            <a:avLst/>
            <a:gdLst/>
            <a:ahLst/>
            <a:cxnLst/>
            <a:rect l="l" t="t" r="r" b="b"/>
            <a:pathLst>
              <a:path w="1495425" h="323850">
                <a:moveTo>
                  <a:pt x="0" y="0"/>
                </a:moveTo>
                <a:lnTo>
                  <a:pt x="1495425" y="0"/>
                </a:lnTo>
                <a:lnTo>
                  <a:pt x="1495425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5" name="Text 51"/>
          <p:cNvSpPr/>
          <p:nvPr/>
        </p:nvSpPr>
        <p:spPr>
          <a:xfrm>
            <a:off x="7029450" y="4418707"/>
            <a:ext cx="14954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602" dirty="0">
                <a:solidFill>
                  <a:srgbClr val="8E9A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Template view only · values intentionally withheld</a:t>
            </a:r>
            <a:endParaRPr lang="en-US" sz="900" dirty="0"/>
          </a:p>
        </p:txBody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450" y="4418707"/>
            <a:ext cx="1495425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370991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70991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 · DATA PREPARATION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595313"/>
            <a:ext cx="8229600" cy="338137"/>
          </a:xfrm>
          <a:custGeom>
            <a:avLst/>
            <a:gdLst/>
            <a:ahLst/>
            <a:cxnLst/>
            <a:rect l="l" t="t" r="r" b="b"/>
            <a:pathLst>
              <a:path w="8229600" h="338137">
                <a:moveTo>
                  <a:pt x="0" y="0"/>
                </a:moveTo>
                <a:lnTo>
                  <a:pt x="8229600" y="0"/>
                </a:lnTo>
                <a:lnTo>
                  <a:pt x="8229600" y="338137"/>
                </a:lnTo>
                <a:lnTo>
                  <a:pt x="0" y="338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95313"/>
            <a:ext cx="8229600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Cleaning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20627"/>
            <a:ext cx="5715000" cy="204787"/>
          </a:xfrm>
          <a:custGeom>
            <a:avLst/>
            <a:gdLst/>
            <a:ahLst/>
            <a:cxnLst/>
            <a:rect l="l" t="t" r="r" b="b"/>
            <a:pathLst>
              <a:path w="5715000" h="204787">
                <a:moveTo>
                  <a:pt x="0" y="0"/>
                </a:moveTo>
                <a:lnTo>
                  <a:pt x="5715000" y="0"/>
                </a:lnTo>
                <a:lnTo>
                  <a:pt x="5715000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020627"/>
            <a:ext cx="571500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Turning report artifacts into a defensible analytical dataset.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786905"/>
            <a:ext cx="4000500" cy="3014663"/>
          </a:xfrm>
          <a:custGeom>
            <a:avLst/>
            <a:gdLst/>
            <a:ahLst/>
            <a:cxnLst/>
            <a:rect l="l" t="t" r="r" b="b"/>
            <a:pathLst>
              <a:path w="4000500" h="3014663">
                <a:moveTo>
                  <a:pt x="26017" y="0"/>
                </a:moveTo>
                <a:lnTo>
                  <a:pt x="3974483" y="0"/>
                </a:lnTo>
                <a:quadBezTo>
                  <a:pt x="4000500" y="0"/>
                  <a:pt x="4000500" y="26017"/>
                </a:quadBezTo>
                <a:lnTo>
                  <a:pt x="4000500" y="2988646"/>
                </a:lnTo>
                <a:quadBezTo>
                  <a:pt x="4000500" y="3014663"/>
                  <a:pt x="3974483" y="3014663"/>
                </a:quadBezTo>
                <a:lnTo>
                  <a:pt x="26017" y="3014663"/>
                </a:lnTo>
                <a:quadBezTo>
                  <a:pt x="0" y="3014663"/>
                  <a:pt x="0" y="2988646"/>
                </a:quadBezTo>
                <a:lnTo>
                  <a:pt x="0" y="26017"/>
                </a:lnTo>
                <a:quadBezTo>
                  <a:pt x="0" y="0"/>
                  <a:pt x="26017" y="0"/>
                </a:quadBezTo>
                <a:close/>
              </a:path>
            </a:pathLst>
          </a:custGeom>
          <a:solidFill>
            <a:srgbClr val="EEF2F5"/>
          </a:solidFill>
          <a:ln/>
        </p:spPr>
      </p:sp>
      <p:sp>
        <p:nvSpPr>
          <p:cNvPr id="12" name="Shape 9"/>
          <p:cNvSpPr/>
          <p:nvPr/>
        </p:nvSpPr>
        <p:spPr>
          <a:xfrm>
            <a:off x="704850" y="2015282"/>
            <a:ext cx="3505200" cy="133350"/>
          </a:xfrm>
          <a:custGeom>
            <a:avLst/>
            <a:gdLst/>
            <a:ahLst/>
            <a:cxnLst/>
            <a:rect l="l" t="t" r="r" b="b"/>
            <a:pathLst>
              <a:path w="3505200" h="133350">
                <a:moveTo>
                  <a:pt x="0" y="0"/>
                </a:moveTo>
                <a:lnTo>
                  <a:pt x="3505200" y="0"/>
                </a:lnTo>
                <a:lnTo>
                  <a:pt x="3505200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04850" y="2015282"/>
            <a:ext cx="3505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SOURCE MATERIAL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04850" y="2289609"/>
            <a:ext cx="3505200" cy="209550"/>
          </a:xfrm>
          <a:custGeom>
            <a:avLst/>
            <a:gdLst/>
            <a:ahLst/>
            <a:cxnLst/>
            <a:rect l="l" t="t" r="r" b="b"/>
            <a:pathLst>
              <a:path w="3505200" h="209550">
                <a:moveTo>
                  <a:pt x="0" y="0"/>
                </a:moveTo>
                <a:lnTo>
                  <a:pt x="3505200" y="0"/>
                </a:lnTo>
                <a:lnTo>
                  <a:pt x="3505200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04850" y="2289609"/>
            <a:ext cx="3505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reports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04850" y="2642406"/>
            <a:ext cx="3505200" cy="171450"/>
          </a:xfrm>
          <a:custGeom>
            <a:avLst/>
            <a:gdLst/>
            <a:ahLst/>
            <a:cxnLst/>
            <a:rect l="l" t="t" r="r" b="b"/>
            <a:pathLst>
              <a:path w="3505200" h="171450">
                <a:moveTo>
                  <a:pt x="0" y="0"/>
                </a:moveTo>
                <a:lnTo>
                  <a:pt x="3505200" y="0"/>
                </a:lnTo>
                <a:lnTo>
                  <a:pt x="35052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704850" y="2642406"/>
            <a:ext cx="3505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9130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Useful evidence, but not yet analysis-ready.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04850" y="3014960"/>
            <a:ext cx="3505200" cy="4763"/>
          </a:xfrm>
          <a:custGeom>
            <a:avLst/>
            <a:gdLst/>
            <a:ahLst/>
            <a:cxnLst/>
            <a:rect l="l" t="t" r="r" b="b"/>
            <a:pathLst>
              <a:path w="3505200" h="4763">
                <a:moveTo>
                  <a:pt x="0" y="0"/>
                </a:moveTo>
                <a:lnTo>
                  <a:pt x="3505200" y="0"/>
                </a:lnTo>
                <a:lnTo>
                  <a:pt x="3505200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D7D2C9"/>
          </a:solidFill>
          <a:ln/>
        </p:spPr>
      </p:sp>
      <p:sp>
        <p:nvSpPr>
          <p:cNvPr id="19" name="Shape 16"/>
          <p:cNvSpPr/>
          <p:nvPr/>
        </p:nvSpPr>
        <p:spPr>
          <a:xfrm>
            <a:off x="704850" y="3201665"/>
            <a:ext cx="3505200" cy="171450"/>
          </a:xfrm>
          <a:custGeom>
            <a:avLst/>
            <a:gdLst/>
            <a:ahLst/>
            <a:cxnLst/>
            <a:rect l="l" t="t" r="r" b="b"/>
            <a:pathLst>
              <a:path w="3505200" h="171450">
                <a:moveTo>
                  <a:pt x="0" y="0"/>
                </a:moveTo>
                <a:lnTo>
                  <a:pt x="3505200" y="0"/>
                </a:lnTo>
                <a:lnTo>
                  <a:pt x="35052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04850" y="3201665"/>
            <a:ext cx="3505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 fields from official report artifacts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04850" y="3508400"/>
            <a:ext cx="3505200" cy="171450"/>
          </a:xfrm>
          <a:custGeom>
            <a:avLst/>
            <a:gdLst/>
            <a:ahLst/>
            <a:cxnLst/>
            <a:rect l="l" t="t" r="r" b="b"/>
            <a:pathLst>
              <a:path w="3505200" h="171450">
                <a:moveTo>
                  <a:pt x="0" y="0"/>
                </a:moveTo>
                <a:lnTo>
                  <a:pt x="3505200" y="0"/>
                </a:lnTo>
                <a:lnTo>
                  <a:pt x="35052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704850" y="3508400"/>
            <a:ext cx="3505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inconsistent labels, dates, and gaps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04850" y="4296519"/>
            <a:ext cx="3505200" cy="276225"/>
          </a:xfrm>
          <a:custGeom>
            <a:avLst/>
            <a:gdLst/>
            <a:ahLst/>
            <a:cxnLst/>
            <a:rect l="l" t="t" r="r" b="b"/>
            <a:pathLst>
              <a:path w="3505200" h="276225">
                <a:moveTo>
                  <a:pt x="0" y="0"/>
                </a:moveTo>
                <a:lnTo>
                  <a:pt x="3505200" y="0"/>
                </a:lnTo>
                <a:lnTo>
                  <a:pt x="3505200" y="276225"/>
                </a:lnTo>
                <a:lnTo>
                  <a:pt x="0" y="2762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704850" y="4296519"/>
            <a:ext cx="35052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Scattered structure · variable language · missing context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686300" y="1786905"/>
            <a:ext cx="4000500" cy="3014663"/>
          </a:xfrm>
          <a:custGeom>
            <a:avLst/>
            <a:gdLst/>
            <a:ahLst/>
            <a:cxnLst/>
            <a:rect l="l" t="t" r="r" b="b"/>
            <a:pathLst>
              <a:path w="4000500" h="3014663">
                <a:moveTo>
                  <a:pt x="26017" y="0"/>
                </a:moveTo>
                <a:lnTo>
                  <a:pt x="3974483" y="0"/>
                </a:lnTo>
                <a:quadBezTo>
                  <a:pt x="4000500" y="0"/>
                  <a:pt x="4000500" y="26017"/>
                </a:quadBezTo>
                <a:lnTo>
                  <a:pt x="4000500" y="2988646"/>
                </a:lnTo>
                <a:quadBezTo>
                  <a:pt x="4000500" y="3014663"/>
                  <a:pt x="3974483" y="3014663"/>
                </a:quadBezTo>
                <a:lnTo>
                  <a:pt x="26017" y="3014663"/>
                </a:lnTo>
                <a:quadBezTo>
                  <a:pt x="0" y="3014663"/>
                  <a:pt x="0" y="2988646"/>
                </a:quadBezTo>
                <a:lnTo>
                  <a:pt x="0" y="26017"/>
                </a:lnTo>
                <a:quadBezTo>
                  <a:pt x="0" y="0"/>
                  <a:pt x="26017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66675" dir="2700000">
              <a:srgbClr val="111418">
                <a:alpha val="7843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972050" y="2015282"/>
            <a:ext cx="3467100" cy="133350"/>
          </a:xfrm>
          <a:custGeom>
            <a:avLst/>
            <a:gdLst/>
            <a:ahLst/>
            <a:cxnLst/>
            <a:rect l="l" t="t" r="r" b="b"/>
            <a:pathLst>
              <a:path w="3467100" h="133350">
                <a:moveTo>
                  <a:pt x="0" y="0"/>
                </a:moveTo>
                <a:lnTo>
                  <a:pt x="3467100" y="0"/>
                </a:lnTo>
                <a:lnTo>
                  <a:pt x="3467100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4972050" y="2015282"/>
            <a:ext cx="3467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A9D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ANALYTICAL STRUCTURE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972050" y="2289609"/>
            <a:ext cx="3467100" cy="209550"/>
          </a:xfrm>
          <a:custGeom>
            <a:avLst/>
            <a:gdLst/>
            <a:ahLst/>
            <a:cxnLst/>
            <a:rect l="l" t="t" r="r" b="b"/>
            <a:pathLst>
              <a:path w="3467100" h="209550">
                <a:moveTo>
                  <a:pt x="0" y="0"/>
                </a:moveTo>
                <a:lnTo>
                  <a:pt x="3467100" y="0"/>
                </a:lnTo>
                <a:lnTo>
                  <a:pt x="3467100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4972050" y="2289609"/>
            <a:ext cx="3467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 dataset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972050" y="2642406"/>
            <a:ext cx="3467100" cy="171450"/>
          </a:xfrm>
          <a:custGeom>
            <a:avLst/>
            <a:gdLst/>
            <a:ahLst/>
            <a:cxnLst/>
            <a:rect l="l" t="t" r="r" b="b"/>
            <a:pathLst>
              <a:path w="3467100" h="171450">
                <a:moveTo>
                  <a:pt x="0" y="0"/>
                </a:moveTo>
                <a:lnTo>
                  <a:pt x="3467100" y="0"/>
                </a:lnTo>
                <a:lnTo>
                  <a:pt x="34671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4972050" y="2642406"/>
            <a:ext cx="3467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9130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Validated, standardized, and ready for interpretation.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972050" y="3014960"/>
            <a:ext cx="3467100" cy="4763"/>
          </a:xfrm>
          <a:custGeom>
            <a:avLst/>
            <a:gdLst/>
            <a:ahLst/>
            <a:cxnLst/>
            <a:rect l="l" t="t" r="r" b="b"/>
            <a:pathLst>
              <a:path w="3467100" h="4763">
                <a:moveTo>
                  <a:pt x="0" y="0"/>
                </a:moveTo>
                <a:lnTo>
                  <a:pt x="3467100" y="0"/>
                </a:lnTo>
                <a:lnTo>
                  <a:pt x="3467100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C8DDD9"/>
          </a:solidFill>
          <a:ln/>
        </p:spPr>
      </p:sp>
      <p:sp>
        <p:nvSpPr>
          <p:cNvPr id="33" name="Shape 30"/>
          <p:cNvSpPr/>
          <p:nvPr/>
        </p:nvSpPr>
        <p:spPr>
          <a:xfrm>
            <a:off x="4972050" y="3201665"/>
            <a:ext cx="3467100" cy="171450"/>
          </a:xfrm>
          <a:custGeom>
            <a:avLst/>
            <a:gdLst/>
            <a:ahLst/>
            <a:cxnLst/>
            <a:rect l="l" t="t" r="r" b="b"/>
            <a:pathLst>
              <a:path w="3467100" h="171450">
                <a:moveTo>
                  <a:pt x="0" y="0"/>
                </a:moveTo>
                <a:lnTo>
                  <a:pt x="3467100" y="0"/>
                </a:lnTo>
                <a:lnTo>
                  <a:pt x="34671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4972050" y="3201665"/>
            <a:ext cx="3467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2A9D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 extracted values against source reports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972050" y="3508400"/>
            <a:ext cx="3467100" cy="171450"/>
          </a:xfrm>
          <a:custGeom>
            <a:avLst/>
            <a:gdLst/>
            <a:ahLst/>
            <a:cxnLst/>
            <a:rect l="l" t="t" r="r" b="b"/>
            <a:pathLst>
              <a:path w="3467100" h="171450">
                <a:moveTo>
                  <a:pt x="0" y="0"/>
                </a:moveTo>
                <a:lnTo>
                  <a:pt x="3467100" y="0"/>
                </a:lnTo>
                <a:lnTo>
                  <a:pt x="34671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4972050" y="3508400"/>
            <a:ext cx="3467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2A9D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Standardize labels and date formats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972050" y="3815135"/>
            <a:ext cx="3467100" cy="171450"/>
          </a:xfrm>
          <a:custGeom>
            <a:avLst/>
            <a:gdLst/>
            <a:ahLst/>
            <a:cxnLst/>
            <a:rect l="l" t="t" r="r" b="b"/>
            <a:pathLst>
              <a:path w="3467100" h="171450">
                <a:moveTo>
                  <a:pt x="0" y="0"/>
                </a:moveTo>
                <a:lnTo>
                  <a:pt x="3467100" y="0"/>
                </a:lnTo>
                <a:lnTo>
                  <a:pt x="34671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4972050" y="3815135"/>
            <a:ext cx="3467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2A9D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illustrative missing-value handling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972050" y="4296519"/>
            <a:ext cx="3467100" cy="276225"/>
          </a:xfrm>
          <a:custGeom>
            <a:avLst/>
            <a:gdLst/>
            <a:ahLst/>
            <a:cxnLst/>
            <a:rect l="l" t="t" r="r" b="b"/>
            <a:pathLst>
              <a:path w="3467100" h="276225">
                <a:moveTo>
                  <a:pt x="0" y="0"/>
                </a:moveTo>
                <a:lnTo>
                  <a:pt x="3467100" y="0"/>
                </a:lnTo>
                <a:lnTo>
                  <a:pt x="3467100" y="276225"/>
                </a:lnTo>
                <a:lnTo>
                  <a:pt x="0" y="2762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4972050" y="4296519"/>
            <a:ext cx="34671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A9D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Traceable transformations · consistent fields · analysis-ready</a:t>
            </a:r>
            <a:endParaRPr lang="en-US" sz="9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6300" y="1786905"/>
            <a:ext cx="4000500" cy="30146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5" name="Shape 2"/>
          <p:cNvSpPr/>
          <p:nvPr/>
        </p:nvSpPr>
        <p:spPr>
          <a:xfrm>
            <a:off x="438150" y="370991"/>
            <a:ext cx="8267700" cy="138113"/>
          </a:xfrm>
          <a:custGeom>
            <a:avLst/>
            <a:gdLst/>
            <a:ahLst/>
            <a:cxnLst/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38150" y="370991"/>
            <a:ext cx="82677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SEASONALITY CONCEPT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7479" y="597098"/>
            <a:ext cx="3500438" cy="328613"/>
          </a:xfrm>
          <a:custGeom>
            <a:avLst/>
            <a:gdLst/>
            <a:ahLst/>
            <a:cxnLst/>
            <a:rect l="l" t="t" r="r" b="b"/>
            <a:pathLst>
              <a:path w="3500438" h="328613">
                <a:moveTo>
                  <a:pt x="0" y="0"/>
                </a:moveTo>
                <a:lnTo>
                  <a:pt x="3500438" y="0"/>
                </a:lnTo>
                <a:lnTo>
                  <a:pt x="3500438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7479" y="597098"/>
            <a:ext cx="350043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2256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becomes pattern.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324600" y="576114"/>
            <a:ext cx="2381250" cy="347663"/>
          </a:xfrm>
          <a:custGeom>
            <a:avLst/>
            <a:gdLst/>
            <a:ahLst/>
            <a:cxnLst/>
            <a:rect l="l" t="t" r="r" b="b"/>
            <a:pathLst>
              <a:path w="2381250" h="347663">
                <a:moveTo>
                  <a:pt x="0" y="0"/>
                </a:moveTo>
                <a:lnTo>
                  <a:pt x="2381250" y="0"/>
                </a:lnTo>
                <a:lnTo>
                  <a:pt x="238125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324600" y="576114"/>
            <a:ext cx="238125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conceptual framework for reading recurring change — not a findings slide.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8150" y="1076996"/>
            <a:ext cx="8267700" cy="9525"/>
          </a:xfrm>
          <a:custGeom>
            <a:avLst/>
            <a:gdLst/>
            <a:ahLst/>
            <a:cxnLst/>
            <a:rect l="l" t="t" r="r" b="b"/>
            <a:pathLst>
              <a:path w="8267700" h="9525">
                <a:moveTo>
                  <a:pt x="0" y="0"/>
                </a:moveTo>
                <a:lnTo>
                  <a:pt x="8267700" y="0"/>
                </a:lnTo>
                <a:lnTo>
                  <a:pt x="8267700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D8D4CC"/>
          </a:solidFill>
          <a:ln/>
        </p:spPr>
      </p:sp>
      <p:sp>
        <p:nvSpPr>
          <p:cNvPr id="12" name="Shape 9"/>
          <p:cNvSpPr/>
          <p:nvPr/>
        </p:nvSpPr>
        <p:spPr>
          <a:xfrm>
            <a:off x="438150" y="2068488"/>
            <a:ext cx="3905250" cy="385763"/>
          </a:xfrm>
          <a:custGeom>
            <a:avLst/>
            <a:gdLst/>
            <a:ahLst/>
            <a:cxnLst/>
            <a:rect l="l" t="t" r="r" b="b"/>
            <a:pathLst>
              <a:path w="3905250" h="385763">
                <a:moveTo>
                  <a:pt x="0" y="0"/>
                </a:moveTo>
                <a:lnTo>
                  <a:pt x="3905250" y="0"/>
                </a:lnTo>
                <a:lnTo>
                  <a:pt x="390525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38150" y="2068488"/>
            <a:ext cx="3905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“The unit of analysis shifts from a single week to the rhythm of a season.”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8150" y="2616175"/>
            <a:ext cx="438150" cy="4763"/>
          </a:xfrm>
          <a:custGeom>
            <a:avLst/>
            <a:gdLst/>
            <a:ahLst/>
            <a:cxnLst/>
            <a:rect l="l" t="t" r="r" b="b"/>
            <a:pathLst>
              <a:path w="438150" h="4763">
                <a:moveTo>
                  <a:pt x="0" y="0"/>
                </a:moveTo>
                <a:lnTo>
                  <a:pt x="438150" y="0"/>
                </a:lnTo>
                <a:lnTo>
                  <a:pt x="438150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C58B2B"/>
          </a:solidFill>
          <a:ln/>
        </p:spPr>
      </p:sp>
      <p:sp>
        <p:nvSpPr>
          <p:cNvPr id="15" name="Shape 12"/>
          <p:cNvSpPr/>
          <p:nvPr/>
        </p:nvSpPr>
        <p:spPr>
          <a:xfrm>
            <a:off x="438150" y="2762622"/>
            <a:ext cx="3905250" cy="561975"/>
          </a:xfrm>
          <a:custGeom>
            <a:avLst/>
            <a:gdLst/>
            <a:ahLst/>
            <a:cxnLst/>
            <a:rect l="l" t="t" r="r" b="b"/>
            <a:pathLst>
              <a:path w="3905250" h="561975">
                <a:moveTo>
                  <a:pt x="0" y="0"/>
                </a:moveTo>
                <a:lnTo>
                  <a:pt x="3905250" y="0"/>
                </a:lnTo>
                <a:lnTo>
                  <a:pt x="3905250" y="561975"/>
                </a:lnTo>
                <a:lnTo>
                  <a:pt x="0" y="561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38150" y="2762622"/>
            <a:ext cx="39052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1901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 the cadence</a:t>
            </a:r>
            <a:endParaRPr lang="en-US" sz="900" dirty="0"/>
          </a:p>
          <a:p>
            <a:pPr algn="l" indent="0" marL="0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1901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interpreting it.</a:t>
            </a:r>
            <a:endParaRPr lang="en-US" sz="9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3585345"/>
            <a:ext cx="133350" cy="13335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57410" y="3570089"/>
            <a:ext cx="2171700" cy="161925"/>
          </a:xfrm>
          <a:custGeom>
            <a:avLst/>
            <a:gdLst/>
            <a:ahLst/>
            <a:cxnLst/>
            <a:rect l="l" t="t" r="r" b="b"/>
            <a:pathLst>
              <a:path w="2171700" h="161925">
                <a:moveTo>
                  <a:pt x="0" y="0"/>
                </a:moveTo>
                <a:lnTo>
                  <a:pt x="2171700" y="0"/>
                </a:lnTo>
                <a:lnTo>
                  <a:pt x="2171700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657410" y="3570089"/>
            <a:ext cx="21717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→ month → season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57410" y="3765314"/>
            <a:ext cx="2171700" cy="152400"/>
          </a:xfrm>
          <a:custGeom>
            <a:avLst/>
            <a:gdLst/>
            <a:ahLst/>
            <a:cxnLst/>
            <a:rect l="l" t="t" r="r" b="b"/>
            <a:pathLst>
              <a:path w="2171700" h="152400">
                <a:moveTo>
                  <a:pt x="0" y="0"/>
                </a:moveTo>
                <a:lnTo>
                  <a:pt x="2171700" y="0"/>
                </a:lnTo>
                <a:lnTo>
                  <a:pt x="21717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657410" y="3765314"/>
            <a:ext cx="2171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consistent scale for organizing time.</a:t>
            </a:r>
            <a:endParaRPr lang="en-US" sz="9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4056757"/>
            <a:ext cx="133350" cy="13335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57151" y="4041502"/>
            <a:ext cx="2757488" cy="161925"/>
          </a:xfrm>
          <a:custGeom>
            <a:avLst/>
            <a:gdLst/>
            <a:ahLst/>
            <a:cxnLst/>
            <a:rect l="l" t="t" r="r" b="b"/>
            <a:pathLst>
              <a:path w="2757488" h="161925">
                <a:moveTo>
                  <a:pt x="0" y="0"/>
                </a:moveTo>
                <a:lnTo>
                  <a:pt x="2757488" y="0"/>
                </a:lnTo>
                <a:lnTo>
                  <a:pt x="2757488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657151" y="4041502"/>
            <a:ext cx="27574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logic over time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57151" y="4236728"/>
            <a:ext cx="2757488" cy="152400"/>
          </a:xfrm>
          <a:custGeom>
            <a:avLst/>
            <a:gdLst/>
            <a:ahLst/>
            <a:cxnLst/>
            <a:rect l="l" t="t" r="r" b="b"/>
            <a:pathLst>
              <a:path w="2757488" h="152400">
                <a:moveTo>
                  <a:pt x="0" y="0"/>
                </a:moveTo>
                <a:lnTo>
                  <a:pt x="2757488" y="0"/>
                </a:lnTo>
                <a:lnTo>
                  <a:pt x="2757488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657151" y="4236728"/>
            <a:ext cx="27574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Observe recurrence before drawing conclusions.</a:t>
            </a:r>
            <a:endParaRPr lang="en-US" sz="9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458" y="1657685"/>
            <a:ext cx="3643313" cy="314325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288384" y="4232932"/>
            <a:ext cx="1485900" cy="123825"/>
          </a:xfrm>
          <a:custGeom>
            <a:avLst/>
            <a:gdLst/>
            <a:ahLst/>
            <a:cxnLst/>
            <a:rect l="l" t="t" r="r" b="b"/>
            <a:pathLst>
              <a:path w="1485900" h="123825">
                <a:moveTo>
                  <a:pt x="0" y="0"/>
                </a:moveTo>
                <a:lnTo>
                  <a:pt x="1485900" y="0"/>
                </a:lnTo>
                <a:lnTo>
                  <a:pt x="148590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5288384" y="4232932"/>
            <a:ext cx="14859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9CB9D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FRAMEWORK VIEW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288384" y="4405313"/>
            <a:ext cx="1485900" cy="166688"/>
          </a:xfrm>
          <a:custGeom>
            <a:avLst/>
            <a:gdLst/>
            <a:ahLst/>
            <a:cxnLst/>
            <a:rect l="l" t="t" r="r" b="b"/>
            <a:pathLst>
              <a:path w="1485900" h="166688">
                <a:moveTo>
                  <a:pt x="0" y="0"/>
                </a:moveTo>
                <a:lnTo>
                  <a:pt x="1485900" y="0"/>
                </a:lnTo>
                <a:lnTo>
                  <a:pt x="1485900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5"/>
          <p:cNvSpPr/>
          <p:nvPr/>
        </p:nvSpPr>
        <p:spPr>
          <a:xfrm>
            <a:off x="5288384" y="4405313"/>
            <a:ext cx="148590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interval to cycle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7611480" y="4300090"/>
            <a:ext cx="866775" cy="271463"/>
          </a:xfrm>
          <a:custGeom>
            <a:avLst/>
            <a:gdLst/>
            <a:ahLst/>
            <a:cxnLst/>
            <a:rect l="l" t="t" r="r" b="b"/>
            <a:pathLst>
              <a:path w="866775" h="271463">
                <a:moveTo>
                  <a:pt x="0" y="0"/>
                </a:moveTo>
                <a:lnTo>
                  <a:pt x="866775" y="0"/>
                </a:lnTo>
                <a:lnTo>
                  <a:pt x="866775" y="271463"/>
                </a:lnTo>
                <a:lnTo>
                  <a:pt x="0" y="2714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7"/>
          <p:cNvSpPr/>
          <p:nvPr/>
        </p:nvSpPr>
        <p:spPr>
          <a:xfrm>
            <a:off x="7611480" y="4300090"/>
            <a:ext cx="86677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D7E0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Conceptual only</a:t>
            </a:r>
            <a:endParaRPr lang="en-US" sz="900" dirty="0"/>
          </a:p>
          <a:p>
            <a:pPr algn="r" indent="0" marL="0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D7E0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a result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5" name="Shape 2"/>
          <p:cNvSpPr/>
          <p:nvPr/>
        </p:nvSpPr>
        <p:spPr>
          <a:xfrm>
            <a:off x="438150" y="414338"/>
            <a:ext cx="161925" cy="14288"/>
          </a:xfrm>
          <a:custGeom>
            <a:avLst/>
            <a:gdLst/>
            <a:ahLst/>
            <a:cxnLst/>
            <a:rect l="l" t="t" r="r" b="b"/>
            <a:pathLst>
              <a:path w="161925" h="14288">
                <a:moveTo>
                  <a:pt x="0" y="0"/>
                </a:moveTo>
                <a:lnTo>
                  <a:pt x="161925" y="0"/>
                </a:lnTo>
                <a:lnTo>
                  <a:pt x="161925" y="14288"/>
                </a:lnTo>
                <a:lnTo>
                  <a:pt x="0" y="14288"/>
                </a:lnTo>
                <a:close/>
              </a:path>
            </a:pathLst>
          </a:custGeom>
          <a:solidFill>
            <a:srgbClr val="4C78A8"/>
          </a:solidFill>
          <a:ln/>
        </p:spPr>
      </p:sp>
      <p:sp>
        <p:nvSpPr>
          <p:cNvPr id="6" name="Shape 3"/>
          <p:cNvSpPr/>
          <p:nvPr/>
        </p:nvSpPr>
        <p:spPr>
          <a:xfrm>
            <a:off x="666750" y="357188"/>
            <a:ext cx="2114029" cy="128588"/>
          </a:xfrm>
          <a:custGeom>
            <a:avLst/>
            <a:gdLst/>
            <a:ahLst/>
            <a:cxnLst/>
            <a:rect l="l" t="t" r="r" b="b"/>
            <a:pathLst>
              <a:path w="2114029" h="128588">
                <a:moveTo>
                  <a:pt x="0" y="0"/>
                </a:moveTo>
                <a:lnTo>
                  <a:pt x="2114029" y="0"/>
                </a:lnTo>
                <a:lnTo>
                  <a:pt x="2114029" y="128588"/>
                </a:lnTo>
                <a:lnTo>
                  <a:pt x="0" y="1285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66750" y="357188"/>
            <a:ext cx="211402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 analysis template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38150" y="566998"/>
            <a:ext cx="8267700" cy="328613"/>
          </a:xfrm>
          <a:custGeom>
            <a:avLst/>
            <a:gdLst/>
            <a:ahLst/>
            <a:cxnLst/>
            <a:rect l="l" t="t" r="r" b="b"/>
            <a:pathLst>
              <a:path w="8267700" h="328613">
                <a:moveTo>
                  <a:pt x="0" y="0"/>
                </a:moveTo>
                <a:lnTo>
                  <a:pt x="8267700" y="0"/>
                </a:lnTo>
                <a:lnTo>
                  <a:pt x="8267700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38150" y="566998"/>
            <a:ext cx="82677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Weekly trend, ready for final values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8150" y="961354"/>
            <a:ext cx="8267700" cy="195263"/>
          </a:xfrm>
          <a:custGeom>
            <a:avLst/>
            <a:gdLst/>
            <a:ahLst/>
            <a:cxnLst/>
            <a:rect l="l" t="t" r="r" b="b"/>
            <a:pathLst>
              <a:path w="8267700" h="195263">
                <a:moveTo>
                  <a:pt x="0" y="0"/>
                </a:moveTo>
                <a:lnTo>
                  <a:pt x="8267700" y="0"/>
                </a:lnTo>
                <a:lnTo>
                  <a:pt x="826770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38150" y="961354"/>
            <a:ext cx="82677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clean time-series frame for showing movement, comparison, and reporting cadence.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8150" y="1699282"/>
            <a:ext cx="5734050" cy="3138488"/>
          </a:xfrm>
          <a:custGeom>
            <a:avLst/>
            <a:gdLst/>
            <a:ahLst/>
            <a:cxnLst/>
            <a:rect l="l" t="t" r="r" b="b"/>
            <a:pathLst>
              <a:path w="5734050" h="3138488">
                <a:moveTo>
                  <a:pt x="24982" y="0"/>
                </a:moveTo>
                <a:lnTo>
                  <a:pt x="5709068" y="0"/>
                </a:lnTo>
                <a:quadBezTo>
                  <a:pt x="5734050" y="0"/>
                  <a:pt x="5734050" y="24982"/>
                </a:quadBezTo>
                <a:lnTo>
                  <a:pt x="5734050" y="3113505"/>
                </a:lnTo>
                <a:quadBezTo>
                  <a:pt x="5734050" y="3138488"/>
                  <a:pt x="5709068" y="3138488"/>
                </a:quadBezTo>
                <a:lnTo>
                  <a:pt x="24982" y="3138488"/>
                </a:lnTo>
                <a:quadBezTo>
                  <a:pt x="0" y="3138488"/>
                  <a:pt x="0" y="3113505"/>
                </a:quadBezTo>
                <a:lnTo>
                  <a:pt x="0" y="24982"/>
                </a:lnTo>
                <a:quadBezTo>
                  <a:pt x="0" y="0"/>
                  <a:pt x="24982" y="0"/>
                </a:quadBezTo>
                <a:close/>
              </a:path>
            </a:pathLst>
          </a:custGeom>
          <a:solidFill>
            <a:srgbClr val="EEF2F5"/>
          </a:solidFill>
          <a:ln/>
        </p:spPr>
      </p:sp>
      <p:sp>
        <p:nvSpPr>
          <p:cNvPr id="13" name="Shape 10"/>
          <p:cNvSpPr/>
          <p:nvPr/>
        </p:nvSpPr>
        <p:spPr>
          <a:xfrm>
            <a:off x="639328" y="1880257"/>
            <a:ext cx="2638425" cy="180975"/>
          </a:xfrm>
          <a:custGeom>
            <a:avLst/>
            <a:gdLst/>
            <a:ahLst/>
            <a:cxnLst/>
            <a:rect l="l" t="t" r="r" b="b"/>
            <a:pathLst>
              <a:path w="2638425" h="180975">
                <a:moveTo>
                  <a:pt x="0" y="0"/>
                </a:moveTo>
                <a:lnTo>
                  <a:pt x="2638425" y="0"/>
                </a:lnTo>
                <a:lnTo>
                  <a:pt x="263842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39328" y="1880257"/>
            <a:ext cx="2638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Placeholder weekly trend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39328" y="2101193"/>
            <a:ext cx="2638425" cy="152400"/>
          </a:xfrm>
          <a:custGeom>
            <a:avLst/>
            <a:gdLst/>
            <a:ahLst/>
            <a:cxnLst/>
            <a:rect l="l" t="t" r="r" b="b"/>
            <a:pathLst>
              <a:path w="2638425" h="152400">
                <a:moveTo>
                  <a:pt x="0" y="0"/>
                </a:moveTo>
                <a:lnTo>
                  <a:pt x="2638425" y="0"/>
                </a:lnTo>
                <a:lnTo>
                  <a:pt x="2638425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39328" y="2101193"/>
            <a:ext cx="2638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889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observations will replace the open series.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124674" y="195314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4C78A8"/>
          </a:solidFill>
          <a:ln/>
        </p:spPr>
      </p:sp>
      <p:sp>
        <p:nvSpPr>
          <p:cNvPr id="18" name="Shape 15"/>
          <p:cNvSpPr/>
          <p:nvPr/>
        </p:nvSpPr>
        <p:spPr>
          <a:xfrm>
            <a:off x="5229449" y="1917427"/>
            <a:ext cx="742726" cy="128588"/>
          </a:xfrm>
          <a:custGeom>
            <a:avLst/>
            <a:gdLst/>
            <a:ahLst/>
            <a:cxnLst/>
            <a:rect l="l" t="t" r="r" b="b"/>
            <a:pathLst>
              <a:path w="742726" h="128588">
                <a:moveTo>
                  <a:pt x="0" y="0"/>
                </a:moveTo>
                <a:lnTo>
                  <a:pt x="742726" y="0"/>
                </a:lnTo>
                <a:lnTo>
                  <a:pt x="742726" y="128588"/>
                </a:lnTo>
                <a:lnTo>
                  <a:pt x="0" y="1285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5229449" y="1917427"/>
            <a:ext cx="7427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Weekly series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38175" y="2387873"/>
          <a:ext cx="4810125" cy="233362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7"/>
          <p:cNvSpPr/>
          <p:nvPr/>
        </p:nvSpPr>
        <p:spPr>
          <a:xfrm>
            <a:off x="6419850" y="1698575"/>
            <a:ext cx="2286000" cy="1547813"/>
          </a:xfrm>
          <a:custGeom>
            <a:avLst/>
            <a:gdLst/>
            <a:ahLst/>
            <a:cxnLst/>
            <a:rect l="l" t="t" r="r" b="b"/>
            <a:pathLst>
              <a:path w="2286000" h="1547813">
                <a:moveTo>
                  <a:pt x="50644" y="0"/>
                </a:moveTo>
                <a:lnTo>
                  <a:pt x="2235356" y="0"/>
                </a:lnTo>
                <a:quadBezTo>
                  <a:pt x="2286000" y="0"/>
                  <a:pt x="2286000" y="50644"/>
                </a:quadBezTo>
                <a:lnTo>
                  <a:pt x="2286000" y="1497168"/>
                </a:lnTo>
                <a:quadBezTo>
                  <a:pt x="2286000" y="1547813"/>
                  <a:pt x="2235356" y="1547813"/>
                </a:quadBezTo>
                <a:lnTo>
                  <a:pt x="50644" y="1547813"/>
                </a:lnTo>
                <a:quadBezTo>
                  <a:pt x="0" y="1547813"/>
                  <a:pt x="0" y="1497168"/>
                </a:quadBezTo>
                <a:lnTo>
                  <a:pt x="0" y="50644"/>
                </a:lnTo>
                <a:quadBezTo>
                  <a:pt x="0" y="0"/>
                  <a:pt x="50644" y="0"/>
                </a:quadBezTo>
                <a:close/>
              </a:path>
            </a:pathLst>
          </a:custGeom>
          <a:solidFill>
            <a:srgbClr val="111418"/>
          </a:solidFill>
          <a:ln/>
        </p:spPr>
      </p:sp>
      <p:sp>
        <p:nvSpPr>
          <p:cNvPr id="22" name="Shape 18"/>
          <p:cNvSpPr/>
          <p:nvPr/>
        </p:nvSpPr>
        <p:spPr>
          <a:xfrm>
            <a:off x="6610350" y="1878137"/>
            <a:ext cx="1905000" cy="157163"/>
          </a:xfrm>
          <a:custGeom>
            <a:avLst/>
            <a:gdLst/>
            <a:ahLst/>
            <a:cxnLst/>
            <a:rect l="l" t="t" r="r" b="b"/>
            <a:pathLst>
              <a:path w="1905000" h="157163">
                <a:moveTo>
                  <a:pt x="0" y="0"/>
                </a:moveTo>
                <a:lnTo>
                  <a:pt x="1905000" y="0"/>
                </a:lnTo>
                <a:lnTo>
                  <a:pt x="19050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6610350" y="1878137"/>
            <a:ext cx="1905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Template status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610350" y="2167458"/>
            <a:ext cx="1905000" cy="157163"/>
          </a:xfrm>
          <a:custGeom>
            <a:avLst/>
            <a:gdLst/>
            <a:ahLst/>
            <a:cxnLst/>
            <a:rect l="l" t="t" r="r" b="b"/>
            <a:pathLst>
              <a:path w="1905000" h="157163">
                <a:moveTo>
                  <a:pt x="0" y="0"/>
                </a:moveTo>
                <a:lnTo>
                  <a:pt x="1905000" y="0"/>
                </a:lnTo>
                <a:lnTo>
                  <a:pt x="19050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6610350" y="2167458"/>
            <a:ext cx="1905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VALUES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610350" y="2361754"/>
            <a:ext cx="1905000" cy="261937"/>
          </a:xfrm>
          <a:custGeom>
            <a:avLst/>
            <a:gdLst/>
            <a:ahLst/>
            <a:cxnLst/>
            <a:rect l="l" t="t" r="r" b="b"/>
            <a:pathLst>
              <a:path w="1905000" h="261937">
                <a:moveTo>
                  <a:pt x="0" y="0"/>
                </a:moveTo>
                <a:lnTo>
                  <a:pt x="1905000" y="0"/>
                </a:lnTo>
                <a:lnTo>
                  <a:pt x="1905000" y="261937"/>
                </a:lnTo>
                <a:lnTo>
                  <a:pt x="0" y="2619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6610350" y="2361754"/>
            <a:ext cx="19050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1901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PENDING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610350" y="2756074"/>
            <a:ext cx="1905000" cy="4763"/>
          </a:xfrm>
          <a:custGeom>
            <a:avLst/>
            <a:gdLst/>
            <a:ahLst/>
            <a:cxnLst/>
            <a:rect l="l" t="t" r="r" b="b"/>
            <a:pathLst>
              <a:path w="1905000" h="4763">
                <a:moveTo>
                  <a:pt x="0" y="0"/>
                </a:moveTo>
                <a:lnTo>
                  <a:pt x="1905000" y="0"/>
                </a:lnTo>
                <a:lnTo>
                  <a:pt x="1905000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39434D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350" y="2922761"/>
            <a:ext cx="114300" cy="11430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781800" y="2908474"/>
            <a:ext cx="952649" cy="138113"/>
          </a:xfrm>
          <a:custGeom>
            <a:avLst/>
            <a:gdLst/>
            <a:ahLst/>
            <a:cxnLst/>
            <a:rect l="l" t="t" r="r" b="b"/>
            <a:pathLst>
              <a:path w="952649" h="138113">
                <a:moveTo>
                  <a:pt x="0" y="0"/>
                </a:moveTo>
                <a:lnTo>
                  <a:pt x="952649" y="0"/>
                </a:lnTo>
                <a:lnTo>
                  <a:pt x="952649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6781800" y="2908474"/>
            <a:ext cx="95264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Weekly cadence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419850" y="3418768"/>
            <a:ext cx="2286000" cy="1419225"/>
          </a:xfrm>
          <a:custGeom>
            <a:avLst/>
            <a:gdLst/>
            <a:ahLst/>
            <a:cxnLst/>
            <a:rect l="l" t="t" r="r" b="b"/>
            <a:pathLst>
              <a:path w="2286000" h="1419225">
                <a:moveTo>
                  <a:pt x="55236" y="0"/>
                </a:moveTo>
                <a:lnTo>
                  <a:pt x="2230764" y="0"/>
                </a:lnTo>
                <a:quadBezTo>
                  <a:pt x="2286000" y="0"/>
                  <a:pt x="2286000" y="55236"/>
                </a:quadBezTo>
                <a:lnTo>
                  <a:pt x="2286000" y="1363989"/>
                </a:lnTo>
                <a:quadBezTo>
                  <a:pt x="2286000" y="1419225"/>
                  <a:pt x="2230764" y="1419225"/>
                </a:quadBezTo>
                <a:lnTo>
                  <a:pt x="55236" y="1419225"/>
                </a:lnTo>
                <a:quadBezTo>
                  <a:pt x="0" y="1419225"/>
                  <a:pt x="0" y="1363989"/>
                </a:quadBezTo>
                <a:lnTo>
                  <a:pt x="0" y="55236"/>
                </a:lnTo>
                <a:quadBezTo>
                  <a:pt x="0" y="0"/>
                  <a:pt x="55236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350" y="3614068"/>
            <a:ext cx="133350" cy="13335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810375" y="3613324"/>
            <a:ext cx="887909" cy="133350"/>
          </a:xfrm>
          <a:custGeom>
            <a:avLst/>
            <a:gdLst/>
            <a:ahLst/>
            <a:cxnLst/>
            <a:rect l="l" t="t" r="r" b="b"/>
            <a:pathLst>
              <a:path w="887909" h="133350">
                <a:moveTo>
                  <a:pt x="0" y="0"/>
                </a:moveTo>
                <a:lnTo>
                  <a:pt x="887909" y="0"/>
                </a:lnTo>
                <a:lnTo>
                  <a:pt x="887909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6810375" y="3613324"/>
            <a:ext cx="887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A9D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Chart language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6610350" y="3867187"/>
            <a:ext cx="1905000" cy="490537"/>
          </a:xfrm>
          <a:custGeom>
            <a:avLst/>
            <a:gdLst/>
            <a:ahLst/>
            <a:cxnLst/>
            <a:rect l="l" t="t" r="r" b="b"/>
            <a:pathLst>
              <a:path w="1905000" h="490537">
                <a:moveTo>
                  <a:pt x="0" y="0"/>
                </a:moveTo>
                <a:lnTo>
                  <a:pt x="1905000" y="0"/>
                </a:lnTo>
                <a:lnTo>
                  <a:pt x="1905000" y="490537"/>
                </a:lnTo>
                <a:lnTo>
                  <a:pt x="0" y="4905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6610350" y="3867187"/>
            <a:ext cx="1905000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348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Axes establish the reporting window; the legend names the measure.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6610350" y="4462760"/>
            <a:ext cx="1905000" cy="385763"/>
          </a:xfrm>
          <a:custGeom>
            <a:avLst/>
            <a:gdLst/>
            <a:ahLst/>
            <a:cxnLst/>
            <a:rect l="l" t="t" r="r" b="b"/>
            <a:pathLst>
              <a:path w="1905000" h="385763">
                <a:moveTo>
                  <a:pt x="0" y="0"/>
                </a:moveTo>
                <a:lnTo>
                  <a:pt x="1905000" y="0"/>
                </a:lnTo>
                <a:lnTo>
                  <a:pt x="190500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3"/>
          <p:cNvSpPr/>
          <p:nvPr/>
        </p:nvSpPr>
        <p:spPr>
          <a:xfrm>
            <a:off x="6610350" y="4462760"/>
            <a:ext cx="1905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Designed for a clear read before interpretation begins.</a:t>
            </a:r>
            <a:endParaRPr lang="en-US" sz="900" dirty="0"/>
          </a:p>
        </p:txBody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350" y="4462760"/>
            <a:ext cx="1905000" cy="3857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5" name="Shape 2"/>
          <p:cNvSpPr/>
          <p:nvPr/>
        </p:nvSpPr>
        <p:spPr>
          <a:xfrm>
            <a:off x="437257" y="361466"/>
            <a:ext cx="4733925" cy="138113"/>
          </a:xfrm>
          <a:custGeom>
            <a:avLst/>
            <a:gdLst/>
            <a:ahLst/>
            <a:cxnLst/>
            <a:rect l="l" t="t" r="r" b="b"/>
            <a:pathLst>
              <a:path w="4733925" h="138113">
                <a:moveTo>
                  <a:pt x="0" y="0"/>
                </a:moveTo>
                <a:lnTo>
                  <a:pt x="4733925" y="0"/>
                </a:lnTo>
                <a:lnTo>
                  <a:pt x="473392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37257" y="361466"/>
            <a:ext cx="47339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ANALYTICAL TEMPLATE / MONTHLY VIEW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7257" y="566699"/>
            <a:ext cx="4733925" cy="338137"/>
          </a:xfrm>
          <a:custGeom>
            <a:avLst/>
            <a:gdLst/>
            <a:ahLst/>
            <a:cxnLst/>
            <a:rect l="l" t="t" r="r" b="b"/>
            <a:pathLst>
              <a:path w="4733925" h="338137">
                <a:moveTo>
                  <a:pt x="0" y="0"/>
                </a:moveTo>
                <a:lnTo>
                  <a:pt x="4733925" y="0"/>
                </a:lnTo>
                <a:lnTo>
                  <a:pt x="4733925" y="338137"/>
                </a:lnTo>
                <a:lnTo>
                  <a:pt x="0" y="338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7257" y="566699"/>
            <a:ext cx="4733925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Pattern Template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7257" y="971252"/>
            <a:ext cx="4733925" cy="195263"/>
          </a:xfrm>
          <a:custGeom>
            <a:avLst/>
            <a:gdLst/>
            <a:ahLst/>
            <a:cxnLst/>
            <a:rect l="l" t="t" r="r" b="b"/>
            <a:pathLst>
              <a:path w="4733925" h="195263">
                <a:moveTo>
                  <a:pt x="0" y="0"/>
                </a:moveTo>
                <a:lnTo>
                  <a:pt x="4733925" y="0"/>
                </a:lnTo>
                <a:lnTo>
                  <a:pt x="4733925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37257" y="971252"/>
            <a:ext cx="47339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neutral month-by-month frame for inserting an approved series.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6013" y="416719"/>
            <a:ext cx="123825" cy="12382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57331" y="400050"/>
            <a:ext cx="647700" cy="157163"/>
          </a:xfrm>
          <a:custGeom>
            <a:avLst/>
            <a:gdLst/>
            <a:ahLst/>
            <a:cxnLst/>
            <a:rect l="l" t="t" r="r" b="b"/>
            <a:pathLst>
              <a:path w="647700" h="157163">
                <a:moveTo>
                  <a:pt x="0" y="0"/>
                </a:moveTo>
                <a:lnTo>
                  <a:pt x="647700" y="0"/>
                </a:lnTo>
                <a:lnTo>
                  <a:pt x="6477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8057331" y="400050"/>
            <a:ext cx="6477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 — DEC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38150" y="1699468"/>
            <a:ext cx="6181725" cy="3119437"/>
          </a:xfrm>
          <a:custGeom>
            <a:avLst/>
            <a:gdLst/>
            <a:ahLst/>
            <a:cxnLst/>
            <a:rect l="l" t="t" r="r" b="b"/>
            <a:pathLst>
              <a:path w="6181725" h="3119437">
                <a:moveTo>
                  <a:pt x="0" y="0"/>
                </a:moveTo>
                <a:lnTo>
                  <a:pt x="6181725" y="0"/>
                </a:lnTo>
                <a:lnTo>
                  <a:pt x="6181725" y="3119437"/>
                </a:lnTo>
                <a:lnTo>
                  <a:pt x="0" y="3119437"/>
                </a:lnTo>
                <a:close/>
              </a:path>
            </a:pathLst>
          </a:custGeom>
          <a:solidFill>
            <a:srgbClr val="EEF2F5"/>
          </a:solidFill>
          <a:ln/>
        </p:spPr>
      </p:sp>
      <p:sp>
        <p:nvSpPr>
          <p:cNvPr id="15" name="Shape 11"/>
          <p:cNvSpPr/>
          <p:nvPr/>
        </p:nvSpPr>
        <p:spPr>
          <a:xfrm>
            <a:off x="665597" y="1918023"/>
            <a:ext cx="2738438" cy="185738"/>
          </a:xfrm>
          <a:custGeom>
            <a:avLst/>
            <a:gdLst/>
            <a:ahLst/>
            <a:cxnLst/>
            <a:rect l="l" t="t" r="r" b="b"/>
            <a:pathLst>
              <a:path w="2738438" h="185738">
                <a:moveTo>
                  <a:pt x="0" y="0"/>
                </a:moveTo>
                <a:lnTo>
                  <a:pt x="2738438" y="0"/>
                </a:lnTo>
                <a:lnTo>
                  <a:pt x="2738438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65597" y="1918023"/>
            <a:ext cx="273843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distribution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65597" y="2152538"/>
            <a:ext cx="2738438" cy="152400"/>
          </a:xfrm>
          <a:custGeom>
            <a:avLst/>
            <a:gdLst/>
            <a:ahLst/>
            <a:cxnLst/>
            <a:rect l="l" t="t" r="r" b="b"/>
            <a:pathLst>
              <a:path w="2738438" h="152400">
                <a:moveTo>
                  <a:pt x="0" y="0"/>
                </a:moveTo>
                <a:lnTo>
                  <a:pt x="2738438" y="0"/>
                </a:lnTo>
                <a:lnTo>
                  <a:pt x="2738438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665597" y="2152538"/>
            <a:ext cx="27384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Template axis only · values intentionally omitted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701" y="1936849"/>
            <a:ext cx="119062" cy="11906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296644" y="1917799"/>
            <a:ext cx="1095375" cy="157163"/>
          </a:xfrm>
          <a:custGeom>
            <a:avLst/>
            <a:gdLst/>
            <a:ahLst/>
            <a:cxnLst/>
            <a:rect l="l" t="t" r="r" b="b"/>
            <a:pathLst>
              <a:path w="1095375" h="157163">
                <a:moveTo>
                  <a:pt x="0" y="0"/>
                </a:moveTo>
                <a:lnTo>
                  <a:pt x="1095375" y="0"/>
                </a:lnTo>
                <a:lnTo>
                  <a:pt x="1095375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5296644" y="1917799"/>
            <a:ext cx="10953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AREA / BAR OPTION</a:t>
            </a:r>
            <a:endParaRPr lang="en-US" sz="9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957263" y="2402161"/>
          <a:ext cx="5143500" cy="204787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Shape 17"/>
          <p:cNvSpPr/>
          <p:nvPr/>
        </p:nvSpPr>
        <p:spPr>
          <a:xfrm>
            <a:off x="666750" y="4423432"/>
            <a:ext cx="5724525" cy="214313"/>
          </a:xfrm>
          <a:custGeom>
            <a:avLst/>
            <a:gdLst/>
            <a:ahLst/>
            <a:cxnLst/>
            <a:rect l="l" t="t" r="r" b="b"/>
            <a:pathLst>
              <a:path w="5724525" h="214313">
                <a:moveTo>
                  <a:pt x="0" y="0"/>
                </a:moveTo>
                <a:lnTo>
                  <a:pt x="5724525" y="0"/>
                </a:lnTo>
                <a:lnTo>
                  <a:pt x="5724525" y="214313"/>
                </a:lnTo>
                <a:lnTo>
                  <a:pt x="0" y="2143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666750" y="4423432"/>
            <a:ext cx="57245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Minimal gridlines keep the comparison readable.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602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IMPLIED REAL VALUES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848475" y="1699468"/>
            <a:ext cx="1857375" cy="3119437"/>
          </a:xfrm>
          <a:custGeom>
            <a:avLst/>
            <a:gdLst/>
            <a:ahLst/>
            <a:cxnLst/>
            <a:rect l="l" t="t" r="r" b="b"/>
            <a:pathLst>
              <a:path w="1857375" h="3119437">
                <a:moveTo>
                  <a:pt x="0" y="0"/>
                </a:moveTo>
                <a:lnTo>
                  <a:pt x="1857375" y="0"/>
                </a:lnTo>
                <a:lnTo>
                  <a:pt x="1857375" y="3119437"/>
                </a:lnTo>
                <a:lnTo>
                  <a:pt x="0" y="3119437"/>
                </a:lnTo>
                <a:close/>
              </a:path>
            </a:pathLst>
          </a:custGeom>
          <a:solidFill>
            <a:srgbClr val="111418"/>
          </a:solidFill>
          <a:ln/>
        </p:spPr>
      </p:sp>
      <p:sp>
        <p:nvSpPr>
          <p:cNvPr id="26" name="Shape 20"/>
          <p:cNvSpPr/>
          <p:nvPr/>
        </p:nvSpPr>
        <p:spPr>
          <a:xfrm>
            <a:off x="7029450" y="1907791"/>
            <a:ext cx="1495425" cy="138113"/>
          </a:xfrm>
          <a:custGeom>
            <a:avLst/>
            <a:gdLst/>
            <a:ahLst/>
            <a:cxnLst/>
            <a:rect l="l" t="t" r="r" b="b"/>
            <a:pathLst>
              <a:path w="1495425" h="138113">
                <a:moveTo>
                  <a:pt x="0" y="0"/>
                </a:moveTo>
                <a:lnTo>
                  <a:pt x="1495425" y="0"/>
                </a:lnTo>
                <a:lnTo>
                  <a:pt x="149542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7029450" y="1907791"/>
            <a:ext cx="14954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2A9D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NOTES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7029450" y="222639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>
            <a:srgbClr val="4C78A8"/>
          </a:solidFill>
          <a:ln/>
        </p:spPr>
      </p:sp>
      <p:sp>
        <p:nvSpPr>
          <p:cNvPr id="29" name="Shape 23"/>
          <p:cNvSpPr/>
          <p:nvPr/>
        </p:nvSpPr>
        <p:spPr>
          <a:xfrm>
            <a:off x="7153275" y="2179216"/>
            <a:ext cx="1371600" cy="333375"/>
          </a:xfrm>
          <a:custGeom>
            <a:avLst/>
            <a:gdLst/>
            <a:ahLst/>
            <a:cxnLst/>
            <a:rect l="l" t="t" r="r" b="b"/>
            <a:pathLst>
              <a:path w="1371600" h="333375">
                <a:moveTo>
                  <a:pt x="0" y="0"/>
                </a:moveTo>
                <a:lnTo>
                  <a:pt x="1371600" y="0"/>
                </a:lnTo>
                <a:lnTo>
                  <a:pt x="1371600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7153275" y="2179216"/>
            <a:ext cx="13716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one consistent monthly measure.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7029450" y="267496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32" name="Shape 26"/>
          <p:cNvSpPr/>
          <p:nvPr/>
        </p:nvSpPr>
        <p:spPr>
          <a:xfrm>
            <a:off x="7153275" y="2627784"/>
            <a:ext cx="1371600" cy="333375"/>
          </a:xfrm>
          <a:custGeom>
            <a:avLst/>
            <a:gdLst/>
            <a:ahLst/>
            <a:cxnLst/>
            <a:rect l="l" t="t" r="r" b="b"/>
            <a:pathLst>
              <a:path w="1371600" h="333375">
                <a:moveTo>
                  <a:pt x="0" y="0"/>
                </a:moveTo>
                <a:lnTo>
                  <a:pt x="1371600" y="0"/>
                </a:lnTo>
                <a:lnTo>
                  <a:pt x="1371600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7"/>
          <p:cNvSpPr/>
          <p:nvPr/>
        </p:nvSpPr>
        <p:spPr>
          <a:xfrm>
            <a:off x="7153275" y="2627784"/>
            <a:ext cx="13716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area or bars after review.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7029450" y="312352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>
            <a:srgbClr val="C58B2B"/>
          </a:solidFill>
          <a:ln/>
        </p:spPr>
      </p:sp>
      <p:sp>
        <p:nvSpPr>
          <p:cNvPr id="35" name="Shape 29"/>
          <p:cNvSpPr/>
          <p:nvPr/>
        </p:nvSpPr>
        <p:spPr>
          <a:xfrm>
            <a:off x="7153275" y="3076351"/>
            <a:ext cx="1371600" cy="333375"/>
          </a:xfrm>
          <a:custGeom>
            <a:avLst/>
            <a:gdLst/>
            <a:ahLst/>
            <a:cxnLst/>
            <a:rect l="l" t="t" r="r" b="b"/>
            <a:pathLst>
              <a:path w="1371600" h="333375">
                <a:moveTo>
                  <a:pt x="0" y="0"/>
                </a:moveTo>
                <a:lnTo>
                  <a:pt x="1371600" y="0"/>
                </a:lnTo>
                <a:lnTo>
                  <a:pt x="1371600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30"/>
          <p:cNvSpPr/>
          <p:nvPr/>
        </p:nvSpPr>
        <p:spPr>
          <a:xfrm>
            <a:off x="7153275" y="3076351"/>
            <a:ext cx="13716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Annotate only validated patterns.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7029450" y="3939777"/>
            <a:ext cx="1495425" cy="671513"/>
          </a:xfrm>
          <a:custGeom>
            <a:avLst/>
            <a:gdLst/>
            <a:ahLst/>
            <a:cxnLst/>
            <a:rect l="l" t="t" r="r" b="b"/>
            <a:pathLst>
              <a:path w="1495425" h="671513">
                <a:moveTo>
                  <a:pt x="0" y="0"/>
                </a:moveTo>
                <a:lnTo>
                  <a:pt x="1495425" y="0"/>
                </a:lnTo>
                <a:lnTo>
                  <a:pt x="1495425" y="671513"/>
                </a:lnTo>
                <a:lnTo>
                  <a:pt x="0" y="6715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Shape 32"/>
          <p:cNvSpPr/>
          <p:nvPr/>
        </p:nvSpPr>
        <p:spPr>
          <a:xfrm>
            <a:off x="7029450" y="4077891"/>
            <a:ext cx="1495425" cy="133350"/>
          </a:xfrm>
          <a:custGeom>
            <a:avLst/>
            <a:gdLst/>
            <a:ahLst/>
            <a:cxnLst/>
            <a:rect l="l" t="t" r="r" b="b"/>
            <a:pathLst>
              <a:path w="1495425" h="133350">
                <a:moveTo>
                  <a:pt x="0" y="0"/>
                </a:moveTo>
                <a:lnTo>
                  <a:pt x="1495425" y="0"/>
                </a:lnTo>
                <a:lnTo>
                  <a:pt x="1495425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3"/>
          <p:cNvSpPr/>
          <p:nvPr/>
        </p:nvSpPr>
        <p:spPr>
          <a:xfrm>
            <a:off x="7029450" y="4077891"/>
            <a:ext cx="1495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98A4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STATUS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7029450" y="4267200"/>
            <a:ext cx="1495425" cy="342900"/>
          </a:xfrm>
          <a:custGeom>
            <a:avLst/>
            <a:gdLst/>
            <a:ahLst/>
            <a:cxnLst/>
            <a:rect l="l" t="t" r="r" b="b"/>
            <a:pathLst>
              <a:path w="1495425" h="342900">
                <a:moveTo>
                  <a:pt x="0" y="0"/>
                </a:moveTo>
                <a:lnTo>
                  <a:pt x="1495425" y="0"/>
                </a:lnTo>
                <a:lnTo>
                  <a:pt x="1495425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5"/>
          <p:cNvSpPr/>
          <p:nvPr/>
        </p:nvSpPr>
        <p:spPr>
          <a:xfrm>
            <a:off x="7029450" y="4267200"/>
            <a:ext cx="1495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Awaiting series input</a:t>
            </a:r>
            <a:endParaRPr lang="en-US" sz="900" dirty="0"/>
          </a:p>
        </p:txBody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4423432"/>
            <a:ext cx="5724525" cy="214313"/>
          </a:xfrm>
          <a:prstGeom prst="rect">
            <a:avLst/>
          </a:prstGeom>
        </p:spPr>
      </p:pic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9450" y="3939777"/>
            <a:ext cx="1495425" cy="6715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5" name="Shape 2"/>
          <p:cNvSpPr/>
          <p:nvPr/>
        </p:nvSpPr>
        <p:spPr>
          <a:xfrm>
            <a:off x="438150" y="409575"/>
            <a:ext cx="200025" cy="19050"/>
          </a:xfrm>
          <a:custGeom>
            <a:avLst/>
            <a:gdLst/>
            <a:ahLst/>
            <a:cxnLst/>
            <a:rect l="l" t="t" r="r" b="b"/>
            <a:pathLst>
              <a:path w="200025" h="19050">
                <a:moveTo>
                  <a:pt x="0" y="0"/>
                </a:moveTo>
                <a:lnTo>
                  <a:pt x="200025" y="0"/>
                </a:lnTo>
                <a:lnTo>
                  <a:pt x="200025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4C78A8"/>
          </a:solidFill>
          <a:ln/>
        </p:spPr>
      </p:sp>
      <p:sp>
        <p:nvSpPr>
          <p:cNvPr id="6" name="Shape 3"/>
          <p:cNvSpPr/>
          <p:nvPr/>
        </p:nvSpPr>
        <p:spPr>
          <a:xfrm>
            <a:off x="714673" y="361950"/>
            <a:ext cx="1938337" cy="114300"/>
          </a:xfrm>
          <a:custGeom>
            <a:avLst/>
            <a:gdLst/>
            <a:ahLst/>
            <a:cxnLst/>
            <a:rect l="l" t="t" r="r" b="b"/>
            <a:pathLst>
              <a:path w="1938337" h="114300">
                <a:moveTo>
                  <a:pt x="0" y="0"/>
                </a:moveTo>
                <a:lnTo>
                  <a:pt x="1938337" y="0"/>
                </a:lnTo>
                <a:lnTo>
                  <a:pt x="1938337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14673" y="361950"/>
            <a:ext cx="19383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ANALYTICAL TEMPLATE / 01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38150" y="543966"/>
            <a:ext cx="8267700" cy="347663"/>
          </a:xfrm>
          <a:custGeom>
            <a:avLst/>
            <a:gdLst/>
            <a:ahLst/>
            <a:cxnLst/>
            <a:rect l="l" t="t" r="r" b="b"/>
            <a:pathLst>
              <a:path w="8267700" h="347663">
                <a:moveTo>
                  <a:pt x="0" y="0"/>
                </a:moveTo>
                <a:lnTo>
                  <a:pt x="8267700" y="0"/>
                </a:lnTo>
                <a:lnTo>
                  <a:pt x="82677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38150" y="543966"/>
            <a:ext cx="82677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Disease Comparison Template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8150" y="958155"/>
            <a:ext cx="8267700" cy="195263"/>
          </a:xfrm>
          <a:custGeom>
            <a:avLst/>
            <a:gdLst/>
            <a:ahLst/>
            <a:cxnLst/>
            <a:rect l="l" t="t" r="r" b="b"/>
            <a:pathLst>
              <a:path w="8267700" h="195263">
                <a:moveTo>
                  <a:pt x="0" y="0"/>
                </a:moveTo>
                <a:lnTo>
                  <a:pt x="8267700" y="0"/>
                </a:lnTo>
                <a:lnTo>
                  <a:pt x="826770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38150" y="958155"/>
            <a:ext cx="82677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modular language for comparing three illustrative disease series.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8150" y="1695301"/>
            <a:ext cx="5724525" cy="3124200"/>
          </a:xfrm>
          <a:custGeom>
            <a:avLst/>
            <a:gdLst/>
            <a:ahLst/>
            <a:cxnLst/>
            <a:rect l="l" t="t" r="r" b="b"/>
            <a:pathLst>
              <a:path w="5724525" h="3124200">
                <a:moveTo>
                  <a:pt x="0" y="0"/>
                </a:moveTo>
                <a:lnTo>
                  <a:pt x="5724525" y="0"/>
                </a:lnTo>
                <a:lnTo>
                  <a:pt x="5724525" y="3124200"/>
                </a:lnTo>
                <a:lnTo>
                  <a:pt x="0" y="3124200"/>
                </a:lnTo>
                <a:close/>
              </a:path>
            </a:pathLst>
          </a:custGeom>
          <a:solidFill>
            <a:srgbClr val="111418"/>
          </a:solidFill>
          <a:ln/>
        </p:spPr>
      </p:sp>
      <p:sp>
        <p:nvSpPr>
          <p:cNvPr id="13" name="Shape 10"/>
          <p:cNvSpPr/>
          <p:nvPr/>
        </p:nvSpPr>
        <p:spPr>
          <a:xfrm>
            <a:off x="685874" y="1923752"/>
            <a:ext cx="2395538" cy="104775"/>
          </a:xfrm>
          <a:custGeom>
            <a:avLst/>
            <a:gdLst/>
            <a:ahLst/>
            <a:cxnLst/>
            <a:rect l="l" t="t" r="r" b="b"/>
            <a:pathLst>
              <a:path w="2395538" h="104775">
                <a:moveTo>
                  <a:pt x="0" y="0"/>
                </a:moveTo>
                <a:lnTo>
                  <a:pt x="2395538" y="0"/>
                </a:lnTo>
                <a:lnTo>
                  <a:pt x="2395538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85874" y="1923752"/>
            <a:ext cx="23955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9565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7A8B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VISUAL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85874" y="2114959"/>
            <a:ext cx="2395538" cy="228600"/>
          </a:xfrm>
          <a:custGeom>
            <a:avLst/>
            <a:gdLst/>
            <a:ahLst/>
            <a:cxnLst/>
            <a:rect l="l" t="t" r="r" b="b"/>
            <a:pathLst>
              <a:path w="2395538" h="228600">
                <a:moveTo>
                  <a:pt x="0" y="0"/>
                </a:moveTo>
                <a:lnTo>
                  <a:pt x="2395538" y="0"/>
                </a:lnTo>
                <a:lnTo>
                  <a:pt x="2395538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85874" y="2114959"/>
            <a:ext cx="2395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Multi-series chart zone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95006" y="1923752"/>
            <a:ext cx="1219200" cy="209550"/>
          </a:xfrm>
          <a:custGeom>
            <a:avLst/>
            <a:gdLst/>
            <a:ahLst/>
            <a:cxnLst/>
            <a:rect l="l" t="t" r="r" b="b"/>
            <a:pathLst>
              <a:path w="1219200" h="209550">
                <a:moveTo>
                  <a:pt x="0" y="0"/>
                </a:moveTo>
                <a:lnTo>
                  <a:pt x="1219200" y="0"/>
                </a:lnTo>
                <a:lnTo>
                  <a:pt x="1219200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1B2430"/>
          </a:solidFill>
          <a:ln/>
        </p:spPr>
      </p:sp>
      <p:sp>
        <p:nvSpPr>
          <p:cNvPr id="18" name="Text 15"/>
          <p:cNvSpPr/>
          <p:nvPr/>
        </p:nvSpPr>
        <p:spPr>
          <a:xfrm>
            <a:off x="4695006" y="1923752"/>
            <a:ext cx="1219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C8D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ILLUSTRATIVE ONLY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262063" y="2615133"/>
            <a:ext cx="4076700" cy="1428750"/>
          </a:xfrm>
          <a:custGeom>
            <a:avLst/>
            <a:gdLst/>
            <a:ahLst/>
            <a:cxnLst/>
            <a:rect l="l" t="t" r="r" b="b"/>
            <a:pathLst>
              <a:path w="4076700" h="1428750">
                <a:moveTo>
                  <a:pt x="0" y="0"/>
                </a:moveTo>
                <a:lnTo>
                  <a:pt x="4076700" y="0"/>
                </a:lnTo>
                <a:lnTo>
                  <a:pt x="4076700" y="1428750"/>
                </a:lnTo>
                <a:lnTo>
                  <a:pt x="0" y="1428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9501">
            <a:solidFill>
              <a:srgbClr val="5B6672"/>
            </a:solidFill>
            <a:prstDash val="dash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2300" y="2954015"/>
            <a:ext cx="276225" cy="27622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143125" y="3335015"/>
            <a:ext cx="2314575" cy="171450"/>
          </a:xfrm>
          <a:custGeom>
            <a:avLst/>
            <a:gdLst/>
            <a:ahLst/>
            <a:cxnLst/>
            <a:rect l="l" t="t" r="r" b="b"/>
            <a:pathLst>
              <a:path w="2314575" h="171450">
                <a:moveTo>
                  <a:pt x="0" y="0"/>
                </a:moveTo>
                <a:lnTo>
                  <a:pt x="2314575" y="0"/>
                </a:lnTo>
                <a:lnTo>
                  <a:pt x="231457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2143125" y="3335015"/>
            <a:ext cx="2314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C8D0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aligned time-series chart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1793044" y="3562871"/>
            <a:ext cx="3014663" cy="142875"/>
          </a:xfrm>
          <a:custGeom>
            <a:avLst/>
            <a:gdLst/>
            <a:ahLst/>
            <a:cxnLst/>
            <a:rect l="l" t="t" r="r" b="b"/>
            <a:pathLst>
              <a:path w="3014663" h="142875">
                <a:moveTo>
                  <a:pt x="0" y="0"/>
                </a:moveTo>
                <a:lnTo>
                  <a:pt x="3014663" y="0"/>
                </a:lnTo>
                <a:lnTo>
                  <a:pt x="3014663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1793044" y="3562871"/>
            <a:ext cx="30146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98A3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shared axes, consistent units, and the legend at right.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685800" y="4314825"/>
            <a:ext cx="5229225" cy="276225"/>
          </a:xfrm>
          <a:custGeom>
            <a:avLst/>
            <a:gdLst/>
            <a:ahLst/>
            <a:cxnLst/>
            <a:rect l="l" t="t" r="r" b="b"/>
            <a:pathLst>
              <a:path w="5229225" h="276225">
                <a:moveTo>
                  <a:pt x="0" y="0"/>
                </a:moveTo>
                <a:lnTo>
                  <a:pt x="5229225" y="0"/>
                </a:lnTo>
                <a:lnTo>
                  <a:pt x="5229225" y="276225"/>
                </a:lnTo>
                <a:lnTo>
                  <a:pt x="0" y="2762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686544" y="4464844"/>
            <a:ext cx="928688" cy="95250"/>
          </a:xfrm>
          <a:custGeom>
            <a:avLst/>
            <a:gdLst/>
            <a:ahLst/>
            <a:cxnLst/>
            <a:rect l="l" t="t" r="r" b="b"/>
            <a:pathLst>
              <a:path w="928688" h="95250">
                <a:moveTo>
                  <a:pt x="0" y="0"/>
                </a:moveTo>
                <a:lnTo>
                  <a:pt x="928688" y="0"/>
                </a:lnTo>
                <a:lnTo>
                  <a:pt x="928688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686544" y="4464844"/>
            <a:ext cx="9286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7A8B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LEGEND SYSTEM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1776821" y="4433888"/>
            <a:ext cx="2090737" cy="157163"/>
          </a:xfrm>
          <a:custGeom>
            <a:avLst/>
            <a:gdLst/>
            <a:ahLst/>
            <a:cxnLst/>
            <a:rect l="l" t="t" r="r" b="b"/>
            <a:pathLst>
              <a:path w="2090737" h="157163">
                <a:moveTo>
                  <a:pt x="0" y="0"/>
                </a:moveTo>
                <a:lnTo>
                  <a:pt x="2090737" y="0"/>
                </a:lnTo>
                <a:lnTo>
                  <a:pt x="2090737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5"/>
          <p:cNvSpPr/>
          <p:nvPr/>
        </p:nvSpPr>
        <p:spPr>
          <a:xfrm>
            <a:off x="1776821" y="4433888"/>
            <a:ext cx="209073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Disease A Disease B Disease C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6381750" y="1694409"/>
            <a:ext cx="2324100" cy="966787"/>
          </a:xfrm>
          <a:custGeom>
            <a:avLst/>
            <a:gdLst/>
            <a:ahLst/>
            <a:cxnLst/>
            <a:rect l="l" t="t" r="r" b="b"/>
            <a:pathLst>
              <a:path w="2324100" h="966787">
                <a:moveTo>
                  <a:pt x="0" y="0"/>
                </a:moveTo>
                <a:lnTo>
                  <a:pt x="2324100" y="0"/>
                </a:lnTo>
                <a:lnTo>
                  <a:pt x="2324100" y="966787"/>
                </a:lnTo>
                <a:lnTo>
                  <a:pt x="0" y="966787"/>
                </a:lnTo>
                <a:close/>
              </a:path>
            </a:pathLst>
          </a:custGeom>
          <a:solidFill>
            <a:srgbClr val="EEF2F5"/>
          </a:solidFill>
          <a:ln/>
        </p:spPr>
      </p:sp>
      <p:sp>
        <p:nvSpPr>
          <p:cNvPr id="31" name="Shape 27"/>
          <p:cNvSpPr/>
          <p:nvPr/>
        </p:nvSpPr>
        <p:spPr>
          <a:xfrm>
            <a:off x="6543675" y="183802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4C78A8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444" y="1892797"/>
            <a:ext cx="119062" cy="119062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6858000" y="1838027"/>
            <a:ext cx="1685925" cy="157163"/>
          </a:xfrm>
          <a:custGeom>
            <a:avLst/>
            <a:gdLst/>
            <a:ahLst/>
            <a:cxnLst/>
            <a:rect l="l" t="t" r="r" b="b"/>
            <a:pathLst>
              <a:path w="1685925" h="157163">
                <a:moveTo>
                  <a:pt x="0" y="0"/>
                </a:moveTo>
                <a:lnTo>
                  <a:pt x="1685925" y="0"/>
                </a:lnTo>
                <a:lnTo>
                  <a:pt x="1685925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6858000" y="1838027"/>
            <a:ext cx="16859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261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Disease A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858000" y="2032770"/>
            <a:ext cx="1685925" cy="285750"/>
          </a:xfrm>
          <a:custGeom>
            <a:avLst/>
            <a:gdLst/>
            <a:ahLst/>
            <a:cxnLst/>
            <a:rect l="l" t="t" r="r" b="b"/>
            <a:pathLst>
              <a:path w="1685925" h="285750">
                <a:moveTo>
                  <a:pt x="0" y="0"/>
                </a:moveTo>
                <a:lnTo>
                  <a:pt x="1685925" y="0"/>
                </a:lnTo>
                <a:lnTo>
                  <a:pt x="1685925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6858000" y="2032770"/>
            <a:ext cx="16859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Series identity and source label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6543675" y="2398514"/>
            <a:ext cx="2000250" cy="119062"/>
          </a:xfrm>
          <a:custGeom>
            <a:avLst/>
            <a:gdLst/>
            <a:ahLst/>
            <a:cxnLst/>
            <a:rect l="l" t="t" r="r" b="b"/>
            <a:pathLst>
              <a:path w="2000250" h="119062">
                <a:moveTo>
                  <a:pt x="0" y="0"/>
                </a:moveTo>
                <a:lnTo>
                  <a:pt x="2000250" y="0"/>
                </a:lnTo>
                <a:lnTo>
                  <a:pt x="2000250" y="119062"/>
                </a:lnTo>
                <a:lnTo>
                  <a:pt x="0" y="1190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3"/>
          <p:cNvSpPr/>
          <p:nvPr/>
        </p:nvSpPr>
        <p:spPr>
          <a:xfrm>
            <a:off x="6543675" y="2398514"/>
            <a:ext cx="2000250" cy="11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BLUE / PRIMARY SERIES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6381750" y="2774006"/>
            <a:ext cx="2324100" cy="966787"/>
          </a:xfrm>
          <a:custGeom>
            <a:avLst/>
            <a:gdLst/>
            <a:ahLst/>
            <a:cxnLst/>
            <a:rect l="l" t="t" r="r" b="b"/>
            <a:pathLst>
              <a:path w="2324100" h="966787">
                <a:moveTo>
                  <a:pt x="0" y="0"/>
                </a:moveTo>
                <a:lnTo>
                  <a:pt x="2324100" y="0"/>
                </a:lnTo>
                <a:lnTo>
                  <a:pt x="2324100" y="966787"/>
                </a:lnTo>
                <a:lnTo>
                  <a:pt x="0" y="966787"/>
                </a:lnTo>
                <a:close/>
              </a:path>
            </a:pathLst>
          </a:custGeom>
          <a:solidFill>
            <a:srgbClr val="E4EEEC"/>
          </a:solidFill>
          <a:ln/>
        </p:spPr>
      </p:sp>
      <p:sp>
        <p:nvSpPr>
          <p:cNvPr id="40" name="Shape 35"/>
          <p:cNvSpPr/>
          <p:nvPr/>
        </p:nvSpPr>
        <p:spPr>
          <a:xfrm>
            <a:off x="6543675" y="291762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2A9D8F"/>
          </a:solidFill>
          <a:ln/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444" y="2972396"/>
            <a:ext cx="119062" cy="119062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6858000" y="2917627"/>
            <a:ext cx="1685925" cy="157163"/>
          </a:xfrm>
          <a:custGeom>
            <a:avLst/>
            <a:gdLst/>
            <a:ahLst/>
            <a:cxnLst/>
            <a:rect l="l" t="t" r="r" b="b"/>
            <a:pathLst>
              <a:path w="1685925" h="157163">
                <a:moveTo>
                  <a:pt x="0" y="0"/>
                </a:moveTo>
                <a:lnTo>
                  <a:pt x="1685925" y="0"/>
                </a:lnTo>
                <a:lnTo>
                  <a:pt x="1685925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7"/>
          <p:cNvSpPr/>
          <p:nvPr/>
        </p:nvSpPr>
        <p:spPr>
          <a:xfrm>
            <a:off x="6858000" y="2917627"/>
            <a:ext cx="16859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261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Disease B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858000" y="3112367"/>
            <a:ext cx="1685925" cy="285750"/>
          </a:xfrm>
          <a:custGeom>
            <a:avLst/>
            <a:gdLst/>
            <a:ahLst/>
            <a:cxnLst/>
            <a:rect l="l" t="t" r="r" b="b"/>
            <a:pathLst>
              <a:path w="1685925" h="285750">
                <a:moveTo>
                  <a:pt x="0" y="0"/>
                </a:moveTo>
                <a:lnTo>
                  <a:pt x="1685925" y="0"/>
                </a:lnTo>
                <a:lnTo>
                  <a:pt x="1685925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39"/>
          <p:cNvSpPr/>
          <p:nvPr/>
        </p:nvSpPr>
        <p:spPr>
          <a:xfrm>
            <a:off x="6858000" y="3112367"/>
            <a:ext cx="16859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Series identity and source label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6543675" y="3478113"/>
            <a:ext cx="2000250" cy="119062"/>
          </a:xfrm>
          <a:custGeom>
            <a:avLst/>
            <a:gdLst/>
            <a:ahLst/>
            <a:cxnLst/>
            <a:rect l="l" t="t" r="r" b="b"/>
            <a:pathLst>
              <a:path w="2000250" h="119062">
                <a:moveTo>
                  <a:pt x="0" y="0"/>
                </a:moveTo>
                <a:lnTo>
                  <a:pt x="2000250" y="0"/>
                </a:lnTo>
                <a:lnTo>
                  <a:pt x="2000250" y="119062"/>
                </a:lnTo>
                <a:lnTo>
                  <a:pt x="0" y="1190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7" name="Text 41"/>
          <p:cNvSpPr/>
          <p:nvPr/>
        </p:nvSpPr>
        <p:spPr>
          <a:xfrm>
            <a:off x="6543675" y="3478113"/>
            <a:ext cx="2000250" cy="11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2A9D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TEAL / COMPARISON SERIES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6381750" y="3853607"/>
            <a:ext cx="2324100" cy="966787"/>
          </a:xfrm>
          <a:custGeom>
            <a:avLst/>
            <a:gdLst/>
            <a:ahLst/>
            <a:cxnLst/>
            <a:rect l="l" t="t" r="r" b="b"/>
            <a:pathLst>
              <a:path w="2324100" h="966787">
                <a:moveTo>
                  <a:pt x="0" y="0"/>
                </a:moveTo>
                <a:lnTo>
                  <a:pt x="2324100" y="0"/>
                </a:lnTo>
                <a:lnTo>
                  <a:pt x="2324100" y="966787"/>
                </a:lnTo>
                <a:lnTo>
                  <a:pt x="0" y="966787"/>
                </a:lnTo>
                <a:close/>
              </a:path>
            </a:pathLst>
          </a:custGeom>
          <a:solidFill>
            <a:srgbClr val="F1E9D9"/>
          </a:solidFill>
          <a:ln/>
        </p:spPr>
      </p:sp>
      <p:sp>
        <p:nvSpPr>
          <p:cNvPr id="49" name="Shape 43"/>
          <p:cNvSpPr/>
          <p:nvPr/>
        </p:nvSpPr>
        <p:spPr>
          <a:xfrm>
            <a:off x="6543675" y="399722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C58B2B"/>
          </a:solidFill>
          <a:ln/>
        </p:spPr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444" y="4051995"/>
            <a:ext cx="119062" cy="119062"/>
          </a:xfrm>
          <a:prstGeom prst="rect">
            <a:avLst/>
          </a:prstGeom>
        </p:spPr>
      </p:pic>
      <p:sp>
        <p:nvSpPr>
          <p:cNvPr id="51" name="Shape 44"/>
          <p:cNvSpPr/>
          <p:nvPr/>
        </p:nvSpPr>
        <p:spPr>
          <a:xfrm>
            <a:off x="6858000" y="3997226"/>
            <a:ext cx="1685925" cy="157163"/>
          </a:xfrm>
          <a:custGeom>
            <a:avLst/>
            <a:gdLst/>
            <a:ahLst/>
            <a:cxnLst/>
            <a:rect l="l" t="t" r="r" b="b"/>
            <a:pathLst>
              <a:path w="1685925" h="157163">
                <a:moveTo>
                  <a:pt x="0" y="0"/>
                </a:moveTo>
                <a:lnTo>
                  <a:pt x="1685925" y="0"/>
                </a:lnTo>
                <a:lnTo>
                  <a:pt x="1685925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2" name="Text 45"/>
          <p:cNvSpPr/>
          <p:nvPr/>
        </p:nvSpPr>
        <p:spPr>
          <a:xfrm>
            <a:off x="6858000" y="3997226"/>
            <a:ext cx="16859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261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Disease C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6858000" y="4191966"/>
            <a:ext cx="1685925" cy="285750"/>
          </a:xfrm>
          <a:custGeom>
            <a:avLst/>
            <a:gdLst/>
            <a:ahLst/>
            <a:cxnLst/>
            <a:rect l="l" t="t" r="r" b="b"/>
            <a:pathLst>
              <a:path w="1685925" h="285750">
                <a:moveTo>
                  <a:pt x="0" y="0"/>
                </a:moveTo>
                <a:lnTo>
                  <a:pt x="1685925" y="0"/>
                </a:lnTo>
                <a:lnTo>
                  <a:pt x="1685925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4" name="Text 47"/>
          <p:cNvSpPr/>
          <p:nvPr/>
        </p:nvSpPr>
        <p:spPr>
          <a:xfrm>
            <a:off x="6858000" y="4191966"/>
            <a:ext cx="16859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Series identity and source label</a:t>
            </a:r>
            <a:endParaRPr lang="en-US" sz="900" dirty="0"/>
          </a:p>
        </p:txBody>
      </p:sp>
      <p:sp>
        <p:nvSpPr>
          <p:cNvPr id="55" name="Shape 48"/>
          <p:cNvSpPr/>
          <p:nvPr/>
        </p:nvSpPr>
        <p:spPr>
          <a:xfrm>
            <a:off x="6543675" y="4557713"/>
            <a:ext cx="2000250" cy="119062"/>
          </a:xfrm>
          <a:custGeom>
            <a:avLst/>
            <a:gdLst/>
            <a:ahLst/>
            <a:cxnLst/>
            <a:rect l="l" t="t" r="r" b="b"/>
            <a:pathLst>
              <a:path w="2000250" h="119062">
                <a:moveTo>
                  <a:pt x="0" y="0"/>
                </a:moveTo>
                <a:lnTo>
                  <a:pt x="2000250" y="0"/>
                </a:lnTo>
                <a:lnTo>
                  <a:pt x="2000250" y="119062"/>
                </a:lnTo>
                <a:lnTo>
                  <a:pt x="0" y="1190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6" name="Text 49"/>
          <p:cNvSpPr/>
          <p:nvPr/>
        </p:nvSpPr>
        <p:spPr>
          <a:xfrm>
            <a:off x="6543675" y="4557713"/>
            <a:ext cx="2000250" cy="11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A16D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AMBER / EMPHASIS SERIES</a:t>
            </a:r>
            <a:endParaRPr lang="en-US" sz="900" dirty="0"/>
          </a:p>
        </p:txBody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314825"/>
            <a:ext cx="522922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5" name="Shape 2"/>
          <p:cNvSpPr/>
          <p:nvPr/>
        </p:nvSpPr>
        <p:spPr>
          <a:xfrm>
            <a:off x="438076" y="342416"/>
            <a:ext cx="4791075" cy="138113"/>
          </a:xfrm>
          <a:custGeom>
            <a:avLst/>
            <a:gdLst/>
            <a:ahLst/>
            <a:cxnLst/>
            <a:rect l="l" t="t" r="r" b="b"/>
            <a:pathLst>
              <a:path w="4791075" h="138113">
                <a:moveTo>
                  <a:pt x="0" y="0"/>
                </a:moveTo>
                <a:lnTo>
                  <a:pt x="4791075" y="0"/>
                </a:lnTo>
                <a:lnTo>
                  <a:pt x="479107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38076" y="342416"/>
            <a:ext cx="47910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/ ANALYTICAL PROTOTYPE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8076" y="547649"/>
            <a:ext cx="4791075" cy="338137"/>
          </a:xfrm>
          <a:custGeom>
            <a:avLst/>
            <a:gdLst/>
            <a:ahLst/>
            <a:cxnLst/>
            <a:rect l="l" t="t" r="r" b="b"/>
            <a:pathLst>
              <a:path w="4791075" h="338137">
                <a:moveTo>
                  <a:pt x="0" y="0"/>
                </a:moveTo>
                <a:lnTo>
                  <a:pt x="4791075" y="0"/>
                </a:lnTo>
                <a:lnTo>
                  <a:pt x="4791075" y="338137"/>
                </a:lnTo>
                <a:lnTo>
                  <a:pt x="0" y="338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8076" y="547649"/>
            <a:ext cx="4791075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District-Level Template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076" y="952202"/>
            <a:ext cx="4791075" cy="195263"/>
          </a:xfrm>
          <a:custGeom>
            <a:avLst/>
            <a:gdLst/>
            <a:ahLst/>
            <a:cxnLst/>
            <a:rect l="l" t="t" r="r" b="b"/>
            <a:pathLst>
              <a:path w="4791075" h="195263">
                <a:moveTo>
                  <a:pt x="0" y="0"/>
                </a:moveTo>
                <a:lnTo>
                  <a:pt x="4791075" y="0"/>
                </a:lnTo>
                <a:lnTo>
                  <a:pt x="4791075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38076" y="952202"/>
            <a:ext cx="47910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repeatable visual framework for comparing Maharashtra districts.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548" y="400050"/>
            <a:ext cx="133350" cy="1333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44643" y="404774"/>
            <a:ext cx="1862137" cy="123825"/>
          </a:xfrm>
          <a:custGeom>
            <a:avLst/>
            <a:gdLst/>
            <a:ahLst/>
            <a:cxnLst/>
            <a:rect l="l" t="t" r="r" b="b"/>
            <a:pathLst>
              <a:path w="1862137" h="123825">
                <a:moveTo>
                  <a:pt x="0" y="0"/>
                </a:moveTo>
                <a:lnTo>
                  <a:pt x="1862137" y="0"/>
                </a:lnTo>
                <a:lnTo>
                  <a:pt x="1862137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844643" y="404774"/>
            <a:ext cx="18621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MAHARASHTRA / SAMPLE VIEW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642318"/>
            <a:ext cx="8267700" cy="217646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18493" y="1804429"/>
            <a:ext cx="1604963" cy="457200"/>
          </a:xfrm>
          <a:custGeom>
            <a:avLst/>
            <a:gdLst/>
            <a:ahLst/>
            <a:cxnLst/>
            <a:rect l="l" t="t" r="r" b="b"/>
            <a:pathLst>
              <a:path w="1604963" h="457200">
                <a:moveTo>
                  <a:pt x="23811" y="0"/>
                </a:moveTo>
                <a:lnTo>
                  <a:pt x="1581152" y="0"/>
                </a:lnTo>
                <a:quadBezTo>
                  <a:pt x="1604963" y="0"/>
                  <a:pt x="1604963" y="23811"/>
                </a:quadBezTo>
                <a:lnTo>
                  <a:pt x="1604963" y="433389"/>
                </a:lnTo>
                <a:quadBezTo>
                  <a:pt x="1604963" y="457200"/>
                  <a:pt x="1581152" y="457200"/>
                </a:quadBezTo>
                <a:lnTo>
                  <a:pt x="23811" y="457200"/>
                </a:lnTo>
                <a:quadBezTo>
                  <a:pt x="0" y="457200"/>
                  <a:pt x="0" y="433389"/>
                </a:quadBezTo>
                <a:lnTo>
                  <a:pt x="0" y="23811"/>
                </a:lnTo>
                <a:quadBezTo>
                  <a:pt x="0" y="0"/>
                  <a:pt x="23811" y="0"/>
                </a:quadBezTo>
                <a:close/>
              </a:path>
            </a:pathLst>
          </a:custGeom>
          <a:solidFill>
            <a:srgbClr val="F6F3EE">
              <a:alpha val="94118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723268" y="1890154"/>
            <a:ext cx="1395412" cy="123825"/>
          </a:xfrm>
          <a:custGeom>
            <a:avLst/>
            <a:gdLst/>
            <a:ahLst/>
            <a:cxnLst/>
            <a:rect l="l" t="t" r="r" b="b"/>
            <a:pathLst>
              <a:path w="1395412" h="123825">
                <a:moveTo>
                  <a:pt x="0" y="0"/>
                </a:moveTo>
                <a:lnTo>
                  <a:pt x="1395412" y="0"/>
                </a:lnTo>
                <a:lnTo>
                  <a:pt x="1395412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723268" y="1890154"/>
            <a:ext cx="13954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 MAP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23268" y="2053010"/>
            <a:ext cx="1395412" cy="123825"/>
          </a:xfrm>
          <a:custGeom>
            <a:avLst/>
            <a:gdLst/>
            <a:ahLst/>
            <a:cxnLst/>
            <a:rect l="l" t="t" r="r" b="b"/>
            <a:pathLst>
              <a:path w="1395412" h="123825">
                <a:moveTo>
                  <a:pt x="0" y="0"/>
                </a:moveTo>
                <a:lnTo>
                  <a:pt x="1395412" y="0"/>
                </a:lnTo>
                <a:lnTo>
                  <a:pt x="1395412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723268" y="2053010"/>
            <a:ext cx="13954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Fictional / sample values only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7324725" y="2762250"/>
            <a:ext cx="1200150" cy="895350"/>
          </a:xfrm>
          <a:custGeom>
            <a:avLst/>
            <a:gdLst/>
            <a:ahLst/>
            <a:cxnLst/>
            <a:rect l="l" t="t" r="r" b="b"/>
            <a:pathLst>
              <a:path w="1200150" h="895350">
                <a:moveTo>
                  <a:pt x="48635" y="0"/>
                </a:moveTo>
                <a:lnTo>
                  <a:pt x="1151515" y="0"/>
                </a:lnTo>
                <a:quadBezTo>
                  <a:pt x="1200150" y="0"/>
                  <a:pt x="1200150" y="48635"/>
                </a:quadBezTo>
                <a:lnTo>
                  <a:pt x="1200150" y="846715"/>
                </a:lnTo>
                <a:quadBezTo>
                  <a:pt x="1200150" y="895350"/>
                  <a:pt x="1151515" y="895350"/>
                </a:quadBezTo>
                <a:lnTo>
                  <a:pt x="48635" y="895350"/>
                </a:lnTo>
                <a:quadBezTo>
                  <a:pt x="0" y="895350"/>
                  <a:pt x="0" y="846715"/>
                </a:quadBezTo>
                <a:lnTo>
                  <a:pt x="0" y="48635"/>
                </a:lnTo>
                <a:quadBezTo>
                  <a:pt x="0" y="0"/>
                  <a:pt x="48635" y="0"/>
                </a:quadBezTo>
                <a:close/>
              </a:path>
            </a:pathLst>
          </a:custGeom>
          <a:solidFill>
            <a:srgbClr val="F6F3EE">
              <a:alpha val="96078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7429500" y="2857500"/>
            <a:ext cx="990600" cy="114300"/>
          </a:xfrm>
          <a:custGeom>
            <a:avLst/>
            <a:gdLst/>
            <a:ahLst/>
            <a:cxnLst/>
            <a:rect l="l" t="t" r="r" b="b"/>
            <a:pathLst>
              <a:path w="990600" h="114300">
                <a:moveTo>
                  <a:pt x="0" y="0"/>
                </a:moveTo>
                <a:lnTo>
                  <a:pt x="990600" y="0"/>
                </a:lnTo>
                <a:lnTo>
                  <a:pt x="99060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7429500" y="2857500"/>
            <a:ext cx="990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 INTENSITY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7429500" y="3067050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38100" y="0"/>
                </a:moveTo>
                <a:lnTo>
                  <a:pt x="47625" y="0"/>
                </a:lnTo>
                <a:quadBezTo>
                  <a:pt x="85725" y="0"/>
                  <a:pt x="85725" y="38100"/>
                </a:quadBezTo>
                <a:lnTo>
                  <a:pt x="85725" y="47625"/>
                </a:lnTo>
                <a:quadBezTo>
                  <a:pt x="85725" y="85725"/>
                  <a:pt x="47625" y="85725"/>
                </a:quadBezTo>
                <a:lnTo>
                  <a:pt x="38100" y="85725"/>
                </a:lnTo>
                <a:quadBezTo>
                  <a:pt x="0" y="85725"/>
                  <a:pt x="0" y="47625"/>
                </a:quadBezTo>
                <a:lnTo>
                  <a:pt x="0" y="38100"/>
                </a:lnTo>
                <a:quadBezTo>
                  <a:pt x="0" y="0"/>
                  <a:pt x="38100" y="0"/>
                </a:quad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4" name="Shape 19"/>
          <p:cNvSpPr/>
          <p:nvPr/>
        </p:nvSpPr>
        <p:spPr>
          <a:xfrm>
            <a:off x="7562924" y="3038475"/>
            <a:ext cx="600075" cy="142875"/>
          </a:xfrm>
          <a:custGeom>
            <a:avLst/>
            <a:gdLst/>
            <a:ahLst/>
            <a:cxnLst/>
            <a:rect l="l" t="t" r="r" b="b"/>
            <a:pathLst>
              <a:path w="600075" h="142875">
                <a:moveTo>
                  <a:pt x="0" y="0"/>
                </a:moveTo>
                <a:lnTo>
                  <a:pt x="600075" y="0"/>
                </a:lnTo>
                <a:lnTo>
                  <a:pt x="60007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7562924" y="3038475"/>
            <a:ext cx="6000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Lower signal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7429500" y="3257550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38100" y="0"/>
                </a:moveTo>
                <a:lnTo>
                  <a:pt x="47625" y="0"/>
                </a:lnTo>
                <a:quadBezTo>
                  <a:pt x="85725" y="0"/>
                  <a:pt x="85725" y="38100"/>
                </a:quadBezTo>
                <a:lnTo>
                  <a:pt x="85725" y="47625"/>
                </a:lnTo>
                <a:quadBezTo>
                  <a:pt x="85725" y="85725"/>
                  <a:pt x="47625" y="85725"/>
                </a:quadBezTo>
                <a:lnTo>
                  <a:pt x="38100" y="85725"/>
                </a:lnTo>
                <a:quadBezTo>
                  <a:pt x="0" y="85725"/>
                  <a:pt x="0" y="47625"/>
                </a:quadBezTo>
                <a:lnTo>
                  <a:pt x="0" y="38100"/>
                </a:lnTo>
                <a:quadBezTo>
                  <a:pt x="0" y="0"/>
                  <a:pt x="38100" y="0"/>
                </a:quadBezTo>
                <a:close/>
              </a:path>
            </a:pathLst>
          </a:custGeom>
          <a:solidFill>
            <a:srgbClr val="4C78A8"/>
          </a:solidFill>
          <a:ln/>
        </p:spPr>
      </p:sp>
      <p:sp>
        <p:nvSpPr>
          <p:cNvPr id="27" name="Shape 22"/>
          <p:cNvSpPr/>
          <p:nvPr/>
        </p:nvSpPr>
        <p:spPr>
          <a:xfrm>
            <a:off x="7562329" y="3228975"/>
            <a:ext cx="804862" cy="142875"/>
          </a:xfrm>
          <a:custGeom>
            <a:avLst/>
            <a:gdLst/>
            <a:ahLst/>
            <a:cxnLst/>
            <a:rect l="l" t="t" r="r" b="b"/>
            <a:pathLst>
              <a:path w="804862" h="142875">
                <a:moveTo>
                  <a:pt x="0" y="0"/>
                </a:moveTo>
                <a:lnTo>
                  <a:pt x="804862" y="0"/>
                </a:lnTo>
                <a:lnTo>
                  <a:pt x="804862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7562329" y="3228975"/>
            <a:ext cx="8048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Mid-range signal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7429500" y="3448050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38100" y="0"/>
                </a:moveTo>
                <a:lnTo>
                  <a:pt x="47625" y="0"/>
                </a:lnTo>
                <a:quadBezTo>
                  <a:pt x="85725" y="0"/>
                  <a:pt x="85725" y="38100"/>
                </a:quadBezTo>
                <a:lnTo>
                  <a:pt x="85725" y="47625"/>
                </a:lnTo>
                <a:quadBezTo>
                  <a:pt x="85725" y="85725"/>
                  <a:pt x="47625" y="85725"/>
                </a:quadBezTo>
                <a:lnTo>
                  <a:pt x="38100" y="85725"/>
                </a:lnTo>
                <a:quadBezTo>
                  <a:pt x="0" y="85725"/>
                  <a:pt x="0" y="47625"/>
                </a:quadBezTo>
                <a:lnTo>
                  <a:pt x="0" y="38100"/>
                </a:lnTo>
                <a:quadBezTo>
                  <a:pt x="0" y="0"/>
                  <a:pt x="38100" y="0"/>
                </a:quadBez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30" name="Shape 25"/>
          <p:cNvSpPr/>
          <p:nvPr/>
        </p:nvSpPr>
        <p:spPr>
          <a:xfrm>
            <a:off x="7562254" y="3419475"/>
            <a:ext cx="638175" cy="142875"/>
          </a:xfrm>
          <a:custGeom>
            <a:avLst/>
            <a:gdLst/>
            <a:ahLst/>
            <a:cxnLst/>
            <a:rect l="l" t="t" r="r" b="b"/>
            <a:pathLst>
              <a:path w="638175" h="142875">
                <a:moveTo>
                  <a:pt x="0" y="0"/>
                </a:moveTo>
                <a:lnTo>
                  <a:pt x="638175" y="0"/>
                </a:lnTo>
                <a:lnTo>
                  <a:pt x="63817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7562254" y="3419475"/>
            <a:ext cx="638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 signal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38150" y="4000500"/>
            <a:ext cx="4043363" cy="838200"/>
          </a:xfrm>
          <a:custGeom>
            <a:avLst/>
            <a:gdLst/>
            <a:ahLst/>
            <a:cxnLst/>
            <a:rect l="l" t="t" r="r" b="b"/>
            <a:pathLst>
              <a:path w="4043363" h="838200">
                <a:moveTo>
                  <a:pt x="72739" y="0"/>
                </a:moveTo>
                <a:lnTo>
                  <a:pt x="3970624" y="0"/>
                </a:lnTo>
                <a:quadBezTo>
                  <a:pt x="4043363" y="0"/>
                  <a:pt x="4043363" y="72739"/>
                </a:quadBezTo>
                <a:lnTo>
                  <a:pt x="4043363" y="765461"/>
                </a:lnTo>
                <a:quadBezTo>
                  <a:pt x="4043363" y="838200"/>
                  <a:pt x="3970624" y="838200"/>
                </a:quadBezTo>
                <a:lnTo>
                  <a:pt x="72739" y="838200"/>
                </a:lnTo>
                <a:quadBezTo>
                  <a:pt x="0" y="838200"/>
                  <a:pt x="0" y="765461"/>
                </a:quadBezTo>
                <a:lnTo>
                  <a:pt x="0" y="72739"/>
                </a:lnTo>
                <a:quadBezTo>
                  <a:pt x="0" y="0"/>
                  <a:pt x="72739" y="0"/>
                </a:quadBezTo>
                <a:close/>
              </a:path>
            </a:pathLst>
          </a:custGeom>
          <a:solidFill>
            <a:srgbClr val="111418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4143375"/>
            <a:ext cx="142875" cy="142875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847725" y="4134296"/>
            <a:ext cx="3471863" cy="152400"/>
          </a:xfrm>
          <a:custGeom>
            <a:avLst/>
            <a:gdLst/>
            <a:ahLst/>
            <a:cxnLst/>
            <a:rect l="l" t="t" r="r" b="b"/>
            <a:pathLst>
              <a:path w="3471863" h="152400">
                <a:moveTo>
                  <a:pt x="0" y="0"/>
                </a:moveTo>
                <a:lnTo>
                  <a:pt x="3471863" y="0"/>
                </a:lnTo>
                <a:lnTo>
                  <a:pt x="3471863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847725" y="4134296"/>
            <a:ext cx="34718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District comparison framework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847725" y="4324722"/>
            <a:ext cx="3471863" cy="285750"/>
          </a:xfrm>
          <a:custGeom>
            <a:avLst/>
            <a:gdLst/>
            <a:ahLst/>
            <a:cxnLst/>
            <a:rect l="l" t="t" r="r" b="b"/>
            <a:pathLst>
              <a:path w="3471863" h="285750">
                <a:moveTo>
                  <a:pt x="0" y="0"/>
                </a:moveTo>
                <a:lnTo>
                  <a:pt x="3471863" y="0"/>
                </a:lnTo>
                <a:lnTo>
                  <a:pt x="3471863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847725" y="4324722"/>
            <a:ext cx="34718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C8D0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boundary logic, indicator set, and legend across every district.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4662488" y="4000500"/>
            <a:ext cx="4043363" cy="838200"/>
          </a:xfrm>
          <a:custGeom>
            <a:avLst/>
            <a:gdLst/>
            <a:ahLst/>
            <a:cxnLst/>
            <a:rect l="l" t="t" r="r" b="b"/>
            <a:pathLst>
              <a:path w="4043363" h="838200">
                <a:moveTo>
                  <a:pt x="72739" y="0"/>
                </a:moveTo>
                <a:lnTo>
                  <a:pt x="3970624" y="0"/>
                </a:lnTo>
                <a:quadBezTo>
                  <a:pt x="4043363" y="0"/>
                  <a:pt x="4043363" y="72739"/>
                </a:quadBezTo>
                <a:lnTo>
                  <a:pt x="4043363" y="765461"/>
                </a:lnTo>
                <a:quadBezTo>
                  <a:pt x="4043363" y="838200"/>
                  <a:pt x="3970624" y="838200"/>
                </a:quadBezTo>
                <a:lnTo>
                  <a:pt x="72739" y="838200"/>
                </a:lnTo>
                <a:quadBezTo>
                  <a:pt x="0" y="838200"/>
                  <a:pt x="0" y="765461"/>
                </a:quadBezTo>
                <a:lnTo>
                  <a:pt x="0" y="72739"/>
                </a:lnTo>
                <a:quadBezTo>
                  <a:pt x="0" y="0"/>
                  <a:pt x="72739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2987" y="4143375"/>
            <a:ext cx="142875" cy="142875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5100638" y="4134296"/>
            <a:ext cx="3443288" cy="152400"/>
          </a:xfrm>
          <a:custGeom>
            <a:avLst/>
            <a:gdLst/>
            <a:ahLst/>
            <a:cxnLst/>
            <a:rect l="l" t="t" r="r" b="b"/>
            <a:pathLst>
              <a:path w="3443288" h="152400">
                <a:moveTo>
                  <a:pt x="0" y="0"/>
                </a:moveTo>
                <a:lnTo>
                  <a:pt x="3443288" y="0"/>
                </a:lnTo>
                <a:lnTo>
                  <a:pt x="3443288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4"/>
          <p:cNvSpPr/>
          <p:nvPr/>
        </p:nvSpPr>
        <p:spPr>
          <a:xfrm>
            <a:off x="5100638" y="4134296"/>
            <a:ext cx="34432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Interpretation guardrail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5100638" y="4324722"/>
            <a:ext cx="3443288" cy="285750"/>
          </a:xfrm>
          <a:custGeom>
            <a:avLst/>
            <a:gdLst/>
            <a:ahLst/>
            <a:cxnLst/>
            <a:rect l="l" t="t" r="r" b="b"/>
            <a:pathLst>
              <a:path w="3443288" h="285750">
                <a:moveTo>
                  <a:pt x="0" y="0"/>
                </a:moveTo>
                <a:lnTo>
                  <a:pt x="3443288" y="0"/>
                </a:lnTo>
                <a:lnTo>
                  <a:pt x="3443288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6"/>
          <p:cNvSpPr/>
          <p:nvPr/>
        </p:nvSpPr>
        <p:spPr>
          <a:xfrm>
            <a:off x="5100638" y="4324722"/>
            <a:ext cx="34432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this visual to test structure—not to claim observed outcomes.</a:t>
            </a:r>
            <a:endParaRPr lang="en-US" sz="90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2488" y="4000500"/>
            <a:ext cx="4043363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5" name="Shape 2"/>
          <p:cNvSpPr/>
          <p:nvPr/>
        </p:nvSpPr>
        <p:spPr>
          <a:xfrm>
            <a:off x="438150" y="450056"/>
            <a:ext cx="200025" cy="14288"/>
          </a:xfrm>
          <a:custGeom>
            <a:avLst/>
            <a:gdLst/>
            <a:ahLst/>
            <a:cxnLst/>
            <a:rect l="l" t="t" r="r" b="b"/>
            <a:pathLst>
              <a:path w="200025" h="14288">
                <a:moveTo>
                  <a:pt x="0" y="0"/>
                </a:moveTo>
                <a:lnTo>
                  <a:pt x="200025" y="0"/>
                </a:lnTo>
                <a:lnTo>
                  <a:pt x="200025" y="14288"/>
                </a:lnTo>
                <a:lnTo>
                  <a:pt x="0" y="14288"/>
                </a:lnTo>
                <a:close/>
              </a:path>
            </a:pathLst>
          </a:custGeom>
          <a:solidFill>
            <a:srgbClr val="4C78A8"/>
          </a:solidFill>
          <a:ln/>
        </p:spPr>
      </p:sp>
      <p:sp>
        <p:nvSpPr>
          <p:cNvPr id="6" name="Shape 3"/>
          <p:cNvSpPr/>
          <p:nvPr/>
        </p:nvSpPr>
        <p:spPr>
          <a:xfrm>
            <a:off x="714375" y="385763"/>
            <a:ext cx="1566267" cy="138113"/>
          </a:xfrm>
          <a:custGeom>
            <a:avLst/>
            <a:gdLst/>
            <a:ahLst/>
            <a:cxnLst/>
            <a:rect l="l" t="t" r="r" b="b"/>
            <a:pathLst>
              <a:path w="1566267" h="138113">
                <a:moveTo>
                  <a:pt x="0" y="0"/>
                </a:moveTo>
                <a:lnTo>
                  <a:pt x="1566267" y="0"/>
                </a:lnTo>
                <a:lnTo>
                  <a:pt x="1566267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385763"/>
            <a:ext cx="1566267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synthesis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38150" y="620166"/>
            <a:ext cx="8267700" cy="347663"/>
          </a:xfrm>
          <a:custGeom>
            <a:avLst/>
            <a:gdLst/>
            <a:ahLst/>
            <a:cxnLst/>
            <a:rect l="l" t="t" r="r" b="b"/>
            <a:pathLst>
              <a:path w="8267700" h="347663">
                <a:moveTo>
                  <a:pt x="0" y="0"/>
                </a:moveTo>
                <a:lnTo>
                  <a:pt x="8267700" y="0"/>
                </a:lnTo>
                <a:lnTo>
                  <a:pt x="82677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38150" y="620166"/>
            <a:ext cx="82677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8150" y="1045519"/>
            <a:ext cx="5334000" cy="204787"/>
          </a:xfrm>
          <a:custGeom>
            <a:avLst/>
            <a:gdLst/>
            <a:ahLst/>
            <a:cxnLst/>
            <a:rect l="l" t="t" r="r" b="b"/>
            <a:pathLst>
              <a:path w="5334000" h="204787">
                <a:moveTo>
                  <a:pt x="0" y="0"/>
                </a:moveTo>
                <a:lnTo>
                  <a:pt x="5334000" y="0"/>
                </a:lnTo>
                <a:lnTo>
                  <a:pt x="5334000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38150" y="1045519"/>
            <a:ext cx="533400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evidence-led takeaways organize the final interpretation.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7331" y="1823145"/>
            <a:ext cx="2624138" cy="2986088"/>
          </a:xfrm>
          <a:custGeom>
            <a:avLst/>
            <a:gdLst/>
            <a:ahLst/>
            <a:cxnLst/>
            <a:rect l="l" t="t" r="r" b="b"/>
            <a:pathLst>
              <a:path w="2624138" h="2986088">
                <a:moveTo>
                  <a:pt x="29863" y="0"/>
                </a:moveTo>
                <a:lnTo>
                  <a:pt x="2594275" y="0"/>
                </a:lnTo>
                <a:quadBezTo>
                  <a:pt x="2624138" y="0"/>
                  <a:pt x="2624138" y="29863"/>
                </a:quadBezTo>
                <a:lnTo>
                  <a:pt x="2624138" y="2956225"/>
                </a:lnTo>
                <a:quadBezTo>
                  <a:pt x="2624138" y="2986088"/>
                  <a:pt x="2594275" y="2986088"/>
                </a:quadBezTo>
                <a:lnTo>
                  <a:pt x="29863" y="2986088"/>
                </a:lnTo>
                <a:quadBezTo>
                  <a:pt x="0" y="2986088"/>
                  <a:pt x="0" y="2956225"/>
                </a:quadBezTo>
                <a:lnTo>
                  <a:pt x="0" y="29863"/>
                </a:lnTo>
                <a:quadBezTo>
                  <a:pt x="0" y="0"/>
                  <a:pt x="29863" y="0"/>
                </a:quadBezTo>
                <a:close/>
              </a:path>
            </a:pathLst>
          </a:custGeom>
          <a:solidFill>
            <a:srgbClr val="EEF2F5"/>
          </a:solidFill>
          <a:ln/>
        </p:spPr>
      </p:sp>
      <p:sp>
        <p:nvSpPr>
          <p:cNvPr id="13" name="Shape 10"/>
          <p:cNvSpPr/>
          <p:nvPr/>
        </p:nvSpPr>
        <p:spPr>
          <a:xfrm>
            <a:off x="638175" y="2041327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0" y="157163"/>
                </a:moveTo>
                <a:cubicBezTo>
                  <a:pt x="0" y="243961"/>
                  <a:pt x="70364" y="314325"/>
                  <a:pt x="157163" y="314325"/>
                </a:cubicBezTo>
                <a:cubicBezTo>
                  <a:pt x="243961" y="314325"/>
                  <a:pt x="314325" y="243961"/>
                  <a:pt x="314325" y="157163"/>
                </a:cubicBezTo>
                <a:cubicBezTo>
                  <a:pt x="314325" y="70364"/>
                  <a:pt x="243961" y="0"/>
                  <a:pt x="157163" y="0"/>
                </a:cubicBezTo>
                <a:cubicBezTo>
                  <a:pt x="70364" y="0"/>
                  <a:pt x="0" y="70364"/>
                  <a:pt x="0" y="157162"/>
                </a:cubicBezTo>
                <a:close/>
              </a:path>
            </a:pathLst>
          </a:custGeom>
          <a:solidFill>
            <a:srgbClr val="4C78A8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137" y="2122289"/>
            <a:ext cx="152400" cy="1524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30884" y="2119908"/>
            <a:ext cx="128588" cy="157163"/>
          </a:xfrm>
          <a:custGeom>
            <a:avLst/>
            <a:gdLst/>
            <a:ahLst/>
            <a:cxnLst/>
            <a:rect l="l" t="t" r="r" b="b"/>
            <a:pathLst>
              <a:path w="128588" h="157163">
                <a:moveTo>
                  <a:pt x="0" y="0"/>
                </a:moveTo>
                <a:lnTo>
                  <a:pt x="128588" y="0"/>
                </a:lnTo>
                <a:lnTo>
                  <a:pt x="128588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2730884" y="2119908"/>
            <a:ext cx="12858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37356" y="2632807"/>
            <a:ext cx="2224088" cy="195263"/>
          </a:xfrm>
          <a:custGeom>
            <a:avLst/>
            <a:gdLst/>
            <a:ahLst/>
            <a:cxnLst/>
            <a:rect l="l" t="t" r="r" b="b"/>
            <a:pathLst>
              <a:path w="2224088" h="195263">
                <a:moveTo>
                  <a:pt x="0" y="0"/>
                </a:moveTo>
                <a:lnTo>
                  <a:pt x="2224088" y="0"/>
                </a:lnTo>
                <a:lnTo>
                  <a:pt x="2224088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637356" y="2632807"/>
            <a:ext cx="222408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 pattern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37356" y="2914687"/>
            <a:ext cx="2224088" cy="547687"/>
          </a:xfrm>
          <a:custGeom>
            <a:avLst/>
            <a:gdLst/>
            <a:ahLst/>
            <a:cxnLst/>
            <a:rect l="l" t="t" r="r" b="b"/>
            <a:pathLst>
              <a:path w="2224088" h="547687">
                <a:moveTo>
                  <a:pt x="0" y="0"/>
                </a:moveTo>
                <a:lnTo>
                  <a:pt x="2224088" y="0"/>
                </a:lnTo>
                <a:lnTo>
                  <a:pt x="2224088" y="547687"/>
                </a:lnTo>
                <a:lnTo>
                  <a:pt x="0" y="5476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637356" y="2914687"/>
            <a:ext cx="2224088" cy="547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Summarize the clearest pattern emerging from the source material.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37356" y="4129608"/>
            <a:ext cx="2224088" cy="490537"/>
          </a:xfrm>
          <a:custGeom>
            <a:avLst/>
            <a:gdLst/>
            <a:ahLst/>
            <a:cxnLst/>
            <a:rect l="l" t="t" r="r" b="b"/>
            <a:pathLst>
              <a:path w="2224088" h="490537">
                <a:moveTo>
                  <a:pt x="0" y="0"/>
                </a:moveTo>
                <a:lnTo>
                  <a:pt x="2224088" y="0"/>
                </a:lnTo>
                <a:lnTo>
                  <a:pt x="2224088" y="490537"/>
                </a:lnTo>
                <a:lnTo>
                  <a:pt x="0" y="4905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637356" y="4129608"/>
            <a:ext cx="2224088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2A9D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602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Anchor the finding in observed evidence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259894" y="1823145"/>
            <a:ext cx="2624138" cy="2986088"/>
          </a:xfrm>
          <a:custGeom>
            <a:avLst/>
            <a:gdLst/>
            <a:ahLst/>
            <a:cxnLst/>
            <a:rect l="l" t="t" r="r" b="b"/>
            <a:pathLst>
              <a:path w="2624138" h="2986088">
                <a:moveTo>
                  <a:pt x="29863" y="0"/>
                </a:moveTo>
                <a:lnTo>
                  <a:pt x="2594275" y="0"/>
                </a:lnTo>
                <a:quadBezTo>
                  <a:pt x="2624138" y="0"/>
                  <a:pt x="2624138" y="29863"/>
                </a:quadBezTo>
                <a:lnTo>
                  <a:pt x="2624138" y="2956225"/>
                </a:lnTo>
                <a:quadBezTo>
                  <a:pt x="2624138" y="2986088"/>
                  <a:pt x="2594275" y="2986088"/>
                </a:quadBezTo>
                <a:lnTo>
                  <a:pt x="29863" y="2986088"/>
                </a:lnTo>
                <a:quadBezTo>
                  <a:pt x="0" y="2986088"/>
                  <a:pt x="0" y="2956225"/>
                </a:quadBezTo>
                <a:lnTo>
                  <a:pt x="0" y="29863"/>
                </a:lnTo>
                <a:quadBezTo>
                  <a:pt x="0" y="0"/>
                  <a:pt x="29863" y="0"/>
                </a:quadBezTo>
                <a:close/>
              </a:path>
            </a:pathLst>
          </a:custGeom>
          <a:solidFill>
            <a:srgbClr val="111418"/>
          </a:solidFill>
          <a:ln/>
        </p:spPr>
      </p:sp>
      <p:sp>
        <p:nvSpPr>
          <p:cNvPr id="24" name="Shape 20"/>
          <p:cNvSpPr/>
          <p:nvPr/>
        </p:nvSpPr>
        <p:spPr>
          <a:xfrm>
            <a:off x="3460700" y="2041327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0" y="157163"/>
                </a:moveTo>
                <a:cubicBezTo>
                  <a:pt x="0" y="243961"/>
                  <a:pt x="70364" y="314325"/>
                  <a:pt x="157163" y="314325"/>
                </a:cubicBezTo>
                <a:cubicBezTo>
                  <a:pt x="243961" y="314325"/>
                  <a:pt x="314325" y="243961"/>
                  <a:pt x="314325" y="157163"/>
                </a:cubicBezTo>
                <a:cubicBezTo>
                  <a:pt x="314325" y="70364"/>
                  <a:pt x="243961" y="0"/>
                  <a:pt x="157163" y="0"/>
                </a:cubicBezTo>
                <a:cubicBezTo>
                  <a:pt x="70364" y="0"/>
                  <a:pt x="0" y="70364"/>
                  <a:pt x="0" y="157162"/>
                </a:cubicBezTo>
                <a:close/>
              </a:path>
            </a:pathLst>
          </a:custGeom>
          <a:solidFill>
            <a:srgbClr val="2A9D8F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663" y="2122289"/>
            <a:ext cx="152400" cy="1524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531197" y="2119908"/>
            <a:ext cx="152400" cy="157163"/>
          </a:xfrm>
          <a:custGeom>
            <a:avLst/>
            <a:gdLst/>
            <a:ahLst/>
            <a:cxnLst/>
            <a:rect l="l" t="t" r="r" b="b"/>
            <a:pathLst>
              <a:path w="152400" h="157163">
                <a:moveTo>
                  <a:pt x="0" y="0"/>
                </a:moveTo>
                <a:lnTo>
                  <a:pt x="152400" y="0"/>
                </a:lnTo>
                <a:lnTo>
                  <a:pt x="1524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5531197" y="2119908"/>
            <a:ext cx="1524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98A5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3459919" y="2632807"/>
            <a:ext cx="2224088" cy="195263"/>
          </a:xfrm>
          <a:custGeom>
            <a:avLst/>
            <a:gdLst/>
            <a:ahLst/>
            <a:cxnLst/>
            <a:rect l="l" t="t" r="r" b="b"/>
            <a:pathLst>
              <a:path w="2224088" h="195263">
                <a:moveTo>
                  <a:pt x="0" y="0"/>
                </a:moveTo>
                <a:lnTo>
                  <a:pt x="2224088" y="0"/>
                </a:lnTo>
                <a:lnTo>
                  <a:pt x="2224088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4"/>
          <p:cNvSpPr/>
          <p:nvPr/>
        </p:nvSpPr>
        <p:spPr>
          <a:xfrm>
            <a:off x="3459919" y="2632807"/>
            <a:ext cx="222408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Interpretive insight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3459919" y="2913906"/>
            <a:ext cx="2224088" cy="366712"/>
          </a:xfrm>
          <a:custGeom>
            <a:avLst/>
            <a:gdLst/>
            <a:ahLst/>
            <a:cxnLst/>
            <a:rect l="l" t="t" r="r" b="b"/>
            <a:pathLst>
              <a:path w="2224088" h="366712">
                <a:moveTo>
                  <a:pt x="0" y="0"/>
                </a:moveTo>
                <a:lnTo>
                  <a:pt x="2224088" y="0"/>
                </a:lnTo>
                <a:lnTo>
                  <a:pt x="2224088" y="366712"/>
                </a:lnTo>
                <a:lnTo>
                  <a:pt x="0" y="3667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3459919" y="2913906"/>
            <a:ext cx="2224088" cy="36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C5CD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what the evidence means for the central research question.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3459919" y="4129608"/>
            <a:ext cx="2224088" cy="490537"/>
          </a:xfrm>
          <a:custGeom>
            <a:avLst/>
            <a:gdLst/>
            <a:ahLst/>
            <a:cxnLst/>
            <a:rect l="l" t="t" r="r" b="b"/>
            <a:pathLst>
              <a:path w="2224088" h="490537">
                <a:moveTo>
                  <a:pt x="0" y="0"/>
                </a:moveTo>
                <a:lnTo>
                  <a:pt x="2224088" y="0"/>
                </a:lnTo>
                <a:lnTo>
                  <a:pt x="2224088" y="490537"/>
                </a:lnTo>
                <a:lnTo>
                  <a:pt x="0" y="4905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8"/>
          <p:cNvSpPr/>
          <p:nvPr/>
        </p:nvSpPr>
        <p:spPr>
          <a:xfrm>
            <a:off x="3459919" y="4129608"/>
            <a:ext cx="2224088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C58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602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 the pattern to the argument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082494" y="1823145"/>
            <a:ext cx="2624138" cy="2986088"/>
          </a:xfrm>
          <a:custGeom>
            <a:avLst/>
            <a:gdLst/>
            <a:ahLst/>
            <a:cxnLst/>
            <a:rect l="l" t="t" r="r" b="b"/>
            <a:pathLst>
              <a:path w="2624138" h="2986088">
                <a:moveTo>
                  <a:pt x="29863" y="0"/>
                </a:moveTo>
                <a:lnTo>
                  <a:pt x="2594275" y="0"/>
                </a:lnTo>
                <a:quadBezTo>
                  <a:pt x="2624138" y="0"/>
                  <a:pt x="2624138" y="29863"/>
                </a:quadBezTo>
                <a:lnTo>
                  <a:pt x="2624138" y="2956225"/>
                </a:lnTo>
                <a:quadBezTo>
                  <a:pt x="2624138" y="2986088"/>
                  <a:pt x="2594275" y="2986088"/>
                </a:quadBezTo>
                <a:lnTo>
                  <a:pt x="29863" y="2986088"/>
                </a:lnTo>
                <a:quadBezTo>
                  <a:pt x="0" y="2986088"/>
                  <a:pt x="0" y="2956225"/>
                </a:quadBezTo>
                <a:lnTo>
                  <a:pt x="0" y="29863"/>
                </a:lnTo>
                <a:quadBezTo>
                  <a:pt x="0" y="0"/>
                  <a:pt x="29863" y="0"/>
                </a:quadBezTo>
                <a:close/>
              </a:path>
            </a:pathLst>
          </a:custGeom>
          <a:solidFill>
            <a:srgbClr val="FFFFFF"/>
          </a:solidFill>
          <a:ln w="9501">
            <a:solidFill>
              <a:srgbClr val="D7DEE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292825" y="2050852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0" y="157163"/>
                </a:moveTo>
                <a:cubicBezTo>
                  <a:pt x="0" y="243961"/>
                  <a:pt x="70364" y="314325"/>
                  <a:pt x="157163" y="314325"/>
                </a:cubicBezTo>
                <a:cubicBezTo>
                  <a:pt x="243961" y="314325"/>
                  <a:pt x="314325" y="243961"/>
                  <a:pt x="314325" y="157163"/>
                </a:cubicBezTo>
                <a:cubicBezTo>
                  <a:pt x="314325" y="70364"/>
                  <a:pt x="243961" y="0"/>
                  <a:pt x="157163" y="0"/>
                </a:cubicBezTo>
                <a:cubicBezTo>
                  <a:pt x="70364" y="0"/>
                  <a:pt x="0" y="70364"/>
                  <a:pt x="0" y="157162"/>
                </a:cubicBezTo>
                <a:close/>
              </a:path>
            </a:pathLst>
          </a:custGeom>
          <a:solidFill>
            <a:srgbClr val="C58B2B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788" y="2131814"/>
            <a:ext cx="152400" cy="152400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8344496" y="2129433"/>
            <a:ext cx="152400" cy="157163"/>
          </a:xfrm>
          <a:custGeom>
            <a:avLst/>
            <a:gdLst/>
            <a:ahLst/>
            <a:cxnLst/>
            <a:rect l="l" t="t" r="r" b="b"/>
            <a:pathLst>
              <a:path w="152400" h="157163">
                <a:moveTo>
                  <a:pt x="0" y="0"/>
                </a:moveTo>
                <a:lnTo>
                  <a:pt x="152400" y="0"/>
                </a:lnTo>
                <a:lnTo>
                  <a:pt x="1524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2"/>
          <p:cNvSpPr/>
          <p:nvPr/>
        </p:nvSpPr>
        <p:spPr>
          <a:xfrm>
            <a:off x="8344496" y="2129433"/>
            <a:ext cx="1524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6292044" y="2642332"/>
            <a:ext cx="2205037" cy="195263"/>
          </a:xfrm>
          <a:custGeom>
            <a:avLst/>
            <a:gdLst/>
            <a:ahLst/>
            <a:cxnLst/>
            <a:rect l="l" t="t" r="r" b="b"/>
            <a:pathLst>
              <a:path w="2205037" h="195263">
                <a:moveTo>
                  <a:pt x="0" y="0"/>
                </a:moveTo>
                <a:lnTo>
                  <a:pt x="2205037" y="0"/>
                </a:lnTo>
                <a:lnTo>
                  <a:pt x="2205037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4"/>
          <p:cNvSpPr/>
          <p:nvPr/>
        </p:nvSpPr>
        <p:spPr>
          <a:xfrm>
            <a:off x="6292044" y="2642332"/>
            <a:ext cx="220503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Practical implication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6292044" y="2924212"/>
            <a:ext cx="2205037" cy="547687"/>
          </a:xfrm>
          <a:custGeom>
            <a:avLst/>
            <a:gdLst/>
            <a:ahLst/>
            <a:cxnLst/>
            <a:rect l="l" t="t" r="r" b="b"/>
            <a:pathLst>
              <a:path w="2205037" h="547687">
                <a:moveTo>
                  <a:pt x="0" y="0"/>
                </a:moveTo>
                <a:lnTo>
                  <a:pt x="2205037" y="0"/>
                </a:lnTo>
                <a:lnTo>
                  <a:pt x="2205037" y="547687"/>
                </a:lnTo>
                <a:lnTo>
                  <a:pt x="0" y="5476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2" name="Text 36"/>
          <p:cNvSpPr/>
          <p:nvPr/>
        </p:nvSpPr>
        <p:spPr>
          <a:xfrm>
            <a:off x="6292044" y="2924212"/>
            <a:ext cx="2205037" cy="547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Translate the finding into its consequence for practice, policy, or future study.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6292044" y="4120083"/>
            <a:ext cx="2205037" cy="490537"/>
          </a:xfrm>
          <a:custGeom>
            <a:avLst/>
            <a:gdLst/>
            <a:ahLst/>
            <a:cxnLst/>
            <a:rect l="l" t="t" r="r" b="b"/>
            <a:pathLst>
              <a:path w="2205037" h="490537">
                <a:moveTo>
                  <a:pt x="0" y="0"/>
                </a:moveTo>
                <a:lnTo>
                  <a:pt x="2205037" y="0"/>
                </a:lnTo>
                <a:lnTo>
                  <a:pt x="2205037" y="490537"/>
                </a:lnTo>
                <a:lnTo>
                  <a:pt x="0" y="4905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4" name="Text 38"/>
          <p:cNvSpPr/>
          <p:nvPr/>
        </p:nvSpPr>
        <p:spPr>
          <a:xfrm>
            <a:off x="6292044" y="4120083"/>
            <a:ext cx="2205037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602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 with the next decision or action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5" name="Shape 2"/>
          <p:cNvSpPr/>
          <p:nvPr/>
        </p:nvSpPr>
        <p:spPr>
          <a:xfrm>
            <a:off x="438150" y="361466"/>
            <a:ext cx="8267700" cy="138113"/>
          </a:xfrm>
          <a:custGeom>
            <a:avLst/>
            <a:gdLst/>
            <a:ahLst/>
            <a:cxnLst/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38150" y="361466"/>
            <a:ext cx="82677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 NOTE / 06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9303" y="641896"/>
            <a:ext cx="1738312" cy="328613"/>
          </a:xfrm>
          <a:custGeom>
            <a:avLst/>
            <a:gdLst/>
            <a:ahLst/>
            <a:cxnLst/>
            <a:rect l="l" t="t" r="r" b="b"/>
            <a:pathLst>
              <a:path w="1738312" h="328613">
                <a:moveTo>
                  <a:pt x="0" y="0"/>
                </a:moveTo>
                <a:lnTo>
                  <a:pt x="1738312" y="0"/>
                </a:lnTo>
                <a:lnTo>
                  <a:pt x="1738312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9303" y="641896"/>
            <a:ext cx="1738312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2295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86350" y="565175"/>
            <a:ext cx="3619500" cy="371475"/>
          </a:xfrm>
          <a:custGeom>
            <a:avLst/>
            <a:gdLst/>
            <a:ahLst/>
            <a:cxnLst/>
            <a:rect l="l" t="t" r="r" b="b"/>
            <a:pathLst>
              <a:path w="3619500" h="371475">
                <a:moveTo>
                  <a:pt x="0" y="0"/>
                </a:moveTo>
                <a:lnTo>
                  <a:pt x="3619500" y="0"/>
                </a:lnTo>
                <a:lnTo>
                  <a:pt x="3619500" y="371475"/>
                </a:lnTo>
                <a:lnTo>
                  <a:pt x="0" y="3714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086350" y="565175"/>
            <a:ext cx="361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 the signal as reported surveillance—not a complete measure of disease burden.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8150" y="1102742"/>
            <a:ext cx="8267700" cy="14288"/>
          </a:xfrm>
          <a:custGeom>
            <a:avLst/>
            <a:gdLst/>
            <a:ahLst/>
            <a:cxnLst/>
            <a:rect l="l" t="t" r="r" b="b"/>
            <a:pathLst>
              <a:path w="8267700" h="14288">
                <a:moveTo>
                  <a:pt x="0" y="0"/>
                </a:moveTo>
                <a:lnTo>
                  <a:pt x="8267700" y="0"/>
                </a:lnTo>
                <a:lnTo>
                  <a:pt x="8267700" y="14288"/>
                </a:lnTo>
                <a:lnTo>
                  <a:pt x="0" y="14288"/>
                </a:lnTo>
                <a:close/>
              </a:path>
            </a:pathLst>
          </a:custGeom>
          <a:solidFill>
            <a:srgbClr val="111418">
              <a:alpha val="9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36997" y="1689608"/>
            <a:ext cx="4343400" cy="3119437"/>
          </a:xfrm>
          <a:custGeom>
            <a:avLst/>
            <a:gdLst/>
            <a:ahLst/>
            <a:cxnLst/>
            <a:rect l="l" t="t" r="r" b="b"/>
            <a:pathLst>
              <a:path w="4343400" h="3119437">
                <a:moveTo>
                  <a:pt x="0" y="0"/>
                </a:moveTo>
                <a:lnTo>
                  <a:pt x="4343400" y="0"/>
                </a:lnTo>
                <a:lnTo>
                  <a:pt x="4343400" y="3119437"/>
                </a:lnTo>
                <a:lnTo>
                  <a:pt x="0" y="3119437"/>
                </a:lnTo>
                <a:close/>
              </a:path>
            </a:pathLst>
          </a:custGeom>
          <a:solidFill>
            <a:srgbClr val="EEF2F5"/>
          </a:solidFill>
          <a:ln/>
        </p:spPr>
      </p:sp>
      <p:sp>
        <p:nvSpPr>
          <p:cNvPr id="13" name="Shape 10"/>
          <p:cNvSpPr/>
          <p:nvPr/>
        </p:nvSpPr>
        <p:spPr>
          <a:xfrm>
            <a:off x="685800" y="198707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4C78A8"/>
          </a:solidFill>
          <a:ln/>
        </p:spPr>
      </p:sp>
      <p:sp>
        <p:nvSpPr>
          <p:cNvPr id="14" name="Shape 11"/>
          <p:cNvSpPr/>
          <p:nvPr/>
        </p:nvSpPr>
        <p:spPr>
          <a:xfrm>
            <a:off x="819113" y="1918059"/>
            <a:ext cx="2409825" cy="195263"/>
          </a:xfrm>
          <a:custGeom>
            <a:avLst/>
            <a:gdLst/>
            <a:ahLst/>
            <a:cxnLst/>
            <a:rect l="l" t="t" r="r" b="b"/>
            <a:pathLst>
              <a:path w="2409825" h="195263">
                <a:moveTo>
                  <a:pt x="0" y="0"/>
                </a:moveTo>
                <a:lnTo>
                  <a:pt x="2409825" y="0"/>
                </a:lnTo>
                <a:lnTo>
                  <a:pt x="2409825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819113" y="1918059"/>
            <a:ext cx="24098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dataset captures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85800" y="2199531"/>
            <a:ext cx="3429000" cy="352425"/>
          </a:xfrm>
          <a:custGeom>
            <a:avLst/>
            <a:gdLst/>
            <a:ahLst/>
            <a:cxnLst/>
            <a:rect l="l" t="t" r="r" b="b"/>
            <a:pathLst>
              <a:path w="3429000" h="352425">
                <a:moveTo>
                  <a:pt x="0" y="0"/>
                </a:moveTo>
                <a:lnTo>
                  <a:pt x="3429000" y="0"/>
                </a:lnTo>
                <a:lnTo>
                  <a:pt x="3429000" y="352425"/>
                </a:lnTo>
                <a:lnTo>
                  <a:pt x="0" y="3524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2199531"/>
            <a:ext cx="34290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91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evidence base reflects how events were reported and documented.</a:t>
            </a:r>
            <a:endParaRPr lang="en-US" sz="9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55058"/>
            <a:ext cx="142875" cy="14287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932297" y="2940286"/>
            <a:ext cx="3600450" cy="166688"/>
          </a:xfrm>
          <a:custGeom>
            <a:avLst/>
            <a:gdLst/>
            <a:ahLst/>
            <a:cxnLst/>
            <a:rect l="l" t="t" r="r" b="b"/>
            <a:pathLst>
              <a:path w="3600450" h="166688">
                <a:moveTo>
                  <a:pt x="0" y="0"/>
                </a:moveTo>
                <a:lnTo>
                  <a:pt x="3600450" y="0"/>
                </a:lnTo>
                <a:lnTo>
                  <a:pt x="3600450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932297" y="2940286"/>
            <a:ext cx="360045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Reported outbreaks, not total incidence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932297" y="3144589"/>
            <a:ext cx="3600450" cy="328613"/>
          </a:xfrm>
          <a:custGeom>
            <a:avLst/>
            <a:gdLst/>
            <a:ahLst/>
            <a:cxnLst/>
            <a:rect l="l" t="t" r="r" b="b"/>
            <a:pathLst>
              <a:path w="3600450" h="328613">
                <a:moveTo>
                  <a:pt x="0" y="0"/>
                </a:moveTo>
                <a:lnTo>
                  <a:pt x="3600450" y="0"/>
                </a:lnTo>
                <a:lnTo>
                  <a:pt x="3600450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932297" y="3144589"/>
            <a:ext cx="36004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Unreported or undetected events remain outside the observed signal.</a:t>
            </a:r>
            <a:endParaRPr lang="en-US" sz="9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49414"/>
            <a:ext cx="142875" cy="14287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933041" y="3634643"/>
            <a:ext cx="3462337" cy="166688"/>
          </a:xfrm>
          <a:custGeom>
            <a:avLst/>
            <a:gdLst/>
            <a:ahLst/>
            <a:cxnLst/>
            <a:rect l="l" t="t" r="r" b="b"/>
            <a:pathLst>
              <a:path w="3462337" h="166688">
                <a:moveTo>
                  <a:pt x="0" y="0"/>
                </a:moveTo>
                <a:lnTo>
                  <a:pt x="3462337" y="0"/>
                </a:lnTo>
                <a:lnTo>
                  <a:pt x="3462337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933041" y="3634643"/>
            <a:ext cx="346233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Source-week completeness may vary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933041" y="3837756"/>
            <a:ext cx="3462337" cy="166688"/>
          </a:xfrm>
          <a:custGeom>
            <a:avLst/>
            <a:gdLst/>
            <a:ahLst/>
            <a:cxnLst/>
            <a:rect l="l" t="t" r="r" b="b"/>
            <a:pathLst>
              <a:path w="3462337" h="166688">
                <a:moveTo>
                  <a:pt x="0" y="0"/>
                </a:moveTo>
                <a:lnTo>
                  <a:pt x="3462337" y="0"/>
                </a:lnTo>
                <a:lnTo>
                  <a:pt x="3462337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933041" y="3837756"/>
            <a:ext cx="346233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Gaps in reporting can shape apparent timing and volume.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84647" y="4344144"/>
            <a:ext cx="3848100" cy="257175"/>
          </a:xfrm>
          <a:custGeom>
            <a:avLst/>
            <a:gdLst/>
            <a:ahLst/>
            <a:cxnLst/>
            <a:rect l="l" t="t" r="r" b="b"/>
            <a:pathLst>
              <a:path w="3848100" h="257175">
                <a:moveTo>
                  <a:pt x="0" y="0"/>
                </a:moveTo>
                <a:lnTo>
                  <a:pt x="3848100" y="0"/>
                </a:lnTo>
                <a:lnTo>
                  <a:pt x="3848100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4"/>
          <p:cNvSpPr/>
          <p:nvPr/>
        </p:nvSpPr>
        <p:spPr>
          <a:xfrm>
            <a:off x="684647" y="4344144"/>
            <a:ext cx="3848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AS: documented activity, not prevalence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5008997" y="1689608"/>
            <a:ext cx="3695700" cy="3119437"/>
          </a:xfrm>
          <a:custGeom>
            <a:avLst/>
            <a:gdLst/>
            <a:ahLst/>
            <a:cxnLst/>
            <a:rect l="l" t="t" r="r" b="b"/>
            <a:pathLst>
              <a:path w="3695700" h="3119437">
                <a:moveTo>
                  <a:pt x="0" y="0"/>
                </a:moveTo>
                <a:lnTo>
                  <a:pt x="3695700" y="0"/>
                </a:lnTo>
                <a:lnTo>
                  <a:pt x="3695700" y="3119437"/>
                </a:lnTo>
                <a:lnTo>
                  <a:pt x="0" y="3119437"/>
                </a:lnTo>
                <a:close/>
              </a:path>
            </a:pathLst>
          </a:custGeom>
          <a:solidFill>
            <a:srgbClr val="1B2430"/>
          </a:solidFill>
          <a:ln/>
        </p:spPr>
      </p:sp>
      <p:sp>
        <p:nvSpPr>
          <p:cNvPr id="31" name="Shape 26"/>
          <p:cNvSpPr/>
          <p:nvPr/>
        </p:nvSpPr>
        <p:spPr>
          <a:xfrm>
            <a:off x="5255492" y="198707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C58B2B"/>
          </a:solidFill>
          <a:ln/>
        </p:spPr>
      </p:sp>
      <p:sp>
        <p:nvSpPr>
          <p:cNvPr id="32" name="Shape 27"/>
          <p:cNvSpPr/>
          <p:nvPr/>
        </p:nvSpPr>
        <p:spPr>
          <a:xfrm>
            <a:off x="5387691" y="1918059"/>
            <a:ext cx="2319337" cy="195263"/>
          </a:xfrm>
          <a:custGeom>
            <a:avLst/>
            <a:gdLst/>
            <a:ahLst/>
            <a:cxnLst/>
            <a:rect l="l" t="t" r="r" b="b"/>
            <a:pathLst>
              <a:path w="2319337" h="195263">
                <a:moveTo>
                  <a:pt x="0" y="0"/>
                </a:moveTo>
                <a:lnTo>
                  <a:pt x="2319337" y="0"/>
                </a:lnTo>
                <a:lnTo>
                  <a:pt x="2319337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8"/>
          <p:cNvSpPr/>
          <p:nvPr/>
        </p:nvSpPr>
        <p:spPr>
          <a:xfrm>
            <a:off x="5387691" y="1918059"/>
            <a:ext cx="231933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uncertainty enters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5255492" y="2199531"/>
            <a:ext cx="2905125" cy="352425"/>
          </a:xfrm>
          <a:custGeom>
            <a:avLst/>
            <a:gdLst/>
            <a:ahLst/>
            <a:cxnLst/>
            <a:rect l="l" t="t" r="r" b="b"/>
            <a:pathLst>
              <a:path w="2905125" h="352425">
                <a:moveTo>
                  <a:pt x="0" y="0"/>
                </a:moveTo>
                <a:lnTo>
                  <a:pt x="2905125" y="0"/>
                </a:lnTo>
                <a:lnTo>
                  <a:pt x="2905125" y="352425"/>
                </a:lnTo>
                <a:lnTo>
                  <a:pt x="0" y="3524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30"/>
          <p:cNvSpPr/>
          <p:nvPr/>
        </p:nvSpPr>
        <p:spPr>
          <a:xfrm>
            <a:off x="5255492" y="2199531"/>
            <a:ext cx="29051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91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B9C2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analytical pipeline introduces interpretive decisions before comparison.</a:t>
            </a:r>
            <a:endParaRPr lang="en-US" sz="90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492" y="2872904"/>
            <a:ext cx="142875" cy="142875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5504297" y="2858132"/>
            <a:ext cx="2952750" cy="166688"/>
          </a:xfrm>
          <a:custGeom>
            <a:avLst/>
            <a:gdLst/>
            <a:ahLst/>
            <a:cxnLst/>
            <a:rect l="l" t="t" r="r" b="b"/>
            <a:pathLst>
              <a:path w="2952750" h="166688">
                <a:moveTo>
                  <a:pt x="0" y="0"/>
                </a:moveTo>
                <a:lnTo>
                  <a:pt x="2952750" y="0"/>
                </a:lnTo>
                <a:lnTo>
                  <a:pt x="2952750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2"/>
          <p:cNvSpPr/>
          <p:nvPr/>
        </p:nvSpPr>
        <p:spPr>
          <a:xfrm>
            <a:off x="5504297" y="2858132"/>
            <a:ext cx="295275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OCR and extraction uncertainty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5504297" y="3062436"/>
            <a:ext cx="2952750" cy="328613"/>
          </a:xfrm>
          <a:custGeom>
            <a:avLst/>
            <a:gdLst/>
            <a:ahLst/>
            <a:cxnLst/>
            <a:rect l="l" t="t" r="r" b="b"/>
            <a:pathLst>
              <a:path w="2952750" h="328613">
                <a:moveTo>
                  <a:pt x="0" y="0"/>
                </a:moveTo>
                <a:lnTo>
                  <a:pt x="2952750" y="0"/>
                </a:lnTo>
                <a:lnTo>
                  <a:pt x="2952750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4"/>
          <p:cNvSpPr/>
          <p:nvPr/>
        </p:nvSpPr>
        <p:spPr>
          <a:xfrm>
            <a:off x="5504297" y="3062436"/>
            <a:ext cx="29527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B9C2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Digitization can alter dates, locations, or disease terms.</a:t>
            </a:r>
            <a:endParaRPr lang="en-US" sz="90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492" y="3567261"/>
            <a:ext cx="142875" cy="142875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5504297" y="3552490"/>
            <a:ext cx="2952750" cy="166688"/>
          </a:xfrm>
          <a:custGeom>
            <a:avLst/>
            <a:gdLst/>
            <a:ahLst/>
            <a:cxnLst/>
            <a:rect l="l" t="t" r="r" b="b"/>
            <a:pathLst>
              <a:path w="2952750" h="166688">
                <a:moveTo>
                  <a:pt x="0" y="0"/>
                </a:moveTo>
                <a:lnTo>
                  <a:pt x="2952750" y="0"/>
                </a:lnTo>
                <a:lnTo>
                  <a:pt x="2952750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6"/>
          <p:cNvSpPr/>
          <p:nvPr/>
        </p:nvSpPr>
        <p:spPr>
          <a:xfrm>
            <a:off x="5504297" y="3552490"/>
            <a:ext cx="295275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Disease-label standardization required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5504297" y="3756795"/>
            <a:ext cx="2952750" cy="328613"/>
          </a:xfrm>
          <a:custGeom>
            <a:avLst/>
            <a:gdLst/>
            <a:ahLst/>
            <a:cxnLst/>
            <a:rect l="l" t="t" r="r" b="b"/>
            <a:pathLst>
              <a:path w="2952750" h="328613">
                <a:moveTo>
                  <a:pt x="0" y="0"/>
                </a:moveTo>
                <a:lnTo>
                  <a:pt x="2952750" y="0"/>
                </a:lnTo>
                <a:lnTo>
                  <a:pt x="2952750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38"/>
          <p:cNvSpPr/>
          <p:nvPr/>
        </p:nvSpPr>
        <p:spPr>
          <a:xfrm>
            <a:off x="5504297" y="3756795"/>
            <a:ext cx="29527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B9C2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Terminology must be harmonized before meaningful synthesis.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5256647" y="4344144"/>
            <a:ext cx="3200400" cy="257175"/>
          </a:xfrm>
          <a:custGeom>
            <a:avLst/>
            <a:gdLst/>
            <a:ahLst/>
            <a:cxnLst/>
            <a:rect l="l" t="t" r="r" b="b"/>
            <a:pathLst>
              <a:path w="3200400" h="257175">
                <a:moveTo>
                  <a:pt x="0" y="0"/>
                </a:moveTo>
                <a:lnTo>
                  <a:pt x="3200400" y="0"/>
                </a:lnTo>
                <a:lnTo>
                  <a:pt x="3200400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7" name="Text 40"/>
          <p:cNvSpPr/>
          <p:nvPr/>
        </p:nvSpPr>
        <p:spPr>
          <a:xfrm>
            <a:off x="5256647" y="4344144"/>
            <a:ext cx="3200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C58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AS: a structured estimate with caveats</a:t>
            </a:r>
            <a:endParaRPr lang="en-US" sz="900" dirty="0"/>
          </a:p>
        </p:txBody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647" y="4344144"/>
            <a:ext cx="3848100" cy="257175"/>
          </a:xfrm>
          <a:prstGeom prst="rect">
            <a:avLst/>
          </a:prstGeom>
        </p:spPr>
      </p:pic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647" y="4344144"/>
            <a:ext cx="3200400" cy="2571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390041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90041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RECOMMENDATIONS / ACTION FRAMEWORK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604912"/>
            <a:ext cx="8229600" cy="347663"/>
          </a:xfrm>
          <a:custGeom>
            <a:avLst/>
            <a:gdLst/>
            <a:ahLst/>
            <a:cxnLst/>
            <a:rect l="l" t="t" r="r" b="b"/>
            <a:pathLst>
              <a:path w="8229600" h="347663">
                <a:moveTo>
                  <a:pt x="0" y="0"/>
                </a:moveTo>
                <a:lnTo>
                  <a:pt x="8229600" y="0"/>
                </a:lnTo>
                <a:lnTo>
                  <a:pt x="82296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04912"/>
            <a:ext cx="82296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Recommendations Template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28626"/>
            <a:ext cx="5143500" cy="195263"/>
          </a:xfrm>
          <a:custGeom>
            <a:avLst/>
            <a:gdLst/>
            <a:ahLst/>
            <a:cxnLst/>
            <a:rect l="l" t="t" r="r" b="b"/>
            <a:pathLst>
              <a:path w="5143500" h="195263">
                <a:moveTo>
                  <a:pt x="0" y="0"/>
                </a:moveTo>
                <a:lnTo>
                  <a:pt x="5143500" y="0"/>
                </a:lnTo>
                <a:lnTo>
                  <a:pt x="514350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028626"/>
            <a:ext cx="51435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Translate the analysis into clear, accountable next steps.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6381" y="1794830"/>
            <a:ext cx="2605087" cy="3005137"/>
          </a:xfrm>
          <a:custGeom>
            <a:avLst/>
            <a:gdLst/>
            <a:ahLst/>
            <a:cxnLst/>
            <a:rect l="l" t="t" r="r" b="b"/>
            <a:pathLst>
              <a:path w="2605087" h="3005137">
                <a:moveTo>
                  <a:pt x="30089" y="0"/>
                </a:moveTo>
                <a:lnTo>
                  <a:pt x="2574999" y="0"/>
                </a:lnTo>
                <a:quadBezTo>
                  <a:pt x="2605087" y="0"/>
                  <a:pt x="2605087" y="30089"/>
                </a:quadBezTo>
                <a:lnTo>
                  <a:pt x="2605087" y="2975049"/>
                </a:lnTo>
                <a:quadBezTo>
                  <a:pt x="2605087" y="3005137"/>
                  <a:pt x="2574999" y="3005137"/>
                </a:quadBezTo>
                <a:lnTo>
                  <a:pt x="30089" y="3005137"/>
                </a:lnTo>
                <a:quadBezTo>
                  <a:pt x="0" y="3005137"/>
                  <a:pt x="0" y="2975049"/>
                </a:quadBezTo>
                <a:lnTo>
                  <a:pt x="0" y="30089"/>
                </a:lnTo>
                <a:quadBezTo>
                  <a:pt x="0" y="0"/>
                  <a:pt x="30089" y="0"/>
                </a:quadBezTo>
                <a:close/>
              </a:path>
            </a:pathLst>
          </a:custGeom>
          <a:solidFill>
            <a:srgbClr val="EEF2F5"/>
          </a:solidFill>
          <a:ln/>
          <a:effectLst>
            <a:outerShdw sx="100000" sy="100000" kx="0" ky="0" algn="bl" rotWithShape="0" blurRad="133350" dist="66675" dir="2700000">
              <a:srgbClr val="111418">
                <a:alpha val="784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8853" y="2022798"/>
            <a:ext cx="128588" cy="104775"/>
          </a:xfrm>
          <a:custGeom>
            <a:avLst/>
            <a:gdLst/>
            <a:ahLst/>
            <a:cxnLst/>
            <a:rect l="l" t="t" r="r" b="b"/>
            <a:pathLst>
              <a:path w="128588" h="104775">
                <a:moveTo>
                  <a:pt x="0" y="0"/>
                </a:moveTo>
                <a:lnTo>
                  <a:pt x="128588" y="0"/>
                </a:lnTo>
                <a:lnTo>
                  <a:pt x="128588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48853" y="2022798"/>
            <a:ext cx="128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9565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8225" y="1994223"/>
            <a:ext cx="161925" cy="16192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6881" y="2299246"/>
            <a:ext cx="2224088" cy="185738"/>
          </a:xfrm>
          <a:custGeom>
            <a:avLst/>
            <a:gdLst/>
            <a:ahLst/>
            <a:cxnLst/>
            <a:rect l="l" t="t" r="r" b="b"/>
            <a:pathLst>
              <a:path w="2224088" h="185738">
                <a:moveTo>
                  <a:pt x="0" y="0"/>
                </a:moveTo>
                <a:lnTo>
                  <a:pt x="2224088" y="0"/>
                </a:lnTo>
                <a:lnTo>
                  <a:pt x="2224088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46881" y="2299246"/>
            <a:ext cx="222408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the priority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46881" y="2560588"/>
            <a:ext cx="2224088" cy="366712"/>
          </a:xfrm>
          <a:custGeom>
            <a:avLst/>
            <a:gdLst/>
            <a:ahLst/>
            <a:cxnLst/>
            <a:rect l="l" t="t" r="r" b="b"/>
            <a:pathLst>
              <a:path w="2224088" h="366712">
                <a:moveTo>
                  <a:pt x="0" y="0"/>
                </a:moveTo>
                <a:lnTo>
                  <a:pt x="2224088" y="0"/>
                </a:lnTo>
                <a:lnTo>
                  <a:pt x="2224088" y="366712"/>
                </a:lnTo>
                <a:lnTo>
                  <a:pt x="0" y="3667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646881" y="2560588"/>
            <a:ext cx="2224088" cy="36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attention on the most consequential finding.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47700" y="4591050"/>
            <a:ext cx="342900" cy="19050"/>
          </a:xfrm>
          <a:custGeom>
            <a:avLst/>
            <a:gdLst/>
            <a:ahLst/>
            <a:cxnLst/>
            <a:rect l="l" t="t" r="r" b="b"/>
            <a:pathLst>
              <a:path w="342900" h="19050">
                <a:moveTo>
                  <a:pt x="9525" y="0"/>
                </a:moveTo>
                <a:lnTo>
                  <a:pt x="333375" y="0"/>
                </a:lnTo>
                <a:quadBezTo>
                  <a:pt x="342900" y="0"/>
                  <a:pt x="342900" y="9525"/>
                </a:quadBezTo>
                <a:lnTo>
                  <a:pt x="342900" y="9525"/>
                </a:lnTo>
                <a:quadBezTo>
                  <a:pt x="342900" y="19050"/>
                  <a:pt x="333375" y="19050"/>
                </a:quadBezTo>
                <a:lnTo>
                  <a:pt x="9525" y="19050"/>
                </a:lnTo>
                <a:quadBezTo>
                  <a:pt x="0" y="19050"/>
                  <a:pt x="0" y="9525"/>
                </a:quadBezTo>
                <a:lnTo>
                  <a:pt x="0" y="9525"/>
                </a:lnTo>
                <a:quadBezTo>
                  <a:pt x="0" y="0"/>
                  <a:pt x="9525" y="0"/>
                </a:quadBezTo>
                <a:close/>
              </a:path>
            </a:pathLst>
          </a:custGeom>
          <a:solidFill>
            <a:srgbClr val="4C78A8"/>
          </a:solidFill>
          <a:ln/>
        </p:spPr>
      </p:sp>
      <p:sp>
        <p:nvSpPr>
          <p:cNvPr id="20" name="Shape 16"/>
          <p:cNvSpPr/>
          <p:nvPr/>
        </p:nvSpPr>
        <p:spPr>
          <a:xfrm>
            <a:off x="3269419" y="1794830"/>
            <a:ext cx="2605087" cy="3005137"/>
          </a:xfrm>
          <a:custGeom>
            <a:avLst/>
            <a:gdLst/>
            <a:ahLst/>
            <a:cxnLst/>
            <a:rect l="l" t="t" r="r" b="b"/>
            <a:pathLst>
              <a:path w="2605087" h="3005137">
                <a:moveTo>
                  <a:pt x="30089" y="0"/>
                </a:moveTo>
                <a:lnTo>
                  <a:pt x="2574999" y="0"/>
                </a:lnTo>
                <a:quadBezTo>
                  <a:pt x="2605087" y="0"/>
                  <a:pt x="2605087" y="30089"/>
                </a:quadBezTo>
                <a:lnTo>
                  <a:pt x="2605087" y="2975049"/>
                </a:lnTo>
                <a:quadBezTo>
                  <a:pt x="2605087" y="3005137"/>
                  <a:pt x="2574999" y="3005137"/>
                </a:quadBezTo>
                <a:lnTo>
                  <a:pt x="30089" y="3005137"/>
                </a:lnTo>
                <a:quadBezTo>
                  <a:pt x="0" y="3005137"/>
                  <a:pt x="0" y="2975049"/>
                </a:quadBezTo>
                <a:lnTo>
                  <a:pt x="0" y="30089"/>
                </a:lnTo>
                <a:quadBezTo>
                  <a:pt x="0" y="0"/>
                  <a:pt x="30089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3350" dist="66675" dir="2700000">
              <a:srgbClr val="111418">
                <a:alpha val="7843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460328" y="2022798"/>
            <a:ext cx="152400" cy="104775"/>
          </a:xfrm>
          <a:custGeom>
            <a:avLst/>
            <a:gdLst/>
            <a:ahLst/>
            <a:cxnLst/>
            <a:rect l="l" t="t" r="r" b="b"/>
            <a:pathLst>
              <a:path w="152400" h="104775">
                <a:moveTo>
                  <a:pt x="0" y="0"/>
                </a:moveTo>
                <a:lnTo>
                  <a:pt x="152400" y="0"/>
                </a:lnTo>
                <a:lnTo>
                  <a:pt x="152400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3460328" y="2022798"/>
            <a:ext cx="1524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9565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A9D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300" y="1994223"/>
            <a:ext cx="161925" cy="16192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3459919" y="2299246"/>
            <a:ext cx="2224088" cy="185738"/>
          </a:xfrm>
          <a:custGeom>
            <a:avLst/>
            <a:gdLst/>
            <a:ahLst/>
            <a:cxnLst/>
            <a:rect l="l" t="t" r="r" b="b"/>
            <a:pathLst>
              <a:path w="2224088" h="185738">
                <a:moveTo>
                  <a:pt x="0" y="0"/>
                </a:moveTo>
                <a:lnTo>
                  <a:pt x="2224088" y="0"/>
                </a:lnTo>
                <a:lnTo>
                  <a:pt x="2224088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3459919" y="2299246"/>
            <a:ext cx="222408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Assign ownership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459919" y="2560588"/>
            <a:ext cx="2224088" cy="366712"/>
          </a:xfrm>
          <a:custGeom>
            <a:avLst/>
            <a:gdLst/>
            <a:ahLst/>
            <a:cxnLst/>
            <a:rect l="l" t="t" r="r" b="b"/>
            <a:pathLst>
              <a:path w="2224088" h="366712">
                <a:moveTo>
                  <a:pt x="0" y="0"/>
                </a:moveTo>
                <a:lnTo>
                  <a:pt x="2224088" y="0"/>
                </a:lnTo>
                <a:lnTo>
                  <a:pt x="2224088" y="366712"/>
                </a:lnTo>
                <a:lnTo>
                  <a:pt x="0" y="3667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3459919" y="2560588"/>
            <a:ext cx="2224088" cy="36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 the institution or team responsible for action.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3460700" y="4591050"/>
            <a:ext cx="342900" cy="19050"/>
          </a:xfrm>
          <a:custGeom>
            <a:avLst/>
            <a:gdLst/>
            <a:ahLst/>
            <a:cxnLst/>
            <a:rect l="l" t="t" r="r" b="b"/>
            <a:pathLst>
              <a:path w="342900" h="19050">
                <a:moveTo>
                  <a:pt x="9525" y="0"/>
                </a:moveTo>
                <a:lnTo>
                  <a:pt x="333375" y="0"/>
                </a:lnTo>
                <a:quadBezTo>
                  <a:pt x="342900" y="0"/>
                  <a:pt x="342900" y="9525"/>
                </a:quadBezTo>
                <a:lnTo>
                  <a:pt x="342900" y="9525"/>
                </a:lnTo>
                <a:quadBezTo>
                  <a:pt x="342900" y="19050"/>
                  <a:pt x="333375" y="19050"/>
                </a:quadBezTo>
                <a:lnTo>
                  <a:pt x="9525" y="19050"/>
                </a:lnTo>
                <a:quadBezTo>
                  <a:pt x="0" y="19050"/>
                  <a:pt x="0" y="9525"/>
                </a:quadBezTo>
                <a:lnTo>
                  <a:pt x="0" y="9525"/>
                </a:lnTo>
                <a:quadBezTo>
                  <a:pt x="0" y="0"/>
                  <a:pt x="9525" y="0"/>
                </a:quadBez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29" name="Shape 24"/>
          <p:cNvSpPr/>
          <p:nvPr/>
        </p:nvSpPr>
        <p:spPr>
          <a:xfrm>
            <a:off x="6082494" y="1794830"/>
            <a:ext cx="2605087" cy="3005137"/>
          </a:xfrm>
          <a:custGeom>
            <a:avLst/>
            <a:gdLst/>
            <a:ahLst/>
            <a:cxnLst/>
            <a:rect l="l" t="t" r="r" b="b"/>
            <a:pathLst>
              <a:path w="2605087" h="3005137">
                <a:moveTo>
                  <a:pt x="30089" y="0"/>
                </a:moveTo>
                <a:lnTo>
                  <a:pt x="2574999" y="0"/>
                </a:lnTo>
                <a:quadBezTo>
                  <a:pt x="2605087" y="0"/>
                  <a:pt x="2605087" y="30089"/>
                </a:quadBezTo>
                <a:lnTo>
                  <a:pt x="2605087" y="2975049"/>
                </a:lnTo>
                <a:quadBezTo>
                  <a:pt x="2605087" y="3005137"/>
                  <a:pt x="2574999" y="3005137"/>
                </a:quadBezTo>
                <a:lnTo>
                  <a:pt x="30089" y="3005137"/>
                </a:lnTo>
                <a:quadBezTo>
                  <a:pt x="0" y="3005137"/>
                  <a:pt x="0" y="2975049"/>
                </a:quadBezTo>
                <a:lnTo>
                  <a:pt x="0" y="30089"/>
                </a:lnTo>
                <a:quadBezTo>
                  <a:pt x="0" y="0"/>
                  <a:pt x="30089" y="0"/>
                </a:quadBezTo>
                <a:close/>
              </a:path>
            </a:pathLst>
          </a:custGeom>
          <a:solidFill>
            <a:srgbClr val="1B2430"/>
          </a:solidFill>
          <a:ln/>
          <a:effectLst>
            <a:outerShdw sx="100000" sy="100000" kx="0" ky="0" algn="bl" rotWithShape="0" blurRad="133350" dist="66675" dir="2700000">
              <a:srgbClr val="111418">
                <a:alpha val="14118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273180" y="2022798"/>
            <a:ext cx="152400" cy="104775"/>
          </a:xfrm>
          <a:custGeom>
            <a:avLst/>
            <a:gdLst/>
            <a:ahLst/>
            <a:cxnLst/>
            <a:rect l="l" t="t" r="r" b="b"/>
            <a:pathLst>
              <a:path w="152400" h="104775">
                <a:moveTo>
                  <a:pt x="0" y="0"/>
                </a:moveTo>
                <a:lnTo>
                  <a:pt x="152400" y="0"/>
                </a:lnTo>
                <a:lnTo>
                  <a:pt x="152400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6273180" y="2022798"/>
            <a:ext cx="1524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9565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C58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375" y="1994223"/>
            <a:ext cx="161925" cy="161925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6272994" y="2299246"/>
            <a:ext cx="2224088" cy="185738"/>
          </a:xfrm>
          <a:custGeom>
            <a:avLst/>
            <a:gdLst/>
            <a:ahLst/>
            <a:cxnLst/>
            <a:rect l="l" t="t" r="r" b="b"/>
            <a:pathLst>
              <a:path w="2224088" h="185738">
                <a:moveTo>
                  <a:pt x="0" y="0"/>
                </a:moveTo>
                <a:lnTo>
                  <a:pt x="2224088" y="0"/>
                </a:lnTo>
                <a:lnTo>
                  <a:pt x="2224088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8"/>
          <p:cNvSpPr/>
          <p:nvPr/>
        </p:nvSpPr>
        <p:spPr>
          <a:xfrm>
            <a:off x="6272994" y="2299246"/>
            <a:ext cx="222408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Specify the next move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6272994" y="2560588"/>
            <a:ext cx="2224088" cy="366712"/>
          </a:xfrm>
          <a:custGeom>
            <a:avLst/>
            <a:gdLst/>
            <a:ahLst/>
            <a:cxnLst/>
            <a:rect l="l" t="t" r="r" b="b"/>
            <a:pathLst>
              <a:path w="2224088" h="366712">
                <a:moveTo>
                  <a:pt x="0" y="0"/>
                </a:moveTo>
                <a:lnTo>
                  <a:pt x="2224088" y="0"/>
                </a:lnTo>
                <a:lnTo>
                  <a:pt x="2224088" y="366712"/>
                </a:lnTo>
                <a:lnTo>
                  <a:pt x="0" y="3667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30"/>
          <p:cNvSpPr/>
          <p:nvPr/>
        </p:nvSpPr>
        <p:spPr>
          <a:xfrm>
            <a:off x="6272994" y="2560588"/>
            <a:ext cx="2224088" cy="36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D2D8D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 the recommendation into a practical policy step.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6273775" y="4591050"/>
            <a:ext cx="342900" cy="19050"/>
          </a:xfrm>
          <a:custGeom>
            <a:avLst/>
            <a:gdLst/>
            <a:ahLst/>
            <a:cxnLst/>
            <a:rect l="l" t="t" r="r" b="b"/>
            <a:pathLst>
              <a:path w="342900" h="19050">
                <a:moveTo>
                  <a:pt x="9525" y="0"/>
                </a:moveTo>
                <a:lnTo>
                  <a:pt x="333375" y="0"/>
                </a:lnTo>
                <a:quadBezTo>
                  <a:pt x="342900" y="0"/>
                  <a:pt x="342900" y="9525"/>
                </a:quadBezTo>
                <a:lnTo>
                  <a:pt x="342900" y="9525"/>
                </a:lnTo>
                <a:quadBezTo>
                  <a:pt x="342900" y="19050"/>
                  <a:pt x="333375" y="19050"/>
                </a:quadBezTo>
                <a:lnTo>
                  <a:pt x="9525" y="19050"/>
                </a:lnTo>
                <a:quadBezTo>
                  <a:pt x="0" y="19050"/>
                  <a:pt x="0" y="9525"/>
                </a:quadBezTo>
                <a:lnTo>
                  <a:pt x="0" y="9525"/>
                </a:lnTo>
                <a:quadBezTo>
                  <a:pt x="0" y="0"/>
                  <a:pt x="9525" y="0"/>
                </a:quadBezTo>
                <a:close/>
              </a:path>
            </a:pathLst>
          </a:custGeom>
          <a:solidFill>
            <a:srgbClr val="C58B2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11141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9789" y="1645594"/>
            <a:ext cx="123825" cy="1238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100438" y="1621780"/>
            <a:ext cx="1133475" cy="171450"/>
          </a:xfrm>
          <a:custGeom>
            <a:avLst/>
            <a:gdLst/>
            <a:ahLst/>
            <a:cxnLst/>
            <a:rect l="l" t="t" r="r" b="b"/>
            <a:pathLst>
              <a:path w="1133475" h="171450">
                <a:moveTo>
                  <a:pt x="0" y="0"/>
                </a:moveTo>
                <a:lnTo>
                  <a:pt x="1133475" y="0"/>
                </a:lnTo>
                <a:lnTo>
                  <a:pt x="113347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100438" y="1621780"/>
            <a:ext cx="1133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CLOSING NOTE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674194" y="1925985"/>
            <a:ext cx="1795462" cy="371475"/>
          </a:xfrm>
          <a:custGeom>
            <a:avLst/>
            <a:gdLst/>
            <a:ahLst/>
            <a:cxnLst/>
            <a:rect l="l" t="t" r="r" b="b"/>
            <a:pathLst>
              <a:path w="1795462" h="371475">
                <a:moveTo>
                  <a:pt x="0" y="0"/>
                </a:moveTo>
                <a:lnTo>
                  <a:pt x="1795462" y="0"/>
                </a:lnTo>
                <a:lnTo>
                  <a:pt x="1795462" y="371475"/>
                </a:lnTo>
                <a:lnTo>
                  <a:pt x="0" y="3714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3674194" y="1925985"/>
            <a:ext cx="179546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554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343326" y="2458789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1" name="Shape 7"/>
          <p:cNvSpPr/>
          <p:nvPr/>
        </p:nvSpPr>
        <p:spPr>
          <a:xfrm>
            <a:off x="3600413" y="2621161"/>
            <a:ext cx="1943100" cy="204787"/>
          </a:xfrm>
          <a:custGeom>
            <a:avLst/>
            <a:gdLst/>
            <a:ahLst/>
            <a:cxnLst/>
            <a:rect l="l" t="t" r="r" b="b"/>
            <a:pathLst>
              <a:path w="1943100" h="204787">
                <a:moveTo>
                  <a:pt x="0" y="0"/>
                </a:moveTo>
                <a:lnTo>
                  <a:pt x="1943100" y="0"/>
                </a:lnTo>
                <a:lnTo>
                  <a:pt x="1943100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600413" y="2621161"/>
            <a:ext cx="194310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B7C0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 and discussion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0" y="4467225"/>
            <a:ext cx="9144000" cy="676275"/>
          </a:xfrm>
          <a:custGeom>
            <a:avLst/>
            <a:gdLst/>
            <a:ahLst/>
            <a:cxnLst/>
            <a:rect l="l" t="t" r="r" b="b"/>
            <a:pathLst>
              <a:path w="9144000" h="676275">
                <a:moveTo>
                  <a:pt x="0" y="0"/>
                </a:moveTo>
                <a:lnTo>
                  <a:pt x="9144000" y="0"/>
                </a:lnTo>
                <a:lnTo>
                  <a:pt x="9144000" y="676275"/>
                </a:lnTo>
                <a:lnTo>
                  <a:pt x="0" y="676275"/>
                </a:lnTo>
                <a:close/>
              </a:path>
            </a:pathLst>
          </a:custGeom>
          <a:solidFill>
            <a:srgbClr val="1B2430"/>
          </a:solidFill>
          <a:ln/>
        </p:spPr>
      </p:sp>
      <p:sp>
        <p:nvSpPr>
          <p:cNvPr id="14" name="Shape 10"/>
          <p:cNvSpPr/>
          <p:nvPr/>
        </p:nvSpPr>
        <p:spPr>
          <a:xfrm>
            <a:off x="629208" y="4733925"/>
            <a:ext cx="1009650" cy="142875"/>
          </a:xfrm>
          <a:custGeom>
            <a:avLst/>
            <a:gdLst/>
            <a:ahLst/>
            <a:cxnLst/>
            <a:rect l="l" t="t" r="r" b="b"/>
            <a:pathLst>
              <a:path w="1009650" h="142875">
                <a:moveTo>
                  <a:pt x="0" y="0"/>
                </a:moveTo>
                <a:lnTo>
                  <a:pt x="1009650" y="0"/>
                </a:lnTo>
                <a:lnTo>
                  <a:pt x="100965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629208" y="4733925"/>
            <a:ext cx="1009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7A8B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SEASONAL LENS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858975" y="4802981"/>
            <a:ext cx="2976562" cy="4763"/>
          </a:xfrm>
          <a:custGeom>
            <a:avLst/>
            <a:gdLst/>
            <a:ahLst/>
            <a:cxnLst/>
            <a:rect l="l" t="t" r="r" b="b"/>
            <a:pathLst>
              <a:path w="2976562" h="4763">
                <a:moveTo>
                  <a:pt x="0" y="0"/>
                </a:moveTo>
                <a:lnTo>
                  <a:pt x="2976562" y="0"/>
                </a:lnTo>
                <a:lnTo>
                  <a:pt x="2976562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5B6672"/>
          </a:solidFill>
          <a:ln/>
        </p:spPr>
      </p:sp>
      <p:sp>
        <p:nvSpPr>
          <p:cNvPr id="17" name="Shape 13"/>
          <p:cNvSpPr/>
          <p:nvPr/>
        </p:nvSpPr>
        <p:spPr>
          <a:xfrm>
            <a:off x="5054054" y="4726781"/>
            <a:ext cx="2262187" cy="157163"/>
          </a:xfrm>
          <a:custGeom>
            <a:avLst/>
            <a:gdLst/>
            <a:ahLst/>
            <a:cxnLst/>
            <a:rect l="l" t="t" r="r" b="b"/>
            <a:pathLst>
              <a:path w="2262187" h="157163">
                <a:moveTo>
                  <a:pt x="0" y="0"/>
                </a:moveTo>
                <a:lnTo>
                  <a:pt x="2262187" y="0"/>
                </a:lnTo>
                <a:lnTo>
                  <a:pt x="2262187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5054054" y="4726781"/>
            <a:ext cx="226218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Winter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B7C0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2A9D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Spring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B7C0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C58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Monsoon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B7C0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7A8B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Autumn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534275" y="4802981"/>
            <a:ext cx="628650" cy="4763"/>
          </a:xfrm>
          <a:custGeom>
            <a:avLst/>
            <a:gdLst/>
            <a:ahLst/>
            <a:cxnLst/>
            <a:rect l="l" t="t" r="r" b="b"/>
            <a:pathLst>
              <a:path w="628650" h="4763">
                <a:moveTo>
                  <a:pt x="0" y="0"/>
                </a:moveTo>
                <a:lnTo>
                  <a:pt x="628650" y="0"/>
                </a:lnTo>
                <a:lnTo>
                  <a:pt x="628650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5B6672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4738687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5" name="Shape 2"/>
          <p:cNvSpPr/>
          <p:nvPr/>
        </p:nvSpPr>
        <p:spPr>
          <a:xfrm>
            <a:off x="438150" y="450056"/>
            <a:ext cx="200025" cy="14288"/>
          </a:xfrm>
          <a:custGeom>
            <a:avLst/>
            <a:gdLst/>
            <a:ahLst/>
            <a:cxnLst/>
            <a:rect l="l" t="t" r="r" b="b"/>
            <a:pathLst>
              <a:path w="200025" h="14288">
                <a:moveTo>
                  <a:pt x="0" y="0"/>
                </a:moveTo>
                <a:lnTo>
                  <a:pt x="200025" y="0"/>
                </a:lnTo>
                <a:lnTo>
                  <a:pt x="200025" y="14288"/>
                </a:lnTo>
                <a:lnTo>
                  <a:pt x="0" y="14288"/>
                </a:lnTo>
                <a:close/>
              </a:path>
            </a:pathLst>
          </a:custGeom>
          <a:solidFill>
            <a:srgbClr val="4C78A8"/>
          </a:solidFill>
          <a:ln/>
        </p:spPr>
      </p:sp>
      <p:sp>
        <p:nvSpPr>
          <p:cNvPr id="6" name="Shape 3"/>
          <p:cNvSpPr/>
          <p:nvPr/>
        </p:nvSpPr>
        <p:spPr>
          <a:xfrm>
            <a:off x="714375" y="385763"/>
            <a:ext cx="1291307" cy="138113"/>
          </a:xfrm>
          <a:custGeom>
            <a:avLst/>
            <a:gdLst/>
            <a:ahLst/>
            <a:cxnLst/>
            <a:rect l="l" t="t" r="r" b="b"/>
            <a:pathLst>
              <a:path w="1291307" h="138113">
                <a:moveTo>
                  <a:pt x="0" y="0"/>
                </a:moveTo>
                <a:lnTo>
                  <a:pt x="1291307" y="0"/>
                </a:lnTo>
                <a:lnTo>
                  <a:pt x="1291307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385763"/>
            <a:ext cx="1291307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language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38150" y="610641"/>
            <a:ext cx="8267700" cy="347663"/>
          </a:xfrm>
          <a:custGeom>
            <a:avLst/>
            <a:gdLst/>
            <a:ahLst/>
            <a:cxnLst/>
            <a:rect l="l" t="t" r="r" b="b"/>
            <a:pathLst>
              <a:path w="8267700" h="347663">
                <a:moveTo>
                  <a:pt x="0" y="0"/>
                </a:moveTo>
                <a:lnTo>
                  <a:pt x="8267700" y="0"/>
                </a:lnTo>
                <a:lnTo>
                  <a:pt x="82677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38150" y="610641"/>
            <a:ext cx="82677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System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8150" y="1026914"/>
            <a:ext cx="5334000" cy="409575"/>
          </a:xfrm>
          <a:custGeom>
            <a:avLst/>
            <a:gdLst/>
            <a:ahLst/>
            <a:cxnLst/>
            <a:rect l="l" t="t" r="r" b="b"/>
            <a:pathLst>
              <a:path w="5334000" h="409575">
                <a:moveTo>
                  <a:pt x="0" y="0"/>
                </a:moveTo>
                <a:lnTo>
                  <a:pt x="5334000" y="0"/>
                </a:lnTo>
                <a:lnTo>
                  <a:pt x="533400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38150" y="1026914"/>
            <a:ext cx="5334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reusable visual language for clear, credible, data-led presentation updates.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7331" y="2037904"/>
            <a:ext cx="2624138" cy="2162175"/>
          </a:xfrm>
          <a:custGeom>
            <a:avLst/>
            <a:gdLst/>
            <a:ahLst/>
            <a:cxnLst/>
            <a:rect l="l" t="t" r="r" b="b"/>
            <a:pathLst>
              <a:path w="2624138" h="2162175">
                <a:moveTo>
                  <a:pt x="0" y="0"/>
                </a:moveTo>
                <a:lnTo>
                  <a:pt x="2624138" y="0"/>
                </a:lnTo>
                <a:lnTo>
                  <a:pt x="2624138" y="2162175"/>
                </a:lnTo>
                <a:lnTo>
                  <a:pt x="0" y="2162175"/>
                </a:lnTo>
                <a:close/>
              </a:path>
            </a:pathLst>
          </a:custGeom>
          <a:solidFill>
            <a:srgbClr val="EEF2F5"/>
          </a:solidFill>
          <a:ln/>
        </p:spPr>
      </p:sp>
      <p:sp>
        <p:nvSpPr>
          <p:cNvPr id="13" name="Shape 10"/>
          <p:cNvSpPr/>
          <p:nvPr/>
        </p:nvSpPr>
        <p:spPr>
          <a:xfrm>
            <a:off x="637803" y="2247007"/>
            <a:ext cx="1076325" cy="157163"/>
          </a:xfrm>
          <a:custGeom>
            <a:avLst/>
            <a:gdLst/>
            <a:ahLst/>
            <a:cxnLst/>
            <a:rect l="l" t="t" r="r" b="b"/>
            <a:pathLst>
              <a:path w="1076325" h="157163">
                <a:moveTo>
                  <a:pt x="0" y="0"/>
                </a:moveTo>
                <a:lnTo>
                  <a:pt x="1076325" y="0"/>
                </a:lnTo>
                <a:lnTo>
                  <a:pt x="1076325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37803" y="2247007"/>
            <a:ext cx="10763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4C78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/ FOUNDATION</a:t>
            </a:r>
            <a:endParaRPr lang="en-US" sz="9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7750" y="2254151"/>
            <a:ext cx="142875" cy="14287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37356" y="2565016"/>
            <a:ext cx="2224088" cy="204787"/>
          </a:xfrm>
          <a:custGeom>
            <a:avLst/>
            <a:gdLst/>
            <a:ahLst/>
            <a:cxnLst/>
            <a:rect l="l" t="t" r="r" b="b"/>
            <a:pathLst>
              <a:path w="2224088" h="204787">
                <a:moveTo>
                  <a:pt x="0" y="0"/>
                </a:moveTo>
                <a:lnTo>
                  <a:pt x="2224088" y="0"/>
                </a:lnTo>
                <a:lnTo>
                  <a:pt x="2224088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637356" y="2565016"/>
            <a:ext cx="2224088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130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Palette &amp; hierarchy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37356" y="2855192"/>
            <a:ext cx="2224088" cy="728663"/>
          </a:xfrm>
          <a:custGeom>
            <a:avLst/>
            <a:gdLst/>
            <a:ahLst/>
            <a:cxnLst/>
            <a:rect l="l" t="t" r="r" b="b"/>
            <a:pathLst>
              <a:path w="2224088" h="728663">
                <a:moveTo>
                  <a:pt x="0" y="0"/>
                </a:moveTo>
                <a:lnTo>
                  <a:pt x="2224088" y="0"/>
                </a:lnTo>
                <a:lnTo>
                  <a:pt x="2224088" y="728663"/>
                </a:lnTo>
                <a:lnTo>
                  <a:pt x="0" y="728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637356" y="2855192"/>
            <a:ext cx="2224088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Warm off-white surfaces, charcoal anchors, and restrained blue-teal accents establish academic credibility.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38175" y="3933825"/>
            <a:ext cx="219075" cy="76200"/>
          </a:xfrm>
          <a:custGeom>
            <a:avLst/>
            <a:gdLst/>
            <a:ahLst/>
            <a:cxnLst/>
            <a:rect l="l" t="t" r="r" b="b"/>
            <a:pathLst>
              <a:path w="219075" h="76200">
                <a:moveTo>
                  <a:pt x="0" y="0"/>
                </a:moveTo>
                <a:lnTo>
                  <a:pt x="219075" y="0"/>
                </a:lnTo>
                <a:lnTo>
                  <a:pt x="219075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111418"/>
          </a:solidFill>
          <a:ln/>
        </p:spPr>
      </p:sp>
      <p:sp>
        <p:nvSpPr>
          <p:cNvPr id="21" name="Shape 17"/>
          <p:cNvSpPr/>
          <p:nvPr/>
        </p:nvSpPr>
        <p:spPr>
          <a:xfrm>
            <a:off x="914400" y="3933825"/>
            <a:ext cx="219075" cy="76200"/>
          </a:xfrm>
          <a:custGeom>
            <a:avLst/>
            <a:gdLst/>
            <a:ahLst/>
            <a:cxnLst/>
            <a:rect l="l" t="t" r="r" b="b"/>
            <a:pathLst>
              <a:path w="219075" h="76200">
                <a:moveTo>
                  <a:pt x="0" y="0"/>
                </a:moveTo>
                <a:lnTo>
                  <a:pt x="219075" y="0"/>
                </a:lnTo>
                <a:lnTo>
                  <a:pt x="219075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4C78A8"/>
          </a:solidFill>
          <a:ln/>
        </p:spPr>
      </p:sp>
      <p:sp>
        <p:nvSpPr>
          <p:cNvPr id="22" name="Shape 18"/>
          <p:cNvSpPr/>
          <p:nvPr/>
        </p:nvSpPr>
        <p:spPr>
          <a:xfrm>
            <a:off x="1190625" y="3933825"/>
            <a:ext cx="219075" cy="76200"/>
          </a:xfrm>
          <a:custGeom>
            <a:avLst/>
            <a:gdLst/>
            <a:ahLst/>
            <a:cxnLst/>
            <a:rect l="l" t="t" r="r" b="b"/>
            <a:pathLst>
              <a:path w="219075" h="76200">
                <a:moveTo>
                  <a:pt x="0" y="0"/>
                </a:moveTo>
                <a:lnTo>
                  <a:pt x="219075" y="0"/>
                </a:lnTo>
                <a:lnTo>
                  <a:pt x="219075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23" name="Shape 19"/>
          <p:cNvSpPr/>
          <p:nvPr/>
        </p:nvSpPr>
        <p:spPr>
          <a:xfrm>
            <a:off x="1466850" y="3933825"/>
            <a:ext cx="219075" cy="76200"/>
          </a:xfrm>
          <a:custGeom>
            <a:avLst/>
            <a:gdLst/>
            <a:ahLst/>
            <a:cxnLst/>
            <a:rect l="l" t="t" r="r" b="b"/>
            <a:pathLst>
              <a:path w="219075" h="76200">
                <a:moveTo>
                  <a:pt x="0" y="0"/>
                </a:moveTo>
                <a:lnTo>
                  <a:pt x="219075" y="0"/>
                </a:lnTo>
                <a:lnTo>
                  <a:pt x="219075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C58B2B"/>
          </a:solidFill>
          <a:ln/>
        </p:spPr>
      </p:sp>
      <p:sp>
        <p:nvSpPr>
          <p:cNvPr id="24" name="Shape 20"/>
          <p:cNvSpPr/>
          <p:nvPr/>
        </p:nvSpPr>
        <p:spPr>
          <a:xfrm>
            <a:off x="3259894" y="2037904"/>
            <a:ext cx="2624138" cy="2162175"/>
          </a:xfrm>
          <a:custGeom>
            <a:avLst/>
            <a:gdLst/>
            <a:ahLst/>
            <a:cxnLst/>
            <a:rect l="l" t="t" r="r" b="b"/>
            <a:pathLst>
              <a:path w="2624138" h="2162175">
                <a:moveTo>
                  <a:pt x="0" y="0"/>
                </a:moveTo>
                <a:lnTo>
                  <a:pt x="2624138" y="0"/>
                </a:lnTo>
                <a:lnTo>
                  <a:pt x="2624138" y="2162175"/>
                </a:lnTo>
                <a:lnTo>
                  <a:pt x="0" y="21621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Shape 21"/>
          <p:cNvSpPr/>
          <p:nvPr/>
        </p:nvSpPr>
        <p:spPr>
          <a:xfrm>
            <a:off x="3459883" y="2247007"/>
            <a:ext cx="895350" cy="157163"/>
          </a:xfrm>
          <a:custGeom>
            <a:avLst/>
            <a:gdLst/>
            <a:ahLst/>
            <a:cxnLst/>
            <a:rect l="l" t="t" r="r" b="b"/>
            <a:pathLst>
              <a:path w="895350" h="157163">
                <a:moveTo>
                  <a:pt x="0" y="0"/>
                </a:moveTo>
                <a:lnTo>
                  <a:pt x="895350" y="0"/>
                </a:lnTo>
                <a:lnTo>
                  <a:pt x="89535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3459883" y="2247007"/>
            <a:ext cx="895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A9D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/ EVIDENCE</a:t>
            </a:r>
            <a:endParaRPr lang="en-US" sz="9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350" y="2254151"/>
            <a:ext cx="142875" cy="142875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3459919" y="2566318"/>
            <a:ext cx="2224088" cy="404813"/>
          </a:xfrm>
          <a:custGeom>
            <a:avLst/>
            <a:gdLst/>
            <a:ahLst/>
            <a:cxnLst/>
            <a:rect l="l" t="t" r="r" b="b"/>
            <a:pathLst>
              <a:path w="2224088" h="404813">
                <a:moveTo>
                  <a:pt x="0" y="0"/>
                </a:moveTo>
                <a:lnTo>
                  <a:pt x="2224088" y="0"/>
                </a:lnTo>
                <a:lnTo>
                  <a:pt x="2224088" y="404813"/>
                </a:lnTo>
                <a:lnTo>
                  <a:pt x="0" y="4048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4"/>
          <p:cNvSpPr/>
          <p:nvPr/>
        </p:nvSpPr>
        <p:spPr>
          <a:xfrm>
            <a:off x="3459919" y="2566318"/>
            <a:ext cx="2224088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130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1114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Chart, card &amp; map rules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3459919" y="3057041"/>
            <a:ext cx="2224088" cy="547687"/>
          </a:xfrm>
          <a:custGeom>
            <a:avLst/>
            <a:gdLst/>
            <a:ahLst/>
            <a:cxnLst/>
            <a:rect l="l" t="t" r="r" b="b"/>
            <a:pathLst>
              <a:path w="2224088" h="547687">
                <a:moveTo>
                  <a:pt x="0" y="0"/>
                </a:moveTo>
                <a:lnTo>
                  <a:pt x="2224088" y="0"/>
                </a:lnTo>
                <a:lnTo>
                  <a:pt x="2224088" y="547687"/>
                </a:lnTo>
                <a:lnTo>
                  <a:pt x="0" y="5476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3459919" y="3057041"/>
            <a:ext cx="2224088" cy="547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5B6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Minimal charts, modular cards, and simple Maharashtra silhouettes keep analysis legible.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3460700" y="38766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0"/>
                </a:moveTo>
                <a:lnTo>
                  <a:pt x="133350" y="0"/>
                </a:lnTo>
                <a:lnTo>
                  <a:pt x="133350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4C78A8"/>
          </a:solidFill>
          <a:ln/>
        </p:spPr>
      </p:sp>
      <p:sp>
        <p:nvSpPr>
          <p:cNvPr id="33" name="Shape 28"/>
          <p:cNvSpPr/>
          <p:nvPr/>
        </p:nvSpPr>
        <p:spPr>
          <a:xfrm>
            <a:off x="3636913" y="3810000"/>
            <a:ext cx="133350" cy="200025"/>
          </a:xfrm>
          <a:custGeom>
            <a:avLst/>
            <a:gdLst/>
            <a:ahLst/>
            <a:cxnLst/>
            <a:rect l="l" t="t" r="r" b="b"/>
            <a:pathLst>
              <a:path w="133350" h="200025">
                <a:moveTo>
                  <a:pt x="0" y="0"/>
                </a:moveTo>
                <a:lnTo>
                  <a:pt x="133350" y="0"/>
                </a:lnTo>
                <a:lnTo>
                  <a:pt x="133350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34" name="Shape 29"/>
          <p:cNvSpPr/>
          <p:nvPr/>
        </p:nvSpPr>
        <p:spPr>
          <a:xfrm>
            <a:off x="3813125" y="3743325"/>
            <a:ext cx="133350" cy="266700"/>
          </a:xfrm>
          <a:custGeom>
            <a:avLst/>
            <a:gdLst/>
            <a:ahLst/>
            <a:cxnLst/>
            <a:rect l="l" t="t" r="r" b="b"/>
            <a:pathLst>
              <a:path w="133350" h="266700">
                <a:moveTo>
                  <a:pt x="0" y="0"/>
                </a:moveTo>
                <a:lnTo>
                  <a:pt x="133350" y="0"/>
                </a:lnTo>
                <a:lnTo>
                  <a:pt x="133350" y="266700"/>
                </a:lnTo>
                <a:lnTo>
                  <a:pt x="0" y="266700"/>
                </a:lnTo>
                <a:close/>
              </a:path>
            </a:pathLst>
          </a:custGeom>
          <a:solidFill>
            <a:srgbClr val="C58B2B"/>
          </a:solidFill>
          <a:ln/>
        </p:spPr>
      </p:sp>
      <p:sp>
        <p:nvSpPr>
          <p:cNvPr id="35" name="Shape 30"/>
          <p:cNvSpPr/>
          <p:nvPr/>
        </p:nvSpPr>
        <p:spPr>
          <a:xfrm>
            <a:off x="3989338" y="3838575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0"/>
                </a:lnTo>
                <a:lnTo>
                  <a:pt x="1333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A8B99"/>
          </a:solidFill>
          <a:ln/>
        </p:spPr>
      </p:sp>
      <p:sp>
        <p:nvSpPr>
          <p:cNvPr id="36" name="Shape 31"/>
          <p:cNvSpPr/>
          <p:nvPr/>
        </p:nvSpPr>
        <p:spPr>
          <a:xfrm>
            <a:off x="6082494" y="2037904"/>
            <a:ext cx="2624138" cy="2162175"/>
          </a:xfrm>
          <a:custGeom>
            <a:avLst/>
            <a:gdLst/>
            <a:ahLst/>
            <a:cxnLst/>
            <a:rect l="l" t="t" r="r" b="b"/>
            <a:pathLst>
              <a:path w="2624138" h="2162175">
                <a:moveTo>
                  <a:pt x="0" y="0"/>
                </a:moveTo>
                <a:lnTo>
                  <a:pt x="2624138" y="0"/>
                </a:lnTo>
                <a:lnTo>
                  <a:pt x="2624138" y="2162175"/>
                </a:lnTo>
                <a:lnTo>
                  <a:pt x="0" y="2162175"/>
                </a:lnTo>
                <a:close/>
              </a:path>
            </a:pathLst>
          </a:custGeom>
          <a:solidFill>
            <a:srgbClr val="1B2430"/>
          </a:solidFill>
          <a:ln/>
        </p:spPr>
      </p:sp>
      <p:sp>
        <p:nvSpPr>
          <p:cNvPr id="37" name="Shape 32"/>
          <p:cNvSpPr/>
          <p:nvPr/>
        </p:nvSpPr>
        <p:spPr>
          <a:xfrm>
            <a:off x="6282705" y="2247007"/>
            <a:ext cx="747712" cy="157163"/>
          </a:xfrm>
          <a:custGeom>
            <a:avLst/>
            <a:gdLst/>
            <a:ahLst/>
            <a:cxnLst/>
            <a:rect l="l" t="t" r="r" b="b"/>
            <a:pathLst>
              <a:path w="747712" h="157163">
                <a:moveTo>
                  <a:pt x="0" y="0"/>
                </a:moveTo>
                <a:lnTo>
                  <a:pt x="747712" y="0"/>
                </a:lnTo>
                <a:lnTo>
                  <a:pt x="747712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3"/>
          <p:cNvSpPr/>
          <p:nvPr/>
        </p:nvSpPr>
        <p:spPr>
          <a:xfrm>
            <a:off x="6282705" y="2247007"/>
            <a:ext cx="74771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7DD3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/ SYSTEM</a:t>
            </a:r>
            <a:endParaRPr lang="en-US" sz="9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950" y="2254151"/>
            <a:ext cx="142875" cy="142875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6282519" y="2566318"/>
            <a:ext cx="2224088" cy="404813"/>
          </a:xfrm>
          <a:custGeom>
            <a:avLst/>
            <a:gdLst/>
            <a:ahLst/>
            <a:cxnLst/>
            <a:rect l="l" t="t" r="r" b="b"/>
            <a:pathLst>
              <a:path w="2224088" h="404813">
                <a:moveTo>
                  <a:pt x="0" y="0"/>
                </a:moveTo>
                <a:lnTo>
                  <a:pt x="2224088" y="0"/>
                </a:lnTo>
                <a:lnTo>
                  <a:pt x="2224088" y="404813"/>
                </a:lnTo>
                <a:lnTo>
                  <a:pt x="0" y="4048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5"/>
          <p:cNvSpPr/>
          <p:nvPr/>
        </p:nvSpPr>
        <p:spPr>
          <a:xfrm>
            <a:off x="6282519" y="2566318"/>
            <a:ext cx="2224088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130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Spacing &amp; grid principles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6282519" y="3057823"/>
            <a:ext cx="2224088" cy="728663"/>
          </a:xfrm>
          <a:custGeom>
            <a:avLst/>
            <a:gdLst/>
            <a:ahLst/>
            <a:cxnLst/>
            <a:rect l="l" t="t" r="r" b="b"/>
            <a:pathLst>
              <a:path w="2224088" h="728663">
                <a:moveTo>
                  <a:pt x="0" y="0"/>
                </a:moveTo>
                <a:lnTo>
                  <a:pt x="2224088" y="0"/>
                </a:lnTo>
                <a:lnTo>
                  <a:pt x="2224088" y="728663"/>
                </a:lnTo>
                <a:lnTo>
                  <a:pt x="0" y="728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7"/>
          <p:cNvSpPr/>
          <p:nvPr/>
        </p:nvSpPr>
        <p:spPr>
          <a:xfrm>
            <a:off x="6282519" y="3057823"/>
            <a:ext cx="2224088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CBD3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disciplined 12-column grid, generous whitespace, and repeatable templates protect alignment.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283561" y="3787229"/>
            <a:ext cx="338137" cy="247650"/>
          </a:xfrm>
          <a:custGeom>
            <a:avLst/>
            <a:gdLst/>
            <a:ahLst/>
            <a:cxnLst/>
            <a:rect l="l" t="t" r="r" b="b"/>
            <a:pathLst>
              <a:path w="338137" h="247650">
                <a:moveTo>
                  <a:pt x="0" y="0"/>
                </a:moveTo>
                <a:lnTo>
                  <a:pt x="338137" y="0"/>
                </a:lnTo>
                <a:lnTo>
                  <a:pt x="338137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4C78A8"/>
          </a:solidFill>
          <a:ln/>
        </p:spPr>
      </p:sp>
      <p:sp>
        <p:nvSpPr>
          <p:cNvPr id="45" name="Shape 39"/>
          <p:cNvSpPr/>
          <p:nvPr/>
        </p:nvSpPr>
        <p:spPr>
          <a:xfrm>
            <a:off x="6660319" y="3787229"/>
            <a:ext cx="338137" cy="247650"/>
          </a:xfrm>
          <a:custGeom>
            <a:avLst/>
            <a:gdLst/>
            <a:ahLst/>
            <a:cxnLst/>
            <a:rect l="l" t="t" r="r" b="b"/>
            <a:pathLst>
              <a:path w="338137" h="247650">
                <a:moveTo>
                  <a:pt x="0" y="0"/>
                </a:moveTo>
                <a:lnTo>
                  <a:pt x="338137" y="0"/>
                </a:lnTo>
                <a:lnTo>
                  <a:pt x="338137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4C78A8"/>
          </a:solidFill>
          <a:ln/>
        </p:spPr>
      </p:sp>
      <p:sp>
        <p:nvSpPr>
          <p:cNvPr id="46" name="Shape 40"/>
          <p:cNvSpPr/>
          <p:nvPr/>
        </p:nvSpPr>
        <p:spPr>
          <a:xfrm>
            <a:off x="7037078" y="3787229"/>
            <a:ext cx="338137" cy="247650"/>
          </a:xfrm>
          <a:custGeom>
            <a:avLst/>
            <a:gdLst/>
            <a:ahLst/>
            <a:cxnLst/>
            <a:rect l="l" t="t" r="r" b="b"/>
            <a:pathLst>
              <a:path w="338137" h="247650">
                <a:moveTo>
                  <a:pt x="0" y="0"/>
                </a:moveTo>
                <a:lnTo>
                  <a:pt x="338137" y="0"/>
                </a:lnTo>
                <a:lnTo>
                  <a:pt x="338137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7A8B99"/>
          </a:solidFill>
          <a:ln/>
        </p:spPr>
      </p:sp>
      <p:sp>
        <p:nvSpPr>
          <p:cNvPr id="47" name="Shape 41"/>
          <p:cNvSpPr/>
          <p:nvPr/>
        </p:nvSpPr>
        <p:spPr>
          <a:xfrm>
            <a:off x="7413836" y="3787229"/>
            <a:ext cx="338137" cy="247650"/>
          </a:xfrm>
          <a:custGeom>
            <a:avLst/>
            <a:gdLst/>
            <a:ahLst/>
            <a:cxnLst/>
            <a:rect l="l" t="t" r="r" b="b"/>
            <a:pathLst>
              <a:path w="338137" h="247650">
                <a:moveTo>
                  <a:pt x="0" y="0"/>
                </a:moveTo>
                <a:lnTo>
                  <a:pt x="338137" y="0"/>
                </a:lnTo>
                <a:lnTo>
                  <a:pt x="338137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7A8B99"/>
          </a:solidFill>
          <a:ln/>
        </p:spPr>
      </p:sp>
      <p:sp>
        <p:nvSpPr>
          <p:cNvPr id="48" name="Shape 42"/>
          <p:cNvSpPr/>
          <p:nvPr/>
        </p:nvSpPr>
        <p:spPr>
          <a:xfrm>
            <a:off x="7790594" y="3787229"/>
            <a:ext cx="338137" cy="247650"/>
          </a:xfrm>
          <a:custGeom>
            <a:avLst/>
            <a:gdLst/>
            <a:ahLst/>
            <a:cxnLst/>
            <a:rect l="l" t="t" r="r" b="b"/>
            <a:pathLst>
              <a:path w="338137" h="247650">
                <a:moveTo>
                  <a:pt x="0" y="0"/>
                </a:moveTo>
                <a:lnTo>
                  <a:pt x="338137" y="0"/>
                </a:lnTo>
                <a:lnTo>
                  <a:pt x="338137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49" name="Shape 43"/>
          <p:cNvSpPr/>
          <p:nvPr/>
        </p:nvSpPr>
        <p:spPr>
          <a:xfrm>
            <a:off x="8167353" y="3787229"/>
            <a:ext cx="338137" cy="247650"/>
          </a:xfrm>
          <a:custGeom>
            <a:avLst/>
            <a:gdLst/>
            <a:ahLst/>
            <a:cxnLst/>
            <a:rect l="l" t="t" r="r" b="b"/>
            <a:pathLst>
              <a:path w="338137" h="247650">
                <a:moveTo>
                  <a:pt x="0" y="0"/>
                </a:moveTo>
                <a:lnTo>
                  <a:pt x="338137" y="0"/>
                </a:lnTo>
                <a:lnTo>
                  <a:pt x="338137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50" name="Shape 44"/>
          <p:cNvSpPr/>
          <p:nvPr/>
        </p:nvSpPr>
        <p:spPr>
          <a:xfrm>
            <a:off x="438150" y="4400550"/>
            <a:ext cx="8267700" cy="400050"/>
          </a:xfrm>
          <a:custGeom>
            <a:avLst/>
            <a:gdLst/>
            <a:ahLst/>
            <a:cxnLst/>
            <a:rect l="l" t="t" r="r" b="b"/>
            <a:pathLst>
              <a:path w="8267700" h="400050">
                <a:moveTo>
                  <a:pt x="0" y="0"/>
                </a:moveTo>
                <a:lnTo>
                  <a:pt x="8267700" y="0"/>
                </a:lnTo>
                <a:lnTo>
                  <a:pt x="8267700" y="400050"/>
                </a:lnTo>
                <a:lnTo>
                  <a:pt x="0" y="400050"/>
                </a:lnTo>
                <a:close/>
              </a:path>
            </a:pathLst>
          </a:custGeom>
          <a:solidFill>
            <a:srgbClr val="111418"/>
          </a:solidFill>
          <a:ln/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4533900"/>
            <a:ext cx="133350" cy="133350"/>
          </a:xfrm>
          <a:prstGeom prst="rect">
            <a:avLst/>
          </a:prstGeom>
        </p:spPr>
      </p:pic>
      <p:sp>
        <p:nvSpPr>
          <p:cNvPr id="52" name="Shape 45"/>
          <p:cNvSpPr/>
          <p:nvPr/>
        </p:nvSpPr>
        <p:spPr>
          <a:xfrm>
            <a:off x="809923" y="4514850"/>
            <a:ext cx="1762125" cy="171450"/>
          </a:xfrm>
          <a:custGeom>
            <a:avLst/>
            <a:gdLst/>
            <a:ahLst/>
            <a:cxnLst/>
            <a:rect l="l" t="t" r="r" b="b"/>
            <a:pathLst>
              <a:path w="1762125" h="171450">
                <a:moveTo>
                  <a:pt x="0" y="0"/>
                </a:moveTo>
                <a:lnTo>
                  <a:pt x="1762125" y="0"/>
                </a:lnTo>
                <a:lnTo>
                  <a:pt x="176212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3" name="Text 46"/>
          <p:cNvSpPr/>
          <p:nvPr/>
        </p:nvSpPr>
        <p:spPr>
          <a:xfrm>
            <a:off x="809923" y="4514850"/>
            <a:ext cx="1762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6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Reusable template language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4591608" y="4529099"/>
            <a:ext cx="3962400" cy="142875"/>
          </a:xfrm>
          <a:custGeom>
            <a:avLst/>
            <a:gdLst/>
            <a:ahLst/>
            <a:cxnLst/>
            <a:rect l="l" t="t" r="r" b="b"/>
            <a:pathLst>
              <a:path w="3962400" h="142875">
                <a:moveTo>
                  <a:pt x="0" y="0"/>
                </a:moveTo>
                <a:lnTo>
                  <a:pt x="3962400" y="0"/>
                </a:lnTo>
                <a:lnTo>
                  <a:pt x="39624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5" name="Text 48"/>
          <p:cNvSpPr/>
          <p:nvPr/>
        </p:nvSpPr>
        <p:spPr>
          <a:xfrm>
            <a:off x="4591608" y="4529099"/>
            <a:ext cx="396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D5D9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future slide should feel related, intentional, and ready for evidence.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2026-10-02T03:01:33Z</dcterms:created>
  <dcterms:modified xsi:type="dcterms:W3CDTF">2026-10-02T03:01:33Z</dcterms:modified>
</cp:coreProperties>
</file>