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(30s):
Respected examiners, good morning. I am Khan Umar, presenting my B.Sc. Data Science Semester III Field Project at RP Institute, affiliated to the University of Mumbai.
Our research title is 'Analysis of Seasonal Disease Patterns Using Government Health Data'.
We analyze official weekly outbreak surveillance reports published by the National Centre for Disease Control (NCDC / IDSP) across Maharashtra, establishing a rigorous 4-year empirical baseline (2022–2025) and evaluating a partial-year comparison for 2026.
WHAT NOT TO OVERCLAIM: This is secondary analysis of official government outbreak bulletins — not clinical laboratory fieldwork or population incidence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Our research addresses one precise scientific inquiry: What seasonal patterns are evident in selected disease outbreak reports in Maharashtra?
To answer this with data-scientific rigor, we evaluate three analytical lenses:
1. Temporal concentration — calculating exact calendar-month clustering via 3-month concentration ratios (CR3).
2. Inter-annual stability — determining whether seasonal profiles repeat across years using Kendall's W concordance.
3. Event frequency versus case volume divergence — isolating how single mass-case events can distort monthly totals.
DEFENSE NOTE: This is framed as an administrative surveillance study. We do not hypothesize or claim biological causality.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 foundational contribution of this project is our reproducible data harmonization pipeline.
We processed 237 weekly government PDF bulletins from the NCDC, extracting 809 raw outbreak rows for Maharashtra.
Because official reports lack standardized spelling, we encountered 116 unique disease strings. We harmonized these into 56 clean labels and 30 syndromic families, selecting five primary families that account for 93.9% of all baseline outbreak records.
CRITICAL VIVA POINT: Every transformation is additive. The original disease_raw string was never overwritten, and each record maintains forensic provenance back to its specific source PDF and page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Across the four completed calendar years 2022 to 2025, our primary analytical cohort comprises exactly 539 outbreak records, 21,955 reported cases, and 266 reported deaths.
A key observation is the divergence between event frequency and case enumeration:
- Dengue leads in event frequency with 204 records, but resulted in 3,144 cases.
- Acute Diarrheal Disease had 153 events but generated 9,050 cases.
- Food Poisoning caused 5,927 cases from just 69 events.
WHAT NOT TO OVERCLAIM: Do not refer to 21,955 as 'disease incidence'. These are patients enumerated within investigated outbreak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420624"/>
            <a:ext cx="7680960" cy="0"/>
          </a:xfrm>
          <a:prstGeom prst="line">
            <a:avLst/>
          </a:prstGeom>
          <a:noFill/>
          <a:ln w="6350">
            <a:solidFill>
              <a:srgbClr val="997E30"/>
            </a:solidFill>
            <a:prstDash val="solid"/>
          </a:ln>
        </p:spPr>
      </p:sp>
      <p:sp>
        <p:nvSpPr>
          <p:cNvPr id="3" name="Shape 1"/>
          <p:cNvSpPr/>
          <p:nvPr/>
        </p:nvSpPr>
        <p:spPr>
          <a:xfrm>
            <a:off x="1033272" y="365760"/>
            <a:ext cx="36576" cy="54864"/>
          </a:xfrm>
          <a:prstGeom prst="rect">
            <a:avLst/>
          </a:prstGeom>
          <a:solidFill>
            <a:srgbClr val="64748B"/>
          </a:solidFill>
          <a:ln/>
        </p:spPr>
      </p:sp>
      <p:sp>
        <p:nvSpPr>
          <p:cNvPr id="4" name="Text 2"/>
          <p:cNvSpPr/>
          <p:nvPr/>
        </p:nvSpPr>
        <p:spPr>
          <a:xfrm>
            <a:off x="7315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J</a:t>
            </a:r>
            <a:endParaRPr lang="en-US" sz="650" dirty="0"/>
          </a:p>
        </p:txBody>
      </p:sp>
      <p:sp>
        <p:nvSpPr>
          <p:cNvPr id="5" name="Shape 3"/>
          <p:cNvSpPr/>
          <p:nvPr/>
        </p:nvSpPr>
        <p:spPr>
          <a:xfrm>
            <a:off x="1673352" y="329184"/>
            <a:ext cx="36576" cy="91440"/>
          </a:xfrm>
          <a:prstGeom prst="rect">
            <a:avLst/>
          </a:prstGeom>
          <a:solidFill>
            <a:srgbClr val="64748B"/>
          </a:solidFill>
          <a:ln/>
        </p:spPr>
      </p:sp>
      <p:sp>
        <p:nvSpPr>
          <p:cNvPr id="6" name="Text 4"/>
          <p:cNvSpPr/>
          <p:nvPr/>
        </p:nvSpPr>
        <p:spPr>
          <a:xfrm>
            <a:off x="13716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F</a:t>
            </a:r>
            <a:endParaRPr lang="en-US" sz="650" dirty="0"/>
          </a:p>
        </p:txBody>
      </p:sp>
      <p:sp>
        <p:nvSpPr>
          <p:cNvPr id="7" name="Shape 5"/>
          <p:cNvSpPr/>
          <p:nvPr/>
        </p:nvSpPr>
        <p:spPr>
          <a:xfrm>
            <a:off x="2313432" y="356616"/>
            <a:ext cx="36576" cy="64008"/>
          </a:xfrm>
          <a:prstGeom prst="rect">
            <a:avLst/>
          </a:prstGeom>
          <a:solidFill>
            <a:srgbClr val="64748B"/>
          </a:solidFill>
          <a:ln/>
        </p:spPr>
      </p:sp>
      <p:sp>
        <p:nvSpPr>
          <p:cNvPr id="8" name="Text 6"/>
          <p:cNvSpPr/>
          <p:nvPr/>
        </p:nvSpPr>
        <p:spPr>
          <a:xfrm>
            <a:off x="201168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9" name="Shape 7"/>
          <p:cNvSpPr/>
          <p:nvPr/>
        </p:nvSpPr>
        <p:spPr>
          <a:xfrm>
            <a:off x="2953512" y="347472"/>
            <a:ext cx="36576" cy="73152"/>
          </a:xfrm>
          <a:prstGeom prst="rect">
            <a:avLst/>
          </a:prstGeom>
          <a:solidFill>
            <a:srgbClr val="64748B"/>
          </a:solidFill>
          <a:ln/>
        </p:spPr>
      </p:sp>
      <p:sp>
        <p:nvSpPr>
          <p:cNvPr id="10" name="Text 8"/>
          <p:cNvSpPr/>
          <p:nvPr/>
        </p:nvSpPr>
        <p:spPr>
          <a:xfrm>
            <a:off x="265176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A</a:t>
            </a:r>
            <a:endParaRPr lang="en-US" sz="650" dirty="0"/>
          </a:p>
        </p:txBody>
      </p:sp>
      <p:sp>
        <p:nvSpPr>
          <p:cNvPr id="11" name="Shape 9"/>
          <p:cNvSpPr/>
          <p:nvPr/>
        </p:nvSpPr>
        <p:spPr>
          <a:xfrm>
            <a:off x="3593592" y="320040"/>
            <a:ext cx="36576" cy="100584"/>
          </a:xfrm>
          <a:prstGeom prst="rect">
            <a:avLst/>
          </a:prstGeom>
          <a:solidFill>
            <a:srgbClr val="64748B"/>
          </a:solidFill>
          <a:ln/>
        </p:spPr>
      </p:sp>
      <p:sp>
        <p:nvSpPr>
          <p:cNvPr id="12" name="Text 10"/>
          <p:cNvSpPr/>
          <p:nvPr/>
        </p:nvSpPr>
        <p:spPr>
          <a:xfrm>
            <a:off x="329184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13" name="Shape 11"/>
          <p:cNvSpPr/>
          <p:nvPr/>
        </p:nvSpPr>
        <p:spPr>
          <a:xfrm>
            <a:off x="4233672" y="274320"/>
            <a:ext cx="36576" cy="146304"/>
          </a:xfrm>
          <a:prstGeom prst="rect">
            <a:avLst/>
          </a:prstGeom>
          <a:solidFill>
            <a:srgbClr val="D4AF37"/>
          </a:solidFill>
          <a:ln/>
        </p:spPr>
      </p:sp>
      <p:sp>
        <p:nvSpPr>
          <p:cNvPr id="14" name="Text 12"/>
          <p:cNvSpPr/>
          <p:nvPr/>
        </p:nvSpPr>
        <p:spPr>
          <a:xfrm>
            <a:off x="393192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5" name="Shape 13"/>
          <p:cNvSpPr/>
          <p:nvPr/>
        </p:nvSpPr>
        <p:spPr>
          <a:xfrm>
            <a:off x="4873752" y="283464"/>
            <a:ext cx="36576" cy="137160"/>
          </a:xfrm>
          <a:prstGeom prst="rect">
            <a:avLst/>
          </a:prstGeom>
          <a:solidFill>
            <a:srgbClr val="D4AF37"/>
          </a:solidFill>
          <a:ln/>
        </p:spPr>
      </p:sp>
      <p:sp>
        <p:nvSpPr>
          <p:cNvPr id="16" name="Text 14"/>
          <p:cNvSpPr/>
          <p:nvPr/>
        </p:nvSpPr>
        <p:spPr>
          <a:xfrm>
            <a:off x="457200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7" name="Shape 15"/>
          <p:cNvSpPr/>
          <p:nvPr/>
        </p:nvSpPr>
        <p:spPr>
          <a:xfrm>
            <a:off x="5513832" y="301752"/>
            <a:ext cx="36576" cy="118872"/>
          </a:xfrm>
          <a:prstGeom prst="rect">
            <a:avLst/>
          </a:prstGeom>
          <a:solidFill>
            <a:srgbClr val="D4AF37"/>
          </a:solidFill>
          <a:ln/>
        </p:spPr>
      </p:sp>
      <p:sp>
        <p:nvSpPr>
          <p:cNvPr id="18" name="Text 16"/>
          <p:cNvSpPr/>
          <p:nvPr/>
        </p:nvSpPr>
        <p:spPr>
          <a:xfrm>
            <a:off x="521208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A</a:t>
            </a:r>
            <a:endParaRPr lang="en-US" sz="650" dirty="0"/>
          </a:p>
        </p:txBody>
      </p:sp>
      <p:sp>
        <p:nvSpPr>
          <p:cNvPr id="19" name="Shape 17"/>
          <p:cNvSpPr/>
          <p:nvPr/>
        </p:nvSpPr>
        <p:spPr>
          <a:xfrm>
            <a:off x="6153912" y="256032"/>
            <a:ext cx="36576" cy="164592"/>
          </a:xfrm>
          <a:prstGeom prst="rect">
            <a:avLst/>
          </a:prstGeom>
          <a:solidFill>
            <a:srgbClr val="D4AF37"/>
          </a:solidFill>
          <a:ln/>
        </p:spPr>
      </p:sp>
      <p:sp>
        <p:nvSpPr>
          <p:cNvPr id="20" name="Text 18"/>
          <p:cNvSpPr/>
          <p:nvPr/>
        </p:nvSpPr>
        <p:spPr>
          <a:xfrm>
            <a:off x="585216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S</a:t>
            </a:r>
            <a:endParaRPr lang="en-US" sz="650" dirty="0"/>
          </a:p>
        </p:txBody>
      </p:sp>
      <p:sp>
        <p:nvSpPr>
          <p:cNvPr id="21" name="Shape 19"/>
          <p:cNvSpPr/>
          <p:nvPr/>
        </p:nvSpPr>
        <p:spPr>
          <a:xfrm>
            <a:off x="6793992" y="246888"/>
            <a:ext cx="36576" cy="173736"/>
          </a:xfrm>
          <a:prstGeom prst="rect">
            <a:avLst/>
          </a:prstGeom>
          <a:solidFill>
            <a:srgbClr val="D4AF37"/>
          </a:solidFill>
          <a:ln/>
        </p:spPr>
      </p:sp>
      <p:sp>
        <p:nvSpPr>
          <p:cNvPr id="22" name="Text 20"/>
          <p:cNvSpPr/>
          <p:nvPr/>
        </p:nvSpPr>
        <p:spPr>
          <a:xfrm>
            <a:off x="649224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O</a:t>
            </a:r>
            <a:endParaRPr lang="en-US" sz="650" dirty="0"/>
          </a:p>
        </p:txBody>
      </p:sp>
      <p:sp>
        <p:nvSpPr>
          <p:cNvPr id="23" name="Shape 21"/>
          <p:cNvSpPr/>
          <p:nvPr/>
        </p:nvSpPr>
        <p:spPr>
          <a:xfrm>
            <a:off x="7434072" y="329184"/>
            <a:ext cx="36576" cy="91440"/>
          </a:xfrm>
          <a:prstGeom prst="rect">
            <a:avLst/>
          </a:prstGeom>
          <a:solidFill>
            <a:srgbClr val="64748B"/>
          </a:solidFill>
          <a:ln/>
        </p:spPr>
      </p:sp>
      <p:sp>
        <p:nvSpPr>
          <p:cNvPr id="24" name="Text 22"/>
          <p:cNvSpPr/>
          <p:nvPr/>
        </p:nvSpPr>
        <p:spPr>
          <a:xfrm>
            <a:off x="71323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N</a:t>
            </a:r>
            <a:endParaRPr lang="en-US" sz="650" dirty="0"/>
          </a:p>
        </p:txBody>
      </p:sp>
      <p:sp>
        <p:nvSpPr>
          <p:cNvPr id="25" name="Shape 23"/>
          <p:cNvSpPr/>
          <p:nvPr/>
        </p:nvSpPr>
        <p:spPr>
          <a:xfrm>
            <a:off x="8074152" y="374904"/>
            <a:ext cx="36576" cy="45720"/>
          </a:xfrm>
          <a:prstGeom prst="rect">
            <a:avLst/>
          </a:prstGeom>
          <a:solidFill>
            <a:srgbClr val="64748B"/>
          </a:solidFill>
          <a:ln/>
        </p:spPr>
      </p:sp>
      <p:sp>
        <p:nvSpPr>
          <p:cNvPr id="26" name="Text 24"/>
          <p:cNvSpPr/>
          <p:nvPr/>
        </p:nvSpPr>
        <p:spPr>
          <a:xfrm>
            <a:off x="77724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D</a:t>
            </a:r>
            <a:endParaRPr lang="en-US" sz="650" dirty="0"/>
          </a:p>
        </p:txBody>
      </p:sp>
      <p:sp>
        <p:nvSpPr>
          <p:cNvPr id="27" name="Text 25"/>
          <p:cNvSpPr/>
          <p:nvPr/>
        </p:nvSpPr>
        <p:spPr>
          <a:xfrm>
            <a:off x="731520" y="56692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RP INSTITUTE  ·  UNIVERSITY OF MUMBAI  ·  B.SC. DATA SCIENCE — SEMESTER III</a:t>
            </a:r>
            <a:endParaRPr lang="en-US" sz="750" dirty="0"/>
          </a:p>
        </p:txBody>
      </p:sp>
      <p:sp>
        <p:nvSpPr>
          <p:cNvPr id="28" name="Text 26"/>
          <p:cNvSpPr/>
          <p:nvPr/>
        </p:nvSpPr>
        <p:spPr>
          <a:xfrm>
            <a:off x="731520" y="841248"/>
            <a:ext cx="7680960" cy="169164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Analysis of Seasonal</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Disease Patterns</a:t>
            </a:r>
            <a:endParaRPr lang="en-US" sz="4400" dirty="0"/>
          </a:p>
        </p:txBody>
      </p:sp>
      <p:sp>
        <p:nvSpPr>
          <p:cNvPr id="29" name="Text 27"/>
          <p:cNvSpPr/>
          <p:nvPr/>
        </p:nvSpPr>
        <p:spPr>
          <a:xfrm>
            <a:off x="731520" y="2578608"/>
            <a:ext cx="7680960" cy="411480"/>
          </a:xfrm>
          <a:prstGeom prst="rect">
            <a:avLst/>
          </a:prstGeom>
          <a:noFill/>
          <a:ln/>
        </p:spPr>
        <p:txBody>
          <a:bodyPr wrap="square" rtlCol="0" anchor="ctr"/>
          <a:lstStyle/>
          <a:p>
            <a:pPr indent="0" marL="0">
              <a:lnSpc>
                <a:spcPct val="110000"/>
              </a:lnSpc>
              <a:buNone/>
            </a:pPr>
            <a:r>
              <a:rPr lang="en-US" sz="1800" i="1" dirty="0">
                <a:solidFill>
                  <a:srgbClr val="F3E5AB"/>
                </a:solidFill>
                <a:latin typeface="Georgia" pitchFamily="34" charset="0"/>
                <a:ea typeface="Georgia" pitchFamily="34" charset="-122"/>
                <a:cs typeface="Georgia" pitchFamily="34" charset="-120"/>
              </a:rPr>
              <a:t>Using Government Health Data: An Epidemiological Surveillance Study in Maharashtra</a:t>
            </a:r>
            <a:endParaRPr lang="en-US" sz="1800" dirty="0"/>
          </a:p>
        </p:txBody>
      </p:sp>
      <p:sp>
        <p:nvSpPr>
          <p:cNvPr id="30" name="Shape 28"/>
          <p:cNvSpPr/>
          <p:nvPr/>
        </p:nvSpPr>
        <p:spPr>
          <a:xfrm>
            <a:off x="731520" y="3127248"/>
            <a:ext cx="7680960" cy="0"/>
          </a:xfrm>
          <a:prstGeom prst="line">
            <a:avLst/>
          </a:prstGeom>
          <a:noFill/>
          <a:ln w="9525">
            <a:solidFill>
              <a:srgbClr val="D4AF37"/>
            </a:solidFill>
            <a:prstDash val="solid"/>
          </a:ln>
        </p:spPr>
      </p:sp>
      <p:sp>
        <p:nvSpPr>
          <p:cNvPr id="31" name="Shape 29"/>
          <p:cNvSpPr/>
          <p:nvPr/>
        </p:nvSpPr>
        <p:spPr>
          <a:xfrm>
            <a:off x="731520" y="3310128"/>
            <a:ext cx="2414016" cy="1234440"/>
          </a:xfrm>
          <a:prstGeom prst="rect">
            <a:avLst/>
          </a:prstGeom>
          <a:solidFill>
            <a:srgbClr val="101C38"/>
          </a:solidFill>
          <a:ln w="9525">
            <a:solidFill>
              <a:srgbClr val="1E335E"/>
            </a:solidFill>
            <a:prstDash val="solid"/>
          </a:ln>
        </p:spPr>
      </p:sp>
      <p:sp>
        <p:nvSpPr>
          <p:cNvPr id="32" name="Shape 30"/>
          <p:cNvSpPr/>
          <p:nvPr/>
        </p:nvSpPr>
        <p:spPr>
          <a:xfrm>
            <a:off x="731520" y="3310128"/>
            <a:ext cx="2414016" cy="0"/>
          </a:xfrm>
          <a:prstGeom prst="line">
            <a:avLst/>
          </a:prstGeom>
          <a:noFill/>
          <a:ln w="19050">
            <a:solidFill>
              <a:srgbClr val="D4AF37"/>
            </a:solidFill>
            <a:prstDash val="solid"/>
          </a:ln>
        </p:spPr>
      </p:sp>
      <p:sp>
        <p:nvSpPr>
          <p:cNvPr id="33" name="Text 31"/>
          <p:cNvSpPr/>
          <p:nvPr/>
        </p:nvSpPr>
        <p:spPr>
          <a:xfrm>
            <a:off x="868680"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CANDIDATE &amp; PROGRAMME</a:t>
            </a:r>
            <a:endParaRPr lang="en-US" sz="650" dirty="0"/>
          </a:p>
        </p:txBody>
      </p:sp>
      <p:sp>
        <p:nvSpPr>
          <p:cNvPr id="34" name="Text 32"/>
          <p:cNvSpPr/>
          <p:nvPr/>
        </p:nvSpPr>
        <p:spPr>
          <a:xfrm>
            <a:off x="868680"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Khan Umar</a:t>
            </a:r>
            <a:endParaRPr lang="en-US" sz="1100" dirty="0"/>
          </a:p>
        </p:txBody>
      </p:sp>
      <p:sp>
        <p:nvSpPr>
          <p:cNvPr id="35" name="Text 33"/>
          <p:cNvSpPr/>
          <p:nvPr/>
        </p:nvSpPr>
        <p:spPr>
          <a:xfrm>
            <a:off x="868680"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B.Sc. Data Science · Sem III</a:t>
            </a:r>
            <a:endParaRPr lang="en-US" sz="850" dirty="0"/>
          </a:p>
        </p:txBody>
      </p:sp>
      <p:sp>
        <p:nvSpPr>
          <p:cNvPr id="36" name="Shape 34"/>
          <p:cNvSpPr/>
          <p:nvPr/>
        </p:nvSpPr>
        <p:spPr>
          <a:xfrm>
            <a:off x="3364992" y="3310128"/>
            <a:ext cx="2414016" cy="1234440"/>
          </a:xfrm>
          <a:prstGeom prst="rect">
            <a:avLst/>
          </a:prstGeom>
          <a:solidFill>
            <a:srgbClr val="101C38"/>
          </a:solidFill>
          <a:ln w="9525">
            <a:solidFill>
              <a:srgbClr val="1E335E"/>
            </a:solidFill>
            <a:prstDash val="solid"/>
          </a:ln>
        </p:spPr>
      </p:sp>
      <p:sp>
        <p:nvSpPr>
          <p:cNvPr id="37" name="Shape 35"/>
          <p:cNvSpPr/>
          <p:nvPr/>
        </p:nvSpPr>
        <p:spPr>
          <a:xfrm>
            <a:off x="3364992" y="3310128"/>
            <a:ext cx="2414016" cy="0"/>
          </a:xfrm>
          <a:prstGeom prst="line">
            <a:avLst/>
          </a:prstGeom>
          <a:noFill/>
          <a:ln w="19050">
            <a:solidFill>
              <a:srgbClr val="D4AF37"/>
            </a:solidFill>
            <a:prstDash val="solid"/>
          </a:ln>
        </p:spPr>
      </p:sp>
      <p:sp>
        <p:nvSpPr>
          <p:cNvPr id="38" name="Text 36"/>
          <p:cNvSpPr/>
          <p:nvPr/>
        </p:nvSpPr>
        <p:spPr>
          <a:xfrm>
            <a:off x="3502152"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PRIMARY SURVEILLANCE SOURCE</a:t>
            </a:r>
            <a:endParaRPr lang="en-US" sz="650" dirty="0"/>
          </a:p>
        </p:txBody>
      </p:sp>
      <p:sp>
        <p:nvSpPr>
          <p:cNvPr id="39" name="Text 37"/>
          <p:cNvSpPr/>
          <p:nvPr/>
        </p:nvSpPr>
        <p:spPr>
          <a:xfrm>
            <a:off x="3502152"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NCDC / IDSP Weekly Outbreak Bulletins</a:t>
            </a:r>
            <a:endParaRPr lang="en-US" sz="1100" dirty="0"/>
          </a:p>
        </p:txBody>
      </p:sp>
      <p:sp>
        <p:nvSpPr>
          <p:cNvPr id="40" name="Text 38"/>
          <p:cNvSpPr/>
          <p:nvPr/>
        </p:nvSpPr>
        <p:spPr>
          <a:xfrm>
            <a:off x="3502152"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Government of India Health Portals</a:t>
            </a:r>
            <a:endParaRPr lang="en-US" sz="850" dirty="0"/>
          </a:p>
        </p:txBody>
      </p:sp>
      <p:sp>
        <p:nvSpPr>
          <p:cNvPr id="41" name="Shape 39"/>
          <p:cNvSpPr/>
          <p:nvPr/>
        </p:nvSpPr>
        <p:spPr>
          <a:xfrm>
            <a:off x="5998464" y="3310128"/>
            <a:ext cx="2414016" cy="1234440"/>
          </a:xfrm>
          <a:prstGeom prst="rect">
            <a:avLst/>
          </a:prstGeom>
          <a:solidFill>
            <a:srgbClr val="101C38"/>
          </a:solidFill>
          <a:ln w="9525">
            <a:solidFill>
              <a:srgbClr val="1E335E"/>
            </a:solidFill>
            <a:prstDash val="solid"/>
          </a:ln>
        </p:spPr>
      </p:sp>
      <p:sp>
        <p:nvSpPr>
          <p:cNvPr id="42" name="Shape 40"/>
          <p:cNvSpPr/>
          <p:nvPr/>
        </p:nvSpPr>
        <p:spPr>
          <a:xfrm>
            <a:off x="5998464" y="3310128"/>
            <a:ext cx="2414016" cy="0"/>
          </a:xfrm>
          <a:prstGeom prst="line">
            <a:avLst/>
          </a:prstGeom>
          <a:noFill/>
          <a:ln w="19050">
            <a:solidFill>
              <a:srgbClr val="D4AF37"/>
            </a:solidFill>
            <a:prstDash val="solid"/>
          </a:ln>
        </p:spPr>
      </p:sp>
      <p:sp>
        <p:nvSpPr>
          <p:cNvPr id="43" name="Text 41"/>
          <p:cNvSpPr/>
          <p:nvPr/>
        </p:nvSpPr>
        <p:spPr>
          <a:xfrm>
            <a:off x="6135624"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EMPIRICAL SURVEILLANCE SCOPE</a:t>
            </a:r>
            <a:endParaRPr lang="en-US" sz="650" dirty="0"/>
          </a:p>
        </p:txBody>
      </p:sp>
      <p:sp>
        <p:nvSpPr>
          <p:cNvPr id="44" name="Text 42"/>
          <p:cNvSpPr/>
          <p:nvPr/>
        </p:nvSpPr>
        <p:spPr>
          <a:xfrm>
            <a:off x="6135624"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Maharashtra (36 Districts)</a:t>
            </a:r>
            <a:endParaRPr lang="en-US" sz="1100" dirty="0"/>
          </a:p>
        </p:txBody>
      </p:sp>
      <p:sp>
        <p:nvSpPr>
          <p:cNvPr id="45" name="Text 43"/>
          <p:cNvSpPr/>
          <p:nvPr/>
        </p:nvSpPr>
        <p:spPr>
          <a:xfrm>
            <a:off x="6135624"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2022–2025 Baseline + 2026 W01–W32</a:t>
            </a:r>
            <a:endParaRPr lang="en-US" sz="850" dirty="0"/>
          </a:p>
        </p:txBody>
      </p:sp>
      <p:sp>
        <p:nvSpPr>
          <p:cNvPr id="46" name="Text 44"/>
          <p:cNvSpPr/>
          <p:nvPr/>
        </p:nvSpPr>
        <p:spPr>
          <a:xfrm>
            <a:off x="7772400" y="4773168"/>
            <a:ext cx="73152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01 / 10</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CENTRAL RESEARCH QUESTION  //  ANALYTICAL FRAMEWORK</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Investigating Outbreak Seasonality in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143000"/>
            <a:ext cx="7680960" cy="1783080"/>
          </a:xfrm>
          <a:prstGeom prst="rect">
            <a:avLst/>
          </a:prstGeom>
          <a:solidFill>
            <a:srgbClr val="16274D"/>
          </a:solidFill>
          <a:ln w="12700">
            <a:solidFill>
              <a:srgbClr val="D4AF37"/>
            </a:solidFill>
            <a:prstDash val="solid"/>
          </a:ln>
        </p:spPr>
      </p:sp>
      <p:sp>
        <p:nvSpPr>
          <p:cNvPr id="6" name="Text 4"/>
          <p:cNvSpPr/>
          <p:nvPr/>
        </p:nvSpPr>
        <p:spPr>
          <a:xfrm>
            <a:off x="1005840" y="1289304"/>
            <a:ext cx="7132320" cy="201168"/>
          </a:xfrm>
          <a:prstGeom prst="rect">
            <a:avLst/>
          </a:prstGeom>
          <a:noFill/>
          <a:ln/>
        </p:spPr>
        <p:txBody>
          <a:bodyPr wrap="square" rtlCol="0" anchor="ctr"/>
          <a:lstStyle/>
          <a:p>
            <a:pPr indent="0" marL="0">
              <a:buNone/>
            </a:pPr>
            <a:r>
              <a:rPr lang="en-US" sz="750" b="1" spc="150" kern="0" dirty="0">
                <a:solidFill>
                  <a:srgbClr val="D4AF37"/>
                </a:solidFill>
                <a:latin typeface="Consolas" pitchFamily="34" charset="0"/>
                <a:ea typeface="Consolas" pitchFamily="34" charset="-122"/>
                <a:cs typeface="Consolas" pitchFamily="34" charset="-120"/>
              </a:rPr>
              <a:t>PRIMARY RESEARCH INQUIRY</a:t>
            </a:r>
            <a:endParaRPr lang="en-US" sz="750" dirty="0"/>
          </a:p>
        </p:txBody>
      </p:sp>
      <p:sp>
        <p:nvSpPr>
          <p:cNvPr id="7" name="Text 5"/>
          <p:cNvSpPr/>
          <p:nvPr/>
        </p:nvSpPr>
        <p:spPr>
          <a:xfrm>
            <a:off x="1005840" y="1527048"/>
            <a:ext cx="7132320" cy="1234440"/>
          </a:xfrm>
          <a:prstGeom prst="rect">
            <a:avLst/>
          </a:prstGeom>
          <a:noFill/>
          <a:ln/>
        </p:spPr>
        <p:txBody>
          <a:bodyPr wrap="square" rtlCol="0" anchor="ctr"/>
          <a:lstStyle/>
          <a:p>
            <a:pPr indent="0" marL="0">
              <a:lnSpc>
                <a:spcPct val="125000"/>
              </a:lnSpc>
              <a:buNone/>
            </a:pPr>
            <a:r>
              <a:rPr lang="en-US" sz="2200" i="1" dirty="0">
                <a:solidFill>
                  <a:srgbClr val="FFFFFF"/>
                </a:solidFill>
                <a:latin typeface="Georgia" pitchFamily="34" charset="0"/>
                <a:ea typeface="Georgia" pitchFamily="34" charset="-122"/>
                <a:cs typeface="Georgia" pitchFamily="34" charset="-120"/>
              </a:rPr>
              <a:t>“What seasonal patterns are evident in selected disease outbreak reports in Maharashtra, and how do these patterns vary across diseases and seasons?”</a:t>
            </a:r>
            <a:endParaRPr lang="en-US" sz="2200" dirty="0"/>
          </a:p>
        </p:txBody>
      </p:sp>
      <p:sp>
        <p:nvSpPr>
          <p:cNvPr id="8" name="Shape 6"/>
          <p:cNvSpPr/>
          <p:nvPr/>
        </p:nvSpPr>
        <p:spPr>
          <a:xfrm>
            <a:off x="731520" y="3090672"/>
            <a:ext cx="2450592" cy="1481328"/>
          </a:xfrm>
          <a:prstGeom prst="rect">
            <a:avLst/>
          </a:prstGeom>
          <a:solidFill>
            <a:srgbClr val="101C38"/>
          </a:solidFill>
          <a:ln w="9525">
            <a:solidFill>
              <a:srgbClr val="1E335E"/>
            </a:solidFill>
            <a:prstDash val="solid"/>
          </a:ln>
        </p:spPr>
      </p:sp>
      <p:sp>
        <p:nvSpPr>
          <p:cNvPr id="9" name="Shape 7"/>
          <p:cNvSpPr/>
          <p:nvPr/>
        </p:nvSpPr>
        <p:spPr>
          <a:xfrm>
            <a:off x="731520" y="3090672"/>
            <a:ext cx="2450592" cy="0"/>
          </a:xfrm>
          <a:prstGeom prst="line">
            <a:avLst/>
          </a:prstGeom>
          <a:noFill/>
          <a:ln w="19050">
            <a:solidFill>
              <a:srgbClr val="D4AF37"/>
            </a:solidFill>
            <a:prstDash val="solid"/>
          </a:ln>
        </p:spPr>
      </p:sp>
      <p:sp>
        <p:nvSpPr>
          <p:cNvPr id="10" name="Text 8"/>
          <p:cNvSpPr/>
          <p:nvPr/>
        </p:nvSpPr>
        <p:spPr>
          <a:xfrm>
            <a:off x="868680"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01</a:t>
            </a:r>
            <a:endParaRPr lang="en-US" sz="2400" dirty="0"/>
          </a:p>
        </p:txBody>
      </p:sp>
      <p:sp>
        <p:nvSpPr>
          <p:cNvPr id="11" name="Text 9"/>
          <p:cNvSpPr/>
          <p:nvPr/>
        </p:nvSpPr>
        <p:spPr>
          <a:xfrm>
            <a:off x="1417320"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TEMPORAL CONCENTRATION</a:t>
            </a:r>
            <a:endParaRPr lang="en-US" sz="750" dirty="0"/>
          </a:p>
        </p:txBody>
      </p:sp>
      <p:sp>
        <p:nvSpPr>
          <p:cNvPr id="12" name="Text 10"/>
          <p:cNvSpPr/>
          <p:nvPr/>
        </p:nvSpPr>
        <p:spPr>
          <a:xfrm>
            <a:off x="1417320"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3-Month Concentration Ratio (CR3)</a:t>
            </a:r>
            <a:endParaRPr lang="en-US" sz="750" dirty="0"/>
          </a:p>
        </p:txBody>
      </p:sp>
      <p:sp>
        <p:nvSpPr>
          <p:cNvPr id="13" name="Shape 11"/>
          <p:cNvSpPr/>
          <p:nvPr/>
        </p:nvSpPr>
        <p:spPr>
          <a:xfrm>
            <a:off x="868680" y="3657600"/>
            <a:ext cx="2176272" cy="0"/>
          </a:xfrm>
          <a:prstGeom prst="line">
            <a:avLst/>
          </a:prstGeom>
          <a:noFill/>
          <a:ln w="6350">
            <a:solidFill>
              <a:srgbClr val="1E2D4A"/>
            </a:solidFill>
            <a:prstDash val="solid"/>
          </a:ln>
        </p:spPr>
      </p:sp>
      <p:sp>
        <p:nvSpPr>
          <p:cNvPr id="14" name="Text 12"/>
          <p:cNvSpPr/>
          <p:nvPr/>
        </p:nvSpPr>
        <p:spPr>
          <a:xfrm>
            <a:off x="868680"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Determines whether outbreak events cluster within specific calendar months or disperse uniformly across the surveillance year.</a:t>
            </a:r>
            <a:endParaRPr lang="en-US" sz="850" dirty="0"/>
          </a:p>
        </p:txBody>
      </p:sp>
      <p:sp>
        <p:nvSpPr>
          <p:cNvPr id="15" name="Shape 13"/>
          <p:cNvSpPr/>
          <p:nvPr/>
        </p:nvSpPr>
        <p:spPr>
          <a:xfrm>
            <a:off x="3346704" y="3090672"/>
            <a:ext cx="2450592" cy="1481328"/>
          </a:xfrm>
          <a:prstGeom prst="rect">
            <a:avLst/>
          </a:prstGeom>
          <a:solidFill>
            <a:srgbClr val="101C38"/>
          </a:solidFill>
          <a:ln w="9525">
            <a:solidFill>
              <a:srgbClr val="1E335E"/>
            </a:solidFill>
            <a:prstDash val="solid"/>
          </a:ln>
        </p:spPr>
      </p:sp>
      <p:sp>
        <p:nvSpPr>
          <p:cNvPr id="16" name="Shape 14"/>
          <p:cNvSpPr/>
          <p:nvPr/>
        </p:nvSpPr>
        <p:spPr>
          <a:xfrm>
            <a:off x="3346704" y="3090672"/>
            <a:ext cx="2450592" cy="0"/>
          </a:xfrm>
          <a:prstGeom prst="line">
            <a:avLst/>
          </a:prstGeom>
          <a:noFill/>
          <a:ln w="19050">
            <a:solidFill>
              <a:srgbClr val="D4AF37"/>
            </a:solidFill>
            <a:prstDash val="solid"/>
          </a:ln>
        </p:spPr>
      </p:sp>
      <p:sp>
        <p:nvSpPr>
          <p:cNvPr id="17" name="Text 15"/>
          <p:cNvSpPr/>
          <p:nvPr/>
        </p:nvSpPr>
        <p:spPr>
          <a:xfrm>
            <a:off x="3483864"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02</a:t>
            </a:r>
            <a:endParaRPr lang="en-US" sz="2400" dirty="0"/>
          </a:p>
        </p:txBody>
      </p:sp>
      <p:sp>
        <p:nvSpPr>
          <p:cNvPr id="18" name="Text 16"/>
          <p:cNvSpPr/>
          <p:nvPr/>
        </p:nvSpPr>
        <p:spPr>
          <a:xfrm>
            <a:off x="4032504"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INTER-ANNUAL STABILITY</a:t>
            </a:r>
            <a:endParaRPr lang="en-US" sz="750" dirty="0"/>
          </a:p>
        </p:txBody>
      </p:sp>
      <p:sp>
        <p:nvSpPr>
          <p:cNvPr id="19" name="Text 17"/>
          <p:cNvSpPr/>
          <p:nvPr/>
        </p:nvSpPr>
        <p:spPr>
          <a:xfrm>
            <a:off x="4032504"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Kendall’s W Coefficient of Concordance</a:t>
            </a:r>
            <a:endParaRPr lang="en-US" sz="750" dirty="0"/>
          </a:p>
        </p:txBody>
      </p:sp>
      <p:sp>
        <p:nvSpPr>
          <p:cNvPr id="20" name="Shape 18"/>
          <p:cNvSpPr/>
          <p:nvPr/>
        </p:nvSpPr>
        <p:spPr>
          <a:xfrm>
            <a:off x="3483864" y="3657600"/>
            <a:ext cx="2176272" cy="0"/>
          </a:xfrm>
          <a:prstGeom prst="line">
            <a:avLst/>
          </a:prstGeom>
          <a:noFill/>
          <a:ln w="6350">
            <a:solidFill>
              <a:srgbClr val="1E2D4A"/>
            </a:solidFill>
            <a:prstDash val="solid"/>
          </a:ln>
        </p:spPr>
      </p:sp>
      <p:sp>
        <p:nvSpPr>
          <p:cNvPr id="21" name="Text 19"/>
          <p:cNvSpPr/>
          <p:nvPr/>
        </p:nvSpPr>
        <p:spPr>
          <a:xfrm>
            <a:off x="3483864"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Tests whether monthly disease ranking repeats reliably across four completed years (2022–2025) or exhibits volatile, random shifts.</a:t>
            </a:r>
            <a:endParaRPr lang="en-US" sz="850" dirty="0"/>
          </a:p>
        </p:txBody>
      </p:sp>
      <p:sp>
        <p:nvSpPr>
          <p:cNvPr id="22" name="Shape 20"/>
          <p:cNvSpPr/>
          <p:nvPr/>
        </p:nvSpPr>
        <p:spPr>
          <a:xfrm>
            <a:off x="5961888" y="3090672"/>
            <a:ext cx="2450592" cy="1481328"/>
          </a:xfrm>
          <a:prstGeom prst="rect">
            <a:avLst/>
          </a:prstGeom>
          <a:solidFill>
            <a:srgbClr val="101C38"/>
          </a:solidFill>
          <a:ln w="9525">
            <a:solidFill>
              <a:srgbClr val="1E335E"/>
            </a:solidFill>
            <a:prstDash val="solid"/>
          </a:ln>
        </p:spPr>
      </p:sp>
      <p:sp>
        <p:nvSpPr>
          <p:cNvPr id="23" name="Shape 21"/>
          <p:cNvSpPr/>
          <p:nvPr/>
        </p:nvSpPr>
        <p:spPr>
          <a:xfrm>
            <a:off x="5961888" y="3090672"/>
            <a:ext cx="2450592" cy="0"/>
          </a:xfrm>
          <a:prstGeom prst="line">
            <a:avLst/>
          </a:prstGeom>
          <a:noFill/>
          <a:ln w="19050">
            <a:solidFill>
              <a:srgbClr val="D4AF37"/>
            </a:solidFill>
            <a:prstDash val="solid"/>
          </a:ln>
        </p:spPr>
      </p:sp>
      <p:sp>
        <p:nvSpPr>
          <p:cNvPr id="24" name="Text 22"/>
          <p:cNvSpPr/>
          <p:nvPr/>
        </p:nvSpPr>
        <p:spPr>
          <a:xfrm>
            <a:off x="6099048"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03</a:t>
            </a:r>
            <a:endParaRPr lang="en-US" sz="2400" dirty="0"/>
          </a:p>
        </p:txBody>
      </p:sp>
      <p:sp>
        <p:nvSpPr>
          <p:cNvPr id="25" name="Text 23"/>
          <p:cNvSpPr/>
          <p:nvPr/>
        </p:nvSpPr>
        <p:spPr>
          <a:xfrm>
            <a:off x="6647688"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EVENT / VOLUME DIVERGENCE</a:t>
            </a:r>
            <a:endParaRPr lang="en-US" sz="750" dirty="0"/>
          </a:p>
        </p:txBody>
      </p:sp>
      <p:sp>
        <p:nvSpPr>
          <p:cNvPr id="26" name="Text 24"/>
          <p:cNvSpPr/>
          <p:nvPr/>
        </p:nvSpPr>
        <p:spPr>
          <a:xfrm>
            <a:off x="6647688"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Sensitivity &amp; Outlier Decomposition</a:t>
            </a:r>
            <a:endParaRPr lang="en-US" sz="750" dirty="0"/>
          </a:p>
        </p:txBody>
      </p:sp>
      <p:sp>
        <p:nvSpPr>
          <p:cNvPr id="27" name="Shape 25"/>
          <p:cNvSpPr/>
          <p:nvPr/>
        </p:nvSpPr>
        <p:spPr>
          <a:xfrm>
            <a:off x="6099048" y="3657600"/>
            <a:ext cx="2176272" cy="0"/>
          </a:xfrm>
          <a:prstGeom prst="line">
            <a:avLst/>
          </a:prstGeom>
          <a:noFill/>
          <a:ln w="6350">
            <a:solidFill>
              <a:srgbClr val="1E2D4A"/>
            </a:solidFill>
            <a:prstDash val="solid"/>
          </a:ln>
        </p:spPr>
      </p:sp>
      <p:sp>
        <p:nvSpPr>
          <p:cNvPr id="28" name="Text 26"/>
          <p:cNvSpPr/>
          <p:nvPr/>
        </p:nvSpPr>
        <p:spPr>
          <a:xfrm>
            <a:off x="6099048"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Evaluates how isolated mass-exposure outbreaks distort aggregate case volumes without altering underlying event frequency distributions.</a:t>
            </a:r>
            <a:endParaRPr lang="en-US" sz="850" dirty="0"/>
          </a:p>
        </p:txBody>
      </p:sp>
      <p:sp>
        <p:nvSpPr>
          <p:cNvPr id="29" name="Shape 27"/>
          <p:cNvSpPr/>
          <p:nvPr/>
        </p:nvSpPr>
        <p:spPr>
          <a:xfrm>
            <a:off x="731520" y="4773168"/>
            <a:ext cx="7680960" cy="0"/>
          </a:xfrm>
          <a:prstGeom prst="line">
            <a:avLst/>
          </a:prstGeom>
          <a:noFill/>
          <a:ln w="9525">
            <a:solidFill>
              <a:srgbClr val="1E2D4A"/>
            </a:solidFill>
            <a:prstDash val="solid"/>
          </a:ln>
        </p:spPr>
      </p:sp>
      <p:sp>
        <p:nvSpPr>
          <p:cNvPr id="30" name="Text 2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RESEARCH METHODOLOGY // RP INSTITUTE // B.SC. DATA SCIENCE VIVA DEFENSE</a:t>
            </a:r>
            <a:endParaRPr lang="en-US" sz="650" dirty="0"/>
          </a:p>
        </p:txBody>
      </p:sp>
      <p:sp>
        <p:nvSpPr>
          <p:cNvPr id="31" name="Text 2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02 / 10</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DATA ENGINEERING PIPELINE  //  PROVENANCE &amp; HARMONIZATION</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From Weekly Government Reports to Structured Data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1170432" cy="1664208"/>
          </a:xfrm>
          <a:prstGeom prst="rect">
            <a:avLst/>
          </a:prstGeom>
          <a:solidFill>
            <a:srgbClr val="101C38"/>
          </a:solidFill>
          <a:ln w="9525">
            <a:solidFill>
              <a:srgbClr val="1E335E"/>
            </a:solidFill>
            <a:prstDash val="solid"/>
          </a:ln>
        </p:spPr>
      </p:sp>
      <p:sp>
        <p:nvSpPr>
          <p:cNvPr id="6" name="Shape 4"/>
          <p:cNvSpPr/>
          <p:nvPr/>
        </p:nvSpPr>
        <p:spPr>
          <a:xfrm>
            <a:off x="731520" y="1207008"/>
            <a:ext cx="1170432" cy="0"/>
          </a:xfrm>
          <a:prstGeom prst="line">
            <a:avLst/>
          </a:prstGeom>
          <a:noFill/>
          <a:ln w="12700">
            <a:solidFill>
              <a:srgbClr val="38BDF8"/>
            </a:solidFill>
            <a:prstDash val="solid"/>
          </a:ln>
        </p:spPr>
      </p:sp>
      <p:sp>
        <p:nvSpPr>
          <p:cNvPr id="7" name="Text 5"/>
          <p:cNvSpPr/>
          <p:nvPr/>
        </p:nvSpPr>
        <p:spPr>
          <a:xfrm>
            <a:off x="777240"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237</a:t>
            </a:r>
            <a:endParaRPr lang="en-US" sz="2800" dirty="0"/>
          </a:p>
        </p:txBody>
      </p:sp>
      <p:sp>
        <p:nvSpPr>
          <p:cNvPr id="8" name="Text 6"/>
          <p:cNvSpPr/>
          <p:nvPr/>
        </p:nvSpPr>
        <p:spPr>
          <a:xfrm>
            <a:off x="777240"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PDF BULLETINS</a:t>
            </a:r>
            <a:endParaRPr lang="en-US" sz="650" dirty="0"/>
          </a:p>
        </p:txBody>
      </p:sp>
      <p:sp>
        <p:nvSpPr>
          <p:cNvPr id="9" name="Shape 7"/>
          <p:cNvSpPr/>
          <p:nvPr/>
        </p:nvSpPr>
        <p:spPr>
          <a:xfrm>
            <a:off x="841248" y="2157984"/>
            <a:ext cx="950976" cy="0"/>
          </a:xfrm>
          <a:prstGeom prst="line">
            <a:avLst/>
          </a:prstGeom>
          <a:noFill/>
          <a:ln w="6350">
            <a:solidFill>
              <a:srgbClr val="1E2D4A"/>
            </a:solidFill>
            <a:prstDash val="solid"/>
          </a:ln>
        </p:spPr>
      </p:sp>
      <p:sp>
        <p:nvSpPr>
          <p:cNvPr id="10" name="Text 8"/>
          <p:cNvSpPr/>
          <p:nvPr/>
        </p:nvSpPr>
        <p:spPr>
          <a:xfrm>
            <a:off x="786384"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NCDC weekly surveillance archives</a:t>
            </a:r>
            <a:endParaRPr lang="en-US" sz="750" dirty="0"/>
          </a:p>
        </p:txBody>
      </p:sp>
      <p:sp>
        <p:nvSpPr>
          <p:cNvPr id="11" name="Text 9"/>
          <p:cNvSpPr/>
          <p:nvPr/>
        </p:nvSpPr>
        <p:spPr>
          <a:xfrm>
            <a:off x="1901952"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2033626" y="1207008"/>
            <a:ext cx="1170432" cy="1664208"/>
          </a:xfrm>
          <a:prstGeom prst="rect">
            <a:avLst/>
          </a:prstGeom>
          <a:solidFill>
            <a:srgbClr val="101C38"/>
          </a:solidFill>
          <a:ln w="9525">
            <a:solidFill>
              <a:srgbClr val="1E335E"/>
            </a:solidFill>
            <a:prstDash val="solid"/>
          </a:ln>
        </p:spPr>
      </p:sp>
      <p:sp>
        <p:nvSpPr>
          <p:cNvPr id="13" name="Shape 11"/>
          <p:cNvSpPr/>
          <p:nvPr/>
        </p:nvSpPr>
        <p:spPr>
          <a:xfrm>
            <a:off x="2033626" y="1207008"/>
            <a:ext cx="1170432" cy="0"/>
          </a:xfrm>
          <a:prstGeom prst="line">
            <a:avLst/>
          </a:prstGeom>
          <a:noFill/>
          <a:ln w="12700">
            <a:solidFill>
              <a:srgbClr val="38BDF8"/>
            </a:solidFill>
            <a:prstDash val="solid"/>
          </a:ln>
        </p:spPr>
      </p:sp>
      <p:sp>
        <p:nvSpPr>
          <p:cNvPr id="14" name="Text 12"/>
          <p:cNvSpPr/>
          <p:nvPr/>
        </p:nvSpPr>
        <p:spPr>
          <a:xfrm>
            <a:off x="2079346"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809</a:t>
            </a:r>
            <a:endParaRPr lang="en-US" sz="2800" dirty="0"/>
          </a:p>
        </p:txBody>
      </p:sp>
      <p:sp>
        <p:nvSpPr>
          <p:cNvPr id="15" name="Text 13"/>
          <p:cNvSpPr/>
          <p:nvPr/>
        </p:nvSpPr>
        <p:spPr>
          <a:xfrm>
            <a:off x="2079346"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RAW RECORDS</a:t>
            </a:r>
            <a:endParaRPr lang="en-US" sz="650" dirty="0"/>
          </a:p>
        </p:txBody>
      </p:sp>
      <p:sp>
        <p:nvSpPr>
          <p:cNvPr id="16" name="Shape 14"/>
          <p:cNvSpPr/>
          <p:nvPr/>
        </p:nvSpPr>
        <p:spPr>
          <a:xfrm>
            <a:off x="2143354" y="2157984"/>
            <a:ext cx="950976" cy="0"/>
          </a:xfrm>
          <a:prstGeom prst="line">
            <a:avLst/>
          </a:prstGeom>
          <a:noFill/>
          <a:ln w="6350">
            <a:solidFill>
              <a:srgbClr val="1E2D4A"/>
            </a:solidFill>
            <a:prstDash val="solid"/>
          </a:ln>
        </p:spPr>
      </p:sp>
      <p:sp>
        <p:nvSpPr>
          <p:cNvPr id="17" name="Text 15"/>
          <p:cNvSpPr/>
          <p:nvPr/>
        </p:nvSpPr>
        <p:spPr>
          <a:xfrm>
            <a:off x="2088490"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Maharashtra outbreak rows extracted</a:t>
            </a:r>
            <a:endParaRPr lang="en-US" sz="750" dirty="0"/>
          </a:p>
        </p:txBody>
      </p:sp>
      <p:sp>
        <p:nvSpPr>
          <p:cNvPr id="18" name="Text 16"/>
          <p:cNvSpPr/>
          <p:nvPr/>
        </p:nvSpPr>
        <p:spPr>
          <a:xfrm>
            <a:off x="3204058"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3335731" y="1207008"/>
            <a:ext cx="1170432" cy="1664208"/>
          </a:xfrm>
          <a:prstGeom prst="rect">
            <a:avLst/>
          </a:prstGeom>
          <a:solidFill>
            <a:srgbClr val="101C38"/>
          </a:solidFill>
          <a:ln w="9525">
            <a:solidFill>
              <a:srgbClr val="1E335E"/>
            </a:solidFill>
            <a:prstDash val="solid"/>
          </a:ln>
        </p:spPr>
      </p:sp>
      <p:sp>
        <p:nvSpPr>
          <p:cNvPr id="20" name="Shape 18"/>
          <p:cNvSpPr/>
          <p:nvPr/>
        </p:nvSpPr>
        <p:spPr>
          <a:xfrm>
            <a:off x="3335731" y="1207008"/>
            <a:ext cx="1170432" cy="0"/>
          </a:xfrm>
          <a:prstGeom prst="line">
            <a:avLst/>
          </a:prstGeom>
          <a:noFill/>
          <a:ln w="12700">
            <a:solidFill>
              <a:srgbClr val="38BDF8"/>
            </a:solidFill>
            <a:prstDash val="solid"/>
          </a:ln>
        </p:spPr>
      </p:sp>
      <p:sp>
        <p:nvSpPr>
          <p:cNvPr id="21" name="Text 19"/>
          <p:cNvSpPr/>
          <p:nvPr/>
        </p:nvSpPr>
        <p:spPr>
          <a:xfrm>
            <a:off x="3381451"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116</a:t>
            </a:r>
            <a:endParaRPr lang="en-US" sz="2800" dirty="0"/>
          </a:p>
        </p:txBody>
      </p:sp>
      <p:sp>
        <p:nvSpPr>
          <p:cNvPr id="22" name="Text 20"/>
          <p:cNvSpPr/>
          <p:nvPr/>
        </p:nvSpPr>
        <p:spPr>
          <a:xfrm>
            <a:off x="3381451"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DISEASE STRINGS</a:t>
            </a:r>
            <a:endParaRPr lang="en-US" sz="650" dirty="0"/>
          </a:p>
        </p:txBody>
      </p:sp>
      <p:sp>
        <p:nvSpPr>
          <p:cNvPr id="23" name="Shape 21"/>
          <p:cNvSpPr/>
          <p:nvPr/>
        </p:nvSpPr>
        <p:spPr>
          <a:xfrm>
            <a:off x="3445459" y="2157984"/>
            <a:ext cx="950976" cy="0"/>
          </a:xfrm>
          <a:prstGeom prst="line">
            <a:avLst/>
          </a:prstGeom>
          <a:noFill/>
          <a:ln w="6350">
            <a:solidFill>
              <a:srgbClr val="1E2D4A"/>
            </a:solidFill>
            <a:prstDash val="solid"/>
          </a:ln>
        </p:spPr>
      </p:sp>
      <p:sp>
        <p:nvSpPr>
          <p:cNvPr id="24" name="Text 22"/>
          <p:cNvSpPr/>
          <p:nvPr/>
        </p:nvSpPr>
        <p:spPr>
          <a:xfrm>
            <a:off x="3390595"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Spelling &amp; formatting variants</a:t>
            </a:r>
            <a:endParaRPr lang="en-US" sz="750" dirty="0"/>
          </a:p>
        </p:txBody>
      </p:sp>
      <p:sp>
        <p:nvSpPr>
          <p:cNvPr id="25" name="Text 23"/>
          <p:cNvSpPr/>
          <p:nvPr/>
        </p:nvSpPr>
        <p:spPr>
          <a:xfrm>
            <a:off x="4506163"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4637837" y="1207008"/>
            <a:ext cx="1170432" cy="1664208"/>
          </a:xfrm>
          <a:prstGeom prst="rect">
            <a:avLst/>
          </a:prstGeom>
          <a:solidFill>
            <a:srgbClr val="101C38"/>
          </a:solidFill>
          <a:ln w="9525">
            <a:solidFill>
              <a:srgbClr val="1E335E"/>
            </a:solidFill>
            <a:prstDash val="solid"/>
          </a:ln>
        </p:spPr>
      </p:sp>
      <p:sp>
        <p:nvSpPr>
          <p:cNvPr id="27" name="Shape 25"/>
          <p:cNvSpPr/>
          <p:nvPr/>
        </p:nvSpPr>
        <p:spPr>
          <a:xfrm>
            <a:off x="4637837" y="1207008"/>
            <a:ext cx="1170432" cy="0"/>
          </a:xfrm>
          <a:prstGeom prst="line">
            <a:avLst/>
          </a:prstGeom>
          <a:noFill/>
          <a:ln w="12700">
            <a:solidFill>
              <a:srgbClr val="38BDF8"/>
            </a:solidFill>
            <a:prstDash val="solid"/>
          </a:ln>
        </p:spPr>
      </p:sp>
      <p:sp>
        <p:nvSpPr>
          <p:cNvPr id="28" name="Text 26"/>
          <p:cNvSpPr/>
          <p:nvPr/>
        </p:nvSpPr>
        <p:spPr>
          <a:xfrm>
            <a:off x="4683557"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56</a:t>
            </a:r>
            <a:endParaRPr lang="en-US" sz="2800" dirty="0"/>
          </a:p>
        </p:txBody>
      </p:sp>
      <p:sp>
        <p:nvSpPr>
          <p:cNvPr id="29" name="Text 27"/>
          <p:cNvSpPr/>
          <p:nvPr/>
        </p:nvSpPr>
        <p:spPr>
          <a:xfrm>
            <a:off x="4683557"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CLEAN LABELS</a:t>
            </a:r>
            <a:endParaRPr lang="en-US" sz="650" dirty="0"/>
          </a:p>
        </p:txBody>
      </p:sp>
      <p:sp>
        <p:nvSpPr>
          <p:cNvPr id="30" name="Shape 28"/>
          <p:cNvSpPr/>
          <p:nvPr/>
        </p:nvSpPr>
        <p:spPr>
          <a:xfrm>
            <a:off x="4747565" y="2157984"/>
            <a:ext cx="950976" cy="0"/>
          </a:xfrm>
          <a:prstGeom prst="line">
            <a:avLst/>
          </a:prstGeom>
          <a:noFill/>
          <a:ln w="6350">
            <a:solidFill>
              <a:srgbClr val="1E2D4A"/>
            </a:solidFill>
            <a:prstDash val="solid"/>
          </a:ln>
        </p:spPr>
      </p:sp>
      <p:sp>
        <p:nvSpPr>
          <p:cNvPr id="31" name="Text 29"/>
          <p:cNvSpPr/>
          <p:nvPr/>
        </p:nvSpPr>
        <p:spPr>
          <a:xfrm>
            <a:off x="4692701"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Normalized nomenclature</a:t>
            </a:r>
            <a:endParaRPr lang="en-US" sz="750" dirty="0"/>
          </a:p>
        </p:txBody>
      </p:sp>
      <p:sp>
        <p:nvSpPr>
          <p:cNvPr id="32" name="Text 30"/>
          <p:cNvSpPr/>
          <p:nvPr/>
        </p:nvSpPr>
        <p:spPr>
          <a:xfrm>
            <a:off x="5808269"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5939942" y="1207008"/>
            <a:ext cx="1170432" cy="1664208"/>
          </a:xfrm>
          <a:prstGeom prst="rect">
            <a:avLst/>
          </a:prstGeom>
          <a:solidFill>
            <a:srgbClr val="101C38"/>
          </a:solidFill>
          <a:ln w="9525">
            <a:solidFill>
              <a:srgbClr val="1E335E"/>
            </a:solidFill>
            <a:prstDash val="solid"/>
          </a:ln>
        </p:spPr>
      </p:sp>
      <p:sp>
        <p:nvSpPr>
          <p:cNvPr id="34" name="Shape 32"/>
          <p:cNvSpPr/>
          <p:nvPr/>
        </p:nvSpPr>
        <p:spPr>
          <a:xfrm>
            <a:off x="5939942" y="1207008"/>
            <a:ext cx="1170432" cy="0"/>
          </a:xfrm>
          <a:prstGeom prst="line">
            <a:avLst/>
          </a:prstGeom>
          <a:noFill/>
          <a:ln w="12700">
            <a:solidFill>
              <a:srgbClr val="38BDF8"/>
            </a:solidFill>
            <a:prstDash val="solid"/>
          </a:ln>
        </p:spPr>
      </p:sp>
      <p:sp>
        <p:nvSpPr>
          <p:cNvPr id="35" name="Text 33"/>
          <p:cNvSpPr/>
          <p:nvPr/>
        </p:nvSpPr>
        <p:spPr>
          <a:xfrm>
            <a:off x="5985662"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30</a:t>
            </a:r>
            <a:endParaRPr lang="en-US" sz="2800" dirty="0"/>
          </a:p>
        </p:txBody>
      </p:sp>
      <p:sp>
        <p:nvSpPr>
          <p:cNvPr id="36" name="Text 34"/>
          <p:cNvSpPr/>
          <p:nvPr/>
        </p:nvSpPr>
        <p:spPr>
          <a:xfrm>
            <a:off x="5985662"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SYNDROMIC FAMILIES</a:t>
            </a:r>
            <a:endParaRPr lang="en-US" sz="650" dirty="0"/>
          </a:p>
        </p:txBody>
      </p:sp>
      <p:sp>
        <p:nvSpPr>
          <p:cNvPr id="37" name="Shape 35"/>
          <p:cNvSpPr/>
          <p:nvPr/>
        </p:nvSpPr>
        <p:spPr>
          <a:xfrm>
            <a:off x="6049670" y="2157984"/>
            <a:ext cx="950976" cy="0"/>
          </a:xfrm>
          <a:prstGeom prst="line">
            <a:avLst/>
          </a:prstGeom>
          <a:noFill/>
          <a:ln w="6350">
            <a:solidFill>
              <a:srgbClr val="1E2D4A"/>
            </a:solidFill>
            <a:prstDash val="solid"/>
          </a:ln>
        </p:spPr>
      </p:sp>
      <p:sp>
        <p:nvSpPr>
          <p:cNvPr id="38" name="Text 36"/>
          <p:cNvSpPr/>
          <p:nvPr/>
        </p:nvSpPr>
        <p:spPr>
          <a:xfrm>
            <a:off x="5994806"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Consolidated disease groups</a:t>
            </a:r>
            <a:endParaRPr lang="en-US" sz="750" dirty="0"/>
          </a:p>
        </p:txBody>
      </p:sp>
      <p:sp>
        <p:nvSpPr>
          <p:cNvPr id="39" name="Text 37"/>
          <p:cNvSpPr/>
          <p:nvPr/>
        </p:nvSpPr>
        <p:spPr>
          <a:xfrm>
            <a:off x="7110374"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7242048" y="1207008"/>
            <a:ext cx="1170432" cy="1664208"/>
          </a:xfrm>
          <a:prstGeom prst="rect">
            <a:avLst/>
          </a:prstGeom>
          <a:solidFill>
            <a:srgbClr val="16274D"/>
          </a:solidFill>
          <a:ln w="15875">
            <a:solidFill>
              <a:srgbClr val="D4AF37"/>
            </a:solidFill>
            <a:prstDash val="solid"/>
          </a:ln>
        </p:spPr>
      </p:sp>
      <p:sp>
        <p:nvSpPr>
          <p:cNvPr id="41" name="Shape 39"/>
          <p:cNvSpPr/>
          <p:nvPr/>
        </p:nvSpPr>
        <p:spPr>
          <a:xfrm>
            <a:off x="7242048" y="1207008"/>
            <a:ext cx="1170432" cy="0"/>
          </a:xfrm>
          <a:prstGeom prst="line">
            <a:avLst/>
          </a:prstGeom>
          <a:noFill/>
          <a:ln w="25400">
            <a:solidFill>
              <a:srgbClr val="D4AF37"/>
            </a:solidFill>
            <a:prstDash val="solid"/>
          </a:ln>
        </p:spPr>
      </p:sp>
      <p:sp>
        <p:nvSpPr>
          <p:cNvPr id="42" name="Text 40"/>
          <p:cNvSpPr/>
          <p:nvPr/>
        </p:nvSpPr>
        <p:spPr>
          <a:xfrm>
            <a:off x="7287768" y="1316736"/>
            <a:ext cx="1078992" cy="566928"/>
          </a:xfrm>
          <a:prstGeom prst="rect">
            <a:avLst/>
          </a:prstGeom>
          <a:noFill/>
          <a:ln/>
        </p:spPr>
        <p:txBody>
          <a:bodyPr wrap="square" rtlCol="0" anchor="ctr"/>
          <a:lstStyle/>
          <a:p>
            <a:pPr algn="ctr" indent="0" marL="0">
              <a:buNone/>
            </a:pPr>
            <a:r>
              <a:rPr lang="en-US" sz="2800" b="1" dirty="0">
                <a:solidFill>
                  <a:srgbClr val="D4AF37"/>
                </a:solidFill>
                <a:latin typeface="Georgia" pitchFamily="34" charset="0"/>
                <a:ea typeface="Georgia" pitchFamily="34" charset="-122"/>
                <a:cs typeface="Georgia" pitchFamily="34" charset="-120"/>
              </a:rPr>
              <a:t>5</a:t>
            </a:r>
            <a:endParaRPr lang="en-US" sz="2800" dirty="0"/>
          </a:p>
        </p:txBody>
      </p:sp>
      <p:sp>
        <p:nvSpPr>
          <p:cNvPr id="43" name="Text 41"/>
          <p:cNvSpPr/>
          <p:nvPr/>
        </p:nvSpPr>
        <p:spPr>
          <a:xfrm>
            <a:off x="7287768" y="1883664"/>
            <a:ext cx="1078992" cy="256032"/>
          </a:xfrm>
          <a:prstGeom prst="rect">
            <a:avLst/>
          </a:prstGeom>
          <a:noFill/>
          <a:ln/>
        </p:spPr>
        <p:txBody>
          <a:bodyPr wrap="square" rtlCol="0" anchor="ctr"/>
          <a:lstStyle/>
          <a:p>
            <a:pPr algn="ctr" indent="0" marL="0">
              <a:buNone/>
            </a:pPr>
            <a:r>
              <a:rPr lang="en-US" sz="650" b="1" spc="50" kern="0" dirty="0">
                <a:solidFill>
                  <a:srgbClr val="F3E5AB"/>
                </a:solidFill>
                <a:latin typeface="Consolas" pitchFamily="34" charset="0"/>
                <a:ea typeface="Consolas" pitchFamily="34" charset="-122"/>
                <a:cs typeface="Consolas" pitchFamily="34" charset="-120"/>
              </a:rPr>
              <a:t>PRIMARY COHORT</a:t>
            </a:r>
            <a:endParaRPr lang="en-US" sz="650" dirty="0"/>
          </a:p>
        </p:txBody>
      </p:sp>
      <p:sp>
        <p:nvSpPr>
          <p:cNvPr id="44" name="Shape 42"/>
          <p:cNvSpPr/>
          <p:nvPr/>
        </p:nvSpPr>
        <p:spPr>
          <a:xfrm>
            <a:off x="7351776" y="2157984"/>
            <a:ext cx="950976" cy="0"/>
          </a:xfrm>
          <a:prstGeom prst="line">
            <a:avLst/>
          </a:prstGeom>
          <a:noFill/>
          <a:ln w="6350">
            <a:solidFill>
              <a:srgbClr val="1E2D4A"/>
            </a:solidFill>
            <a:prstDash val="solid"/>
          </a:ln>
        </p:spPr>
      </p:sp>
      <p:sp>
        <p:nvSpPr>
          <p:cNvPr id="45" name="Text 43"/>
          <p:cNvSpPr/>
          <p:nvPr/>
        </p:nvSpPr>
        <p:spPr>
          <a:xfrm>
            <a:off x="7296912"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93.9% of all baseline records</a:t>
            </a:r>
            <a:endParaRPr lang="en-US" sz="750" dirty="0"/>
          </a:p>
        </p:txBody>
      </p:sp>
      <p:sp>
        <p:nvSpPr>
          <p:cNvPr id="46" name="Shape 44"/>
          <p:cNvSpPr/>
          <p:nvPr/>
        </p:nvSpPr>
        <p:spPr>
          <a:xfrm>
            <a:off x="731520" y="3090672"/>
            <a:ext cx="3730752" cy="1481328"/>
          </a:xfrm>
          <a:prstGeom prst="rect">
            <a:avLst/>
          </a:prstGeom>
          <a:solidFill>
            <a:srgbClr val="101C38"/>
          </a:solidFill>
          <a:ln w="9525">
            <a:solidFill>
              <a:srgbClr val="1E335E"/>
            </a:solidFill>
            <a:prstDash val="solid"/>
          </a:ln>
        </p:spPr>
      </p:sp>
      <p:sp>
        <p:nvSpPr>
          <p:cNvPr id="47" name="Shape 45"/>
          <p:cNvSpPr/>
          <p:nvPr/>
        </p:nvSpPr>
        <p:spPr>
          <a:xfrm>
            <a:off x="731520" y="3090672"/>
            <a:ext cx="3730752" cy="0"/>
          </a:xfrm>
          <a:prstGeom prst="line">
            <a:avLst/>
          </a:prstGeom>
          <a:noFill/>
          <a:ln w="19050">
            <a:solidFill>
              <a:srgbClr val="D4AF37"/>
            </a:solidFill>
            <a:prstDash val="solid"/>
          </a:ln>
        </p:spPr>
      </p:sp>
      <p:sp>
        <p:nvSpPr>
          <p:cNvPr id="48" name="Text 46"/>
          <p:cNvSpPr/>
          <p:nvPr/>
        </p:nvSpPr>
        <p:spPr>
          <a:xfrm>
            <a:off x="896112"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ADDITIVE NORMALIZATION // RAW STRINGS PRESERVED</a:t>
            </a:r>
            <a:endParaRPr lang="en-US" sz="700" dirty="0"/>
          </a:p>
        </p:txBody>
      </p:sp>
      <p:sp>
        <p:nvSpPr>
          <p:cNvPr id="49" name="Text 47"/>
          <p:cNvSpPr/>
          <p:nvPr/>
        </p:nvSpPr>
        <p:spPr>
          <a:xfrm>
            <a:off x="896112"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Source Disease Nomenclature Never Overwritten</a:t>
            </a:r>
            <a:endParaRPr lang="en-US" sz="850" dirty="0"/>
          </a:p>
        </p:txBody>
      </p:sp>
      <p:sp>
        <p:nvSpPr>
          <p:cNvPr id="50" name="Shape 48"/>
          <p:cNvSpPr/>
          <p:nvPr/>
        </p:nvSpPr>
        <p:spPr>
          <a:xfrm>
            <a:off x="896112" y="3602736"/>
            <a:ext cx="3401568" cy="0"/>
          </a:xfrm>
          <a:prstGeom prst="line">
            <a:avLst/>
          </a:prstGeom>
          <a:noFill/>
          <a:ln w="6350">
            <a:solidFill>
              <a:srgbClr val="1E2D4A"/>
            </a:solidFill>
            <a:prstDash val="solid"/>
          </a:ln>
        </p:spPr>
      </p:sp>
      <p:sp>
        <p:nvSpPr>
          <p:cNvPr id="51" name="Text 49"/>
          <p:cNvSpPr/>
          <p:nvPr/>
        </p:nvSpPr>
        <p:spPr>
          <a:xfrm>
            <a:off x="896112"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116 unique raw strings (e.g. 'Dengue?', 'Dengue fever', 'Dengue Shock') mapped to canonical labels.</a:t>
            </a:r>
            <a:endParaRPr lang="en-US" sz="800" dirty="0"/>
          </a:p>
        </p:txBody>
      </p:sp>
      <p:sp>
        <p:nvSpPr>
          <p:cNvPr id="52" name="Text 50"/>
          <p:cNvSpPr/>
          <p:nvPr/>
        </p:nvSpPr>
        <p:spPr>
          <a:xfrm>
            <a:off x="896112"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Original source string preserved in every record under 'disease_raw' for total reproducibility.</a:t>
            </a:r>
            <a:endParaRPr lang="en-US" sz="800" dirty="0"/>
          </a:p>
        </p:txBody>
      </p:sp>
      <p:sp>
        <p:nvSpPr>
          <p:cNvPr id="53" name="Text 51"/>
          <p:cNvSpPr/>
          <p:nvPr/>
        </p:nvSpPr>
        <p:spPr>
          <a:xfrm>
            <a:off x="896112"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Zero arbitrary alterations: ambiguous labels retained with full transformation audit rules.</a:t>
            </a:r>
            <a:endParaRPr lang="en-US" sz="800" dirty="0"/>
          </a:p>
        </p:txBody>
      </p:sp>
      <p:sp>
        <p:nvSpPr>
          <p:cNvPr id="54" name="Shape 52"/>
          <p:cNvSpPr/>
          <p:nvPr/>
        </p:nvSpPr>
        <p:spPr>
          <a:xfrm>
            <a:off x="4681728" y="3090672"/>
            <a:ext cx="3730752" cy="1481328"/>
          </a:xfrm>
          <a:prstGeom prst="rect">
            <a:avLst/>
          </a:prstGeom>
          <a:solidFill>
            <a:srgbClr val="101C38"/>
          </a:solidFill>
          <a:ln w="9525">
            <a:solidFill>
              <a:srgbClr val="1E335E"/>
            </a:solidFill>
            <a:prstDash val="solid"/>
          </a:ln>
        </p:spPr>
      </p:sp>
      <p:sp>
        <p:nvSpPr>
          <p:cNvPr id="55" name="Shape 53"/>
          <p:cNvSpPr/>
          <p:nvPr/>
        </p:nvSpPr>
        <p:spPr>
          <a:xfrm>
            <a:off x="4681728" y="3090672"/>
            <a:ext cx="3730752" cy="0"/>
          </a:xfrm>
          <a:prstGeom prst="line">
            <a:avLst/>
          </a:prstGeom>
          <a:noFill/>
          <a:ln w="19050">
            <a:solidFill>
              <a:srgbClr val="D4AF37"/>
            </a:solidFill>
            <a:prstDash val="solid"/>
          </a:ln>
        </p:spPr>
      </p:sp>
      <p:sp>
        <p:nvSpPr>
          <p:cNvPr id="56" name="Text 54"/>
          <p:cNvSpPr/>
          <p:nvPr/>
        </p:nvSpPr>
        <p:spPr>
          <a:xfrm>
            <a:off x="4846320"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FORENSIC AUDITABILITY // PDF PROVENANCE RETAINED</a:t>
            </a:r>
            <a:endParaRPr lang="en-US" sz="700" dirty="0"/>
          </a:p>
        </p:txBody>
      </p:sp>
      <p:sp>
        <p:nvSpPr>
          <p:cNvPr id="57" name="Text 55"/>
          <p:cNvSpPr/>
          <p:nvPr/>
        </p:nvSpPr>
        <p:spPr>
          <a:xfrm>
            <a:off x="4846320"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Every Tabular Record Linked to Source Bulletin</a:t>
            </a:r>
            <a:endParaRPr lang="en-US" sz="850" dirty="0"/>
          </a:p>
        </p:txBody>
      </p:sp>
      <p:sp>
        <p:nvSpPr>
          <p:cNvPr id="58" name="Shape 56"/>
          <p:cNvSpPr/>
          <p:nvPr/>
        </p:nvSpPr>
        <p:spPr>
          <a:xfrm>
            <a:off x="4846320" y="3602736"/>
            <a:ext cx="3401568" cy="0"/>
          </a:xfrm>
          <a:prstGeom prst="line">
            <a:avLst/>
          </a:prstGeom>
          <a:noFill/>
          <a:ln w="6350">
            <a:solidFill>
              <a:srgbClr val="1E2D4A"/>
            </a:solidFill>
            <a:prstDash val="solid"/>
          </a:ln>
        </p:spPr>
      </p:sp>
      <p:sp>
        <p:nvSpPr>
          <p:cNvPr id="59" name="Text 57"/>
          <p:cNvSpPr/>
          <p:nvPr/>
        </p:nvSpPr>
        <p:spPr>
          <a:xfrm>
            <a:off x="4846320"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Direct hyperlinkage to specific NCDC PDF filename and publication week number.</a:t>
            </a:r>
            <a:endParaRPr lang="en-US" sz="800" dirty="0"/>
          </a:p>
        </p:txBody>
      </p:sp>
      <p:sp>
        <p:nvSpPr>
          <p:cNvPr id="60" name="Text 58"/>
          <p:cNvSpPr/>
          <p:nvPr/>
        </p:nvSpPr>
        <p:spPr>
          <a:xfrm>
            <a:off x="4846320"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Table page number and reporting district cross-verified against official archives.</a:t>
            </a:r>
            <a:endParaRPr lang="en-US" sz="800" dirty="0"/>
          </a:p>
        </p:txBody>
      </p:sp>
      <p:sp>
        <p:nvSpPr>
          <p:cNvPr id="61" name="Text 59"/>
          <p:cNvSpPr/>
          <p:nvPr/>
        </p:nvSpPr>
        <p:spPr>
          <a:xfrm>
            <a:off x="4846320"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Automated integrity checks flag missing weeks, non-standard tables, and reporting anomalies.</a:t>
            </a:r>
            <a:endParaRPr lang="en-US" sz="800" dirty="0"/>
          </a:p>
        </p:txBody>
      </p:sp>
      <p:sp>
        <p:nvSpPr>
          <p:cNvPr id="62" name="Shape 60"/>
          <p:cNvSpPr/>
          <p:nvPr/>
        </p:nvSpPr>
        <p:spPr>
          <a:xfrm>
            <a:off x="731520" y="4773168"/>
            <a:ext cx="7680960" cy="0"/>
          </a:xfrm>
          <a:prstGeom prst="line">
            <a:avLst/>
          </a:prstGeom>
          <a:noFill/>
          <a:ln w="9525">
            <a:solidFill>
              <a:srgbClr val="1E2D4A"/>
            </a:solidFill>
            <a:prstDash val="solid"/>
          </a:ln>
        </p:spPr>
      </p:sp>
      <p:sp>
        <p:nvSpPr>
          <p:cNvPr id="63" name="Text 61"/>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DATA PIPELINE PROVENANCE // PHASE 5A DISEASE AUDIT &amp; HARMONIZATION</a:t>
            </a:r>
            <a:endParaRPr lang="en-US" sz="650" dirty="0"/>
          </a:p>
        </p:txBody>
      </p:sp>
      <p:sp>
        <p:nvSpPr>
          <p:cNvPr id="64" name="Text 62"/>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03 / 10</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EMPIRICAL BASELINE  //  2022–2025 COMPLETED YEARS</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Four-Year Outbreak Surveillance Baseline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2450592" cy="1572768"/>
          </a:xfrm>
          <a:prstGeom prst="rect">
            <a:avLst/>
          </a:prstGeom>
          <a:solidFill>
            <a:srgbClr val="101C38"/>
          </a:solidFill>
          <a:ln w="9525">
            <a:solidFill>
              <a:srgbClr val="1E335E"/>
            </a:solidFill>
            <a:prstDash val="solid"/>
          </a:ln>
        </p:spPr>
      </p:sp>
      <p:sp>
        <p:nvSpPr>
          <p:cNvPr id="6" name="Shape 4"/>
          <p:cNvSpPr/>
          <p:nvPr/>
        </p:nvSpPr>
        <p:spPr>
          <a:xfrm>
            <a:off x="731520" y="1207008"/>
            <a:ext cx="2450592" cy="0"/>
          </a:xfrm>
          <a:prstGeom prst="line">
            <a:avLst/>
          </a:prstGeom>
          <a:noFill/>
          <a:ln w="12700">
            <a:solidFill>
              <a:srgbClr val="38BDF8"/>
            </a:solidFill>
            <a:prstDash val="solid"/>
          </a:ln>
        </p:spPr>
      </p:sp>
      <p:sp>
        <p:nvSpPr>
          <p:cNvPr id="7" name="Text 5"/>
          <p:cNvSpPr/>
          <p:nvPr/>
        </p:nvSpPr>
        <p:spPr>
          <a:xfrm>
            <a:off x="868680" y="1298448"/>
            <a:ext cx="2176272" cy="640080"/>
          </a:xfrm>
          <a:prstGeom prst="rect">
            <a:avLst/>
          </a:prstGeom>
          <a:noFill/>
          <a:ln/>
        </p:spPr>
        <p:txBody>
          <a:bodyPr wrap="square" rtlCol="0" anchor="ctr"/>
          <a:lstStyle/>
          <a:p>
            <a:pPr indent="0" marL="0">
              <a:buNone/>
            </a:pPr>
            <a:r>
              <a:rPr lang="en-US" sz="3200" b="1" dirty="0">
                <a:solidFill>
                  <a:srgbClr val="38BDF8"/>
                </a:solidFill>
                <a:latin typeface="Georgia" pitchFamily="34" charset="0"/>
                <a:ea typeface="Georgia" pitchFamily="34" charset="-122"/>
                <a:cs typeface="Georgia" pitchFamily="34" charset="-120"/>
              </a:rPr>
              <a:t>539</a:t>
            </a:r>
            <a:endParaRPr lang="en-US" sz="3200" dirty="0"/>
          </a:p>
        </p:txBody>
      </p:sp>
      <p:sp>
        <p:nvSpPr>
          <p:cNvPr id="8" name="Text 6"/>
          <p:cNvSpPr/>
          <p:nvPr/>
        </p:nvSpPr>
        <p:spPr>
          <a:xfrm>
            <a:off x="868680"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OUTBREAK RECORDS</a:t>
            </a:r>
            <a:endParaRPr lang="en-US" sz="750" dirty="0"/>
          </a:p>
        </p:txBody>
      </p:sp>
      <p:sp>
        <p:nvSpPr>
          <p:cNvPr id="9" name="Text 7"/>
          <p:cNvSpPr/>
          <p:nvPr/>
        </p:nvSpPr>
        <p:spPr>
          <a:xfrm>
            <a:off x="868680"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Investigated Clusters (2022–2025)</a:t>
            </a:r>
            <a:endParaRPr lang="en-US" sz="900" dirty="0"/>
          </a:p>
        </p:txBody>
      </p:sp>
      <p:sp>
        <p:nvSpPr>
          <p:cNvPr id="10" name="Text 8"/>
          <p:cNvSpPr/>
          <p:nvPr/>
        </p:nvSpPr>
        <p:spPr>
          <a:xfrm>
            <a:off x="868680"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District surveillance investigations across Maharashtra</a:t>
            </a:r>
            <a:endParaRPr lang="en-US" sz="800" dirty="0"/>
          </a:p>
        </p:txBody>
      </p:sp>
      <p:sp>
        <p:nvSpPr>
          <p:cNvPr id="11" name="Shape 9"/>
          <p:cNvSpPr/>
          <p:nvPr/>
        </p:nvSpPr>
        <p:spPr>
          <a:xfrm>
            <a:off x="3346704" y="1207008"/>
            <a:ext cx="2450592" cy="1572768"/>
          </a:xfrm>
          <a:prstGeom prst="rect">
            <a:avLst/>
          </a:prstGeom>
          <a:solidFill>
            <a:srgbClr val="16274D"/>
          </a:solidFill>
          <a:ln w="15875">
            <a:solidFill>
              <a:srgbClr val="D4AF37"/>
            </a:solidFill>
            <a:prstDash val="solid"/>
          </a:ln>
        </p:spPr>
      </p:sp>
      <p:sp>
        <p:nvSpPr>
          <p:cNvPr id="12" name="Shape 10"/>
          <p:cNvSpPr/>
          <p:nvPr/>
        </p:nvSpPr>
        <p:spPr>
          <a:xfrm>
            <a:off x="3346704" y="1207008"/>
            <a:ext cx="2450592" cy="0"/>
          </a:xfrm>
          <a:prstGeom prst="line">
            <a:avLst/>
          </a:prstGeom>
          <a:noFill/>
          <a:ln w="25400">
            <a:solidFill>
              <a:srgbClr val="D4AF37"/>
            </a:solidFill>
            <a:prstDash val="solid"/>
          </a:ln>
        </p:spPr>
      </p:sp>
      <p:sp>
        <p:nvSpPr>
          <p:cNvPr id="13" name="Text 11"/>
          <p:cNvSpPr/>
          <p:nvPr/>
        </p:nvSpPr>
        <p:spPr>
          <a:xfrm>
            <a:off x="3483864" y="1298448"/>
            <a:ext cx="2176272" cy="640080"/>
          </a:xfrm>
          <a:prstGeom prst="rect">
            <a:avLst/>
          </a:prstGeom>
          <a:noFill/>
          <a:ln/>
        </p:spPr>
        <p:txBody>
          <a:bodyPr wrap="square" rtlCol="0" anchor="ctr"/>
          <a:lstStyle/>
          <a:p>
            <a:pPr indent="0" marL="0">
              <a:buNone/>
            </a:pPr>
            <a:r>
              <a:rPr lang="en-US" sz="3600" b="1" dirty="0">
                <a:solidFill>
                  <a:srgbClr val="D4AF37"/>
                </a:solidFill>
                <a:latin typeface="Georgia" pitchFamily="34" charset="0"/>
                <a:ea typeface="Georgia" pitchFamily="34" charset="-122"/>
                <a:cs typeface="Georgia" pitchFamily="34" charset="-120"/>
              </a:rPr>
              <a:t>21,955</a:t>
            </a:r>
            <a:endParaRPr lang="en-US" sz="3600" dirty="0"/>
          </a:p>
        </p:txBody>
      </p:sp>
      <p:sp>
        <p:nvSpPr>
          <p:cNvPr id="14" name="Text 12"/>
          <p:cNvSpPr/>
          <p:nvPr/>
        </p:nvSpPr>
        <p:spPr>
          <a:xfrm>
            <a:off x="3483864" y="1938528"/>
            <a:ext cx="2176272" cy="201168"/>
          </a:xfrm>
          <a:prstGeom prst="rect">
            <a:avLst/>
          </a:prstGeom>
          <a:noFill/>
          <a:ln/>
        </p:spPr>
        <p:txBody>
          <a:bodyPr wrap="square" rtlCol="0" anchor="ctr"/>
          <a:lstStyle/>
          <a:p>
            <a:pPr indent="0" marL="0">
              <a:buNone/>
            </a:pPr>
            <a:r>
              <a:rPr lang="en-US" sz="750" b="1" spc="100" kern="0" dirty="0">
                <a:solidFill>
                  <a:srgbClr val="F3E5AB"/>
                </a:solidFill>
                <a:latin typeface="Consolas" pitchFamily="34" charset="0"/>
                <a:ea typeface="Consolas" pitchFamily="34" charset="-122"/>
                <a:cs typeface="Consolas" pitchFamily="34" charset="-120"/>
              </a:rPr>
              <a:t>REPORTED CASES</a:t>
            </a:r>
            <a:endParaRPr lang="en-US" sz="750" dirty="0"/>
          </a:p>
        </p:txBody>
      </p:sp>
      <p:sp>
        <p:nvSpPr>
          <p:cNvPr id="15" name="Text 13"/>
          <p:cNvSpPr/>
          <p:nvPr/>
        </p:nvSpPr>
        <p:spPr>
          <a:xfrm>
            <a:off x="3483864"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Enumerated Outbreak Patients</a:t>
            </a:r>
            <a:endParaRPr lang="en-US" sz="900" dirty="0"/>
          </a:p>
        </p:txBody>
      </p:sp>
      <p:sp>
        <p:nvSpPr>
          <p:cNvPr id="16" name="Text 14"/>
          <p:cNvSpPr/>
          <p:nvPr/>
        </p:nvSpPr>
        <p:spPr>
          <a:xfrm>
            <a:off x="3483864"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Aggregated across official cluster reports (5 primary families)</a:t>
            </a:r>
            <a:endParaRPr lang="en-US" sz="800" dirty="0"/>
          </a:p>
        </p:txBody>
      </p:sp>
      <p:sp>
        <p:nvSpPr>
          <p:cNvPr id="17" name="Shape 15"/>
          <p:cNvSpPr/>
          <p:nvPr/>
        </p:nvSpPr>
        <p:spPr>
          <a:xfrm>
            <a:off x="5961888" y="1207008"/>
            <a:ext cx="2450592" cy="1572768"/>
          </a:xfrm>
          <a:prstGeom prst="rect">
            <a:avLst/>
          </a:prstGeom>
          <a:solidFill>
            <a:srgbClr val="101C38"/>
          </a:solidFill>
          <a:ln w="9525">
            <a:solidFill>
              <a:srgbClr val="1E335E"/>
            </a:solidFill>
            <a:prstDash val="solid"/>
          </a:ln>
        </p:spPr>
      </p:sp>
      <p:sp>
        <p:nvSpPr>
          <p:cNvPr id="18" name="Shape 16"/>
          <p:cNvSpPr/>
          <p:nvPr/>
        </p:nvSpPr>
        <p:spPr>
          <a:xfrm>
            <a:off x="5961888" y="1207008"/>
            <a:ext cx="2450592" cy="0"/>
          </a:xfrm>
          <a:prstGeom prst="line">
            <a:avLst/>
          </a:prstGeom>
          <a:noFill/>
          <a:ln w="12700">
            <a:solidFill>
              <a:srgbClr val="F87171"/>
            </a:solidFill>
            <a:prstDash val="solid"/>
          </a:ln>
        </p:spPr>
      </p:sp>
      <p:sp>
        <p:nvSpPr>
          <p:cNvPr id="19" name="Text 17"/>
          <p:cNvSpPr/>
          <p:nvPr/>
        </p:nvSpPr>
        <p:spPr>
          <a:xfrm>
            <a:off x="6099048" y="1298448"/>
            <a:ext cx="2176272" cy="640080"/>
          </a:xfrm>
          <a:prstGeom prst="rect">
            <a:avLst/>
          </a:prstGeom>
          <a:noFill/>
          <a:ln/>
        </p:spPr>
        <p:txBody>
          <a:bodyPr wrap="square" rtlCol="0" anchor="ctr"/>
          <a:lstStyle/>
          <a:p>
            <a:pPr indent="0" marL="0">
              <a:buNone/>
            </a:pPr>
            <a:r>
              <a:rPr lang="en-US" sz="3200" b="1" dirty="0">
                <a:solidFill>
                  <a:srgbClr val="F87171"/>
                </a:solidFill>
                <a:latin typeface="Georgia" pitchFamily="34" charset="0"/>
                <a:ea typeface="Georgia" pitchFamily="34" charset="-122"/>
                <a:cs typeface="Georgia" pitchFamily="34" charset="-120"/>
              </a:rPr>
              <a:t>266</a:t>
            </a:r>
            <a:endParaRPr lang="en-US" sz="3200" dirty="0"/>
          </a:p>
        </p:txBody>
      </p:sp>
      <p:sp>
        <p:nvSpPr>
          <p:cNvPr id="20" name="Text 18"/>
          <p:cNvSpPr/>
          <p:nvPr/>
        </p:nvSpPr>
        <p:spPr>
          <a:xfrm>
            <a:off x="6099048"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REPORTED FATALITIES</a:t>
            </a:r>
            <a:endParaRPr lang="en-US" sz="750" dirty="0"/>
          </a:p>
        </p:txBody>
      </p:sp>
      <p:sp>
        <p:nvSpPr>
          <p:cNvPr id="21" name="Text 19"/>
          <p:cNvSpPr/>
          <p:nvPr/>
        </p:nvSpPr>
        <p:spPr>
          <a:xfrm>
            <a:off x="6099048"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Surveillance Outbreak Deaths</a:t>
            </a:r>
            <a:endParaRPr lang="en-US" sz="900" dirty="0"/>
          </a:p>
        </p:txBody>
      </p:sp>
      <p:sp>
        <p:nvSpPr>
          <p:cNvPr id="22" name="Text 20"/>
          <p:cNvSpPr/>
          <p:nvPr/>
        </p:nvSpPr>
        <p:spPr>
          <a:xfrm>
            <a:off x="6099048"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Case fatality ratio: 1.21% across primary cohort</a:t>
            </a:r>
            <a:endParaRPr lang="en-US" sz="800" dirty="0"/>
          </a:p>
        </p:txBody>
      </p:sp>
      <p:sp>
        <p:nvSpPr>
          <p:cNvPr id="23" name="Shape 21"/>
          <p:cNvSpPr/>
          <p:nvPr/>
        </p:nvSpPr>
        <p:spPr>
          <a:xfrm>
            <a:off x="731520" y="2962656"/>
            <a:ext cx="1481328" cy="1353312"/>
          </a:xfrm>
          <a:prstGeom prst="rect">
            <a:avLst/>
          </a:prstGeom>
          <a:solidFill>
            <a:srgbClr val="101C38"/>
          </a:solidFill>
          <a:ln w="9525">
            <a:solidFill>
              <a:srgbClr val="1E335E"/>
            </a:solidFill>
            <a:prstDash val="solid"/>
          </a:ln>
        </p:spPr>
      </p:sp>
      <p:sp>
        <p:nvSpPr>
          <p:cNvPr id="24" name="Shape 22"/>
          <p:cNvSpPr/>
          <p:nvPr/>
        </p:nvSpPr>
        <p:spPr>
          <a:xfrm>
            <a:off x="731520" y="2962656"/>
            <a:ext cx="1481328" cy="0"/>
          </a:xfrm>
          <a:prstGeom prst="line">
            <a:avLst/>
          </a:prstGeom>
          <a:noFill/>
          <a:ln w="19050">
            <a:solidFill>
              <a:srgbClr val="38BDF8"/>
            </a:solidFill>
            <a:prstDash val="solid"/>
          </a:ln>
        </p:spPr>
      </p:sp>
      <p:sp>
        <p:nvSpPr>
          <p:cNvPr id="25" name="Text 23"/>
          <p:cNvSpPr/>
          <p:nvPr/>
        </p:nvSpPr>
        <p:spPr>
          <a:xfrm>
            <a:off x="804672"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DENGUE</a:t>
            </a:r>
            <a:endParaRPr lang="en-US" sz="650" dirty="0"/>
          </a:p>
        </p:txBody>
      </p:sp>
      <p:sp>
        <p:nvSpPr>
          <p:cNvPr id="26" name="Text 24"/>
          <p:cNvSpPr/>
          <p:nvPr/>
        </p:nvSpPr>
        <p:spPr>
          <a:xfrm>
            <a:off x="804672"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204 records</a:t>
            </a:r>
            <a:endParaRPr lang="en-US" sz="1200" dirty="0"/>
          </a:p>
        </p:txBody>
      </p:sp>
      <p:sp>
        <p:nvSpPr>
          <p:cNvPr id="27" name="Text 25"/>
          <p:cNvSpPr/>
          <p:nvPr/>
        </p:nvSpPr>
        <p:spPr>
          <a:xfrm>
            <a:off x="804672"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3,144 cases  ·  93 deaths</a:t>
            </a:r>
            <a:endParaRPr lang="en-US" sz="700" dirty="0"/>
          </a:p>
        </p:txBody>
      </p:sp>
      <p:sp>
        <p:nvSpPr>
          <p:cNvPr id="28" name="Shape 26"/>
          <p:cNvSpPr/>
          <p:nvPr/>
        </p:nvSpPr>
        <p:spPr>
          <a:xfrm>
            <a:off x="804672" y="3730752"/>
            <a:ext cx="1335024" cy="0"/>
          </a:xfrm>
          <a:prstGeom prst="line">
            <a:avLst/>
          </a:prstGeom>
          <a:noFill/>
          <a:ln w="6350">
            <a:solidFill>
              <a:srgbClr val="1E2D4A"/>
            </a:solidFill>
            <a:prstDash val="solid"/>
          </a:ln>
        </p:spPr>
      </p:sp>
      <p:sp>
        <p:nvSpPr>
          <p:cNvPr id="29" name="Text 27"/>
          <p:cNvSpPr/>
          <p:nvPr/>
        </p:nvSpPr>
        <p:spPr>
          <a:xfrm>
            <a:off x="804672"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Oct (Aug–Oct CR3 50.5%)</a:t>
            </a:r>
            <a:endParaRPr lang="en-US" sz="750" dirty="0"/>
          </a:p>
        </p:txBody>
      </p:sp>
      <p:sp>
        <p:nvSpPr>
          <p:cNvPr id="30" name="Shape 28"/>
          <p:cNvSpPr/>
          <p:nvPr/>
        </p:nvSpPr>
        <p:spPr>
          <a:xfrm>
            <a:off x="2281428" y="2962656"/>
            <a:ext cx="1481328" cy="1353312"/>
          </a:xfrm>
          <a:prstGeom prst="rect">
            <a:avLst/>
          </a:prstGeom>
          <a:solidFill>
            <a:srgbClr val="101C38"/>
          </a:solidFill>
          <a:ln w="9525">
            <a:solidFill>
              <a:srgbClr val="1E335E"/>
            </a:solidFill>
            <a:prstDash val="solid"/>
          </a:ln>
        </p:spPr>
      </p:sp>
      <p:sp>
        <p:nvSpPr>
          <p:cNvPr id="31" name="Shape 29"/>
          <p:cNvSpPr/>
          <p:nvPr/>
        </p:nvSpPr>
        <p:spPr>
          <a:xfrm>
            <a:off x="2281428" y="2962656"/>
            <a:ext cx="1481328" cy="0"/>
          </a:xfrm>
          <a:prstGeom prst="line">
            <a:avLst/>
          </a:prstGeom>
          <a:noFill/>
          <a:ln w="19050">
            <a:solidFill>
              <a:srgbClr val="10B981"/>
            </a:solidFill>
            <a:prstDash val="solid"/>
          </a:ln>
        </p:spPr>
      </p:sp>
      <p:sp>
        <p:nvSpPr>
          <p:cNvPr id="32" name="Text 30"/>
          <p:cNvSpPr/>
          <p:nvPr/>
        </p:nvSpPr>
        <p:spPr>
          <a:xfrm>
            <a:off x="2354580" y="3054096"/>
            <a:ext cx="1335024" cy="201168"/>
          </a:xfrm>
          <a:prstGeom prst="rect">
            <a:avLst/>
          </a:prstGeom>
          <a:noFill/>
          <a:ln/>
        </p:spPr>
        <p:txBody>
          <a:bodyPr wrap="square" rtlCol="0" anchor="ctr"/>
          <a:lstStyle/>
          <a:p>
            <a:pPr indent="0" marL="0">
              <a:buNone/>
            </a:pPr>
            <a:r>
              <a:rPr lang="en-US" sz="650" b="1" spc="50" kern="0" dirty="0">
                <a:solidFill>
                  <a:srgbClr val="10B981"/>
                </a:solidFill>
                <a:latin typeface="Consolas" pitchFamily="34" charset="0"/>
                <a:ea typeface="Consolas" pitchFamily="34" charset="-122"/>
                <a:cs typeface="Consolas" pitchFamily="34" charset="-120"/>
              </a:rPr>
              <a:t>ACUTE DIARRHEAL DISEASE</a:t>
            </a:r>
            <a:endParaRPr lang="en-US" sz="650" dirty="0"/>
          </a:p>
        </p:txBody>
      </p:sp>
      <p:sp>
        <p:nvSpPr>
          <p:cNvPr id="33" name="Text 31"/>
          <p:cNvSpPr/>
          <p:nvPr/>
        </p:nvSpPr>
        <p:spPr>
          <a:xfrm>
            <a:off x="2354580"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153 records</a:t>
            </a:r>
            <a:endParaRPr lang="en-US" sz="1200" dirty="0"/>
          </a:p>
        </p:txBody>
      </p:sp>
      <p:sp>
        <p:nvSpPr>
          <p:cNvPr id="34" name="Text 32"/>
          <p:cNvSpPr/>
          <p:nvPr/>
        </p:nvSpPr>
        <p:spPr>
          <a:xfrm>
            <a:off x="2354580"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9,050 cases  ·  93 deaths</a:t>
            </a:r>
            <a:endParaRPr lang="en-US" sz="700" dirty="0"/>
          </a:p>
        </p:txBody>
      </p:sp>
      <p:sp>
        <p:nvSpPr>
          <p:cNvPr id="35" name="Shape 33"/>
          <p:cNvSpPr/>
          <p:nvPr/>
        </p:nvSpPr>
        <p:spPr>
          <a:xfrm>
            <a:off x="2354580" y="3730752"/>
            <a:ext cx="1335024" cy="0"/>
          </a:xfrm>
          <a:prstGeom prst="line">
            <a:avLst/>
          </a:prstGeom>
          <a:noFill/>
          <a:ln w="6350">
            <a:solidFill>
              <a:srgbClr val="1E2D4A"/>
            </a:solidFill>
            <a:prstDash val="solid"/>
          </a:ln>
        </p:spPr>
      </p:sp>
      <p:sp>
        <p:nvSpPr>
          <p:cNvPr id="36" name="Text 34"/>
          <p:cNvSpPr/>
          <p:nvPr/>
        </p:nvSpPr>
        <p:spPr>
          <a:xfrm>
            <a:off x="2354580"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Jun–Aug (CR3 43.1%)</a:t>
            </a:r>
            <a:endParaRPr lang="en-US" sz="750" dirty="0"/>
          </a:p>
        </p:txBody>
      </p:sp>
      <p:sp>
        <p:nvSpPr>
          <p:cNvPr id="37" name="Shape 35"/>
          <p:cNvSpPr/>
          <p:nvPr/>
        </p:nvSpPr>
        <p:spPr>
          <a:xfrm>
            <a:off x="3831336" y="2962656"/>
            <a:ext cx="1481328" cy="1353312"/>
          </a:xfrm>
          <a:prstGeom prst="rect">
            <a:avLst/>
          </a:prstGeom>
          <a:solidFill>
            <a:srgbClr val="101C38"/>
          </a:solidFill>
          <a:ln w="9525">
            <a:solidFill>
              <a:srgbClr val="1E335E"/>
            </a:solidFill>
            <a:prstDash val="solid"/>
          </a:ln>
        </p:spPr>
      </p:sp>
      <p:sp>
        <p:nvSpPr>
          <p:cNvPr id="38" name="Shape 36"/>
          <p:cNvSpPr/>
          <p:nvPr/>
        </p:nvSpPr>
        <p:spPr>
          <a:xfrm>
            <a:off x="3831336" y="2962656"/>
            <a:ext cx="1481328" cy="0"/>
          </a:xfrm>
          <a:prstGeom prst="line">
            <a:avLst/>
          </a:prstGeom>
          <a:noFill/>
          <a:ln w="19050">
            <a:solidFill>
              <a:srgbClr val="38BDF8"/>
            </a:solidFill>
            <a:prstDash val="solid"/>
          </a:ln>
        </p:spPr>
      </p:sp>
      <p:sp>
        <p:nvSpPr>
          <p:cNvPr id="39" name="Text 37"/>
          <p:cNvSpPr/>
          <p:nvPr/>
        </p:nvSpPr>
        <p:spPr>
          <a:xfrm>
            <a:off x="3904488"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MALARIA</a:t>
            </a:r>
            <a:endParaRPr lang="en-US" sz="650" dirty="0"/>
          </a:p>
        </p:txBody>
      </p:sp>
      <p:sp>
        <p:nvSpPr>
          <p:cNvPr id="40" name="Text 38"/>
          <p:cNvSpPr/>
          <p:nvPr/>
        </p:nvSpPr>
        <p:spPr>
          <a:xfrm>
            <a:off x="3904488"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70 records</a:t>
            </a:r>
            <a:endParaRPr lang="en-US" sz="1200" dirty="0"/>
          </a:p>
        </p:txBody>
      </p:sp>
      <p:sp>
        <p:nvSpPr>
          <p:cNvPr id="41" name="Text 39"/>
          <p:cNvSpPr/>
          <p:nvPr/>
        </p:nvSpPr>
        <p:spPr>
          <a:xfrm>
            <a:off x="3904488"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2,133 cases  ·  51 deaths</a:t>
            </a:r>
            <a:endParaRPr lang="en-US" sz="700" dirty="0"/>
          </a:p>
        </p:txBody>
      </p:sp>
      <p:sp>
        <p:nvSpPr>
          <p:cNvPr id="42" name="Shape 40"/>
          <p:cNvSpPr/>
          <p:nvPr/>
        </p:nvSpPr>
        <p:spPr>
          <a:xfrm>
            <a:off x="3904488" y="3730752"/>
            <a:ext cx="1335024" cy="0"/>
          </a:xfrm>
          <a:prstGeom prst="line">
            <a:avLst/>
          </a:prstGeom>
          <a:noFill/>
          <a:ln w="6350">
            <a:solidFill>
              <a:srgbClr val="1E2D4A"/>
            </a:solidFill>
            <a:prstDash val="solid"/>
          </a:ln>
        </p:spPr>
      </p:sp>
      <p:sp>
        <p:nvSpPr>
          <p:cNvPr id="43" name="Text 41"/>
          <p:cNvSpPr/>
          <p:nvPr/>
        </p:nvSpPr>
        <p:spPr>
          <a:xfrm>
            <a:off x="3904488"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May–Jul (CR3 51.4%)</a:t>
            </a:r>
            <a:endParaRPr lang="en-US" sz="750" dirty="0"/>
          </a:p>
        </p:txBody>
      </p:sp>
      <p:sp>
        <p:nvSpPr>
          <p:cNvPr id="44" name="Shape 42"/>
          <p:cNvSpPr/>
          <p:nvPr/>
        </p:nvSpPr>
        <p:spPr>
          <a:xfrm>
            <a:off x="5381244" y="2962656"/>
            <a:ext cx="1481328" cy="1353312"/>
          </a:xfrm>
          <a:prstGeom prst="rect">
            <a:avLst/>
          </a:prstGeom>
          <a:solidFill>
            <a:srgbClr val="101C38"/>
          </a:solidFill>
          <a:ln w="9525">
            <a:solidFill>
              <a:srgbClr val="1E335E"/>
            </a:solidFill>
            <a:prstDash val="solid"/>
          </a:ln>
        </p:spPr>
      </p:sp>
      <p:sp>
        <p:nvSpPr>
          <p:cNvPr id="45" name="Shape 43"/>
          <p:cNvSpPr/>
          <p:nvPr/>
        </p:nvSpPr>
        <p:spPr>
          <a:xfrm>
            <a:off x="5381244" y="2962656"/>
            <a:ext cx="1481328" cy="0"/>
          </a:xfrm>
          <a:prstGeom prst="line">
            <a:avLst/>
          </a:prstGeom>
          <a:noFill/>
          <a:ln w="19050">
            <a:solidFill>
              <a:srgbClr val="D4AF37"/>
            </a:solidFill>
            <a:prstDash val="solid"/>
          </a:ln>
        </p:spPr>
      </p:sp>
      <p:sp>
        <p:nvSpPr>
          <p:cNvPr id="46" name="Text 44"/>
          <p:cNvSpPr/>
          <p:nvPr/>
        </p:nvSpPr>
        <p:spPr>
          <a:xfrm>
            <a:off x="5454396" y="3054096"/>
            <a:ext cx="1335024" cy="201168"/>
          </a:xfrm>
          <a:prstGeom prst="rect">
            <a:avLst/>
          </a:prstGeom>
          <a:noFill/>
          <a:ln/>
        </p:spPr>
        <p:txBody>
          <a:bodyPr wrap="square" rtlCol="0" anchor="ctr"/>
          <a:lstStyle/>
          <a:p>
            <a:pPr indent="0" marL="0">
              <a:buNone/>
            </a:pPr>
            <a:r>
              <a:rPr lang="en-US" sz="650" b="1" spc="50" kern="0" dirty="0">
                <a:solidFill>
                  <a:srgbClr val="D4AF37"/>
                </a:solidFill>
                <a:latin typeface="Consolas" pitchFamily="34" charset="0"/>
                <a:ea typeface="Consolas" pitchFamily="34" charset="-122"/>
                <a:cs typeface="Consolas" pitchFamily="34" charset="-120"/>
              </a:rPr>
              <a:t>FOOD POISONING</a:t>
            </a:r>
            <a:endParaRPr lang="en-US" sz="650" dirty="0"/>
          </a:p>
        </p:txBody>
      </p:sp>
      <p:sp>
        <p:nvSpPr>
          <p:cNvPr id="47" name="Text 45"/>
          <p:cNvSpPr/>
          <p:nvPr/>
        </p:nvSpPr>
        <p:spPr>
          <a:xfrm>
            <a:off x="5454396"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69 records</a:t>
            </a:r>
            <a:endParaRPr lang="en-US" sz="1200" dirty="0"/>
          </a:p>
        </p:txBody>
      </p:sp>
      <p:sp>
        <p:nvSpPr>
          <p:cNvPr id="48" name="Text 46"/>
          <p:cNvSpPr/>
          <p:nvPr/>
        </p:nvSpPr>
        <p:spPr>
          <a:xfrm>
            <a:off x="5454396"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5,927 cases  ·  29 deaths</a:t>
            </a:r>
            <a:endParaRPr lang="en-US" sz="700" dirty="0"/>
          </a:p>
        </p:txBody>
      </p:sp>
      <p:sp>
        <p:nvSpPr>
          <p:cNvPr id="49" name="Shape 47"/>
          <p:cNvSpPr/>
          <p:nvPr/>
        </p:nvSpPr>
        <p:spPr>
          <a:xfrm>
            <a:off x="5454396" y="3730752"/>
            <a:ext cx="1335024" cy="0"/>
          </a:xfrm>
          <a:prstGeom prst="line">
            <a:avLst/>
          </a:prstGeom>
          <a:noFill/>
          <a:ln w="6350">
            <a:solidFill>
              <a:srgbClr val="1E2D4A"/>
            </a:solidFill>
            <a:prstDash val="solid"/>
          </a:ln>
        </p:spPr>
      </p:sp>
      <p:sp>
        <p:nvSpPr>
          <p:cNvPr id="50" name="Text 48"/>
          <p:cNvSpPr/>
          <p:nvPr/>
        </p:nvSpPr>
        <p:spPr>
          <a:xfrm>
            <a:off x="5454396"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Bimodal: Jan–Feb &amp; Apr–May</a:t>
            </a:r>
            <a:endParaRPr lang="en-US" sz="750" dirty="0"/>
          </a:p>
        </p:txBody>
      </p:sp>
      <p:sp>
        <p:nvSpPr>
          <p:cNvPr id="51" name="Shape 49"/>
          <p:cNvSpPr/>
          <p:nvPr/>
        </p:nvSpPr>
        <p:spPr>
          <a:xfrm>
            <a:off x="6931152" y="2962656"/>
            <a:ext cx="1481328" cy="1353312"/>
          </a:xfrm>
          <a:prstGeom prst="rect">
            <a:avLst/>
          </a:prstGeom>
          <a:solidFill>
            <a:srgbClr val="101C38"/>
          </a:solidFill>
          <a:ln w="9525">
            <a:solidFill>
              <a:srgbClr val="1E335E"/>
            </a:solidFill>
            <a:prstDash val="solid"/>
          </a:ln>
        </p:spPr>
      </p:sp>
      <p:sp>
        <p:nvSpPr>
          <p:cNvPr id="52" name="Shape 50"/>
          <p:cNvSpPr/>
          <p:nvPr/>
        </p:nvSpPr>
        <p:spPr>
          <a:xfrm>
            <a:off x="6931152" y="2962656"/>
            <a:ext cx="1481328" cy="0"/>
          </a:xfrm>
          <a:prstGeom prst="line">
            <a:avLst/>
          </a:prstGeom>
          <a:noFill/>
          <a:ln w="19050">
            <a:solidFill>
              <a:srgbClr val="F87171"/>
            </a:solidFill>
            <a:prstDash val="solid"/>
          </a:ln>
        </p:spPr>
      </p:sp>
      <p:sp>
        <p:nvSpPr>
          <p:cNvPr id="53" name="Text 51"/>
          <p:cNvSpPr/>
          <p:nvPr/>
        </p:nvSpPr>
        <p:spPr>
          <a:xfrm>
            <a:off x="7004304" y="3054096"/>
            <a:ext cx="1335024" cy="201168"/>
          </a:xfrm>
          <a:prstGeom prst="rect">
            <a:avLst/>
          </a:prstGeom>
          <a:noFill/>
          <a:ln/>
        </p:spPr>
        <p:txBody>
          <a:bodyPr wrap="square" rtlCol="0" anchor="ctr"/>
          <a:lstStyle/>
          <a:p>
            <a:pPr indent="0" marL="0">
              <a:buNone/>
            </a:pPr>
            <a:r>
              <a:rPr lang="en-US" sz="650" b="1" spc="50" kern="0" dirty="0">
                <a:solidFill>
                  <a:srgbClr val="F87171"/>
                </a:solidFill>
                <a:latin typeface="Consolas" pitchFamily="34" charset="0"/>
                <a:ea typeface="Consolas" pitchFamily="34" charset="-122"/>
                <a:cs typeface="Consolas" pitchFamily="34" charset="-120"/>
              </a:rPr>
              <a:t>CHIKUNGUNYA</a:t>
            </a:r>
            <a:endParaRPr lang="en-US" sz="650" dirty="0"/>
          </a:p>
        </p:txBody>
      </p:sp>
      <p:sp>
        <p:nvSpPr>
          <p:cNvPr id="54" name="Text 52"/>
          <p:cNvSpPr/>
          <p:nvPr/>
        </p:nvSpPr>
        <p:spPr>
          <a:xfrm>
            <a:off x="7004304"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43 records</a:t>
            </a:r>
            <a:endParaRPr lang="en-US" sz="1200" dirty="0"/>
          </a:p>
        </p:txBody>
      </p:sp>
      <p:sp>
        <p:nvSpPr>
          <p:cNvPr id="55" name="Text 53"/>
          <p:cNvSpPr/>
          <p:nvPr/>
        </p:nvSpPr>
        <p:spPr>
          <a:xfrm>
            <a:off x="7004304"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701 cases  ·  0 deaths</a:t>
            </a:r>
            <a:endParaRPr lang="en-US" sz="700" dirty="0"/>
          </a:p>
        </p:txBody>
      </p:sp>
      <p:sp>
        <p:nvSpPr>
          <p:cNvPr id="56" name="Shape 54"/>
          <p:cNvSpPr/>
          <p:nvPr/>
        </p:nvSpPr>
        <p:spPr>
          <a:xfrm>
            <a:off x="7004304" y="3730752"/>
            <a:ext cx="1335024" cy="0"/>
          </a:xfrm>
          <a:prstGeom prst="line">
            <a:avLst/>
          </a:prstGeom>
          <a:noFill/>
          <a:ln w="6350">
            <a:solidFill>
              <a:srgbClr val="1E2D4A"/>
            </a:solidFill>
            <a:prstDash val="solid"/>
          </a:ln>
        </p:spPr>
      </p:sp>
      <p:sp>
        <p:nvSpPr>
          <p:cNvPr id="57" name="Text 55"/>
          <p:cNvSpPr/>
          <p:nvPr/>
        </p:nvSpPr>
        <p:spPr>
          <a:xfrm>
            <a:off x="7004304"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Dispersed: May, Jun, Sep</a:t>
            </a:r>
            <a:endParaRPr lang="en-US" sz="750" dirty="0"/>
          </a:p>
        </p:txBody>
      </p:sp>
      <p:sp>
        <p:nvSpPr>
          <p:cNvPr id="58" name="Text 56"/>
          <p:cNvSpPr/>
          <p:nvPr/>
        </p:nvSpPr>
        <p:spPr>
          <a:xfrm>
            <a:off x="731520" y="4462272"/>
            <a:ext cx="7680960" cy="219456"/>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NOTE: Reported cases represent patients in investigated outbreak clusters. These figures do not measure population disease incidence or community prevalence.</a:t>
            </a:r>
            <a:endParaRPr lang="en-US" sz="750" dirty="0"/>
          </a:p>
        </p:txBody>
      </p:sp>
      <p:sp>
        <p:nvSpPr>
          <p:cNvPr id="59" name="Shape 57"/>
          <p:cNvSpPr/>
          <p:nvPr/>
        </p:nvSpPr>
        <p:spPr>
          <a:xfrm>
            <a:off x="731520" y="4773168"/>
            <a:ext cx="7680960" cy="0"/>
          </a:xfrm>
          <a:prstGeom prst="line">
            <a:avLst/>
          </a:prstGeom>
          <a:noFill/>
          <a:ln w="9525">
            <a:solidFill>
              <a:srgbClr val="1E2D4A"/>
            </a:solidFill>
            <a:prstDash val="solid"/>
          </a:ln>
        </p:spPr>
      </p:sp>
      <p:sp>
        <p:nvSpPr>
          <p:cNvPr id="60" name="Text 5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NCDC / IDSP WEEKLY OUTBREAK REPORTS (2022–2025 ANALYTICAL BASELINE)</a:t>
            </a:r>
            <a:endParaRPr lang="en-US" sz="650" dirty="0"/>
          </a:p>
        </p:txBody>
      </p:sp>
      <p:sp>
        <p:nvSpPr>
          <p:cNvPr id="61" name="Text 5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04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2026-10-02T17:47:56Z</dcterms:created>
  <dcterms:modified xsi:type="dcterms:W3CDTF">2026-10-02T17:47:56Z</dcterms:modified>
</cp:coreProperties>
</file>