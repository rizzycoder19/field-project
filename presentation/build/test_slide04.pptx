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VIVA SCRIPT (35s):
Across the four completed calendar years 2022 to 2025, our primary analytical cohort comprises exactly 539 outbreak records, 21,955 reported cases, and 266 reported deaths.
A key observation is the divergence between event frequency and case enumeration:
- Dengue leads in event frequency with 204 records, but resulted in 3,144 cases.
- Acute Diarrheal Disease had 153 events but generated 9,050 cases.
- Food Poisoning caused 5,927 cases from just 69 events.
WHAT NOT TO OVERCLAIM: Do not refer to 21,955 as 'disease incidence'. These are patients enumerated within investigated outbreak clusters.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9260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EMPIRICAL BASELINE  //  2022–2025 COMPLETED YEARS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31520" y="493776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Four-Year Outbreak Surveillance Baseline (Maharashtra)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7680960" cy="0"/>
          </a:xfrm>
          <a:prstGeom prst="line">
            <a:avLst/>
          </a:prstGeom>
          <a:noFill/>
          <a:ln w="9525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07008"/>
            <a:ext cx="2450592" cy="1572768"/>
          </a:xfrm>
          <a:prstGeom prst="rect">
            <a:avLst/>
          </a:prstGeom>
          <a:solidFill>
            <a:srgbClr val="101C38"/>
          </a:solidFill>
          <a:ln w="9525">
            <a:solidFill>
              <a:srgbClr val="1E33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07008"/>
            <a:ext cx="2450592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539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1938528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OUTBREAK RECORDS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8680" y="2157984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Investigated Clusters (2022–2025)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2377440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surveillance investigations across Maharashtra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346704" y="1207008"/>
            <a:ext cx="2450592" cy="1572768"/>
          </a:xfrm>
          <a:prstGeom prst="rect">
            <a:avLst/>
          </a:prstGeom>
          <a:solidFill>
            <a:srgbClr val="16274D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46704" y="1207008"/>
            <a:ext cx="2450592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83864" y="1298448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21,955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483864" y="1938528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3E5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REPORTED CASES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83864" y="2157984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Enumerated Outbreak Patients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83864" y="2377440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across official cluster reports (5 primary families)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961888" y="1207008"/>
            <a:ext cx="2450592" cy="1572768"/>
          </a:xfrm>
          <a:prstGeom prst="rect">
            <a:avLst/>
          </a:prstGeom>
          <a:solidFill>
            <a:srgbClr val="101C38"/>
          </a:solidFill>
          <a:ln w="9525">
            <a:solidFill>
              <a:srgbClr val="1E33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61888" y="1207008"/>
            <a:ext cx="2450592" cy="0"/>
          </a:xfrm>
          <a:prstGeom prst="line">
            <a:avLst/>
          </a:prstGeom>
          <a:noFill/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9048" y="1298448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266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099048" y="1938528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REPORTED FATALITIES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099048" y="2157984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Outbreak Deaths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99048" y="2377440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fatality ratio: 1.21% across primary cohort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31520" y="2962656"/>
            <a:ext cx="1481328" cy="1353312"/>
          </a:xfrm>
          <a:prstGeom prst="rect">
            <a:avLst/>
          </a:prstGeom>
          <a:solidFill>
            <a:srgbClr val="101C38"/>
          </a:solidFill>
          <a:ln w="9525">
            <a:solidFill>
              <a:srgbClr val="1E33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2962656"/>
            <a:ext cx="1481328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3054096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DENGUE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804672" y="3255264"/>
            <a:ext cx="1335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204 records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4672" y="3493008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3,144 cases  ·  93 deaths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804672" y="3730752"/>
            <a:ext cx="1335024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3785616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Oct (Aug–Oct CR3 50.5%)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281428" y="2962656"/>
            <a:ext cx="1481328" cy="1353312"/>
          </a:xfrm>
          <a:prstGeom prst="rect">
            <a:avLst/>
          </a:prstGeom>
          <a:solidFill>
            <a:srgbClr val="101C38"/>
          </a:solidFill>
          <a:ln w="9525">
            <a:solidFill>
              <a:srgbClr val="1E33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1428" y="2962656"/>
            <a:ext cx="1481328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54580" y="3054096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ACUTE DIARRHEAL DISEASE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354580" y="3255264"/>
            <a:ext cx="1335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153 records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354580" y="3493008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9,050 cases  ·  93 deaths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354580" y="3730752"/>
            <a:ext cx="1335024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54580" y="3785616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Jun–Aug (CR3 43.1%)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831336" y="2962656"/>
            <a:ext cx="1481328" cy="1353312"/>
          </a:xfrm>
          <a:prstGeom prst="rect">
            <a:avLst/>
          </a:prstGeom>
          <a:solidFill>
            <a:srgbClr val="101C38"/>
          </a:solidFill>
          <a:ln w="9525">
            <a:solidFill>
              <a:srgbClr val="1E33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31336" y="2962656"/>
            <a:ext cx="1481328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04488" y="3054096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MALARIA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3904488" y="3255264"/>
            <a:ext cx="1335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 records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904488" y="3493008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2,133 cases  ·  51 deaths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904488" y="3730752"/>
            <a:ext cx="1335024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04488" y="3785616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May–Jul (CR3 51.4%)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381244" y="2962656"/>
            <a:ext cx="1481328" cy="1353312"/>
          </a:xfrm>
          <a:prstGeom prst="rect">
            <a:avLst/>
          </a:prstGeom>
          <a:solidFill>
            <a:srgbClr val="101C38"/>
          </a:solidFill>
          <a:ln w="9525">
            <a:solidFill>
              <a:srgbClr val="1E335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81244" y="2962656"/>
            <a:ext cx="1481328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54396" y="3054096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FOOD POISONING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5454396" y="3255264"/>
            <a:ext cx="1335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 records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454396" y="3493008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5,927 cases  ·  29 deaths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5454396" y="3730752"/>
            <a:ext cx="1335024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54396" y="3785616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Bimodal: Jan–Feb &amp; Apr–May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931152" y="2962656"/>
            <a:ext cx="1481328" cy="1353312"/>
          </a:xfrm>
          <a:prstGeom prst="rect">
            <a:avLst/>
          </a:prstGeom>
          <a:solidFill>
            <a:srgbClr val="101C38"/>
          </a:solidFill>
          <a:ln w="9525">
            <a:solidFill>
              <a:srgbClr val="1E335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31152" y="2962656"/>
            <a:ext cx="1481328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04304" y="3054096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CHIKUNGUNYA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7004304" y="3255264"/>
            <a:ext cx="1335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 records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004304" y="3493008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701 cases  ·  0 deaths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004304" y="3730752"/>
            <a:ext cx="1335024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04304" y="3785616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Dispersed: May, Jun, Sep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1520" y="4462272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Reported cases represent patients in investigated outbreak clusters. These figures do not measure population disease incidence or community prevalence.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31520" y="4773168"/>
            <a:ext cx="7680960" cy="0"/>
          </a:xfrm>
          <a:prstGeom prst="line">
            <a:avLst/>
          </a:prstGeom>
          <a:noFill/>
          <a:ln w="9525">
            <a:solidFill>
              <a:srgbClr val="1E2D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1520" y="4846320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NCDC / IDSP WEEKLY OUTBREAK REPORTS (2022–2025 ANALYTICAL BASELINE)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749808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2026-10-02T17:40:29Z</dcterms:created>
  <dcterms:modified xsi:type="dcterms:W3CDTF">2026-10-02T17:40:29Z</dcterms:modified>
</cp:coreProperties>
</file>