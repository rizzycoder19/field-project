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(35s):
This slide demonstrates a core data science lesson: event frequency and case volume must never be conflated.
In Food Poisoning, February appears to have a huge spike in case volume. However, sensitivity analysis reveals that 1,615 of the 2,162 February cases came from just three records: Kolhapur (651), Parbhani (629), and Solapur (335).
These three records account for 74.7% of all February cases, and 27.3% of the four-year total across Maharashtra.
As shown in the exhibit on the right, removing these three events flattens the February peak completely.
ONE SENTENCE YOU MUST NOT SAY: Do not speculate about causes (weddings, hostels, street food). We have no source data for food types or gathering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SENSITIVITY ANALYSIS  //  EVENT VS. CASE-VOLUME DIVERGENCE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Three Records Shape Four-Year Case Totals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the critical separation between outbreak frequency and patient enumeration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25296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4069080" cy="321868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53312"/>
            <a:ext cx="40690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444752"/>
            <a:ext cx="3776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MASS-EXPOSURE OUTBREAK RECORDS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77824" y="16459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77824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KOLHAPUR DISTRICT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77824" y="221284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Week 07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39696" y="16459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39696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PARBHANI DISTRICT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139696" y="221284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Week 06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01568" y="16459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01568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SOLAPUR DISTRICT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401568" y="221284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Week 06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77824" y="2450592"/>
            <a:ext cx="37764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523744"/>
            <a:ext cx="3776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IMPACT: 1,615 CASES FROM 3 OUTBREAKS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7824" y="272491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77824" y="31272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 OF FEBRUARY CASES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877824" y="3383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1,615 of 2,162 Feb cases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39696" y="272491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5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139696" y="31272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 OF 4-YEAR TOTAL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139696" y="3383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1,615 of 5,927 total cases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01568" y="272491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15.9%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01568" y="31272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FEBRUARY EVENT RATIO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401568" y="3383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 of 69 events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77824" y="3657600"/>
            <a:ext cx="37764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730752"/>
            <a:ext cx="3776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METHODOLOGICAL TAKEAWAY: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77824" y="3913632"/>
            <a:ext cx="3776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frequency and patient case volumes measure fundamentally distinct phenomena. Without sensitivity testing, February would appear to be a massive seasonal transmission peak, when it is actually driven by 3 localized high-volume cluster reports. No causal assumptions (e.g. catering) are made.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1353312"/>
            <a:ext cx="3474720" cy="3218688"/>
          </a:xfrm>
          <a:prstGeom prst="rect">
            <a:avLst/>
          </a:prstGeom>
          <a:solidFill>
            <a:srgbClr val="0C162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4264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EXHIBIT: SENSITIVITY DECOMPOSITION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74920" y="1645920"/>
            <a:ext cx="32004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1E2D4A"/>
            </a:solidFill>
            <a:prstDash val="solid"/>
          </a:ln>
        </p:spPr>
      </p:sp>
      <p:pic>
        <p:nvPicPr>
          <p:cNvPr id="35" name="Image 0" descr="C:\Users\ADMIN\OneDrive\Desktop\Field Project\data_pipeline\phase5C_advanced_analysis\chart_outlier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682496"/>
            <a:ext cx="3145536" cy="24688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074920" y="4242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Monthly Food Poisoning cases with vs. without 3 outlier events (Phase 5C Analysis).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PHASE 5C OUTLIER SENSITIVITY ANALYSIS | NCDC IDSP SURVEILLANCE RECORDS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2026-10-02T17:40:30Z</dcterms:created>
  <dcterms:modified xsi:type="dcterms:W3CDTF">2026-10-02T17:40:30Z</dcterms:modified>
</cp:coreProperties>
</file>