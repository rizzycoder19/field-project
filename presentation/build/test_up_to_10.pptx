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presents the results of our non-parametric Kendall's W concordance test across the four baseline years.
The critical empirical finding:
Only Acute Diarrheal Disease demonstrates statistically significant inter-annual concordance (W = 0.530, p = 0.016). This means ADD's monthly ranking is the most reliably repeated year after year.
Dengue (W = 0.405, p = 0.086), Malaria (W = 0.319, p = 0.229), and Food Poisoning (W = 0.260, p = 0.380) did not meet the α = 0.05 significance threshold.
DEFENSE POINT: Why did Dengue not achieve statistical significance despite high seasonal concentration? Because its exact peak month oscillates between September and October in different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demonstrates a core data science lesson: event frequency and case volume must never be conflated.
In Food Poisoning, February appears to have a huge spike in case volume. However, sensitivity analysis reveals that 1,615 of the 2,162 February cases came from just three records: Kolhapur (651), Parbhani (629), and Solapur (335).
These three records account for 74.7% of all February cases, and 27.3% of the four-year total across Maharashtra.
As shown in the exhibit on the right, removing these three events flattens the February peak completely.
ONE SENTENCE YOU MUST NOT SAY: Do not speculate about causes (weddings, hostels, street food). We have no source data for food types or gathering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We evaluate 2026 strictly as an out-of-sample surveillance comparison covering Weeks 01 to 32. It cannot be directly compared to full calendar years.
Two critical observations emerge:
First, Dengue recorded only 6 events. This does not indicate a true disease decline — historical baseline analysis shows 55.4% of Dengue outbreaks occur after Week 32.
Second, Food Poisoning recorded 19 events, higher than the historical early-year mean. Crucially, 100% of these records were classified as 'Suspected' in source bulletins.
WHAT NOT TO SAY: Do not say '2026 confirms our model' or 'This proves disease decline.' It is a partial-year observation demonstrating surveillance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rigorous scientific presentation must define its boundaries clearly.
We state five explicit limitations:
1. Surveillance data reflects investigated clusters, not community incidence.
2. We make no causal claims — we report calendar clustering without meteorological co-modeling.
3. Diagnostic thresholds vary, including syndromic versus confirmed classifications.
4. 2026 data is truncated at Week 32, precluding full-year evaluation for late-season diseases like Dengue.
5. The dataset reflects public health surveillance records; private clinic treatments are outside its scope.
DEFENSE STRENGTH: Stating these boundaries proactively demonstrates mature scientific methodology and statistical integrity to the viva examiners.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In conclusion, four completed years of NCDC outbreak surveillance data across Maharashtra demonstrates five findings:
1. Disease families exhibit distinct calendar distributions rather than a single shared monsoon surge.
2. Event frequency and case volume are distinct metrics that diverge substantially during mass outbreaks.
3. Acute Diarrheal Disease demonstrates the only statistically significant inter-annual rank stability (W = 0.530, p = 0.016).
4. Food Poisoning case totals are heavily influenced by three localized mass-case records (74.7% of February cases).
5. 2026 W01–W32 is a partial-year comparison, not a full annual validation.
The operational implication: historical concentration windows can inform pre-positioning and vigilance timing, subject to reporting limitations.
Thank you, examiners. I welcome your questions.
WHAT NOT TO SAY: Do not prescribe medical interventions, clinical treatments, or use the word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COMPARATIVE PROFILES  //  INTER-ANNUAL CONCORDANCE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Observed Calendar Concentration &amp; Kendall’s W Stability</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Measuring four-year monthly ranking consistency across 2022–2025 (tested at α = 0.05)</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68680" y="1444752"/>
            <a:ext cx="3794760"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KENDALL’S W CONCORDANCE ANALYSIS</a:t>
            </a:r>
            <a:endParaRPr lang="en-US" sz="700" dirty="0"/>
          </a:p>
        </p:txBody>
      </p:sp>
      <p:sp>
        <p:nvSpPr>
          <p:cNvPr id="9" name="Text 7"/>
          <p:cNvSpPr/>
          <p:nvPr/>
        </p:nvSpPr>
        <p:spPr>
          <a:xfrm>
            <a:off x="868680" y="1645920"/>
            <a:ext cx="132588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DISEASE FAMILY</a:t>
            </a:r>
            <a:endParaRPr lang="en-US" sz="650" dirty="0"/>
          </a:p>
        </p:txBody>
      </p:sp>
      <p:sp>
        <p:nvSpPr>
          <p:cNvPr id="10" name="Text 8"/>
          <p:cNvSpPr/>
          <p:nvPr/>
        </p:nvSpPr>
        <p:spPr>
          <a:xfrm>
            <a:off x="2240280" y="1645920"/>
            <a:ext cx="91440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CR3 (TOP 3 MO)</a:t>
            </a:r>
            <a:endParaRPr lang="en-US" sz="650" dirty="0"/>
          </a:p>
        </p:txBody>
      </p:sp>
      <p:sp>
        <p:nvSpPr>
          <p:cNvPr id="11" name="Text 9"/>
          <p:cNvSpPr/>
          <p:nvPr/>
        </p:nvSpPr>
        <p:spPr>
          <a:xfrm>
            <a:off x="320040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W-STAT</a:t>
            </a:r>
            <a:endParaRPr lang="en-US" sz="650" dirty="0"/>
          </a:p>
        </p:txBody>
      </p:sp>
      <p:sp>
        <p:nvSpPr>
          <p:cNvPr id="12" name="Text 10"/>
          <p:cNvSpPr/>
          <p:nvPr/>
        </p:nvSpPr>
        <p:spPr>
          <a:xfrm>
            <a:off x="384048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p-VALUE</a:t>
            </a:r>
            <a:endParaRPr lang="en-US" sz="650" dirty="0"/>
          </a:p>
        </p:txBody>
      </p:sp>
      <p:sp>
        <p:nvSpPr>
          <p:cNvPr id="13" name="Shape 11"/>
          <p:cNvSpPr/>
          <p:nvPr/>
        </p:nvSpPr>
        <p:spPr>
          <a:xfrm>
            <a:off x="868680" y="1828800"/>
            <a:ext cx="3794760" cy="0"/>
          </a:xfrm>
          <a:prstGeom prst="line">
            <a:avLst/>
          </a:prstGeom>
          <a:noFill/>
          <a:ln w="6350">
            <a:solidFill>
              <a:srgbClr val="1E2D4A"/>
            </a:solidFill>
            <a:prstDash val="solid"/>
          </a:ln>
        </p:spPr>
      </p:sp>
      <p:sp>
        <p:nvSpPr>
          <p:cNvPr id="14" name="Shape 12"/>
          <p:cNvSpPr/>
          <p:nvPr/>
        </p:nvSpPr>
        <p:spPr>
          <a:xfrm>
            <a:off x="822960" y="1883664"/>
            <a:ext cx="3886200" cy="438912"/>
          </a:xfrm>
          <a:prstGeom prst="rect">
            <a:avLst/>
          </a:prstGeom>
          <a:solidFill>
            <a:srgbClr val="132845"/>
          </a:solidFill>
          <a:ln w="9525">
            <a:solidFill>
              <a:srgbClr val="10B981"/>
            </a:solidFill>
            <a:prstDash val="solid"/>
          </a:ln>
        </p:spPr>
      </p:sp>
      <p:sp>
        <p:nvSpPr>
          <p:cNvPr id="15" name="Text 13"/>
          <p:cNvSpPr/>
          <p:nvPr/>
        </p:nvSpPr>
        <p:spPr>
          <a:xfrm>
            <a:off x="868680" y="1920240"/>
            <a:ext cx="1325880" cy="201168"/>
          </a:xfrm>
          <a:prstGeom prst="rect">
            <a:avLst/>
          </a:prstGeom>
          <a:noFill/>
          <a:ln/>
        </p:spPr>
        <p:txBody>
          <a:bodyPr wrap="square" rtlCol="0" anchor="ctr"/>
          <a:lstStyle/>
          <a:p>
            <a:pPr indent="0" marL="0">
              <a:buNone/>
            </a:pPr>
            <a:r>
              <a:rPr lang="en-US" sz="850" b="1" dirty="0">
                <a:solidFill>
                  <a:srgbClr val="34D399"/>
                </a:solidFill>
                <a:latin typeface="Calibri" pitchFamily="34" charset="0"/>
                <a:ea typeface="Calibri" pitchFamily="34" charset="-122"/>
                <a:cs typeface="Calibri" pitchFamily="34" charset="-120"/>
              </a:rPr>
              <a:t>Acute Diarrheal Dis.</a:t>
            </a:r>
            <a:endParaRPr lang="en-US" sz="850" dirty="0"/>
          </a:p>
        </p:txBody>
      </p:sp>
      <p:sp>
        <p:nvSpPr>
          <p:cNvPr id="16" name="Text 14"/>
          <p:cNvSpPr/>
          <p:nvPr/>
        </p:nvSpPr>
        <p:spPr>
          <a:xfrm>
            <a:off x="2240280" y="1920240"/>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43.1% (Jun–Aug)</a:t>
            </a:r>
            <a:endParaRPr lang="en-US" sz="700" dirty="0"/>
          </a:p>
        </p:txBody>
      </p:sp>
      <p:sp>
        <p:nvSpPr>
          <p:cNvPr id="17" name="Text 15"/>
          <p:cNvSpPr/>
          <p:nvPr/>
        </p:nvSpPr>
        <p:spPr>
          <a:xfrm>
            <a:off x="320040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0.530</a:t>
            </a:r>
            <a:endParaRPr lang="en-US" sz="800" dirty="0"/>
          </a:p>
        </p:txBody>
      </p:sp>
      <p:sp>
        <p:nvSpPr>
          <p:cNvPr id="18" name="Text 16"/>
          <p:cNvSpPr/>
          <p:nvPr/>
        </p:nvSpPr>
        <p:spPr>
          <a:xfrm>
            <a:off x="384048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0.016*</a:t>
            </a:r>
            <a:endParaRPr lang="en-US" sz="800" dirty="0"/>
          </a:p>
        </p:txBody>
      </p:sp>
      <p:sp>
        <p:nvSpPr>
          <p:cNvPr id="19" name="Text 17"/>
          <p:cNvSpPr/>
          <p:nvPr/>
        </p:nvSpPr>
        <p:spPr>
          <a:xfrm>
            <a:off x="868680" y="2121408"/>
            <a:ext cx="3703320" cy="182880"/>
          </a:xfrm>
          <a:prstGeom prst="rect">
            <a:avLst/>
          </a:prstGeom>
          <a:noFill/>
          <a:ln/>
        </p:spPr>
        <p:txBody>
          <a:bodyPr wrap="square" rtlCol="0" anchor="ctr"/>
          <a:lstStyle/>
          <a:p>
            <a:pPr indent="0" marL="0">
              <a:buNone/>
            </a:pPr>
            <a:r>
              <a:rPr lang="en-US" sz="700" i="1" dirty="0">
                <a:solidFill>
                  <a:srgbClr val="F3E5AB"/>
                </a:solidFill>
                <a:latin typeface="Calibri" pitchFamily="34" charset="0"/>
                <a:ea typeface="Calibri" pitchFamily="34" charset="-122"/>
                <a:cs typeface="Calibri" pitchFamily="34" charset="-120"/>
              </a:rPr>
              <a:t>Statistically significant inter-annual concordance (p &lt; 0.05)</a:t>
            </a:r>
            <a:endParaRPr lang="en-US" sz="700" dirty="0"/>
          </a:p>
        </p:txBody>
      </p:sp>
      <p:sp>
        <p:nvSpPr>
          <p:cNvPr id="20" name="Text 18"/>
          <p:cNvSpPr/>
          <p:nvPr/>
        </p:nvSpPr>
        <p:spPr>
          <a:xfrm>
            <a:off x="868680" y="2395728"/>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Dengue</a:t>
            </a:r>
            <a:endParaRPr lang="en-US" sz="850" dirty="0"/>
          </a:p>
        </p:txBody>
      </p:sp>
      <p:sp>
        <p:nvSpPr>
          <p:cNvPr id="21" name="Text 19"/>
          <p:cNvSpPr/>
          <p:nvPr/>
        </p:nvSpPr>
        <p:spPr>
          <a:xfrm>
            <a:off x="2240280" y="2395728"/>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50.5% (Aug–Oct)</a:t>
            </a:r>
            <a:endParaRPr lang="en-US" sz="700" dirty="0"/>
          </a:p>
        </p:txBody>
      </p:sp>
      <p:sp>
        <p:nvSpPr>
          <p:cNvPr id="22" name="Text 20"/>
          <p:cNvSpPr/>
          <p:nvPr/>
        </p:nvSpPr>
        <p:spPr>
          <a:xfrm>
            <a:off x="3200400" y="2395728"/>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0.405</a:t>
            </a:r>
            <a:endParaRPr lang="en-US" sz="800" dirty="0"/>
          </a:p>
        </p:txBody>
      </p:sp>
      <p:sp>
        <p:nvSpPr>
          <p:cNvPr id="23" name="Text 21"/>
          <p:cNvSpPr/>
          <p:nvPr/>
        </p:nvSpPr>
        <p:spPr>
          <a:xfrm>
            <a:off x="3840480" y="2395728"/>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0.086</a:t>
            </a:r>
            <a:endParaRPr lang="en-US" sz="800" dirty="0"/>
          </a:p>
        </p:txBody>
      </p:sp>
      <p:sp>
        <p:nvSpPr>
          <p:cNvPr id="24" name="Text 22"/>
          <p:cNvSpPr/>
          <p:nvPr/>
        </p:nvSpPr>
        <p:spPr>
          <a:xfrm>
            <a:off x="868680" y="2596896"/>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(annual peak shifts between Sep and Oct)</a:t>
            </a:r>
            <a:endParaRPr lang="en-US" sz="700" dirty="0"/>
          </a:p>
        </p:txBody>
      </p:sp>
      <p:sp>
        <p:nvSpPr>
          <p:cNvPr id="25" name="Text 23"/>
          <p:cNvSpPr/>
          <p:nvPr/>
        </p:nvSpPr>
        <p:spPr>
          <a:xfrm>
            <a:off x="868680" y="2871216"/>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Malaria</a:t>
            </a:r>
            <a:endParaRPr lang="en-US" sz="850" dirty="0"/>
          </a:p>
        </p:txBody>
      </p:sp>
      <p:sp>
        <p:nvSpPr>
          <p:cNvPr id="26" name="Text 24"/>
          <p:cNvSpPr/>
          <p:nvPr/>
        </p:nvSpPr>
        <p:spPr>
          <a:xfrm>
            <a:off x="2240280" y="2871216"/>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51.4% (May–Jul)</a:t>
            </a:r>
            <a:endParaRPr lang="en-US" sz="700" dirty="0"/>
          </a:p>
        </p:txBody>
      </p:sp>
      <p:sp>
        <p:nvSpPr>
          <p:cNvPr id="27" name="Text 25"/>
          <p:cNvSpPr/>
          <p:nvPr/>
        </p:nvSpPr>
        <p:spPr>
          <a:xfrm>
            <a:off x="3200400" y="2871216"/>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0.319</a:t>
            </a:r>
            <a:endParaRPr lang="en-US" sz="800" dirty="0"/>
          </a:p>
        </p:txBody>
      </p:sp>
      <p:sp>
        <p:nvSpPr>
          <p:cNvPr id="28" name="Text 26"/>
          <p:cNvSpPr/>
          <p:nvPr/>
        </p:nvSpPr>
        <p:spPr>
          <a:xfrm>
            <a:off x="3840480" y="2871216"/>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0.229</a:t>
            </a:r>
            <a:endParaRPr lang="en-US" sz="800" dirty="0"/>
          </a:p>
        </p:txBody>
      </p:sp>
      <p:sp>
        <p:nvSpPr>
          <p:cNvPr id="29" name="Text 27"/>
          <p:cNvSpPr/>
          <p:nvPr/>
        </p:nvSpPr>
        <p:spPr>
          <a:xfrm>
            <a:off x="868680" y="3072384"/>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(early-monsoon elevation with variable timing)</a:t>
            </a:r>
            <a:endParaRPr lang="en-US" sz="700" dirty="0"/>
          </a:p>
        </p:txBody>
      </p:sp>
      <p:sp>
        <p:nvSpPr>
          <p:cNvPr id="30" name="Text 28"/>
          <p:cNvSpPr/>
          <p:nvPr/>
        </p:nvSpPr>
        <p:spPr>
          <a:xfrm>
            <a:off x="868680" y="3346704"/>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Food Poisoning</a:t>
            </a:r>
            <a:endParaRPr lang="en-US" sz="850" dirty="0"/>
          </a:p>
        </p:txBody>
      </p:sp>
      <p:sp>
        <p:nvSpPr>
          <p:cNvPr id="31" name="Text 29"/>
          <p:cNvSpPr/>
          <p:nvPr/>
        </p:nvSpPr>
        <p:spPr>
          <a:xfrm>
            <a:off x="2240280" y="3346704"/>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44.9% (Apr/May/Feb)</a:t>
            </a:r>
            <a:endParaRPr lang="en-US" sz="700" dirty="0"/>
          </a:p>
        </p:txBody>
      </p:sp>
      <p:sp>
        <p:nvSpPr>
          <p:cNvPr id="32" name="Text 30"/>
          <p:cNvSpPr/>
          <p:nvPr/>
        </p:nvSpPr>
        <p:spPr>
          <a:xfrm>
            <a:off x="3200400" y="3346704"/>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0.260</a:t>
            </a:r>
            <a:endParaRPr lang="en-US" sz="800" dirty="0"/>
          </a:p>
        </p:txBody>
      </p:sp>
      <p:sp>
        <p:nvSpPr>
          <p:cNvPr id="33" name="Text 31"/>
          <p:cNvSpPr/>
          <p:nvPr/>
        </p:nvSpPr>
        <p:spPr>
          <a:xfrm>
            <a:off x="3840480" y="3346704"/>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0.380</a:t>
            </a:r>
            <a:endParaRPr lang="en-US" sz="800" dirty="0"/>
          </a:p>
        </p:txBody>
      </p:sp>
      <p:sp>
        <p:nvSpPr>
          <p:cNvPr id="34" name="Text 32"/>
          <p:cNvSpPr/>
          <p:nvPr/>
        </p:nvSpPr>
        <p:spPr>
          <a:xfrm>
            <a:off x="868680" y="3547872"/>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(bimodal, sensitive to mass-case events)</a:t>
            </a:r>
            <a:endParaRPr lang="en-US" sz="700" dirty="0"/>
          </a:p>
        </p:txBody>
      </p:sp>
      <p:sp>
        <p:nvSpPr>
          <p:cNvPr id="35" name="Text 33"/>
          <p:cNvSpPr/>
          <p:nvPr/>
        </p:nvSpPr>
        <p:spPr>
          <a:xfrm>
            <a:off x="868680" y="3822192"/>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Chikungunya</a:t>
            </a:r>
            <a:endParaRPr lang="en-US" sz="850" dirty="0"/>
          </a:p>
        </p:txBody>
      </p:sp>
      <p:sp>
        <p:nvSpPr>
          <p:cNvPr id="36" name="Text 34"/>
          <p:cNvSpPr/>
          <p:nvPr/>
        </p:nvSpPr>
        <p:spPr>
          <a:xfrm>
            <a:off x="2240280" y="3822192"/>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41.9% (May/Jun/Sep)</a:t>
            </a:r>
            <a:endParaRPr lang="en-US" sz="700" dirty="0"/>
          </a:p>
        </p:txBody>
      </p:sp>
      <p:sp>
        <p:nvSpPr>
          <p:cNvPr id="37" name="Text 35"/>
          <p:cNvSpPr/>
          <p:nvPr/>
        </p:nvSpPr>
        <p:spPr>
          <a:xfrm>
            <a:off x="3200400" y="3822192"/>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0.221</a:t>
            </a:r>
            <a:endParaRPr lang="en-US" sz="800" dirty="0"/>
          </a:p>
        </p:txBody>
      </p:sp>
      <p:sp>
        <p:nvSpPr>
          <p:cNvPr id="38" name="Text 36"/>
          <p:cNvSpPr/>
          <p:nvPr/>
        </p:nvSpPr>
        <p:spPr>
          <a:xfrm>
            <a:off x="3840480" y="3822192"/>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0.490</a:t>
            </a:r>
            <a:endParaRPr lang="en-US" sz="800" dirty="0"/>
          </a:p>
        </p:txBody>
      </p:sp>
      <p:sp>
        <p:nvSpPr>
          <p:cNvPr id="39" name="Text 37"/>
          <p:cNvSpPr/>
          <p:nvPr/>
        </p:nvSpPr>
        <p:spPr>
          <a:xfrm>
            <a:off x="868680" y="4023360"/>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(low baseline frequency across the year)</a:t>
            </a:r>
            <a:endParaRPr lang="en-US" sz="700" dirty="0"/>
          </a:p>
        </p:txBody>
      </p:sp>
      <p:sp>
        <p:nvSpPr>
          <p:cNvPr id="40" name="Text 38"/>
          <p:cNvSpPr/>
          <p:nvPr/>
        </p:nvSpPr>
        <p:spPr>
          <a:xfrm>
            <a:off x="868680" y="4279392"/>
            <a:ext cx="3794760" cy="237744"/>
          </a:xfrm>
          <a:prstGeom prst="rect">
            <a:avLst/>
          </a:prstGeom>
          <a:noFill/>
          <a:ln/>
        </p:spPr>
        <p:txBody>
          <a:bodyPr wrap="square" rtlCol="0" anchor="ctr"/>
          <a:lstStyle/>
          <a:p>
            <a:pPr indent="0" marL="0">
              <a:buNone/>
            </a:pPr>
            <a:r>
              <a:rPr lang="en-US" sz="650" i="1" dirty="0">
                <a:solidFill>
                  <a:srgbClr val="94A3B8"/>
                </a:solidFill>
                <a:latin typeface="Calibri" pitchFamily="34" charset="0"/>
                <a:ea typeface="Calibri" pitchFamily="34" charset="-122"/>
                <a:cs typeface="Calibri" pitchFamily="34" charset="-120"/>
              </a:rPr>
              <a:t>* Kendall’s W measures rank concordance (0 = no agreement, 1 = complete concordance). Tested at α = 0.05 across 4 completed years.</a:t>
            </a:r>
            <a:endParaRPr lang="en-US" sz="650" dirty="0"/>
          </a:p>
        </p:txBody>
      </p:sp>
      <p:sp>
        <p:nvSpPr>
          <p:cNvPr id="41" name="Shape 39"/>
          <p:cNvSpPr/>
          <p:nvPr/>
        </p:nvSpPr>
        <p:spPr>
          <a:xfrm>
            <a:off x="4937760" y="1353312"/>
            <a:ext cx="3474720" cy="3218688"/>
          </a:xfrm>
          <a:prstGeom prst="rect">
            <a:avLst/>
          </a:prstGeom>
          <a:solidFill>
            <a:srgbClr val="0C162E"/>
          </a:solidFill>
          <a:ln w="9525">
            <a:solidFill>
              <a:srgbClr val="D4AF37"/>
            </a:solidFill>
            <a:prstDash val="solid"/>
          </a:ln>
        </p:spPr>
      </p:sp>
      <p:sp>
        <p:nvSpPr>
          <p:cNvPr id="42" name="Text 40"/>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INTER-ANNUAL STABILITY HEATMAP</a:t>
            </a:r>
            <a:endParaRPr lang="en-US" sz="700" dirty="0"/>
          </a:p>
        </p:txBody>
      </p:sp>
      <p:sp>
        <p:nvSpPr>
          <p:cNvPr id="43" name="Shape 41"/>
          <p:cNvSpPr/>
          <p:nvPr/>
        </p:nvSpPr>
        <p:spPr>
          <a:xfrm>
            <a:off x="5074920" y="1645920"/>
            <a:ext cx="3200400" cy="2542032"/>
          </a:xfrm>
          <a:prstGeom prst="rect">
            <a:avLst/>
          </a:prstGeom>
          <a:solidFill>
            <a:srgbClr val="FFFFFF"/>
          </a:solidFill>
          <a:ln w="6350">
            <a:solidFill>
              <a:srgbClr val="1E2D4A"/>
            </a:solidFill>
            <a:prstDash val="solid"/>
          </a:ln>
        </p:spPr>
      </p:sp>
      <p:pic>
        <p:nvPicPr>
          <p:cNvPr id="44" name="Image 0" descr="C:\Users\ADMIN\OneDrive\Desktop\Field Project\data_pipeline\phase5C_advanced_analysis\chart_seasonal_stability_heatmap.png">    </p:cNvPr>
          <p:cNvPicPr>
            <a:picLocks noChangeAspect="1"/>
          </p:cNvPicPr>
          <p:nvPr/>
        </p:nvPicPr>
        <p:blipFill>
          <a:blip r:embed="rId1"/>
          <a:stretch>
            <a:fillRect/>
          </a:stretch>
        </p:blipFill>
        <p:spPr>
          <a:xfrm>
            <a:off x="5102352" y="1682496"/>
            <a:ext cx="3145536" cy="2468880"/>
          </a:xfrm>
          <a:prstGeom prst="rect">
            <a:avLst/>
          </a:prstGeom>
        </p:spPr>
      </p:pic>
      <p:sp>
        <p:nvSpPr>
          <p:cNvPr id="45" name="Text 42"/>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Kendall's W Rank Concordance across 2022–2025 (Phase 5C Analysis).</a:t>
            </a:r>
            <a:endParaRPr lang="en-US" sz="750" dirty="0"/>
          </a:p>
        </p:txBody>
      </p:sp>
      <p:sp>
        <p:nvSpPr>
          <p:cNvPr id="46" name="Shape 43"/>
          <p:cNvSpPr/>
          <p:nvPr/>
        </p:nvSpPr>
        <p:spPr>
          <a:xfrm>
            <a:off x="731520" y="4773168"/>
            <a:ext cx="7680960" cy="0"/>
          </a:xfrm>
          <a:prstGeom prst="line">
            <a:avLst/>
          </a:prstGeom>
          <a:noFill/>
          <a:ln w="9525">
            <a:solidFill>
              <a:srgbClr val="1E2D4A"/>
            </a:solidFill>
            <a:prstDash val="solid"/>
          </a:ln>
        </p:spPr>
      </p:sp>
      <p:sp>
        <p:nvSpPr>
          <p:cNvPr id="47" name="Text 44"/>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ADVANCED STATISTICAL ANALYSIS | KENDALL'S W TESTING</a:t>
            </a:r>
            <a:endParaRPr lang="en-US" sz="650" dirty="0"/>
          </a:p>
        </p:txBody>
      </p:sp>
      <p:sp>
        <p:nvSpPr>
          <p:cNvPr id="48" name="Text 45"/>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SENSITIVITY ANALYSIS  //  EVENT VS. CASE-VOLUME DIVERGENCE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How Three Records Shape Four-Year Case Totals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Demonstrating the critical separation between outbreak frequency and patient enumeration</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EF4444"/>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F87171"/>
                </a:solidFill>
                <a:latin typeface="Consolas" pitchFamily="34" charset="0"/>
                <a:ea typeface="Consolas" pitchFamily="34" charset="-122"/>
                <a:cs typeface="Consolas" pitchFamily="34" charset="-120"/>
              </a:rPr>
              <a:t>THREE MASS-EXPOSURE OUTBREAK RECORDS</a:t>
            </a:r>
            <a:endParaRPr lang="en-US" sz="700" dirty="0"/>
          </a:p>
        </p:txBody>
      </p:sp>
      <p:sp>
        <p:nvSpPr>
          <p:cNvPr id="9" name="Text 7"/>
          <p:cNvSpPr/>
          <p:nvPr/>
        </p:nvSpPr>
        <p:spPr>
          <a:xfrm>
            <a:off x="877824"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651</a:t>
            </a:r>
            <a:endParaRPr lang="en-US" sz="2400" dirty="0"/>
          </a:p>
        </p:txBody>
      </p:sp>
      <p:sp>
        <p:nvSpPr>
          <p:cNvPr id="10" name="Text 8"/>
          <p:cNvSpPr/>
          <p:nvPr/>
        </p:nvSpPr>
        <p:spPr>
          <a:xfrm>
            <a:off x="877824"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KOLHAPUR DISTRICT</a:t>
            </a:r>
            <a:endParaRPr lang="en-US" sz="650" dirty="0"/>
          </a:p>
        </p:txBody>
      </p:sp>
      <p:sp>
        <p:nvSpPr>
          <p:cNvPr id="11" name="Text 9"/>
          <p:cNvSpPr/>
          <p:nvPr/>
        </p:nvSpPr>
        <p:spPr>
          <a:xfrm>
            <a:off x="877824"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2024 Week 07</a:t>
            </a:r>
            <a:endParaRPr lang="en-US" sz="750" dirty="0"/>
          </a:p>
        </p:txBody>
      </p:sp>
      <p:sp>
        <p:nvSpPr>
          <p:cNvPr id="12" name="Text 10"/>
          <p:cNvSpPr/>
          <p:nvPr/>
        </p:nvSpPr>
        <p:spPr>
          <a:xfrm>
            <a:off x="2139696"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629</a:t>
            </a:r>
            <a:endParaRPr lang="en-US" sz="2400" dirty="0"/>
          </a:p>
        </p:txBody>
      </p:sp>
      <p:sp>
        <p:nvSpPr>
          <p:cNvPr id="13" name="Text 11"/>
          <p:cNvSpPr/>
          <p:nvPr/>
        </p:nvSpPr>
        <p:spPr>
          <a:xfrm>
            <a:off x="2139696"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PARBHANI DISTRICT</a:t>
            </a:r>
            <a:endParaRPr lang="en-US" sz="650" dirty="0"/>
          </a:p>
        </p:txBody>
      </p:sp>
      <p:sp>
        <p:nvSpPr>
          <p:cNvPr id="14" name="Text 12"/>
          <p:cNvSpPr/>
          <p:nvPr/>
        </p:nvSpPr>
        <p:spPr>
          <a:xfrm>
            <a:off x="2139696"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2025 Week 06</a:t>
            </a:r>
            <a:endParaRPr lang="en-US" sz="750" dirty="0"/>
          </a:p>
        </p:txBody>
      </p:sp>
      <p:sp>
        <p:nvSpPr>
          <p:cNvPr id="15" name="Text 13"/>
          <p:cNvSpPr/>
          <p:nvPr/>
        </p:nvSpPr>
        <p:spPr>
          <a:xfrm>
            <a:off x="3401568"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335</a:t>
            </a:r>
            <a:endParaRPr lang="en-US" sz="2400" dirty="0"/>
          </a:p>
        </p:txBody>
      </p:sp>
      <p:sp>
        <p:nvSpPr>
          <p:cNvPr id="16" name="Text 14"/>
          <p:cNvSpPr/>
          <p:nvPr/>
        </p:nvSpPr>
        <p:spPr>
          <a:xfrm>
            <a:off x="3401568"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SOLAPUR DISTRICT</a:t>
            </a:r>
            <a:endParaRPr lang="en-US" sz="650" dirty="0"/>
          </a:p>
        </p:txBody>
      </p:sp>
      <p:sp>
        <p:nvSpPr>
          <p:cNvPr id="17" name="Text 15"/>
          <p:cNvSpPr/>
          <p:nvPr/>
        </p:nvSpPr>
        <p:spPr>
          <a:xfrm>
            <a:off x="3401568"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2023 Week 06</a:t>
            </a:r>
            <a:endParaRPr lang="en-US" sz="750" dirty="0"/>
          </a:p>
        </p:txBody>
      </p:sp>
      <p:sp>
        <p:nvSpPr>
          <p:cNvPr id="18" name="Shape 16"/>
          <p:cNvSpPr/>
          <p:nvPr/>
        </p:nvSpPr>
        <p:spPr>
          <a:xfrm>
            <a:off x="877824" y="2450592"/>
            <a:ext cx="3776472" cy="0"/>
          </a:xfrm>
          <a:prstGeom prst="line">
            <a:avLst/>
          </a:prstGeom>
          <a:noFill/>
          <a:ln w="6350">
            <a:solidFill>
              <a:srgbClr val="1E2D4A"/>
            </a:solidFill>
            <a:prstDash val="solid"/>
          </a:ln>
        </p:spPr>
      </p:sp>
      <p:sp>
        <p:nvSpPr>
          <p:cNvPr id="19" name="Text 17"/>
          <p:cNvSpPr/>
          <p:nvPr/>
        </p:nvSpPr>
        <p:spPr>
          <a:xfrm>
            <a:off x="877824" y="2523744"/>
            <a:ext cx="3776472" cy="182880"/>
          </a:xfrm>
          <a:prstGeom prst="rect">
            <a:avLst/>
          </a:prstGeom>
          <a:noFill/>
          <a:ln/>
        </p:spPr>
        <p:txBody>
          <a:bodyPr wrap="square" rtlCol="0" anchor="ctr"/>
          <a:lstStyle/>
          <a:p>
            <a:pPr indent="0" marL="0">
              <a:buNone/>
            </a:pPr>
            <a:r>
              <a:rPr lang="en-US" sz="750" b="1" spc="50" kern="0" dirty="0">
                <a:solidFill>
                  <a:srgbClr val="D4AF37"/>
                </a:solidFill>
                <a:latin typeface="Consolas" pitchFamily="34" charset="0"/>
                <a:ea typeface="Consolas" pitchFamily="34" charset="-122"/>
                <a:cs typeface="Consolas" pitchFamily="34" charset="-120"/>
              </a:rPr>
              <a:t>COMBINED IMPACT: 1,615 CASES FROM 3 OUTBREAKS</a:t>
            </a:r>
            <a:endParaRPr lang="en-US" sz="750" dirty="0"/>
          </a:p>
        </p:txBody>
      </p:sp>
      <p:sp>
        <p:nvSpPr>
          <p:cNvPr id="20" name="Text 18"/>
          <p:cNvSpPr/>
          <p:nvPr/>
        </p:nvSpPr>
        <p:spPr>
          <a:xfrm>
            <a:off x="877824"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74.7%</a:t>
            </a:r>
            <a:endParaRPr lang="en-US" sz="2200" dirty="0"/>
          </a:p>
        </p:txBody>
      </p:sp>
      <p:sp>
        <p:nvSpPr>
          <p:cNvPr id="21" name="Text 19"/>
          <p:cNvSpPr/>
          <p:nvPr/>
        </p:nvSpPr>
        <p:spPr>
          <a:xfrm>
            <a:off x="877824"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FEBRUARY CASES</a:t>
            </a:r>
            <a:endParaRPr lang="en-US" sz="650" dirty="0"/>
          </a:p>
        </p:txBody>
      </p:sp>
      <p:sp>
        <p:nvSpPr>
          <p:cNvPr id="22" name="Text 20"/>
          <p:cNvSpPr/>
          <p:nvPr/>
        </p:nvSpPr>
        <p:spPr>
          <a:xfrm>
            <a:off x="877824"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2,162 Feb cases</a:t>
            </a:r>
            <a:endParaRPr lang="en-US" sz="700" dirty="0"/>
          </a:p>
        </p:txBody>
      </p:sp>
      <p:sp>
        <p:nvSpPr>
          <p:cNvPr id="23" name="Text 21"/>
          <p:cNvSpPr/>
          <p:nvPr/>
        </p:nvSpPr>
        <p:spPr>
          <a:xfrm>
            <a:off x="2139696"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27.3%</a:t>
            </a:r>
            <a:endParaRPr lang="en-US" sz="2200" dirty="0"/>
          </a:p>
        </p:txBody>
      </p:sp>
      <p:sp>
        <p:nvSpPr>
          <p:cNvPr id="24" name="Text 22"/>
          <p:cNvSpPr/>
          <p:nvPr/>
        </p:nvSpPr>
        <p:spPr>
          <a:xfrm>
            <a:off x="2139696"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4-YEAR TOTAL</a:t>
            </a:r>
            <a:endParaRPr lang="en-US" sz="650" dirty="0"/>
          </a:p>
        </p:txBody>
      </p:sp>
      <p:sp>
        <p:nvSpPr>
          <p:cNvPr id="25" name="Text 23"/>
          <p:cNvSpPr/>
          <p:nvPr/>
        </p:nvSpPr>
        <p:spPr>
          <a:xfrm>
            <a:off x="2139696"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5,927 total cases</a:t>
            </a:r>
            <a:endParaRPr lang="en-US" sz="700" dirty="0"/>
          </a:p>
        </p:txBody>
      </p:sp>
      <p:sp>
        <p:nvSpPr>
          <p:cNvPr id="26" name="Text 24"/>
          <p:cNvSpPr/>
          <p:nvPr/>
        </p:nvSpPr>
        <p:spPr>
          <a:xfrm>
            <a:off x="3401568" y="2724912"/>
            <a:ext cx="1188720" cy="402336"/>
          </a:xfrm>
          <a:prstGeom prst="rect">
            <a:avLst/>
          </a:prstGeom>
          <a:noFill/>
          <a:ln/>
        </p:spPr>
        <p:txBody>
          <a:bodyPr wrap="square" rtlCol="0" anchor="ctr"/>
          <a:lstStyle/>
          <a:p>
            <a:pPr indent="0" marL="0">
              <a:buNone/>
            </a:pPr>
            <a:r>
              <a:rPr lang="en-US" sz="2200" b="1" dirty="0">
                <a:solidFill>
                  <a:srgbClr val="38BDF8"/>
                </a:solidFill>
                <a:latin typeface="Georgia" pitchFamily="34" charset="0"/>
                <a:ea typeface="Georgia" pitchFamily="34" charset="-122"/>
                <a:cs typeface="Georgia" pitchFamily="34" charset="-120"/>
              </a:rPr>
              <a:t>15.9%</a:t>
            </a:r>
            <a:endParaRPr lang="en-US" sz="2200" dirty="0"/>
          </a:p>
        </p:txBody>
      </p:sp>
      <p:sp>
        <p:nvSpPr>
          <p:cNvPr id="27" name="Text 25"/>
          <p:cNvSpPr/>
          <p:nvPr/>
        </p:nvSpPr>
        <p:spPr>
          <a:xfrm>
            <a:off x="3401568"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FEBRUARY EVENT RATIO</a:t>
            </a:r>
            <a:endParaRPr lang="en-US" sz="650" dirty="0"/>
          </a:p>
        </p:txBody>
      </p:sp>
      <p:sp>
        <p:nvSpPr>
          <p:cNvPr id="28" name="Text 26"/>
          <p:cNvSpPr/>
          <p:nvPr/>
        </p:nvSpPr>
        <p:spPr>
          <a:xfrm>
            <a:off x="3401568"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Only 11 of 69 events</a:t>
            </a:r>
            <a:endParaRPr lang="en-US" sz="700" dirty="0"/>
          </a:p>
        </p:txBody>
      </p:sp>
      <p:sp>
        <p:nvSpPr>
          <p:cNvPr id="29" name="Shape 27"/>
          <p:cNvSpPr/>
          <p:nvPr/>
        </p:nvSpPr>
        <p:spPr>
          <a:xfrm>
            <a:off x="877824" y="3657600"/>
            <a:ext cx="3776472" cy="0"/>
          </a:xfrm>
          <a:prstGeom prst="line">
            <a:avLst/>
          </a:prstGeom>
          <a:noFill/>
          <a:ln w="6350">
            <a:solidFill>
              <a:srgbClr val="1E2D4A"/>
            </a:solidFill>
            <a:prstDash val="solid"/>
          </a:ln>
        </p:spPr>
      </p:sp>
      <p:sp>
        <p:nvSpPr>
          <p:cNvPr id="30" name="Text 28"/>
          <p:cNvSpPr/>
          <p:nvPr/>
        </p:nvSpPr>
        <p:spPr>
          <a:xfrm>
            <a:off x="877824" y="3730752"/>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CRITICAL METHODOLOGICAL TAKEAWAY:</a:t>
            </a:r>
            <a:endParaRPr lang="en-US" sz="700" dirty="0"/>
          </a:p>
        </p:txBody>
      </p:sp>
      <p:sp>
        <p:nvSpPr>
          <p:cNvPr id="31" name="Text 29"/>
          <p:cNvSpPr/>
          <p:nvPr/>
        </p:nvSpPr>
        <p:spPr>
          <a:xfrm>
            <a:off x="877824" y="3913632"/>
            <a:ext cx="3776472" cy="566928"/>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Event frequency and patient case volumes measure fundamentally distinct phenomena. Without sensitivity testing, February would appear to be a massive seasonal transmission peak, when it is actually driven by 3 localized high-volume cluster reports. No causal assumptions (e.g. catering) are made.</a:t>
            </a:r>
            <a:endParaRPr lang="en-US" sz="750" dirty="0"/>
          </a:p>
        </p:txBody>
      </p:sp>
      <p:sp>
        <p:nvSpPr>
          <p:cNvPr id="32" name="Shape 30"/>
          <p:cNvSpPr/>
          <p:nvPr/>
        </p:nvSpPr>
        <p:spPr>
          <a:xfrm>
            <a:off x="4937760" y="1353312"/>
            <a:ext cx="3474720" cy="3218688"/>
          </a:xfrm>
          <a:prstGeom prst="rect">
            <a:avLst/>
          </a:prstGeom>
          <a:solidFill>
            <a:srgbClr val="0C162E"/>
          </a:solidFill>
          <a:ln w="9525">
            <a:solidFill>
              <a:srgbClr val="D4AF37"/>
            </a:solidFill>
            <a:prstDash val="solid"/>
          </a:ln>
        </p:spPr>
      </p:sp>
      <p:sp>
        <p:nvSpPr>
          <p:cNvPr id="33" name="Text 31"/>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SENSITIVITY DECOMPOSITION</a:t>
            </a:r>
            <a:endParaRPr lang="en-US" sz="700" dirty="0"/>
          </a:p>
        </p:txBody>
      </p:sp>
      <p:sp>
        <p:nvSpPr>
          <p:cNvPr id="34" name="Shape 32"/>
          <p:cNvSpPr/>
          <p:nvPr/>
        </p:nvSpPr>
        <p:spPr>
          <a:xfrm>
            <a:off x="5074920" y="1645920"/>
            <a:ext cx="3200400" cy="2542032"/>
          </a:xfrm>
          <a:prstGeom prst="rect">
            <a:avLst/>
          </a:prstGeom>
          <a:solidFill>
            <a:srgbClr val="FFFFFF"/>
          </a:solidFill>
          <a:ln w="6350">
            <a:solidFill>
              <a:srgbClr val="1E2D4A"/>
            </a:solidFill>
            <a:prstDash val="solid"/>
          </a:ln>
        </p:spPr>
      </p:sp>
      <p:pic>
        <p:nvPicPr>
          <p:cNvPr id="35" name="Image 0" descr="C:\Users\ADMIN\OneDrive\Desktop\Field Project\data_pipeline\phase5C_advanced_analysis\chart_outlier_sensitivity.png">    </p:cNvPr>
          <p:cNvPicPr>
            <a:picLocks noChangeAspect="1"/>
          </p:cNvPicPr>
          <p:nvPr/>
        </p:nvPicPr>
        <p:blipFill>
          <a:blip r:embed="rId1"/>
          <a:stretch>
            <a:fillRect/>
          </a:stretch>
        </p:blipFill>
        <p:spPr>
          <a:xfrm>
            <a:off x="5102352" y="1682496"/>
            <a:ext cx="3145536" cy="2468880"/>
          </a:xfrm>
          <a:prstGeom prst="rect">
            <a:avLst/>
          </a:prstGeom>
        </p:spPr>
      </p:pic>
      <p:sp>
        <p:nvSpPr>
          <p:cNvPr id="36" name="Text 33"/>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Food Poisoning cases with vs. without 3 outlier events (Phase 5C Analysis).</a:t>
            </a:r>
            <a:endParaRPr lang="en-US" sz="750" dirty="0"/>
          </a:p>
        </p:txBody>
      </p:sp>
      <p:sp>
        <p:nvSpPr>
          <p:cNvPr id="37" name="Shape 34"/>
          <p:cNvSpPr/>
          <p:nvPr/>
        </p:nvSpPr>
        <p:spPr>
          <a:xfrm>
            <a:off x="731520" y="4773168"/>
            <a:ext cx="7680960" cy="0"/>
          </a:xfrm>
          <a:prstGeom prst="line">
            <a:avLst/>
          </a:prstGeom>
          <a:noFill/>
          <a:ln w="9525">
            <a:solidFill>
              <a:srgbClr val="1E2D4A"/>
            </a:solidFill>
            <a:prstDash val="solid"/>
          </a:ln>
        </p:spPr>
      </p:sp>
      <p:sp>
        <p:nvSpPr>
          <p:cNvPr id="38" name="Text 35"/>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OUTLIER SENSITIVITY ANALYSIS | NCDC IDSP SURVEILLANCE RECORDS</a:t>
            </a:r>
            <a:endParaRPr lang="en-US" sz="650" dirty="0"/>
          </a:p>
        </p:txBody>
      </p:sp>
      <p:sp>
        <p:nvSpPr>
          <p:cNvPr id="39" name="Text 36"/>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07 / 10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OUT-OF-SAMPLE COMPARISON  //  PARTIAL-YEAR SURVEILLANCE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2026 Surveillance Check (Weeks 01–32)</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Evaluating out-of-sample data under explicit temporal truncation boundaries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PARTIAL-YEAR WINDOW  //  WEEKS 01–32 ONLY</a:t>
            </a:r>
            <a:endParaRPr lang="en-US" sz="700" dirty="0"/>
          </a:p>
        </p:txBody>
      </p:sp>
      <p:sp>
        <p:nvSpPr>
          <p:cNvPr id="9" name="Text 7"/>
          <p:cNvSpPr/>
          <p:nvPr/>
        </p:nvSpPr>
        <p:spPr>
          <a:xfrm>
            <a:off x="877824" y="1627632"/>
            <a:ext cx="1188720" cy="402336"/>
          </a:xfrm>
          <a:prstGeom prst="rect">
            <a:avLst/>
          </a:prstGeom>
          <a:noFill/>
          <a:ln/>
        </p:spPr>
        <p:txBody>
          <a:bodyPr wrap="square" rtlCol="0" anchor="ctr"/>
          <a:lstStyle/>
          <a:p>
            <a:pPr indent="0" marL="0">
              <a:buNone/>
            </a:pPr>
            <a:r>
              <a:rPr lang="en-US" sz="2400" b="1" dirty="0">
                <a:solidFill>
                  <a:srgbClr val="38BDF8"/>
                </a:solidFill>
                <a:latin typeface="Georgia" pitchFamily="34" charset="0"/>
                <a:ea typeface="Georgia" pitchFamily="34" charset="-122"/>
                <a:cs typeface="Georgia" pitchFamily="34" charset="-120"/>
              </a:rPr>
              <a:t>45</a:t>
            </a:r>
            <a:endParaRPr lang="en-US" sz="2400" dirty="0"/>
          </a:p>
        </p:txBody>
      </p:sp>
      <p:sp>
        <p:nvSpPr>
          <p:cNvPr id="10" name="Text 8"/>
          <p:cNvSpPr/>
          <p:nvPr/>
        </p:nvSpPr>
        <p:spPr>
          <a:xfrm>
            <a:off x="877824"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RECORDS</a:t>
            </a:r>
            <a:endParaRPr lang="en-US" sz="700" dirty="0"/>
          </a:p>
        </p:txBody>
      </p:sp>
      <p:sp>
        <p:nvSpPr>
          <p:cNvPr id="11" name="Text 9"/>
          <p:cNvSpPr/>
          <p:nvPr/>
        </p:nvSpPr>
        <p:spPr>
          <a:xfrm>
            <a:off x="877824"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W01–W32 primary cohort</a:t>
            </a:r>
            <a:endParaRPr lang="en-US" sz="700" dirty="0"/>
          </a:p>
        </p:txBody>
      </p:sp>
      <p:sp>
        <p:nvSpPr>
          <p:cNvPr id="12" name="Text 10"/>
          <p:cNvSpPr/>
          <p:nvPr/>
        </p:nvSpPr>
        <p:spPr>
          <a:xfrm>
            <a:off x="2139696" y="1627632"/>
            <a:ext cx="1188720" cy="402336"/>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1,118</a:t>
            </a:r>
            <a:endParaRPr lang="en-US" sz="2400" dirty="0"/>
          </a:p>
        </p:txBody>
      </p:sp>
      <p:sp>
        <p:nvSpPr>
          <p:cNvPr id="13" name="Text 11"/>
          <p:cNvSpPr/>
          <p:nvPr/>
        </p:nvSpPr>
        <p:spPr>
          <a:xfrm>
            <a:off x="2139696"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CASES</a:t>
            </a:r>
            <a:endParaRPr lang="en-US" sz="700" dirty="0"/>
          </a:p>
        </p:txBody>
      </p:sp>
      <p:sp>
        <p:nvSpPr>
          <p:cNvPr id="14" name="Text 12"/>
          <p:cNvSpPr/>
          <p:nvPr/>
        </p:nvSpPr>
        <p:spPr>
          <a:xfrm>
            <a:off x="2139696"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Enumerated in clusters</a:t>
            </a:r>
            <a:endParaRPr lang="en-US" sz="700" dirty="0"/>
          </a:p>
        </p:txBody>
      </p:sp>
      <p:sp>
        <p:nvSpPr>
          <p:cNvPr id="15" name="Text 13"/>
          <p:cNvSpPr/>
          <p:nvPr/>
        </p:nvSpPr>
        <p:spPr>
          <a:xfrm>
            <a:off x="3401568" y="1627632"/>
            <a:ext cx="1188720" cy="402336"/>
          </a:xfrm>
          <a:prstGeom prst="rect">
            <a:avLst/>
          </a:prstGeom>
          <a:noFill/>
          <a:ln/>
        </p:spPr>
        <p:txBody>
          <a:bodyPr wrap="square" rtlCol="0" anchor="ctr"/>
          <a:lstStyle/>
          <a:p>
            <a:pPr indent="0" marL="0">
              <a:buNone/>
            </a:pPr>
            <a:r>
              <a:rPr lang="en-US" sz="2400" b="1" dirty="0">
                <a:solidFill>
                  <a:srgbClr val="E2E8F0"/>
                </a:solidFill>
                <a:latin typeface="Georgia" pitchFamily="34" charset="0"/>
                <a:ea typeface="Georgia" pitchFamily="34" charset="-122"/>
                <a:cs typeface="Georgia" pitchFamily="34" charset="-120"/>
              </a:rPr>
              <a:t>0</a:t>
            </a:r>
            <a:endParaRPr lang="en-US" sz="2400" dirty="0"/>
          </a:p>
        </p:txBody>
      </p:sp>
      <p:sp>
        <p:nvSpPr>
          <p:cNvPr id="16" name="Text 14"/>
          <p:cNvSpPr/>
          <p:nvPr/>
        </p:nvSpPr>
        <p:spPr>
          <a:xfrm>
            <a:off x="3401568"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DEATHS</a:t>
            </a:r>
            <a:endParaRPr lang="en-US" sz="700" dirty="0"/>
          </a:p>
        </p:txBody>
      </p:sp>
      <p:sp>
        <p:nvSpPr>
          <p:cNvPr id="17" name="Text 15"/>
          <p:cNvSpPr/>
          <p:nvPr/>
        </p:nvSpPr>
        <p:spPr>
          <a:xfrm>
            <a:off x="3401568"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Primary cohort to W32</a:t>
            </a:r>
            <a:endParaRPr lang="en-US" sz="700" dirty="0"/>
          </a:p>
        </p:txBody>
      </p:sp>
      <p:sp>
        <p:nvSpPr>
          <p:cNvPr id="18" name="Shape 16"/>
          <p:cNvSpPr/>
          <p:nvPr/>
        </p:nvSpPr>
        <p:spPr>
          <a:xfrm>
            <a:off x="877824" y="2432304"/>
            <a:ext cx="3776472" cy="0"/>
          </a:xfrm>
          <a:prstGeom prst="line">
            <a:avLst/>
          </a:prstGeom>
          <a:noFill/>
          <a:ln w="6350">
            <a:solidFill>
              <a:srgbClr val="1E2D4A"/>
            </a:solidFill>
            <a:prstDash val="solid"/>
          </a:ln>
        </p:spPr>
      </p:sp>
      <p:sp>
        <p:nvSpPr>
          <p:cNvPr id="19" name="Text 17"/>
          <p:cNvSpPr/>
          <p:nvPr/>
        </p:nvSpPr>
        <p:spPr>
          <a:xfrm>
            <a:off x="877824" y="2523744"/>
            <a:ext cx="3776472" cy="164592"/>
          </a:xfrm>
          <a:prstGeom prst="rect">
            <a:avLst/>
          </a:prstGeom>
          <a:noFill/>
          <a:ln/>
        </p:spPr>
        <p:txBody>
          <a:bodyPr wrap="square" rtlCol="0" anchor="ctr"/>
          <a:lstStyle/>
          <a:p>
            <a:pPr indent="0" marL="0">
              <a:buNone/>
            </a:pPr>
            <a:r>
              <a:rPr lang="en-US" sz="700" b="1" dirty="0">
                <a:solidFill>
                  <a:srgbClr val="38BDF8"/>
                </a:solidFill>
                <a:latin typeface="Consolas" pitchFamily="34" charset="0"/>
                <a:ea typeface="Consolas" pitchFamily="34" charset="-122"/>
                <a:cs typeface="Consolas" pitchFamily="34" charset="-120"/>
              </a:rPr>
              <a:t>1. DENGUE  //  TEMPORAL TRUNCATION BIAS</a:t>
            </a:r>
            <a:endParaRPr lang="en-US" sz="700" dirty="0"/>
          </a:p>
        </p:txBody>
      </p:sp>
      <p:sp>
        <p:nvSpPr>
          <p:cNvPr id="20" name="Text 18"/>
          <p:cNvSpPr/>
          <p:nvPr/>
        </p:nvSpPr>
        <p:spPr>
          <a:xfrm>
            <a:off x="877824" y="2706624"/>
            <a:ext cx="3776472" cy="548640"/>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Dengue recorded 6 events (36 cases) up to Week 32. However, four-year baseline data demonstrates that 55.4% of all Dengue outbreaks occur after Week 32 (Sep–Dec). The 2026 observation window terminates before the historical surge window opens; week-32 totals are thus inherently incomplete.</a:t>
            </a:r>
            <a:endParaRPr lang="en-US" sz="750" dirty="0"/>
          </a:p>
        </p:txBody>
      </p:sp>
      <p:sp>
        <p:nvSpPr>
          <p:cNvPr id="21" name="Shape 19"/>
          <p:cNvSpPr/>
          <p:nvPr/>
        </p:nvSpPr>
        <p:spPr>
          <a:xfrm>
            <a:off x="877824" y="3328416"/>
            <a:ext cx="3776472" cy="0"/>
          </a:xfrm>
          <a:prstGeom prst="line">
            <a:avLst/>
          </a:prstGeom>
          <a:noFill/>
          <a:ln w="6350">
            <a:solidFill>
              <a:srgbClr val="1E2D4A"/>
            </a:solidFill>
            <a:prstDash val="solid"/>
          </a:ln>
        </p:spPr>
      </p:sp>
      <p:sp>
        <p:nvSpPr>
          <p:cNvPr id="22" name="Text 20"/>
          <p:cNvSpPr/>
          <p:nvPr/>
        </p:nvSpPr>
        <p:spPr>
          <a:xfrm>
            <a:off x="877824" y="3419856"/>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2. FOOD POISONING  //  DIAGNOSTIC CLASSIFICATION EFFECT</a:t>
            </a:r>
            <a:endParaRPr lang="en-US" sz="700" dirty="0"/>
          </a:p>
        </p:txBody>
      </p:sp>
      <p:sp>
        <p:nvSpPr>
          <p:cNvPr id="23" name="Text 21"/>
          <p:cNvSpPr/>
          <p:nvPr/>
        </p:nvSpPr>
        <p:spPr>
          <a:xfrm>
            <a:off x="877824" y="3602736"/>
            <a:ext cx="3776472" cy="49377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Food Poisoning recorded 19 events (375 cases) in W01–W32, exceeding the historical early-year mean of 12.8 events (+49.0%). Notably, 100% of these 19 records were labeled 'Suspected' in source PDFs, indicating how syndromic reporting thresholds impact surveillance counts.</a:t>
            </a:r>
            <a:endParaRPr lang="en-US" sz="750" dirty="0"/>
          </a:p>
        </p:txBody>
      </p:sp>
      <p:sp>
        <p:nvSpPr>
          <p:cNvPr id="24" name="Shape 22"/>
          <p:cNvSpPr/>
          <p:nvPr/>
        </p:nvSpPr>
        <p:spPr>
          <a:xfrm>
            <a:off x="877824" y="4169664"/>
            <a:ext cx="3776472" cy="0"/>
          </a:xfrm>
          <a:prstGeom prst="line">
            <a:avLst/>
          </a:prstGeom>
          <a:noFill/>
          <a:ln w="6350">
            <a:solidFill>
              <a:srgbClr val="1E2D4A"/>
            </a:solidFill>
            <a:prstDash val="solid"/>
          </a:ln>
        </p:spPr>
      </p:sp>
      <p:sp>
        <p:nvSpPr>
          <p:cNvPr id="25" name="Text 23"/>
          <p:cNvSpPr/>
          <p:nvPr/>
        </p:nvSpPr>
        <p:spPr>
          <a:xfrm>
            <a:off x="877824" y="4242816"/>
            <a:ext cx="3776472" cy="219456"/>
          </a:xfrm>
          <a:prstGeom prst="rect">
            <a:avLst/>
          </a:prstGeom>
          <a:noFill/>
          <a:ln/>
        </p:spPr>
        <p:txBody>
          <a:bodyPr wrap="square" rtlCol="0" anchor="ctr"/>
          <a:lstStyle/>
          <a:p>
            <a:pPr indent="0" marL="0">
              <a:buNone/>
            </a:pPr>
            <a:r>
              <a:rPr lang="en-US" sz="700" i="1" dirty="0">
                <a:solidFill>
                  <a:srgbClr val="F87171"/>
                </a:solidFill>
                <a:latin typeface="Calibri" pitchFamily="34" charset="0"/>
                <a:ea typeface="Calibri" pitchFamily="34" charset="-122"/>
                <a:cs typeface="Calibri" pitchFamily="34" charset="-120"/>
              </a:rPr>
              <a:t>BOUNDARY: 2026 data is an out-of-sample check, not a validation or forecast.</a:t>
            </a:r>
            <a:endParaRPr lang="en-US" sz="700" dirty="0"/>
          </a:p>
        </p:txBody>
      </p:sp>
      <p:sp>
        <p:nvSpPr>
          <p:cNvPr id="26" name="Shape 24"/>
          <p:cNvSpPr/>
          <p:nvPr/>
        </p:nvSpPr>
        <p:spPr>
          <a:xfrm>
            <a:off x="4937760" y="1353312"/>
            <a:ext cx="3474720" cy="3218688"/>
          </a:xfrm>
          <a:prstGeom prst="rect">
            <a:avLst/>
          </a:prstGeom>
          <a:solidFill>
            <a:srgbClr val="0C162E"/>
          </a:solidFill>
          <a:ln w="9525">
            <a:solidFill>
              <a:srgbClr val="D4AF37"/>
            </a:solidFill>
            <a:prstDash val="solid"/>
          </a:ln>
        </p:spPr>
      </p:sp>
      <p:sp>
        <p:nvSpPr>
          <p:cNvPr id="27" name="Text 25"/>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2026 SURVEILLANCE COMPARISON</a:t>
            </a:r>
            <a:endParaRPr lang="en-US" sz="700" dirty="0"/>
          </a:p>
        </p:txBody>
      </p:sp>
      <p:sp>
        <p:nvSpPr>
          <p:cNvPr id="28" name="Shape 26"/>
          <p:cNvSpPr/>
          <p:nvPr/>
        </p:nvSpPr>
        <p:spPr>
          <a:xfrm>
            <a:off x="5074920" y="1645920"/>
            <a:ext cx="32004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C_advanced_analysis\chart_2026_comparison.png">    </p:cNvPr>
          <p:cNvPicPr>
            <a:picLocks noChangeAspect="1"/>
          </p:cNvPicPr>
          <p:nvPr/>
        </p:nvPicPr>
        <p:blipFill>
          <a:blip r:embed="rId1"/>
          <a:stretch>
            <a:fillRect/>
          </a:stretch>
        </p:blipFill>
        <p:spPr>
          <a:xfrm>
            <a:off x="5102352" y="1682496"/>
            <a:ext cx="3145536" cy="2468880"/>
          </a:xfrm>
          <a:prstGeom prst="rect">
            <a:avLst/>
          </a:prstGeom>
        </p:spPr>
      </p:pic>
      <p:sp>
        <p:nvSpPr>
          <p:cNvPr id="30" name="Text 27"/>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2026 W01–W32 event counts compared to historical 2022–2025 baseline (Phase 5C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OUT-OF-SAMPLE SURVEILLANCE COMPARISON | 2026 W01–W32</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08 / 10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EPIDEMIOLOGICAL METHODOLOGY  //  RESEARCH BOUNDARIES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Methodological Boundaries of This Analysis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Explicit scientific scope constraints ensuring academic rigor and defensibility</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7680960" cy="594360"/>
          </a:xfrm>
          <a:prstGeom prst="rect">
            <a:avLst/>
          </a:prstGeom>
          <a:solidFill>
            <a:srgbClr val="101C38"/>
          </a:solidFill>
          <a:ln w="9525">
            <a:solidFill>
              <a:srgbClr val="1E335E"/>
            </a:solidFill>
            <a:prstDash val="solid"/>
          </a:ln>
        </p:spPr>
      </p:sp>
      <p:sp>
        <p:nvSpPr>
          <p:cNvPr id="7" name="Shape 5"/>
          <p:cNvSpPr/>
          <p:nvPr/>
        </p:nvSpPr>
        <p:spPr>
          <a:xfrm>
            <a:off x="731520" y="1353312"/>
            <a:ext cx="0" cy="594360"/>
          </a:xfrm>
          <a:prstGeom prst="line">
            <a:avLst/>
          </a:prstGeom>
          <a:noFill/>
          <a:ln w="25400">
            <a:solidFill>
              <a:srgbClr val="D4AF37"/>
            </a:solidFill>
            <a:prstDash val="solid"/>
          </a:ln>
        </p:spPr>
      </p:sp>
      <p:sp>
        <p:nvSpPr>
          <p:cNvPr id="8" name="Text 6"/>
          <p:cNvSpPr/>
          <p:nvPr/>
        </p:nvSpPr>
        <p:spPr>
          <a:xfrm>
            <a:off x="868680" y="1426464"/>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1325880" y="1426464"/>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SURVEILLANCE ≠ POPULATION INCIDENCE</a:t>
            </a:r>
            <a:endParaRPr lang="en-US" sz="750" dirty="0"/>
          </a:p>
        </p:txBody>
      </p:sp>
      <p:sp>
        <p:nvSpPr>
          <p:cNvPr id="10" name="Text 8"/>
          <p:cNvSpPr/>
          <p:nvPr/>
        </p:nvSpPr>
        <p:spPr>
          <a:xfrm>
            <a:off x="4251960" y="1426464"/>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Government outbreak bulletins capture officially investigated disease clusters through passive administrative channels. Mild, treated-at-home, or uninvestigated endemic cases across the broader community are not enumerated.</a:t>
            </a:r>
            <a:endParaRPr lang="en-US" sz="800" dirty="0"/>
          </a:p>
        </p:txBody>
      </p:sp>
      <p:sp>
        <p:nvSpPr>
          <p:cNvPr id="11" name="Shape 9"/>
          <p:cNvSpPr/>
          <p:nvPr/>
        </p:nvSpPr>
        <p:spPr>
          <a:xfrm>
            <a:off x="731520" y="2020824"/>
            <a:ext cx="7680960" cy="594360"/>
          </a:xfrm>
          <a:prstGeom prst="rect">
            <a:avLst/>
          </a:prstGeom>
          <a:solidFill>
            <a:srgbClr val="101C38"/>
          </a:solidFill>
          <a:ln w="9525">
            <a:solidFill>
              <a:srgbClr val="1E335E"/>
            </a:solidFill>
            <a:prstDash val="solid"/>
          </a:ln>
        </p:spPr>
      </p:sp>
      <p:sp>
        <p:nvSpPr>
          <p:cNvPr id="12" name="Shape 10"/>
          <p:cNvSpPr/>
          <p:nvPr/>
        </p:nvSpPr>
        <p:spPr>
          <a:xfrm>
            <a:off x="731520" y="2020824"/>
            <a:ext cx="0" cy="594360"/>
          </a:xfrm>
          <a:prstGeom prst="line">
            <a:avLst/>
          </a:prstGeom>
          <a:noFill/>
          <a:ln w="25400">
            <a:solidFill>
              <a:srgbClr val="D4AF37"/>
            </a:solidFill>
            <a:prstDash val="solid"/>
          </a:ln>
        </p:spPr>
      </p:sp>
      <p:sp>
        <p:nvSpPr>
          <p:cNvPr id="13" name="Text 11"/>
          <p:cNvSpPr/>
          <p:nvPr/>
        </p:nvSpPr>
        <p:spPr>
          <a:xfrm>
            <a:off x="868680" y="2093976"/>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1325880" y="2093976"/>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NO CAUSAL OR CLIMATE ATTRIBUTION</a:t>
            </a:r>
            <a:endParaRPr lang="en-US" sz="750" dirty="0"/>
          </a:p>
        </p:txBody>
      </p:sp>
      <p:sp>
        <p:nvSpPr>
          <p:cNvPr id="15" name="Text 13"/>
          <p:cNvSpPr/>
          <p:nvPr/>
        </p:nvSpPr>
        <p:spPr>
          <a:xfrm>
            <a:off x="4251960" y="2093976"/>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This analysis identifies observed calendar-month outbreak concentrations only. Meteorological covariates (precipitation, humidity, temperature) were not co-modeled, precluding direct causal attribution to weather variables.</a:t>
            </a:r>
            <a:endParaRPr lang="en-US" sz="800" dirty="0"/>
          </a:p>
        </p:txBody>
      </p:sp>
      <p:sp>
        <p:nvSpPr>
          <p:cNvPr id="16" name="Shape 14"/>
          <p:cNvSpPr/>
          <p:nvPr/>
        </p:nvSpPr>
        <p:spPr>
          <a:xfrm>
            <a:off x="731520" y="2688336"/>
            <a:ext cx="7680960" cy="594360"/>
          </a:xfrm>
          <a:prstGeom prst="rect">
            <a:avLst/>
          </a:prstGeom>
          <a:solidFill>
            <a:srgbClr val="101C38"/>
          </a:solidFill>
          <a:ln w="9525">
            <a:solidFill>
              <a:srgbClr val="1E335E"/>
            </a:solidFill>
            <a:prstDash val="solid"/>
          </a:ln>
        </p:spPr>
      </p:sp>
      <p:sp>
        <p:nvSpPr>
          <p:cNvPr id="17" name="Shape 15"/>
          <p:cNvSpPr/>
          <p:nvPr/>
        </p:nvSpPr>
        <p:spPr>
          <a:xfrm>
            <a:off x="731520" y="2688336"/>
            <a:ext cx="0" cy="594360"/>
          </a:xfrm>
          <a:prstGeom prst="line">
            <a:avLst/>
          </a:prstGeom>
          <a:noFill/>
          <a:ln w="25400">
            <a:solidFill>
              <a:srgbClr val="D4AF37"/>
            </a:solidFill>
            <a:prstDash val="solid"/>
          </a:ln>
        </p:spPr>
      </p:sp>
      <p:sp>
        <p:nvSpPr>
          <p:cNvPr id="18" name="Text 16"/>
          <p:cNvSpPr/>
          <p:nvPr/>
        </p:nvSpPr>
        <p:spPr>
          <a:xfrm>
            <a:off x="868680" y="2761488"/>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03</a:t>
            </a:r>
            <a:endParaRPr lang="en-US" sz="2200" dirty="0"/>
          </a:p>
        </p:txBody>
      </p:sp>
      <p:sp>
        <p:nvSpPr>
          <p:cNvPr id="19" name="Text 17"/>
          <p:cNvSpPr/>
          <p:nvPr/>
        </p:nvSpPr>
        <p:spPr>
          <a:xfrm>
            <a:off x="1325880" y="2761488"/>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DIAGNOSTIC &amp; REPORTING HETEROGENEITY</a:t>
            </a:r>
            <a:endParaRPr lang="en-US" sz="750" dirty="0"/>
          </a:p>
        </p:txBody>
      </p:sp>
      <p:sp>
        <p:nvSpPr>
          <p:cNvPr id="20" name="Text 18"/>
          <p:cNvSpPr/>
          <p:nvPr/>
        </p:nvSpPr>
        <p:spPr>
          <a:xfrm>
            <a:off x="4251960" y="2761488"/>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Diagnostic thresholds vary across districts and seasons. Clinical syndromic labels (e.g. 'Suspected' food poisoning) coexist with serologically confirmed entries in source PDFs, producing inherent reporting variance.</a:t>
            </a:r>
            <a:endParaRPr lang="en-US" sz="800" dirty="0"/>
          </a:p>
        </p:txBody>
      </p:sp>
      <p:sp>
        <p:nvSpPr>
          <p:cNvPr id="21" name="Shape 19"/>
          <p:cNvSpPr/>
          <p:nvPr/>
        </p:nvSpPr>
        <p:spPr>
          <a:xfrm>
            <a:off x="731520" y="3355848"/>
            <a:ext cx="7680960" cy="594360"/>
          </a:xfrm>
          <a:prstGeom prst="rect">
            <a:avLst/>
          </a:prstGeom>
          <a:solidFill>
            <a:srgbClr val="101C38"/>
          </a:solidFill>
          <a:ln w="9525">
            <a:solidFill>
              <a:srgbClr val="1E335E"/>
            </a:solidFill>
            <a:prstDash val="solid"/>
          </a:ln>
        </p:spPr>
      </p:sp>
      <p:sp>
        <p:nvSpPr>
          <p:cNvPr id="22" name="Shape 20"/>
          <p:cNvSpPr/>
          <p:nvPr/>
        </p:nvSpPr>
        <p:spPr>
          <a:xfrm>
            <a:off x="731520" y="3355848"/>
            <a:ext cx="0" cy="594360"/>
          </a:xfrm>
          <a:prstGeom prst="line">
            <a:avLst/>
          </a:prstGeom>
          <a:noFill/>
          <a:ln w="25400">
            <a:solidFill>
              <a:srgbClr val="D4AF37"/>
            </a:solidFill>
            <a:prstDash val="solid"/>
          </a:ln>
        </p:spPr>
      </p:sp>
      <p:sp>
        <p:nvSpPr>
          <p:cNvPr id="23" name="Text 21"/>
          <p:cNvSpPr/>
          <p:nvPr/>
        </p:nvSpPr>
        <p:spPr>
          <a:xfrm>
            <a:off x="868680" y="3429000"/>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04</a:t>
            </a:r>
            <a:endParaRPr lang="en-US" sz="2200" dirty="0"/>
          </a:p>
        </p:txBody>
      </p:sp>
      <p:sp>
        <p:nvSpPr>
          <p:cNvPr id="24" name="Text 22"/>
          <p:cNvSpPr/>
          <p:nvPr/>
        </p:nvSpPr>
        <p:spPr>
          <a:xfrm>
            <a:off x="1325880" y="3429000"/>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TRUNCATION (2026 SURVEILLANCE)</a:t>
            </a:r>
            <a:endParaRPr lang="en-US" sz="750" dirty="0"/>
          </a:p>
        </p:txBody>
      </p:sp>
      <p:sp>
        <p:nvSpPr>
          <p:cNvPr id="25" name="Text 23"/>
          <p:cNvSpPr/>
          <p:nvPr/>
        </p:nvSpPr>
        <p:spPr>
          <a:xfrm>
            <a:off x="4251960" y="3429000"/>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The 2026 dataset spans Weeks 01–32 only. Diseases exhibiting second-half seasonal surge dynamics (notably Dengue, where 55.4% of historical events occur after W32) cannot be evaluated across this truncated window.</a:t>
            </a:r>
            <a:endParaRPr lang="en-US" sz="800" dirty="0"/>
          </a:p>
        </p:txBody>
      </p:sp>
      <p:sp>
        <p:nvSpPr>
          <p:cNvPr id="26" name="Shape 24"/>
          <p:cNvSpPr/>
          <p:nvPr/>
        </p:nvSpPr>
        <p:spPr>
          <a:xfrm>
            <a:off x="731520" y="4023360"/>
            <a:ext cx="7680960" cy="594360"/>
          </a:xfrm>
          <a:prstGeom prst="rect">
            <a:avLst/>
          </a:prstGeom>
          <a:solidFill>
            <a:srgbClr val="101C38"/>
          </a:solidFill>
          <a:ln w="9525">
            <a:solidFill>
              <a:srgbClr val="1E335E"/>
            </a:solidFill>
            <a:prstDash val="solid"/>
          </a:ln>
        </p:spPr>
      </p:sp>
      <p:sp>
        <p:nvSpPr>
          <p:cNvPr id="27" name="Shape 25"/>
          <p:cNvSpPr/>
          <p:nvPr/>
        </p:nvSpPr>
        <p:spPr>
          <a:xfrm>
            <a:off x="731520" y="4023360"/>
            <a:ext cx="0" cy="594360"/>
          </a:xfrm>
          <a:prstGeom prst="line">
            <a:avLst/>
          </a:prstGeom>
          <a:noFill/>
          <a:ln w="25400">
            <a:solidFill>
              <a:srgbClr val="D4AF37"/>
            </a:solidFill>
            <a:prstDash val="solid"/>
          </a:ln>
        </p:spPr>
      </p:sp>
      <p:sp>
        <p:nvSpPr>
          <p:cNvPr id="28" name="Text 26"/>
          <p:cNvSpPr/>
          <p:nvPr/>
        </p:nvSpPr>
        <p:spPr>
          <a:xfrm>
            <a:off x="868680" y="4096512"/>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05</a:t>
            </a:r>
            <a:endParaRPr lang="en-US" sz="2200" dirty="0"/>
          </a:p>
        </p:txBody>
      </p:sp>
      <p:sp>
        <p:nvSpPr>
          <p:cNvPr id="29" name="Text 27"/>
          <p:cNvSpPr/>
          <p:nvPr/>
        </p:nvSpPr>
        <p:spPr>
          <a:xfrm>
            <a:off x="1325880" y="4096512"/>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INSTITUTIONAL SURVEILLANCE SCOPE</a:t>
            </a:r>
            <a:endParaRPr lang="en-US" sz="750" dirty="0"/>
          </a:p>
        </p:txBody>
      </p:sp>
      <p:sp>
        <p:nvSpPr>
          <p:cNvPr id="30" name="Text 28"/>
          <p:cNvSpPr/>
          <p:nvPr/>
        </p:nvSpPr>
        <p:spPr>
          <a:xfrm>
            <a:off x="4251960" y="4096512"/>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Surveillance records capture public-sector investigation alerts. Outpatient consultations and private-sector clinical encounters that do not trigger formal IDSP rapid-response team deployments are not captured in these data.</a:t>
            </a:r>
            <a:endParaRPr lang="en-US" sz="800" dirty="0"/>
          </a:p>
        </p:txBody>
      </p:sp>
      <p:sp>
        <p:nvSpPr>
          <p:cNvPr id="31" name="Shape 29"/>
          <p:cNvSpPr/>
          <p:nvPr/>
        </p:nvSpPr>
        <p:spPr>
          <a:xfrm>
            <a:off x="731520" y="4773168"/>
            <a:ext cx="7680960" cy="0"/>
          </a:xfrm>
          <a:prstGeom prst="line">
            <a:avLst/>
          </a:prstGeom>
          <a:noFill/>
          <a:ln w="9525">
            <a:solidFill>
              <a:srgbClr val="1E2D4A"/>
            </a:solidFill>
            <a:prstDash val="solid"/>
          </a:ln>
        </p:spPr>
      </p:sp>
      <p:sp>
        <p:nvSpPr>
          <p:cNvPr id="32" name="Text 30"/>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METHODOLOGICAL BOUNDARIES // RP INSTITUTE // B.SC. DATA SCIENCE VIVA DEFENSE</a:t>
            </a:r>
            <a:endParaRPr lang="en-US" sz="650" dirty="0"/>
          </a:p>
        </p:txBody>
      </p:sp>
      <p:sp>
        <p:nvSpPr>
          <p:cNvPr id="33" name="Text 31"/>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09 / 10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SYNTHESIS  //  RESEARCH CONCLUSIONS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What the Four-Year Analysis Demonstrates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Summary of empirical findings across 539 investigated outbreak events in Maharashtra</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16736"/>
            <a:ext cx="7680960" cy="493776"/>
          </a:xfrm>
          <a:prstGeom prst="rect">
            <a:avLst/>
          </a:prstGeom>
          <a:solidFill>
            <a:srgbClr val="101C38"/>
          </a:solidFill>
          <a:ln w="9525">
            <a:solidFill>
              <a:srgbClr val="1E335E"/>
            </a:solidFill>
            <a:prstDash val="solid"/>
          </a:ln>
        </p:spPr>
      </p:sp>
      <p:sp>
        <p:nvSpPr>
          <p:cNvPr id="7" name="Text 5"/>
          <p:cNvSpPr/>
          <p:nvPr/>
        </p:nvSpPr>
        <p:spPr>
          <a:xfrm>
            <a:off x="868680" y="1371600"/>
            <a:ext cx="411480" cy="384048"/>
          </a:xfrm>
          <a:prstGeom prst="rect">
            <a:avLst/>
          </a:prstGeom>
          <a:noFill/>
          <a:ln/>
        </p:spPr>
        <p:txBody>
          <a:bodyPr wrap="square" rtlCol="0" anchor="ctr"/>
          <a:lstStyle/>
          <a:p>
            <a:pPr indent="0" marL="0">
              <a:buNone/>
            </a:pPr>
            <a:r>
              <a:rPr lang="en-US" sz="1800" b="1" dirty="0">
                <a:solidFill>
                  <a:srgbClr val="D4AF37"/>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325880" y="1371600"/>
            <a:ext cx="2926080" cy="182880"/>
          </a:xfrm>
          <a:prstGeom prst="rect">
            <a:avLst/>
          </a:prstGeom>
          <a:noFill/>
          <a:ln/>
        </p:spPr>
        <p:txBody>
          <a:bodyPr wrap="square" rtlCol="0" anchor="ctr"/>
          <a:lstStyle/>
          <a:p>
            <a:pPr indent="0" marL="0">
              <a:buNone/>
            </a:pPr>
            <a:r>
              <a:rPr lang="en-US" sz="700" b="1" spc="50" kern="0" dirty="0">
                <a:solidFill>
                  <a:srgbClr val="FFFFFF"/>
                </a:solidFill>
                <a:latin typeface="Consolas" pitchFamily="34" charset="0"/>
                <a:ea typeface="Consolas" pitchFamily="34" charset="-122"/>
                <a:cs typeface="Consolas" pitchFamily="34" charset="-120"/>
              </a:rPr>
              <a:t>DISTINCT TEMPORAL SIGNATURES</a:t>
            </a:r>
            <a:endParaRPr lang="en-US" sz="700" dirty="0"/>
          </a:p>
        </p:txBody>
      </p:sp>
      <p:sp>
        <p:nvSpPr>
          <p:cNvPr id="9" name="Text 7"/>
          <p:cNvSpPr/>
          <p:nvPr/>
        </p:nvSpPr>
        <p:spPr>
          <a:xfrm>
            <a:off x="4251960" y="1371600"/>
            <a:ext cx="4023360" cy="40233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The five disease families exhibit fundamentally different calendar distributions: Dengue concentrates in Jun–Oct (Oct peak); Malaria in May–Jul; ADD shows sustained Jun–Aug elevation with Oct secondary activity; Food Poisoning is bimodal (Jan–Feb, Apr–May); Chikungunya is dispersed.</a:t>
            </a:r>
            <a:endParaRPr lang="en-US" sz="750" dirty="0"/>
          </a:p>
        </p:txBody>
      </p:sp>
      <p:sp>
        <p:nvSpPr>
          <p:cNvPr id="10" name="Shape 8"/>
          <p:cNvSpPr/>
          <p:nvPr/>
        </p:nvSpPr>
        <p:spPr>
          <a:xfrm>
            <a:off x="731520" y="1865376"/>
            <a:ext cx="7680960" cy="493776"/>
          </a:xfrm>
          <a:prstGeom prst="rect">
            <a:avLst/>
          </a:prstGeom>
          <a:solidFill>
            <a:srgbClr val="101C38"/>
          </a:solidFill>
          <a:ln w="9525">
            <a:solidFill>
              <a:srgbClr val="1E335E"/>
            </a:solidFill>
            <a:prstDash val="solid"/>
          </a:ln>
        </p:spPr>
      </p:sp>
      <p:sp>
        <p:nvSpPr>
          <p:cNvPr id="11" name="Text 9"/>
          <p:cNvSpPr/>
          <p:nvPr/>
        </p:nvSpPr>
        <p:spPr>
          <a:xfrm>
            <a:off x="868680" y="1920240"/>
            <a:ext cx="411480" cy="384048"/>
          </a:xfrm>
          <a:prstGeom prst="rect">
            <a:avLst/>
          </a:prstGeom>
          <a:noFill/>
          <a:ln/>
        </p:spPr>
        <p:txBody>
          <a:bodyPr wrap="square" rtlCol="0" anchor="ctr"/>
          <a:lstStyle/>
          <a:p>
            <a:pPr indent="0" marL="0">
              <a:buNone/>
            </a:pPr>
            <a:r>
              <a:rPr lang="en-US" sz="1800" b="1" dirty="0">
                <a:solidFill>
                  <a:srgbClr val="D4AF37"/>
                </a:solidFill>
                <a:latin typeface="Georgia" pitchFamily="34" charset="0"/>
                <a:ea typeface="Georgia" pitchFamily="34" charset="-122"/>
                <a:cs typeface="Georgia" pitchFamily="34" charset="-120"/>
              </a:rPr>
              <a:t>02</a:t>
            </a:r>
            <a:endParaRPr lang="en-US" sz="1800" dirty="0"/>
          </a:p>
        </p:txBody>
      </p:sp>
      <p:sp>
        <p:nvSpPr>
          <p:cNvPr id="12" name="Text 10"/>
          <p:cNvSpPr/>
          <p:nvPr/>
        </p:nvSpPr>
        <p:spPr>
          <a:xfrm>
            <a:off x="1325880" y="1920240"/>
            <a:ext cx="2926080" cy="182880"/>
          </a:xfrm>
          <a:prstGeom prst="rect">
            <a:avLst/>
          </a:prstGeom>
          <a:noFill/>
          <a:ln/>
        </p:spPr>
        <p:txBody>
          <a:bodyPr wrap="square" rtlCol="0" anchor="ctr"/>
          <a:lstStyle/>
          <a:p>
            <a:pPr indent="0" marL="0">
              <a:buNone/>
            </a:pPr>
            <a:r>
              <a:rPr lang="en-US" sz="700" b="1" spc="50" kern="0" dirty="0">
                <a:solidFill>
                  <a:srgbClr val="FFFFFF"/>
                </a:solidFill>
                <a:latin typeface="Consolas" pitchFamily="34" charset="0"/>
                <a:ea typeface="Consolas" pitchFamily="34" charset="-122"/>
                <a:cs typeface="Consolas" pitchFamily="34" charset="-120"/>
              </a:rPr>
              <a:t>EVENT FREQUENCY VS. CASE VOLUME DIVERGENCE</a:t>
            </a:r>
            <a:endParaRPr lang="en-US" sz="700" dirty="0"/>
          </a:p>
        </p:txBody>
      </p:sp>
      <p:sp>
        <p:nvSpPr>
          <p:cNvPr id="13" name="Text 11"/>
          <p:cNvSpPr/>
          <p:nvPr/>
        </p:nvSpPr>
        <p:spPr>
          <a:xfrm>
            <a:off x="4251960" y="1920240"/>
            <a:ext cx="4023360" cy="40233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Outbreak event counts and patient case totals can diverge substantially. A small number of mass-exposure records can dominate aggregate case volumes without altering underlying event frequency distributions.</a:t>
            </a:r>
            <a:endParaRPr lang="en-US" sz="750" dirty="0"/>
          </a:p>
        </p:txBody>
      </p:sp>
      <p:sp>
        <p:nvSpPr>
          <p:cNvPr id="14" name="Shape 12"/>
          <p:cNvSpPr/>
          <p:nvPr/>
        </p:nvSpPr>
        <p:spPr>
          <a:xfrm>
            <a:off x="731520" y="2414016"/>
            <a:ext cx="7680960" cy="493776"/>
          </a:xfrm>
          <a:prstGeom prst="rect">
            <a:avLst/>
          </a:prstGeom>
          <a:solidFill>
            <a:srgbClr val="16274D"/>
          </a:solidFill>
          <a:ln w="12700">
            <a:solidFill>
              <a:srgbClr val="10B981"/>
            </a:solidFill>
            <a:prstDash val="solid"/>
          </a:ln>
        </p:spPr>
      </p:sp>
      <p:sp>
        <p:nvSpPr>
          <p:cNvPr id="15" name="Text 13"/>
          <p:cNvSpPr/>
          <p:nvPr/>
        </p:nvSpPr>
        <p:spPr>
          <a:xfrm>
            <a:off x="868680" y="2468880"/>
            <a:ext cx="411480" cy="384048"/>
          </a:xfrm>
          <a:prstGeom prst="rect">
            <a:avLst/>
          </a:prstGeom>
          <a:noFill/>
          <a:ln/>
        </p:spPr>
        <p:txBody>
          <a:bodyPr wrap="square" rtlCol="0" anchor="ctr"/>
          <a:lstStyle/>
          <a:p>
            <a:pPr indent="0" marL="0">
              <a:buNone/>
            </a:pPr>
            <a:r>
              <a:rPr lang="en-US" sz="1800" b="1" dirty="0">
                <a:solidFill>
                  <a:srgbClr val="34D399"/>
                </a:solidFill>
                <a:latin typeface="Georgia" pitchFamily="34" charset="0"/>
                <a:ea typeface="Georgia" pitchFamily="34" charset="-122"/>
                <a:cs typeface="Georgia" pitchFamily="34" charset="-120"/>
              </a:rPr>
              <a:t>03</a:t>
            </a:r>
            <a:endParaRPr lang="en-US" sz="1800" dirty="0"/>
          </a:p>
        </p:txBody>
      </p:sp>
      <p:sp>
        <p:nvSpPr>
          <p:cNvPr id="16" name="Text 14"/>
          <p:cNvSpPr/>
          <p:nvPr/>
        </p:nvSpPr>
        <p:spPr>
          <a:xfrm>
            <a:off x="1325880" y="2468880"/>
            <a:ext cx="2926080" cy="182880"/>
          </a:xfrm>
          <a:prstGeom prst="rect">
            <a:avLst/>
          </a:prstGeom>
          <a:noFill/>
          <a:ln/>
        </p:spPr>
        <p:txBody>
          <a:bodyPr wrap="square" rtlCol="0" anchor="ctr"/>
          <a:lstStyle/>
          <a:p>
            <a:pPr indent="0" marL="0">
              <a:buNone/>
            </a:pPr>
            <a:r>
              <a:rPr lang="en-US" sz="700" b="1" spc="50" kern="0" dirty="0">
                <a:solidFill>
                  <a:srgbClr val="34D399"/>
                </a:solidFill>
                <a:latin typeface="Consolas" pitchFamily="34" charset="0"/>
                <a:ea typeface="Consolas" pitchFamily="34" charset="-122"/>
                <a:cs typeface="Consolas" pitchFamily="34" charset="-120"/>
              </a:rPr>
              <a:t>STATISTICALLY SIGNIFICANT INTER-ANNUAL CONCORDANCE</a:t>
            </a:r>
            <a:endParaRPr lang="en-US" sz="700" dirty="0"/>
          </a:p>
        </p:txBody>
      </p:sp>
      <p:sp>
        <p:nvSpPr>
          <p:cNvPr id="17" name="Text 15"/>
          <p:cNvSpPr/>
          <p:nvPr/>
        </p:nvSpPr>
        <p:spPr>
          <a:xfrm>
            <a:off x="4251960" y="2468880"/>
            <a:ext cx="4023360" cy="40233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Acute Diarrheal Disease demonstrates the only statistically significant inter-annual monthly ranking stability (Kendall’s W = 0.530, p = 0.016). All other disease families return non-significant concordance values.</a:t>
            </a:r>
            <a:endParaRPr lang="en-US" sz="750" dirty="0"/>
          </a:p>
        </p:txBody>
      </p:sp>
      <p:sp>
        <p:nvSpPr>
          <p:cNvPr id="18" name="Shape 16"/>
          <p:cNvSpPr/>
          <p:nvPr/>
        </p:nvSpPr>
        <p:spPr>
          <a:xfrm>
            <a:off x="731520" y="2962656"/>
            <a:ext cx="7680960" cy="493776"/>
          </a:xfrm>
          <a:prstGeom prst="rect">
            <a:avLst/>
          </a:prstGeom>
          <a:solidFill>
            <a:srgbClr val="101C38"/>
          </a:solidFill>
          <a:ln w="9525">
            <a:solidFill>
              <a:srgbClr val="1E335E"/>
            </a:solidFill>
            <a:prstDash val="solid"/>
          </a:ln>
        </p:spPr>
      </p:sp>
      <p:sp>
        <p:nvSpPr>
          <p:cNvPr id="19" name="Text 17"/>
          <p:cNvSpPr/>
          <p:nvPr/>
        </p:nvSpPr>
        <p:spPr>
          <a:xfrm>
            <a:off x="868680" y="3017520"/>
            <a:ext cx="411480" cy="384048"/>
          </a:xfrm>
          <a:prstGeom prst="rect">
            <a:avLst/>
          </a:prstGeom>
          <a:noFill/>
          <a:ln/>
        </p:spPr>
        <p:txBody>
          <a:bodyPr wrap="square" rtlCol="0" anchor="ctr"/>
          <a:lstStyle/>
          <a:p>
            <a:pPr indent="0" marL="0">
              <a:buNone/>
            </a:pPr>
            <a:r>
              <a:rPr lang="en-US" sz="1800" b="1" dirty="0">
                <a:solidFill>
                  <a:srgbClr val="D4AF37"/>
                </a:solidFill>
                <a:latin typeface="Georgia" pitchFamily="34" charset="0"/>
                <a:ea typeface="Georgia" pitchFamily="34" charset="-122"/>
                <a:cs typeface="Georgia" pitchFamily="34" charset="-120"/>
              </a:rPr>
              <a:t>04</a:t>
            </a:r>
            <a:endParaRPr lang="en-US" sz="1800" dirty="0"/>
          </a:p>
        </p:txBody>
      </p:sp>
      <p:sp>
        <p:nvSpPr>
          <p:cNvPr id="20" name="Text 18"/>
          <p:cNvSpPr/>
          <p:nvPr/>
        </p:nvSpPr>
        <p:spPr>
          <a:xfrm>
            <a:off x="1325880" y="3017520"/>
            <a:ext cx="2926080" cy="182880"/>
          </a:xfrm>
          <a:prstGeom prst="rect">
            <a:avLst/>
          </a:prstGeom>
          <a:noFill/>
          <a:ln/>
        </p:spPr>
        <p:txBody>
          <a:bodyPr wrap="square" rtlCol="0" anchor="ctr"/>
          <a:lstStyle/>
          <a:p>
            <a:pPr indent="0" marL="0">
              <a:buNone/>
            </a:pPr>
            <a:r>
              <a:rPr lang="en-US" sz="700" b="1" spc="50" kern="0" dirty="0">
                <a:solidFill>
                  <a:srgbClr val="FFFFFF"/>
                </a:solidFill>
                <a:latin typeface="Consolas" pitchFamily="34" charset="0"/>
                <a:ea typeface="Consolas" pitchFamily="34" charset="-122"/>
                <a:cs typeface="Consolas" pitchFamily="34" charset="-120"/>
              </a:rPr>
              <a:t>OUTLIER SENSITIVITY IN CASE TOTALS</a:t>
            </a:r>
            <a:endParaRPr lang="en-US" sz="700" dirty="0"/>
          </a:p>
        </p:txBody>
      </p:sp>
      <p:sp>
        <p:nvSpPr>
          <p:cNvPr id="21" name="Text 19"/>
          <p:cNvSpPr/>
          <p:nvPr/>
        </p:nvSpPr>
        <p:spPr>
          <a:xfrm>
            <a:off x="4251960" y="3017520"/>
            <a:ext cx="4023360" cy="40233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Food Poisoning case totals are overwhelmingly driven by three mass-exposure records (1,615 cases) accounting for 74.7% of all February cases and 27.3% of four-year baseline cases across Maharashtra.</a:t>
            </a:r>
            <a:endParaRPr lang="en-US" sz="750" dirty="0"/>
          </a:p>
        </p:txBody>
      </p:sp>
      <p:sp>
        <p:nvSpPr>
          <p:cNvPr id="22" name="Shape 20"/>
          <p:cNvSpPr/>
          <p:nvPr/>
        </p:nvSpPr>
        <p:spPr>
          <a:xfrm>
            <a:off x="731520" y="3511296"/>
            <a:ext cx="7680960" cy="493776"/>
          </a:xfrm>
          <a:prstGeom prst="rect">
            <a:avLst/>
          </a:prstGeom>
          <a:solidFill>
            <a:srgbClr val="101C38"/>
          </a:solidFill>
          <a:ln w="9525">
            <a:solidFill>
              <a:srgbClr val="1E335E"/>
            </a:solidFill>
            <a:prstDash val="solid"/>
          </a:ln>
        </p:spPr>
      </p:sp>
      <p:sp>
        <p:nvSpPr>
          <p:cNvPr id="23" name="Text 21"/>
          <p:cNvSpPr/>
          <p:nvPr/>
        </p:nvSpPr>
        <p:spPr>
          <a:xfrm>
            <a:off x="868680" y="3566160"/>
            <a:ext cx="411480" cy="384048"/>
          </a:xfrm>
          <a:prstGeom prst="rect">
            <a:avLst/>
          </a:prstGeom>
          <a:noFill/>
          <a:ln/>
        </p:spPr>
        <p:txBody>
          <a:bodyPr wrap="square" rtlCol="0" anchor="ctr"/>
          <a:lstStyle/>
          <a:p>
            <a:pPr indent="0" marL="0">
              <a:buNone/>
            </a:pPr>
            <a:r>
              <a:rPr lang="en-US" sz="1800" b="1" dirty="0">
                <a:solidFill>
                  <a:srgbClr val="D4AF37"/>
                </a:solidFill>
                <a:latin typeface="Georgia" pitchFamily="34" charset="0"/>
                <a:ea typeface="Georgia" pitchFamily="34" charset="-122"/>
                <a:cs typeface="Georgia" pitchFamily="34" charset="-120"/>
              </a:rPr>
              <a:t>05</a:t>
            </a:r>
            <a:endParaRPr lang="en-US" sz="1800" dirty="0"/>
          </a:p>
        </p:txBody>
      </p:sp>
      <p:sp>
        <p:nvSpPr>
          <p:cNvPr id="24" name="Text 22"/>
          <p:cNvSpPr/>
          <p:nvPr/>
        </p:nvSpPr>
        <p:spPr>
          <a:xfrm>
            <a:off x="1325880" y="3566160"/>
            <a:ext cx="2926080" cy="182880"/>
          </a:xfrm>
          <a:prstGeom prst="rect">
            <a:avLst/>
          </a:prstGeom>
          <a:noFill/>
          <a:ln/>
        </p:spPr>
        <p:txBody>
          <a:bodyPr wrap="square" rtlCol="0" anchor="ctr"/>
          <a:lstStyle/>
          <a:p>
            <a:pPr indent="0" marL="0">
              <a:buNone/>
            </a:pPr>
            <a:r>
              <a:rPr lang="en-US" sz="700" b="1" spc="50" kern="0" dirty="0">
                <a:solidFill>
                  <a:srgbClr val="FFFFFF"/>
                </a:solidFill>
                <a:latin typeface="Consolas" pitchFamily="34" charset="0"/>
                <a:ea typeface="Consolas" pitchFamily="34" charset="-122"/>
                <a:cs typeface="Consolas" pitchFamily="34" charset="-120"/>
              </a:rPr>
              <a:t>PARTIAL-YEAR SURVEILLANCE BOUNDARIES</a:t>
            </a:r>
            <a:endParaRPr lang="en-US" sz="700" dirty="0"/>
          </a:p>
        </p:txBody>
      </p:sp>
      <p:sp>
        <p:nvSpPr>
          <p:cNvPr id="25" name="Text 23"/>
          <p:cNvSpPr/>
          <p:nvPr/>
        </p:nvSpPr>
        <p:spPr>
          <a:xfrm>
            <a:off x="4251960" y="3566160"/>
            <a:ext cx="4023360" cy="40233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2026 Weeks 01–32 provides a partial out-of-sample comparison, not a full annual validation. Diseases with historical post-Week 32 surge patterns (notably Dengue) cannot be evaluated over this partial observation window.</a:t>
            </a:r>
            <a:endParaRPr lang="en-US" sz="750" dirty="0"/>
          </a:p>
        </p:txBody>
      </p:sp>
      <p:sp>
        <p:nvSpPr>
          <p:cNvPr id="26" name="Shape 24"/>
          <p:cNvSpPr/>
          <p:nvPr/>
        </p:nvSpPr>
        <p:spPr>
          <a:xfrm>
            <a:off x="731520" y="4114800"/>
            <a:ext cx="7680960" cy="585216"/>
          </a:xfrm>
          <a:prstGeom prst="rect">
            <a:avLst/>
          </a:prstGeom>
          <a:solidFill>
            <a:srgbClr val="16274D"/>
          </a:solidFill>
          <a:ln w="12700">
            <a:solidFill>
              <a:srgbClr val="D4AF37"/>
            </a:solidFill>
            <a:prstDash val="solid"/>
          </a:ln>
        </p:spPr>
      </p:sp>
      <p:sp>
        <p:nvSpPr>
          <p:cNvPr id="27" name="Shape 25"/>
          <p:cNvSpPr/>
          <p:nvPr/>
        </p:nvSpPr>
        <p:spPr>
          <a:xfrm>
            <a:off x="731520" y="4114800"/>
            <a:ext cx="7680960" cy="0"/>
          </a:xfrm>
          <a:prstGeom prst="line">
            <a:avLst/>
          </a:prstGeom>
          <a:noFill/>
          <a:ln w="25400">
            <a:solidFill>
              <a:srgbClr val="D4AF37"/>
            </a:solidFill>
            <a:prstDash val="solid"/>
          </a:ln>
        </p:spPr>
      </p:sp>
      <p:sp>
        <p:nvSpPr>
          <p:cNvPr id="28" name="Text 26"/>
          <p:cNvSpPr/>
          <p:nvPr/>
        </p:nvSpPr>
        <p:spPr>
          <a:xfrm>
            <a:off x="914400" y="4187952"/>
            <a:ext cx="2011680" cy="182880"/>
          </a:xfrm>
          <a:prstGeom prst="rect">
            <a:avLst/>
          </a:prstGeom>
          <a:noFill/>
          <a:ln/>
        </p:spPr>
        <p:txBody>
          <a:bodyPr wrap="square" rtlCol="0" anchor="ctr"/>
          <a:lstStyle/>
          <a:p>
            <a:pPr indent="0" marL="0">
              <a:buNone/>
            </a:pPr>
            <a:r>
              <a:rPr lang="en-US" sz="750" b="1" spc="100" kern="0" dirty="0">
                <a:solidFill>
                  <a:srgbClr val="D4AF37"/>
                </a:solidFill>
                <a:latin typeface="Consolas" pitchFamily="34" charset="0"/>
                <a:ea typeface="Consolas" pitchFamily="34" charset="-122"/>
                <a:cs typeface="Consolas" pitchFamily="34" charset="-120"/>
              </a:rPr>
              <a:t>SURVEILLANCE IMPLICATION</a:t>
            </a:r>
            <a:endParaRPr lang="en-US" sz="750" dirty="0"/>
          </a:p>
        </p:txBody>
      </p:sp>
      <p:sp>
        <p:nvSpPr>
          <p:cNvPr id="29" name="Text 27"/>
          <p:cNvSpPr/>
          <p:nvPr/>
        </p:nvSpPr>
        <p:spPr>
          <a:xfrm>
            <a:off x="3017520" y="4187952"/>
            <a:ext cx="5212080" cy="438912"/>
          </a:xfrm>
          <a:prstGeom prst="rect">
            <a:avLst/>
          </a:prstGeom>
          <a:noFill/>
          <a:ln/>
        </p:spPr>
        <p:txBody>
          <a:bodyPr wrap="square" rtlCol="0" anchor="ctr"/>
          <a:lstStyle/>
          <a:p>
            <a:pPr indent="0" marL="0">
              <a:lnSpc>
                <a:spcPct val="118000"/>
              </a:lnSpc>
              <a:buNone/>
            </a:pPr>
            <a:r>
              <a:rPr lang="en-US" sz="850" i="1" dirty="0">
                <a:solidFill>
                  <a:srgbClr val="FFFFFF"/>
                </a:solidFill>
                <a:latin typeface="Calibri" pitchFamily="34" charset="0"/>
                <a:ea typeface="Calibri" pitchFamily="34" charset="-122"/>
                <a:cs typeface="Calibri" pitchFamily="34" charset="-120"/>
              </a:rPr>
              <a:t>Historical concentration windows can assist public health authorities in prioritizing surveillance vigilance and logistical pre-positioning, while remaining strictly subject to reporting coverage constraints and source-data boundaries.</a:t>
            </a:r>
            <a:endParaRPr lang="en-US" sz="850" dirty="0"/>
          </a:p>
        </p:txBody>
      </p:sp>
      <p:sp>
        <p:nvSpPr>
          <p:cNvPr id="30" name="Shape 28"/>
          <p:cNvSpPr/>
          <p:nvPr/>
        </p:nvSpPr>
        <p:spPr>
          <a:xfrm>
            <a:off x="731520" y="4773168"/>
            <a:ext cx="7680960" cy="0"/>
          </a:xfrm>
          <a:prstGeom prst="line">
            <a:avLst/>
          </a:prstGeom>
          <a:noFill/>
          <a:ln w="9525">
            <a:solidFill>
              <a:srgbClr val="1E2D4A"/>
            </a:solidFill>
            <a:prstDash val="solid"/>
          </a:ln>
        </p:spPr>
      </p:sp>
      <p:sp>
        <p:nvSpPr>
          <p:cNvPr id="31"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SYNTHESIS // KHAN UMAR // B.SC. DATA SCIENCE, RP INSTITUTE</a:t>
            </a:r>
            <a:endParaRPr lang="en-US" sz="650" dirty="0"/>
          </a:p>
        </p:txBody>
      </p:sp>
      <p:sp>
        <p:nvSpPr>
          <p:cNvPr id="32"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10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2026-10-02T17:47:57Z</dcterms:created>
  <dcterms:modified xsi:type="dcterms:W3CDTF">2026-10-02T17:47:57Z</dcterms:modified>
</cp:coreProperties>
</file>