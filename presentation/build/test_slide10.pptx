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VIVA SCRIPT (40s):
In conclusion, four completed years of NCDC outbreak surveillance data across Maharashtra demonstrates five findings:
1. Disease families exhibit distinct calendar distributions rather than a single shared monsoon surge.
2. Event frequency and case volume are distinct metrics that diverge substantially during mass outbreaks.
3. Acute Diarrheal Disease demonstrates the only statistically significant inter-annual rank stability (W = 0.530, p = 0.016).
4. Food Poisoning case totals are heavily influenced by three localized mass-case records (74.7% of February cases).
5. 2026 W01–W32 is a partial-year comparison, not a full annual validation.
The operational implication: historical concentration windows can inform pre-positioning and vigilance timing, subject to reporting limitations.
Thank you, examiners. I welcome your questions.
WHAT NOT TO SAY: Do not prescribe medical interventions, clinical treatments, or use the word 'proves'.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92608"/>
            <a:ext cx="7680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SYNTHESIS  //  RESEARCH CONCLUSIONS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31520" y="49377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Four-Year Analysis Demonstrates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31520" y="932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empirical findings across 539 investigated outbreak events in Maharashtra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225296"/>
            <a:ext cx="7680960" cy="0"/>
          </a:xfrm>
          <a:prstGeom prst="line">
            <a:avLst/>
          </a:prstGeom>
          <a:noFill/>
          <a:ln w="9525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16736"/>
            <a:ext cx="7680960" cy="493776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7160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 TEMPORAL SIGNATURES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251960" y="137160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disease families exhibit fundamentally different calendar distributions: Dengue concentrates in Jun–Oct (Oct peak); Malaria in May–Jul; ADD shows sustained Jun–Aug elevation with Oct secondary activity; Food Poisoning is bimodal (Jan–Feb, Apr–May); Chikungunya is dispersed.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731520" y="1865376"/>
            <a:ext cx="7680960" cy="493776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92024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9202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FREQUENCY VS. CASE VOLUME DIVERGENCE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251960" y="192024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Outbreak event counts and patient case totals can diverge substantially. A small number of mass-exposure records can dominate aggregate case volumes without altering underlying event frequency distributions.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31520" y="2414016"/>
            <a:ext cx="7680960" cy="493776"/>
          </a:xfrm>
          <a:prstGeom prst="rect">
            <a:avLst/>
          </a:prstGeom>
          <a:solidFill>
            <a:srgbClr val="16274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46888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24688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STATISTICALLY SIGNIFICANT INTER-ANNUAL CONCORDANCE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251960" y="246888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Diarrheal Disease demonstrates the only statistically significant inter-annual monthly ranking stability (Kendall’s W = 0.530, p = 0.016). All other disease families return non-significant concordance values.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31520" y="2962656"/>
            <a:ext cx="7680960" cy="493776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01752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25880" y="30175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 SENSITIVITY IN CASE TOTALS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251960" y="301752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Poisoning case totals are overwhelmingly driven by three mass-exposure records (1,615 cases) accounting for 74.7% of all February cases and 27.3% of four-year baseline cases across Maharashtra.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1520" y="3511296"/>
            <a:ext cx="7680960" cy="493776"/>
          </a:xfrm>
          <a:prstGeom prst="rect">
            <a:avLst/>
          </a:prstGeom>
          <a:solidFill>
            <a:srgbClr val="101C38"/>
          </a:solidFill>
          <a:ln w="9525">
            <a:solidFill>
              <a:srgbClr val="1E33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566160"/>
            <a:ext cx="411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5661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PARTIAL-YEAR SURVEILLANCE BOUNDARIES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251960" y="3566160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Weeks 01–32 provides a partial out-of-sample comparison, not a full annual validation. Diseases with historical post-Week 32 surge patterns (notably Dengue) cannot be evaluated over this partial observation window.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31520" y="4114800"/>
            <a:ext cx="7680960" cy="585216"/>
          </a:xfrm>
          <a:prstGeom prst="rect">
            <a:avLst/>
          </a:prstGeom>
          <a:solidFill>
            <a:srgbClr val="16274D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114800"/>
            <a:ext cx="768096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418795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SURVEILLANCE IMPLICATION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017520" y="4187952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concentration windows can assist public health authorities in prioritizing surveillance vigilance and logistical pre-positioning, while remaining strictly subject to reporting coverage constraints and source-data boundaries.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31520" y="4773168"/>
            <a:ext cx="7680960" cy="0"/>
          </a:xfrm>
          <a:prstGeom prst="line">
            <a:avLst/>
          </a:prstGeom>
          <a:noFill/>
          <a:ln w="9525">
            <a:solidFill>
              <a:srgbClr val="1E2D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846320"/>
            <a:ext cx="6583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SYNTHESIS // KHAN UMAR // B.SC. DATA SCIENCE, RP INSTITUTE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749808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2026-10-02T17:40:30Z</dcterms:created>
  <dcterms:modified xsi:type="dcterms:W3CDTF">2026-10-02T17:40:30Z</dcterms:modified>
</cp:coreProperties>
</file>