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(30s):
Respected examiners, good morning. My name is Khan Umar, a third-semester student of B.Sc. Data Science at RP Institute, University of Mumbai. Today, I present our research project: 'Analysis of Seasonal Disease Patterns Using Government Health Data'. This investigation is an auditable, end-to-end data engineering and statistical analysis of weekly disease outbreak surveillance published by the National Centre for Disease Control across Maharashtra. We evaluate four completed calendar years from 2022 to 2025 as our empirical baseline, and compare these patterns against partial-year data from 2026.
WHAT NOT TO OVERCLAIM: Do not claim this is clinical fieldwork or a study of patient treatment. This is secondary epidemiological surveillance data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Our research addresses one specific public-health data question: What seasonal patterns are evident in selected disease outbreak reports in Maharashtra, and how do they vary across diseases and seasons?
To answer this scientifically, we structure our analysis into three distinct data science pillars:
First, temporal concentration: calculating the exact months where reports cluster using concentration ratios.
Second, inter-annual stability: testing whether annual curves repeat reliably using Kendall's W concordance.
And third, outlier sensitivity: separating outbreak event counts from case volume so single large food or water outbreaks do not mislead us.
LIKELY EXAMINER QUESTION: Why is this a data science question rather than a medical question?
DEFENSIBLE ANSWER: Because we are analyzing administrative surveillance signals, clustering, rank concordance, and outlier distortions across 4 years of secondary tabular reports, not diagnosing individual biological mechanisms.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 major contribution of this project is our data engineering cascade shown here. We acquired 237 weekly surveillance PDF bulletins published by the NCDC from 2022 through Week 32 of 2026. From these, we curated 809 Maharashtra outbreak records. In the raw PDFs, there were 116 differently spelled disease strings, such as 'Dengue?', 'Dengue fever', and 'Dengue Shock'. We mapped these into 56 cleaned analytical labels, consolidated them into 30 disease families, and screened five primary study families that account for 93.9% of all baseline records.
CRITICAL VIVA POINT: We used additive cleaning: the original raw string was never overwritten or deleted. Every record links directly to its source PDF and page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Across the four completed calendar years from 2022 to 2025, our primary analytical cohort comprises exactly 539 outbreak records, 21,955 reported cases, and 266 reported deaths.
Notice the crucial difference between event frequency and case counts in the table below:
Dengue had the highest event frequency with 204 records, but resulted in 3,144 cases.
Conversely, Acute Diarrheal Disease had 153 events but generated 9,050 cases.
Food Poisoning generated 5,927 cases from only 69 events.
This establishes our core data science premise: one outbreak record can contain dozens or hundreds of cases, so outbreak event frequency must never be conflated with case volume.
WHAT NOT TO OVERCLAIM: Do not call 21,955 'population incidence' or 'disease burden'. It represents cases enumerated during official outbreak cluster investigations.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(40s):
This is the core empirical finding of our project: five diseases exhibit five fundamentally different temporal signatures.
Notice that they do NOT all peak at the same time during the monsoon:
1. Dengue peaks late in the season, concentrating 82.8% of its outbreaks between June and October, with its highest peak in October (40 events).
2. Malaria peaks earlier, concentrating 51.4% of its outbreaks between May and July, with its peak in June (15 events).
3. Acute Diarrheal Disease shows a sustained monsoon burden from June to August (43.1% CR3), with a secondary post-monsoon rise in October.
4. Food Poisoning displays an unexpected bimodal distribution with peaks in January–February and April–May.
5. Chikungunya shows moderate peaks in May–July and September–October.
ONE SENTENCE YOU MUST NOT SAY: Do not say 'This proves monsoon rains caused the Dengue outbreak.' Rainfall was not co-modeled; this demonstrates calendar-month surveillance concentration.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When we compare these diseases scientifically, two critical insights emerge:
First, the vector-borne asymmetry: Malaria outbreaks peak early in the monsoon in June, whereas Dengue peaks late in October. This occurs because anopheline mosquitoes breed quickly in early rain puddles, while Aedes aegypti vectors flourish in post-monsoon artificial water storage.
Second, statistical stability: Using Kendall's W test across the four baseline years, only Acute Diarrheal Disease demonstrates statistically significant inter-annual concordance (W=0.530, p=0.016). Food Poisoning (W=0.260) and Malaria (W=0.319) do not show stable annual profiles because they are driven by localized point-source outbreaks or erratic reporting.
WHAT KENDALL'S W MEASURES: It measures whether the 12-month ranking of outbreak counts is maintained consistently across the four completed years (0 = complete disagreement, 1 = perfect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This slide demonstrates our research maturity in dealing with extreme surveillance outliers.
In Food Poisoning, February appears to have a massive case spike of 2,162 cases. However, our sensitivity analysis revealed that 1,615 of those cases came from just three single records: Kolhapur (651 cases), Parbhani (629 cases), and Solapur (335 cases). These three records account for 74.7% of all February cases, and more than a quarter of all cases across the entire four-year study!
This proves why a data scientist must never look at case totals in isolation without analyzing the underlying event counts.
ONE SENTENCE YOU MUST NOT SAY: Do not say 'These three outbreaks were caused by wedding banquets or catering.' We have no source evidence for wedding causes; we explain it strictly as an extreme outlier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We treat 2026 strictly as an out-of-sample comparison period covering Weeks 01 to 32. Across the five primary families, there were 45 outbreak records, 1,118 reported cases, and 0 reported deaths.
This partial-year check illustrates two critical data science principles:
First, seasonal truncation: Dengue recorded only 6 events up to Week 32. A careless analyst might claim Dengue declined. But our baseline data proves that 55.4% of Dengue outbreaks occur after Week 32! Therefore, the season had simply not finished.
Second, diagnostic classification: Food Poisoning reported 19 early-year outbreaks, but every single one was classified as 'Suspected' in the government reports.
ONE SENTENCE YOU MUST NOT SAY: Do not say 'This is a forecast for 2026.' It is an out-of-sample comparison of already published weeks, not a predictive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An essential requirement of scientific defense is recognizing the boundaries of one's data.
We explicitly identify four key limitations:
First: NCDC data captures outbreak events investigated by public health authorities. It does not measure total community incidence.
Second: Private clinics and chemists, where most patients first seek care, are not fully captured in weekly surveillance.
Third: We did not co-model rainfall or temperature datasets. Therefore, our findings prove calendar-month concentration, NOT climatic causation.
Fourth: District variations reflect differences in local public health reporting capacity as well as disease activity.
LIKELY EXAMINER QUESTION: What is the biggest limitation of your project?
DEFENSIBLE ANSWER: That this is an analysis of investigated outbreak clusters rather than true population disease incidence.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In conclusion, our research translates four years of government surveillance data into actionable public health intelligence.
Instead of treating all monsoon illnesses with a generic calendar response, our findings prove that public health authorities should deploy pre-positioning resources in staggered windows:
Malaria teams must deploy in early May (Weeks 18–20).
Water-testing and chlorination for ADD must begin in late May (Weeks 20–22).
And Dengue source reduction must scale in early June (Weeks 22–24) to prepare for the late-monsoon peak.
This demonstrates how secondary data engineering directly informs public health readiness.
Thank you, and I look forward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BDD"/>
        </a:solidFill>
      </p:bgPr>
    </p:bg>
    <p:spTree>
      <p:nvGrpSpPr>
        <p:cNvPr id="1" name=""/>
        <p:cNvGrpSpPr/>
        <p:nvPr/>
      </p:nvGrpSpPr>
      <p:grpSpPr>
        <a:xfrm>
          <a:off x="0" y="0"/>
          <a:ext cx="0" cy="0"/>
          <a:chOff x="0" y="0"/>
          <a:chExt cx="0" cy="0"/>
        </a:xfrm>
      </p:grpSpPr>
      <p:sp>
        <p:nvSpPr>
          <p:cNvPr id="2" name="Text 0"/>
          <p:cNvSpPr/>
          <p:nvPr/>
        </p:nvSpPr>
        <p:spPr>
          <a:xfrm>
            <a:off x="731520" y="731520"/>
            <a:ext cx="7680960" cy="274320"/>
          </a:xfrm>
          <a:prstGeom prst="rect">
            <a:avLst/>
          </a:prstGeom>
          <a:noFill/>
          <a:ln/>
        </p:spPr>
        <p:txBody>
          <a:bodyPr wrap="square" rtlCol="0" anchor="ctr"/>
          <a:lstStyle/>
          <a:p>
            <a:pPr indent="0" marL="0">
              <a:buNone/>
            </a:pPr>
            <a:r>
              <a:rPr lang="en-US" sz="900" b="1" spc="200" kern="0" dirty="0">
                <a:solidFill>
                  <a:srgbClr val="174A4A"/>
                </a:solidFill>
                <a:latin typeface="Consolas" pitchFamily="34" charset="0"/>
                <a:ea typeface="Consolas" pitchFamily="34" charset="-122"/>
                <a:cs typeface="Consolas" pitchFamily="34" charset="-120"/>
              </a:rPr>
              <a:t>RP INSTITUTE // UNIVERSITY OF MUMBAI</a:t>
            </a:r>
            <a:endParaRPr lang="en-US" sz="900" dirty="0"/>
          </a:p>
        </p:txBody>
      </p:sp>
      <p:sp>
        <p:nvSpPr>
          <p:cNvPr id="3" name="Text 1"/>
          <p:cNvSpPr/>
          <p:nvPr/>
        </p:nvSpPr>
        <p:spPr>
          <a:xfrm>
            <a:off x="731520" y="1143000"/>
            <a:ext cx="7680960" cy="1371600"/>
          </a:xfrm>
          <a:prstGeom prst="rect">
            <a:avLst/>
          </a:prstGeom>
          <a:noFill/>
          <a:ln/>
        </p:spPr>
        <p:txBody>
          <a:bodyPr wrap="square" rtlCol="0" anchor="ctr"/>
          <a:lstStyle/>
          <a:p>
            <a:pPr indent="0" marL="0">
              <a:lnSpc>
                <a:spcPct val="115000"/>
              </a:lnSpc>
              <a:buNone/>
            </a:pPr>
            <a:r>
              <a:rPr lang="en-US" sz="3200" b="1" dirty="0">
                <a:solidFill>
                  <a:srgbClr val="171A18"/>
                </a:solidFill>
                <a:latin typeface="Georgia" pitchFamily="34" charset="0"/>
                <a:ea typeface="Georgia" pitchFamily="34" charset="-122"/>
                <a:cs typeface="Georgia" pitchFamily="34" charset="-120"/>
              </a:rPr>
              <a:t>Analysis of Seasonal Disease</a:t>
            </a:r>
            <a:endParaRPr lang="en-US" sz="3200" dirty="0"/>
          </a:p>
          <a:p>
            <a:pPr indent="0" marL="0">
              <a:lnSpc>
                <a:spcPct val="115000"/>
              </a:lnSpc>
              <a:buNone/>
            </a:pPr>
            <a:r>
              <a:rPr lang="en-US" sz="3200" b="1" dirty="0">
                <a:solidFill>
                  <a:srgbClr val="171A18"/>
                </a:solidFill>
                <a:latin typeface="Georgia" pitchFamily="34" charset="0"/>
                <a:ea typeface="Georgia" pitchFamily="34" charset="-122"/>
                <a:cs typeface="Georgia" pitchFamily="34" charset="-120"/>
              </a:rPr>
              <a:t>Patterns Using Government Health Data</a:t>
            </a:r>
            <a:endParaRPr lang="en-US" sz="3200" dirty="0"/>
          </a:p>
        </p:txBody>
      </p:sp>
      <p:sp>
        <p:nvSpPr>
          <p:cNvPr id="4" name="Text 2"/>
          <p:cNvSpPr/>
          <p:nvPr/>
        </p:nvSpPr>
        <p:spPr>
          <a:xfrm>
            <a:off x="731520" y="2651760"/>
            <a:ext cx="7680960" cy="594360"/>
          </a:xfrm>
          <a:prstGeom prst="rect">
            <a:avLst/>
          </a:prstGeom>
          <a:noFill/>
          <a:ln/>
        </p:spPr>
        <p:txBody>
          <a:bodyPr wrap="square" rtlCol="0" anchor="ctr"/>
          <a:lstStyle/>
          <a:p>
            <a:pPr indent="0" marL="0">
              <a:lnSpc>
                <a:spcPct val="120000"/>
              </a:lnSpc>
              <a:buNone/>
            </a:pPr>
            <a:r>
              <a:rPr lang="en-US" sz="1300" dirty="0">
                <a:solidFill>
                  <a:srgbClr val="50534D"/>
                </a:solidFill>
                <a:latin typeface="Calibri" pitchFamily="34" charset="0"/>
                <a:ea typeface="Calibri" pitchFamily="34" charset="-122"/>
                <a:cs typeface="Calibri" pitchFamily="34" charset="-120"/>
              </a:rPr>
              <a:t>A Four-Year Epidemiological Outbreak Surveillance Study in Maharashtra (2022–2025)</a:t>
            </a:r>
            <a:endParaRPr lang="en-US" sz="1300" dirty="0"/>
          </a:p>
          <a:p>
            <a:pPr indent="0" marL="0">
              <a:lnSpc>
                <a:spcPct val="120000"/>
              </a:lnSpc>
              <a:buNone/>
            </a:pPr>
            <a:r>
              <a:rPr lang="en-US" sz="1300" dirty="0">
                <a:solidFill>
                  <a:srgbClr val="50534D"/>
                </a:solidFill>
                <a:latin typeface="Calibri" pitchFamily="34" charset="0"/>
                <a:ea typeface="Calibri" pitchFamily="34" charset="-122"/>
                <a:cs typeface="Calibri" pitchFamily="34" charset="-120"/>
              </a:rPr>
              <a:t>with Out-of-Sample Surveillance Validation (2026 W01–W32)</a:t>
            </a:r>
            <a:endParaRPr lang="en-US" sz="1300" dirty="0"/>
          </a:p>
        </p:txBody>
      </p:sp>
      <p:sp>
        <p:nvSpPr>
          <p:cNvPr id="5" name="Shape 3"/>
          <p:cNvSpPr/>
          <p:nvPr/>
        </p:nvSpPr>
        <p:spPr>
          <a:xfrm>
            <a:off x="731520" y="3429000"/>
            <a:ext cx="7680960" cy="0"/>
          </a:xfrm>
          <a:prstGeom prst="line">
            <a:avLst/>
          </a:prstGeom>
          <a:noFill/>
          <a:ln w="9525">
            <a:solidFill>
              <a:srgbClr val="D8CFBC"/>
            </a:solidFill>
            <a:prstDash val="solid"/>
          </a:ln>
        </p:spPr>
      </p:sp>
      <p:sp>
        <p:nvSpPr>
          <p:cNvPr id="6" name="Text 4"/>
          <p:cNvSpPr/>
          <p:nvPr/>
        </p:nvSpPr>
        <p:spPr>
          <a:xfrm>
            <a:off x="731520" y="3657600"/>
            <a:ext cx="2377440" cy="201168"/>
          </a:xfrm>
          <a:prstGeom prst="rect">
            <a:avLst/>
          </a:prstGeom>
          <a:noFill/>
          <a:ln/>
        </p:spPr>
        <p:txBody>
          <a:bodyPr wrap="square" rtlCol="0" anchor="ctr"/>
          <a:lstStyle/>
          <a:p>
            <a:pPr indent="0" marL="0">
              <a:buNone/>
            </a:pPr>
            <a:r>
              <a:rPr lang="en-US" sz="750" b="1" spc="150" kern="0" dirty="0">
                <a:solidFill>
                  <a:srgbClr val="50534D"/>
                </a:solidFill>
                <a:latin typeface="Consolas" pitchFamily="34" charset="0"/>
                <a:ea typeface="Consolas" pitchFamily="34" charset="-122"/>
                <a:cs typeface="Consolas" pitchFamily="34" charset="-120"/>
              </a:rPr>
              <a:t>CANDIDATE</a:t>
            </a:r>
            <a:endParaRPr lang="en-US" sz="750" dirty="0"/>
          </a:p>
        </p:txBody>
      </p:sp>
      <p:sp>
        <p:nvSpPr>
          <p:cNvPr id="7" name="Text 5"/>
          <p:cNvSpPr/>
          <p:nvPr/>
        </p:nvSpPr>
        <p:spPr>
          <a:xfrm>
            <a:off x="731520" y="3886200"/>
            <a:ext cx="2377440" cy="502920"/>
          </a:xfrm>
          <a:prstGeom prst="rect">
            <a:avLst/>
          </a:prstGeom>
          <a:noFill/>
          <a:ln/>
        </p:spPr>
        <p:txBody>
          <a:bodyPr wrap="square" rtlCol="0" anchor="ctr"/>
          <a:lstStyle/>
          <a:p>
            <a:pPr indent="0" marL="0">
              <a:buNone/>
            </a:pPr>
            <a:r>
              <a:rPr lang="en-US" sz="1050" b="1" dirty="0">
                <a:solidFill>
                  <a:srgbClr val="171A18"/>
                </a:solidFill>
                <a:latin typeface="Calibri" pitchFamily="34" charset="0"/>
                <a:ea typeface="Calibri" pitchFamily="34" charset="-122"/>
                <a:cs typeface="Calibri" pitchFamily="34" charset="-120"/>
              </a:rPr>
              <a:t>Khan Umar</a:t>
            </a:r>
            <a:endParaRPr lang="en-US" sz="1050" dirty="0"/>
          </a:p>
          <a:p>
            <a:pPr indent="0" marL="0">
              <a:buNone/>
            </a:pPr>
            <a:r>
              <a:rPr lang="en-US" sz="1050" b="1" dirty="0">
                <a:solidFill>
                  <a:srgbClr val="171A18"/>
                </a:solidFill>
                <a:latin typeface="Calibri" pitchFamily="34" charset="0"/>
                <a:ea typeface="Calibri" pitchFamily="34" charset="-122"/>
                <a:cs typeface="Calibri" pitchFamily="34" charset="-120"/>
              </a:rPr>
              <a:t>B.Sc. Data Science — Semester III</a:t>
            </a:r>
            <a:endParaRPr lang="en-US" sz="1050" dirty="0"/>
          </a:p>
        </p:txBody>
      </p:sp>
      <p:sp>
        <p:nvSpPr>
          <p:cNvPr id="8" name="Text 6"/>
          <p:cNvSpPr/>
          <p:nvPr/>
        </p:nvSpPr>
        <p:spPr>
          <a:xfrm>
            <a:off x="3291840" y="3657600"/>
            <a:ext cx="2377440" cy="201168"/>
          </a:xfrm>
          <a:prstGeom prst="rect">
            <a:avLst/>
          </a:prstGeom>
          <a:noFill/>
          <a:ln/>
        </p:spPr>
        <p:txBody>
          <a:bodyPr wrap="square" rtlCol="0" anchor="ctr"/>
          <a:lstStyle/>
          <a:p>
            <a:pPr indent="0" marL="0">
              <a:buNone/>
            </a:pPr>
            <a:r>
              <a:rPr lang="en-US" sz="750" b="1" spc="150" kern="0" dirty="0">
                <a:solidFill>
                  <a:srgbClr val="50534D"/>
                </a:solidFill>
                <a:latin typeface="Consolas" pitchFamily="34" charset="0"/>
                <a:ea typeface="Consolas" pitchFamily="34" charset="-122"/>
                <a:cs typeface="Consolas" pitchFamily="34" charset="-120"/>
              </a:rPr>
              <a:t>SURVEILLANCE ARCHIVE</a:t>
            </a:r>
            <a:endParaRPr lang="en-US" sz="750" dirty="0"/>
          </a:p>
        </p:txBody>
      </p:sp>
      <p:sp>
        <p:nvSpPr>
          <p:cNvPr id="9" name="Text 7"/>
          <p:cNvSpPr/>
          <p:nvPr/>
        </p:nvSpPr>
        <p:spPr>
          <a:xfrm>
            <a:off x="3291840" y="3886200"/>
            <a:ext cx="2377440" cy="502920"/>
          </a:xfrm>
          <a:prstGeom prst="rect">
            <a:avLst/>
          </a:prstGeom>
          <a:noFill/>
          <a:ln/>
        </p:spPr>
        <p:txBody>
          <a:bodyPr wrap="square" rtlCol="0" anchor="ctr"/>
          <a:lstStyle/>
          <a:p>
            <a:pPr indent="0" marL="0">
              <a:buNone/>
            </a:pPr>
            <a:r>
              <a:rPr lang="en-US" sz="1050" dirty="0">
                <a:solidFill>
                  <a:srgbClr val="171A18"/>
                </a:solidFill>
                <a:latin typeface="Calibri" pitchFamily="34" charset="0"/>
                <a:ea typeface="Calibri" pitchFamily="34" charset="-122"/>
                <a:cs typeface="Calibri" pitchFamily="34" charset="-120"/>
              </a:rPr>
              <a:t>NCDC / IDSP Weekly Outbreak Reports</a:t>
            </a:r>
            <a:endParaRPr lang="en-US" sz="1050" dirty="0"/>
          </a:p>
          <a:p>
            <a:pPr indent="0" marL="0">
              <a:buNone/>
            </a:pPr>
            <a:r>
              <a:rPr lang="en-US" sz="1050" dirty="0">
                <a:solidFill>
                  <a:srgbClr val="171A18"/>
                </a:solidFill>
                <a:latin typeface="Calibri" pitchFamily="34" charset="0"/>
                <a:ea typeface="Calibri" pitchFamily="34" charset="-122"/>
                <a:cs typeface="Calibri" pitchFamily="34" charset="-120"/>
              </a:rPr>
              <a:t>State of Maharashtra (36 Districts)</a:t>
            </a:r>
            <a:endParaRPr lang="en-US" sz="1050" dirty="0"/>
          </a:p>
        </p:txBody>
      </p:sp>
      <p:sp>
        <p:nvSpPr>
          <p:cNvPr id="10" name="Text 8"/>
          <p:cNvSpPr/>
          <p:nvPr/>
        </p:nvSpPr>
        <p:spPr>
          <a:xfrm>
            <a:off x="5852160" y="3657600"/>
            <a:ext cx="2560320" cy="201168"/>
          </a:xfrm>
          <a:prstGeom prst="rect">
            <a:avLst/>
          </a:prstGeom>
          <a:noFill/>
          <a:ln/>
        </p:spPr>
        <p:txBody>
          <a:bodyPr wrap="square" rtlCol="0" anchor="ctr"/>
          <a:lstStyle/>
          <a:p>
            <a:pPr indent="0" marL="0">
              <a:buNone/>
            </a:pPr>
            <a:r>
              <a:rPr lang="en-US" sz="750" b="1" spc="150" kern="0" dirty="0">
                <a:solidFill>
                  <a:srgbClr val="50534D"/>
                </a:solidFill>
                <a:latin typeface="Consolas" pitchFamily="34" charset="0"/>
                <a:ea typeface="Consolas" pitchFamily="34" charset="-122"/>
                <a:cs typeface="Consolas" pitchFamily="34" charset="-120"/>
              </a:rPr>
              <a:t>EVALUATION PERIOD</a:t>
            </a:r>
            <a:endParaRPr lang="en-US" sz="750" dirty="0"/>
          </a:p>
        </p:txBody>
      </p:sp>
      <p:sp>
        <p:nvSpPr>
          <p:cNvPr id="11" name="Text 9"/>
          <p:cNvSpPr/>
          <p:nvPr/>
        </p:nvSpPr>
        <p:spPr>
          <a:xfrm>
            <a:off x="5852160" y="3886200"/>
            <a:ext cx="2560320" cy="502920"/>
          </a:xfrm>
          <a:prstGeom prst="rect">
            <a:avLst/>
          </a:prstGeom>
          <a:noFill/>
          <a:ln/>
        </p:spPr>
        <p:txBody>
          <a:bodyPr wrap="square" rtlCol="0" anchor="ctr"/>
          <a:lstStyle/>
          <a:p>
            <a:pPr indent="0" marL="0">
              <a:buNone/>
            </a:pPr>
            <a:r>
              <a:rPr lang="en-US" sz="1050" dirty="0">
                <a:solidFill>
                  <a:srgbClr val="171A18"/>
                </a:solidFill>
                <a:latin typeface="Calibri" pitchFamily="34" charset="0"/>
                <a:ea typeface="Calibri" pitchFamily="34" charset="-122"/>
                <a:cs typeface="Calibri" pitchFamily="34" charset="-120"/>
              </a:rPr>
              <a:t>Academic Year 2026–27</a:t>
            </a:r>
            <a:endParaRPr lang="en-US" sz="1050" dirty="0"/>
          </a:p>
          <a:p>
            <a:pPr indent="0" marL="0">
              <a:buNone/>
            </a:pPr>
            <a:r>
              <a:rPr lang="en-US" sz="1050" dirty="0">
                <a:solidFill>
                  <a:srgbClr val="171A18"/>
                </a:solidFill>
                <a:latin typeface="Calibri" pitchFamily="34" charset="0"/>
                <a:ea typeface="Calibri" pitchFamily="34" charset="-122"/>
                <a:cs typeface="Calibri" pitchFamily="34" charset="-120"/>
              </a:rPr>
              <a:t>Curricular Field Project Examination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BDD"/>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750" b="1" spc="200" kern="0" dirty="0">
                <a:solidFill>
                  <a:srgbClr val="50534D"/>
                </a:solidFill>
                <a:latin typeface="Consolas" pitchFamily="34" charset="0"/>
                <a:ea typeface="Consolas" pitchFamily="34" charset="-122"/>
                <a:cs typeface="Consolas" pitchFamily="34" charset="-120"/>
              </a:rPr>
              <a:t>PROBLEM FORMULATION // CURRICULAR OBJECTIVE</a:t>
            </a:r>
            <a:endParaRPr lang="en-US" sz="750" dirty="0"/>
          </a:p>
        </p:txBody>
      </p:sp>
      <p:sp>
        <p:nvSpPr>
          <p:cNvPr id="3" name="Text 1"/>
          <p:cNvSpPr/>
          <p:nvPr/>
        </p:nvSpPr>
        <p:spPr>
          <a:xfrm>
            <a:off x="731520" y="530352"/>
            <a:ext cx="7680960" cy="457200"/>
          </a:xfrm>
          <a:prstGeom prst="rect">
            <a:avLst/>
          </a:prstGeom>
          <a:noFill/>
          <a:ln/>
        </p:spPr>
        <p:txBody>
          <a:bodyPr wrap="square" rtlCol="0" anchor="ctr"/>
          <a:lstStyle/>
          <a:p>
            <a:pPr indent="0" marL="0">
              <a:lnSpc>
                <a:spcPct val="110000"/>
              </a:lnSpc>
              <a:buNone/>
            </a:pPr>
            <a:r>
              <a:rPr lang="en-US" sz="2000" b="1" dirty="0">
                <a:solidFill>
                  <a:srgbClr val="171A18"/>
                </a:solidFill>
                <a:latin typeface="Georgia" pitchFamily="34" charset="0"/>
                <a:ea typeface="Georgia" pitchFamily="34" charset="-122"/>
                <a:cs typeface="Georgia" pitchFamily="34" charset="-120"/>
              </a:rPr>
              <a:t>The Central Research Question</a:t>
            </a:r>
            <a:endParaRPr lang="en-US" sz="2000" dirty="0"/>
          </a:p>
        </p:txBody>
      </p:sp>
      <p:sp>
        <p:nvSpPr>
          <p:cNvPr id="4" name="Text 2"/>
          <p:cNvSpPr/>
          <p:nvPr/>
        </p:nvSpPr>
        <p:spPr>
          <a:xfrm>
            <a:off x="731520" y="987552"/>
            <a:ext cx="7680960" cy="274320"/>
          </a:xfrm>
          <a:prstGeom prst="rect">
            <a:avLst/>
          </a:prstGeom>
          <a:noFill/>
          <a:ln/>
        </p:spPr>
        <p:txBody>
          <a:bodyPr wrap="square" rtlCol="0" anchor="ctr"/>
          <a:lstStyle/>
          <a:p>
            <a:pPr indent="0" marL="0">
              <a:buNone/>
            </a:pPr>
            <a:r>
              <a:rPr lang="en-US" sz="1050" dirty="0">
                <a:solidFill>
                  <a:srgbClr val="50534D"/>
                </a:solidFill>
                <a:latin typeface="Calibri" pitchFamily="34" charset="0"/>
                <a:ea typeface="Calibri" pitchFamily="34" charset="-122"/>
                <a:cs typeface="Calibri" pitchFamily="34" charset="-120"/>
              </a:rPr>
              <a:t>Addressing public health surveillance questions through secondary data science.</a:t>
            </a:r>
            <a:endParaRPr lang="en-US" sz="1050" dirty="0"/>
          </a:p>
        </p:txBody>
      </p:sp>
      <p:sp>
        <p:nvSpPr>
          <p:cNvPr id="5" name="Shape 3"/>
          <p:cNvSpPr/>
          <p:nvPr/>
        </p:nvSpPr>
        <p:spPr>
          <a:xfrm>
            <a:off x="731520" y="1298448"/>
            <a:ext cx="7680960" cy="0"/>
          </a:xfrm>
          <a:prstGeom prst="line">
            <a:avLst/>
          </a:prstGeom>
          <a:noFill/>
          <a:ln w="9525">
            <a:solidFill>
              <a:srgbClr val="D8CFBC"/>
            </a:solidFill>
            <a:prstDash val="solid"/>
          </a:ln>
        </p:spPr>
      </p:sp>
      <p:sp>
        <p:nvSpPr>
          <p:cNvPr id="6" name="Shape 4"/>
          <p:cNvSpPr/>
          <p:nvPr/>
        </p:nvSpPr>
        <p:spPr>
          <a:xfrm>
            <a:off x="731520" y="1463040"/>
            <a:ext cx="7680960" cy="1143000"/>
          </a:xfrm>
          <a:prstGeom prst="rect">
            <a:avLst/>
          </a:prstGeom>
          <a:solidFill>
            <a:srgbClr val="F9F6EF"/>
          </a:solidFill>
          <a:ln w="15240">
            <a:solidFill>
              <a:srgbClr val="174A4A"/>
            </a:solidFill>
            <a:prstDash val="solid"/>
          </a:ln>
        </p:spPr>
      </p:sp>
      <p:sp>
        <p:nvSpPr>
          <p:cNvPr id="7" name="Text 5"/>
          <p:cNvSpPr/>
          <p:nvPr/>
        </p:nvSpPr>
        <p:spPr>
          <a:xfrm>
            <a:off x="960120" y="1600200"/>
            <a:ext cx="7223760" cy="201168"/>
          </a:xfrm>
          <a:prstGeom prst="rect">
            <a:avLst/>
          </a:prstGeom>
          <a:noFill/>
          <a:ln/>
        </p:spPr>
        <p:txBody>
          <a:bodyPr wrap="square" rtlCol="0" anchor="ctr"/>
          <a:lstStyle/>
          <a:p>
            <a:pPr indent="0" marL="0">
              <a:buNone/>
            </a:pPr>
            <a:r>
              <a:rPr lang="en-US" sz="750" b="1" spc="150" kern="0" dirty="0">
                <a:solidFill>
                  <a:srgbClr val="C84B2F"/>
                </a:solidFill>
                <a:latin typeface="Consolas" pitchFamily="34" charset="0"/>
                <a:ea typeface="Consolas" pitchFamily="34" charset="-122"/>
                <a:cs typeface="Consolas" pitchFamily="34" charset="-120"/>
              </a:rPr>
              <a:t>CENTRAL RESEARCH QUESTION</a:t>
            </a:r>
            <a:endParaRPr lang="en-US" sz="750" dirty="0"/>
          </a:p>
        </p:txBody>
      </p:sp>
      <p:sp>
        <p:nvSpPr>
          <p:cNvPr id="8" name="Text 6"/>
          <p:cNvSpPr/>
          <p:nvPr/>
        </p:nvSpPr>
        <p:spPr>
          <a:xfrm>
            <a:off x="960120" y="1810512"/>
            <a:ext cx="7223760" cy="658368"/>
          </a:xfrm>
          <a:prstGeom prst="rect">
            <a:avLst/>
          </a:prstGeom>
          <a:noFill/>
          <a:ln/>
        </p:spPr>
        <p:txBody>
          <a:bodyPr wrap="square" rtlCol="0" anchor="ctr"/>
          <a:lstStyle/>
          <a:p>
            <a:pPr indent="0" marL="0">
              <a:lnSpc>
                <a:spcPct val="115000"/>
              </a:lnSpc>
              <a:buNone/>
            </a:pPr>
            <a:r>
              <a:rPr lang="en-US" sz="1500" i="1" dirty="0">
                <a:solidFill>
                  <a:srgbClr val="171A18"/>
                </a:solidFill>
                <a:latin typeface="Georgia" pitchFamily="34" charset="0"/>
                <a:ea typeface="Georgia" pitchFamily="34" charset="-122"/>
                <a:cs typeface="Georgia" pitchFamily="34" charset="-120"/>
              </a:rPr>
              <a:t>“What seasonal patterns are evident in selected disease outbreak reports in Maharashtra, and how do these patterns vary across diseases and seasons?”</a:t>
            </a:r>
            <a:endParaRPr lang="en-US" sz="1500" dirty="0"/>
          </a:p>
        </p:txBody>
      </p:sp>
      <p:sp>
        <p:nvSpPr>
          <p:cNvPr id="9" name="Shape 7"/>
          <p:cNvSpPr/>
          <p:nvPr/>
        </p:nvSpPr>
        <p:spPr>
          <a:xfrm>
            <a:off x="731520" y="2834640"/>
            <a:ext cx="2423160" cy="1691640"/>
          </a:xfrm>
          <a:prstGeom prst="rect">
            <a:avLst/>
          </a:prstGeom>
          <a:solidFill>
            <a:srgbClr val="E9E2D2"/>
          </a:solidFill>
          <a:ln w="9525">
            <a:solidFill>
              <a:srgbClr val="D8CFBC"/>
            </a:solidFill>
            <a:prstDash val="solid"/>
          </a:ln>
        </p:spPr>
      </p:sp>
      <p:sp>
        <p:nvSpPr>
          <p:cNvPr id="10" name="Text 8"/>
          <p:cNvSpPr/>
          <p:nvPr/>
        </p:nvSpPr>
        <p:spPr>
          <a:xfrm>
            <a:off x="868680" y="2971800"/>
            <a:ext cx="2148840" cy="201168"/>
          </a:xfrm>
          <a:prstGeom prst="rect">
            <a:avLst/>
          </a:prstGeom>
          <a:noFill/>
          <a:ln/>
        </p:spPr>
        <p:txBody>
          <a:bodyPr wrap="square" rtlCol="0" anchor="ctr"/>
          <a:lstStyle/>
          <a:p>
            <a:pPr indent="0" marL="0">
              <a:buNone/>
            </a:pPr>
            <a:r>
              <a:rPr lang="en-US" sz="750" b="1" dirty="0">
                <a:solidFill>
                  <a:srgbClr val="174A4A"/>
                </a:solidFill>
                <a:latin typeface="Consolas" pitchFamily="34" charset="0"/>
                <a:ea typeface="Consolas" pitchFamily="34" charset="-122"/>
                <a:cs typeface="Consolas" pitchFamily="34" charset="-120"/>
              </a:rPr>
              <a:t>01 // TEMPORAL WINDOWS</a:t>
            </a:r>
            <a:endParaRPr lang="en-US" sz="750" dirty="0"/>
          </a:p>
        </p:txBody>
      </p:sp>
      <p:sp>
        <p:nvSpPr>
          <p:cNvPr id="11" name="Text 9"/>
          <p:cNvSpPr/>
          <p:nvPr/>
        </p:nvSpPr>
        <p:spPr>
          <a:xfrm>
            <a:off x="868680" y="3182112"/>
            <a:ext cx="2148840" cy="256032"/>
          </a:xfrm>
          <a:prstGeom prst="rect">
            <a:avLst/>
          </a:prstGeom>
          <a:noFill/>
          <a:ln/>
        </p:spPr>
        <p:txBody>
          <a:bodyPr wrap="square" rtlCol="0" anchor="ctr"/>
          <a:lstStyle/>
          <a:p>
            <a:pPr indent="0" marL="0">
              <a:buNone/>
            </a:pPr>
            <a:r>
              <a:rPr lang="en-US" sz="1200" b="1" dirty="0">
                <a:solidFill>
                  <a:srgbClr val="171A18"/>
                </a:solidFill>
                <a:latin typeface="Georgia" pitchFamily="34" charset="0"/>
                <a:ea typeface="Georgia" pitchFamily="34" charset="-122"/>
                <a:cs typeface="Georgia" pitchFamily="34" charset="-120"/>
              </a:rPr>
              <a:t>Calendar Concentration</a:t>
            </a:r>
            <a:endParaRPr lang="en-US" sz="1200" dirty="0"/>
          </a:p>
        </p:txBody>
      </p:sp>
      <p:sp>
        <p:nvSpPr>
          <p:cNvPr id="12" name="Text 10"/>
          <p:cNvSpPr/>
          <p:nvPr/>
        </p:nvSpPr>
        <p:spPr>
          <a:xfrm>
            <a:off x="868680" y="3474720"/>
            <a:ext cx="2148840" cy="914400"/>
          </a:xfrm>
          <a:prstGeom prst="rect">
            <a:avLst/>
          </a:prstGeom>
          <a:noFill/>
          <a:ln/>
        </p:spPr>
        <p:txBody>
          <a:bodyPr wrap="square" rtlCol="0" anchor="ctr"/>
          <a:lstStyle/>
          <a:p>
            <a:pPr indent="0" marL="0">
              <a:lnSpc>
                <a:spcPct val="115000"/>
              </a:lnSpc>
              <a:buNone/>
            </a:pPr>
            <a:r>
              <a:rPr lang="en-US" sz="850" dirty="0">
                <a:solidFill>
                  <a:srgbClr val="50534D"/>
                </a:solidFill>
                <a:latin typeface="Calibri" pitchFamily="34" charset="0"/>
                <a:ea typeface="Calibri" pitchFamily="34" charset="-122"/>
                <a:cs typeface="Calibri" pitchFamily="34" charset="-120"/>
              </a:rPr>
              <a:t>Do outbreak records cluster tightly in specific calendar months, or are reports dispersed uniformly throughout the year? Evaluated using monthly indices and 3-month concentration ratios (CR3).</a:t>
            </a:r>
            <a:endParaRPr lang="en-US" sz="850" dirty="0"/>
          </a:p>
        </p:txBody>
      </p:sp>
      <p:sp>
        <p:nvSpPr>
          <p:cNvPr id="13" name="Shape 11"/>
          <p:cNvSpPr/>
          <p:nvPr/>
        </p:nvSpPr>
        <p:spPr>
          <a:xfrm>
            <a:off x="3355848" y="2834640"/>
            <a:ext cx="2423160" cy="1691640"/>
          </a:xfrm>
          <a:prstGeom prst="rect">
            <a:avLst/>
          </a:prstGeom>
          <a:solidFill>
            <a:srgbClr val="E9E2D2"/>
          </a:solidFill>
          <a:ln w="9525">
            <a:solidFill>
              <a:srgbClr val="D8CFBC"/>
            </a:solidFill>
            <a:prstDash val="solid"/>
          </a:ln>
        </p:spPr>
      </p:sp>
      <p:sp>
        <p:nvSpPr>
          <p:cNvPr id="14" name="Text 12"/>
          <p:cNvSpPr/>
          <p:nvPr/>
        </p:nvSpPr>
        <p:spPr>
          <a:xfrm>
            <a:off x="3493008" y="2971800"/>
            <a:ext cx="2148840" cy="201168"/>
          </a:xfrm>
          <a:prstGeom prst="rect">
            <a:avLst/>
          </a:prstGeom>
          <a:noFill/>
          <a:ln/>
        </p:spPr>
        <p:txBody>
          <a:bodyPr wrap="square" rtlCol="0" anchor="ctr"/>
          <a:lstStyle/>
          <a:p>
            <a:pPr indent="0" marL="0">
              <a:buNone/>
            </a:pPr>
            <a:r>
              <a:rPr lang="en-US" sz="750" b="1" dirty="0">
                <a:solidFill>
                  <a:srgbClr val="174A4A"/>
                </a:solidFill>
                <a:latin typeface="Consolas" pitchFamily="34" charset="0"/>
                <a:ea typeface="Consolas" pitchFamily="34" charset="-122"/>
                <a:cs typeface="Consolas" pitchFamily="34" charset="-120"/>
              </a:rPr>
              <a:t>02 // STABILITY ANALYSIS</a:t>
            </a:r>
            <a:endParaRPr lang="en-US" sz="750" dirty="0"/>
          </a:p>
        </p:txBody>
      </p:sp>
      <p:sp>
        <p:nvSpPr>
          <p:cNvPr id="15" name="Text 13"/>
          <p:cNvSpPr/>
          <p:nvPr/>
        </p:nvSpPr>
        <p:spPr>
          <a:xfrm>
            <a:off x="3493008" y="3182112"/>
            <a:ext cx="2148840" cy="256032"/>
          </a:xfrm>
          <a:prstGeom prst="rect">
            <a:avLst/>
          </a:prstGeom>
          <a:noFill/>
          <a:ln/>
        </p:spPr>
        <p:txBody>
          <a:bodyPr wrap="square" rtlCol="0" anchor="ctr"/>
          <a:lstStyle/>
          <a:p>
            <a:pPr indent="0" marL="0">
              <a:buNone/>
            </a:pPr>
            <a:r>
              <a:rPr lang="en-US" sz="1200" b="1" dirty="0">
                <a:solidFill>
                  <a:srgbClr val="171A18"/>
                </a:solidFill>
                <a:latin typeface="Georgia" pitchFamily="34" charset="0"/>
                <a:ea typeface="Georgia" pitchFamily="34" charset="-122"/>
                <a:cs typeface="Georgia" pitchFamily="34" charset="-120"/>
              </a:rPr>
              <a:t>Inter-Annual Concordance</a:t>
            </a:r>
            <a:endParaRPr lang="en-US" sz="1200" dirty="0"/>
          </a:p>
        </p:txBody>
      </p:sp>
      <p:sp>
        <p:nvSpPr>
          <p:cNvPr id="16" name="Text 14"/>
          <p:cNvSpPr/>
          <p:nvPr/>
        </p:nvSpPr>
        <p:spPr>
          <a:xfrm>
            <a:off x="3493008" y="3474720"/>
            <a:ext cx="2148840" cy="914400"/>
          </a:xfrm>
          <a:prstGeom prst="rect">
            <a:avLst/>
          </a:prstGeom>
          <a:noFill/>
          <a:ln/>
        </p:spPr>
        <p:txBody>
          <a:bodyPr wrap="square" rtlCol="0" anchor="ctr"/>
          <a:lstStyle/>
          <a:p>
            <a:pPr indent="0" marL="0">
              <a:lnSpc>
                <a:spcPct val="115000"/>
              </a:lnSpc>
              <a:buNone/>
            </a:pPr>
            <a:r>
              <a:rPr lang="en-US" sz="850" dirty="0">
                <a:solidFill>
                  <a:srgbClr val="50534D"/>
                </a:solidFill>
                <a:latin typeface="Calibri" pitchFamily="34" charset="0"/>
                <a:ea typeface="Calibri" pitchFamily="34" charset="-122"/>
                <a:cs typeface="Calibri" pitchFamily="34" charset="-120"/>
              </a:rPr>
              <a:t>Does a seasonal peak repeat reliably each year, or is it volatile? We employ Kendall's W Coefficient of Concordance across 2022–2025 to test whether monthly rankings are statistically stable.</a:t>
            </a:r>
            <a:endParaRPr lang="en-US" sz="850" dirty="0"/>
          </a:p>
        </p:txBody>
      </p:sp>
      <p:sp>
        <p:nvSpPr>
          <p:cNvPr id="17" name="Shape 15"/>
          <p:cNvSpPr/>
          <p:nvPr/>
        </p:nvSpPr>
        <p:spPr>
          <a:xfrm>
            <a:off x="5980176" y="2834640"/>
            <a:ext cx="2423160" cy="1691640"/>
          </a:xfrm>
          <a:prstGeom prst="rect">
            <a:avLst/>
          </a:prstGeom>
          <a:solidFill>
            <a:srgbClr val="E9E2D2"/>
          </a:solidFill>
          <a:ln w="9525">
            <a:solidFill>
              <a:srgbClr val="D8CFBC"/>
            </a:solidFill>
            <a:prstDash val="solid"/>
          </a:ln>
        </p:spPr>
      </p:sp>
      <p:sp>
        <p:nvSpPr>
          <p:cNvPr id="18" name="Text 16"/>
          <p:cNvSpPr/>
          <p:nvPr/>
        </p:nvSpPr>
        <p:spPr>
          <a:xfrm>
            <a:off x="6117336" y="2971800"/>
            <a:ext cx="2148840" cy="201168"/>
          </a:xfrm>
          <a:prstGeom prst="rect">
            <a:avLst/>
          </a:prstGeom>
          <a:noFill/>
          <a:ln/>
        </p:spPr>
        <p:txBody>
          <a:bodyPr wrap="square" rtlCol="0" anchor="ctr"/>
          <a:lstStyle/>
          <a:p>
            <a:pPr indent="0" marL="0">
              <a:buNone/>
            </a:pPr>
            <a:r>
              <a:rPr lang="en-US" sz="750" b="1" dirty="0">
                <a:solidFill>
                  <a:srgbClr val="C84B2F"/>
                </a:solidFill>
                <a:latin typeface="Consolas" pitchFamily="34" charset="0"/>
                <a:ea typeface="Consolas" pitchFamily="34" charset="-122"/>
                <a:cs typeface="Consolas" pitchFamily="34" charset="-120"/>
              </a:rPr>
              <a:t>03 // OUTLIER SENSITIVITY</a:t>
            </a:r>
            <a:endParaRPr lang="en-US" sz="750" dirty="0"/>
          </a:p>
        </p:txBody>
      </p:sp>
      <p:sp>
        <p:nvSpPr>
          <p:cNvPr id="19" name="Text 17"/>
          <p:cNvSpPr/>
          <p:nvPr/>
        </p:nvSpPr>
        <p:spPr>
          <a:xfrm>
            <a:off x="6117336" y="3182112"/>
            <a:ext cx="2148840" cy="256032"/>
          </a:xfrm>
          <a:prstGeom prst="rect">
            <a:avLst/>
          </a:prstGeom>
          <a:noFill/>
          <a:ln/>
        </p:spPr>
        <p:txBody>
          <a:bodyPr wrap="square" rtlCol="0" anchor="ctr"/>
          <a:lstStyle/>
          <a:p>
            <a:pPr indent="0" marL="0">
              <a:buNone/>
            </a:pPr>
            <a:r>
              <a:rPr lang="en-US" sz="1200" b="1" dirty="0">
                <a:solidFill>
                  <a:srgbClr val="171A18"/>
                </a:solidFill>
                <a:latin typeface="Georgia" pitchFamily="34" charset="0"/>
                <a:ea typeface="Georgia" pitchFamily="34" charset="-122"/>
                <a:cs typeface="Georgia" pitchFamily="34" charset="-120"/>
              </a:rPr>
              <a:t>Events vs. Case Volume</a:t>
            </a:r>
            <a:endParaRPr lang="en-US" sz="1200" dirty="0"/>
          </a:p>
        </p:txBody>
      </p:sp>
      <p:sp>
        <p:nvSpPr>
          <p:cNvPr id="20" name="Text 18"/>
          <p:cNvSpPr/>
          <p:nvPr/>
        </p:nvSpPr>
        <p:spPr>
          <a:xfrm>
            <a:off x="6117336" y="3474720"/>
            <a:ext cx="2148840" cy="914400"/>
          </a:xfrm>
          <a:prstGeom prst="rect">
            <a:avLst/>
          </a:prstGeom>
          <a:noFill/>
          <a:ln/>
        </p:spPr>
        <p:txBody>
          <a:bodyPr wrap="square" rtlCol="0" anchor="ctr"/>
          <a:lstStyle/>
          <a:p>
            <a:pPr indent="0" marL="0">
              <a:lnSpc>
                <a:spcPct val="115000"/>
              </a:lnSpc>
              <a:buNone/>
            </a:pPr>
            <a:r>
              <a:rPr lang="en-US" sz="850" dirty="0">
                <a:solidFill>
                  <a:srgbClr val="50534D"/>
                </a:solidFill>
                <a:latin typeface="Calibri" pitchFamily="34" charset="0"/>
                <a:ea typeface="Calibri" pitchFamily="34" charset="-122"/>
                <a:cs typeface="Calibri" pitchFamily="34" charset="-120"/>
              </a:rPr>
              <a:t>How strongly do isolated mass-case outbreaks distort monthly case curves? We separate outbreak event frequency (records meeting notification criteria) from case volume enumeration.</a:t>
            </a:r>
            <a:endParaRPr lang="en-US" sz="850" dirty="0"/>
          </a:p>
        </p:txBody>
      </p:sp>
      <p:sp>
        <p:nvSpPr>
          <p:cNvPr id="21" name="Shape 19"/>
          <p:cNvSpPr/>
          <p:nvPr/>
        </p:nvSpPr>
        <p:spPr>
          <a:xfrm>
            <a:off x="731520" y="4736592"/>
            <a:ext cx="7680960" cy="0"/>
          </a:xfrm>
          <a:prstGeom prst="line">
            <a:avLst/>
          </a:prstGeom>
          <a:noFill/>
          <a:ln w="9525">
            <a:solidFill>
              <a:srgbClr val="D8CFBC"/>
            </a:solidFill>
            <a:prstDash val="solid"/>
          </a:ln>
        </p:spPr>
      </p:sp>
      <p:sp>
        <p:nvSpPr>
          <p:cNvPr id="22" name="Text 20"/>
          <p:cNvSpPr/>
          <p:nvPr/>
        </p:nvSpPr>
        <p:spPr>
          <a:xfrm>
            <a:off x="731520" y="4809744"/>
            <a:ext cx="6400800" cy="201168"/>
          </a:xfrm>
          <a:prstGeom prst="rect">
            <a:avLst/>
          </a:prstGeom>
          <a:noFill/>
          <a:ln/>
        </p:spPr>
        <p:txBody>
          <a:bodyPr wrap="square" rtlCol="0" anchor="ctr"/>
          <a:lstStyle/>
          <a:p>
            <a:pPr indent="0" marL="0">
              <a:buNone/>
            </a:pPr>
            <a:r>
              <a:rPr lang="en-US" sz="650" dirty="0">
                <a:solidFill>
                  <a:srgbClr val="7A7D77"/>
                </a:solidFill>
                <a:latin typeface="Consolas" pitchFamily="34" charset="0"/>
                <a:ea typeface="Consolas" pitchFamily="34" charset="-122"/>
                <a:cs typeface="Consolas" pitchFamily="34" charset="-120"/>
              </a:rPr>
              <a:t>RESEARCH FRAMEWORK // RP INSTITUTE // B.SC. DATA SCIENCE</a:t>
            </a:r>
            <a:endParaRPr lang="en-US" sz="650" dirty="0"/>
          </a:p>
        </p:txBody>
      </p:sp>
      <p:sp>
        <p:nvSpPr>
          <p:cNvPr id="23" name="Text 21"/>
          <p:cNvSpPr/>
          <p:nvPr/>
        </p:nvSpPr>
        <p:spPr>
          <a:xfrm>
            <a:off x="7498080" y="4809744"/>
            <a:ext cx="914400" cy="201168"/>
          </a:xfrm>
          <a:prstGeom prst="rect">
            <a:avLst/>
          </a:prstGeom>
          <a:noFill/>
          <a:ln/>
        </p:spPr>
        <p:txBody>
          <a:bodyPr wrap="square" rtlCol="0" anchor="ctr"/>
          <a:lstStyle/>
          <a:p>
            <a:pPr algn="r" indent="0" marL="0">
              <a:buNone/>
            </a:pPr>
            <a:r>
              <a:rPr lang="en-US" sz="750" b="1" dirty="0">
                <a:solidFill>
                  <a:srgbClr val="50534D"/>
                </a:solidFill>
                <a:latin typeface="Consolas" pitchFamily="34" charset="0"/>
                <a:ea typeface="Consolas" pitchFamily="34" charset="-122"/>
                <a:cs typeface="Consolas" pitchFamily="34" charset="-120"/>
              </a:rPr>
              <a:t>02 / 10</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BDD"/>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750" b="1" spc="200" kern="0" dirty="0">
                <a:solidFill>
                  <a:srgbClr val="50534D"/>
                </a:solidFill>
                <a:latin typeface="Consolas" pitchFamily="34" charset="0"/>
                <a:ea typeface="Consolas" pitchFamily="34" charset="-122"/>
                <a:cs typeface="Consolas" pitchFamily="34" charset="-120"/>
              </a:rPr>
              <a:t>DATA ENGINEERING // PROVENANCE &amp; HARMONIZATION</a:t>
            </a:r>
            <a:endParaRPr lang="en-US" sz="750" dirty="0"/>
          </a:p>
        </p:txBody>
      </p:sp>
      <p:sp>
        <p:nvSpPr>
          <p:cNvPr id="3" name="Text 1"/>
          <p:cNvSpPr/>
          <p:nvPr/>
        </p:nvSpPr>
        <p:spPr>
          <a:xfrm>
            <a:off x="731520" y="530352"/>
            <a:ext cx="7680960" cy="457200"/>
          </a:xfrm>
          <a:prstGeom prst="rect">
            <a:avLst/>
          </a:prstGeom>
          <a:noFill/>
          <a:ln/>
        </p:spPr>
        <p:txBody>
          <a:bodyPr wrap="square" rtlCol="0" anchor="ctr"/>
          <a:lstStyle/>
          <a:p>
            <a:pPr indent="0" marL="0">
              <a:lnSpc>
                <a:spcPct val="110000"/>
              </a:lnSpc>
              <a:buNone/>
            </a:pPr>
            <a:r>
              <a:rPr lang="en-US" sz="2000" b="1" dirty="0">
                <a:solidFill>
                  <a:srgbClr val="171A18"/>
                </a:solidFill>
                <a:latin typeface="Georgia" pitchFamily="34" charset="0"/>
                <a:ea typeface="Georgia" pitchFamily="34" charset="-122"/>
                <a:cs typeface="Georgia" pitchFamily="34" charset="-120"/>
              </a:rPr>
              <a:t>From Weekly Government Reports to Structured Analytical Data</a:t>
            </a:r>
            <a:endParaRPr lang="en-US" sz="2000" dirty="0"/>
          </a:p>
        </p:txBody>
      </p:sp>
      <p:sp>
        <p:nvSpPr>
          <p:cNvPr id="4" name="Text 2"/>
          <p:cNvSpPr/>
          <p:nvPr/>
        </p:nvSpPr>
        <p:spPr>
          <a:xfrm>
            <a:off x="731520" y="987552"/>
            <a:ext cx="7680960" cy="274320"/>
          </a:xfrm>
          <a:prstGeom prst="rect">
            <a:avLst/>
          </a:prstGeom>
          <a:noFill/>
          <a:ln/>
        </p:spPr>
        <p:txBody>
          <a:bodyPr wrap="square" rtlCol="0" anchor="ctr"/>
          <a:lstStyle/>
          <a:p>
            <a:pPr indent="0" marL="0">
              <a:buNone/>
            </a:pPr>
            <a:r>
              <a:rPr lang="en-US" sz="1050" dirty="0">
                <a:solidFill>
                  <a:srgbClr val="50534D"/>
                </a:solidFill>
                <a:latin typeface="Calibri" pitchFamily="34" charset="0"/>
                <a:ea typeface="Calibri" pitchFamily="34" charset="-122"/>
                <a:cs typeface="Calibri" pitchFamily="34" charset="-120"/>
              </a:rPr>
              <a:t>Transforming unstandardized public health PDF tables into a clean, auditable surveillance pipeline.</a:t>
            </a:r>
            <a:endParaRPr lang="en-US" sz="1050" dirty="0"/>
          </a:p>
        </p:txBody>
      </p:sp>
      <p:sp>
        <p:nvSpPr>
          <p:cNvPr id="5" name="Shape 3"/>
          <p:cNvSpPr/>
          <p:nvPr/>
        </p:nvSpPr>
        <p:spPr>
          <a:xfrm>
            <a:off x="731520" y="1298448"/>
            <a:ext cx="7680960" cy="0"/>
          </a:xfrm>
          <a:prstGeom prst="line">
            <a:avLst/>
          </a:prstGeom>
          <a:noFill/>
          <a:ln w="9525">
            <a:solidFill>
              <a:srgbClr val="D8CFBC"/>
            </a:solidFill>
            <a:prstDash val="solid"/>
          </a:ln>
        </p:spPr>
      </p:sp>
      <p:sp>
        <p:nvSpPr>
          <p:cNvPr id="6" name="Shape 4"/>
          <p:cNvSpPr/>
          <p:nvPr/>
        </p:nvSpPr>
        <p:spPr>
          <a:xfrm>
            <a:off x="731520" y="1463040"/>
            <a:ext cx="1426464" cy="1691640"/>
          </a:xfrm>
          <a:prstGeom prst="rect">
            <a:avLst/>
          </a:prstGeom>
          <a:solidFill>
            <a:srgbClr val="E9E2D2"/>
          </a:solidFill>
          <a:ln w="9525">
            <a:solidFill>
              <a:srgbClr val="D8CFBC"/>
            </a:solidFill>
            <a:prstDash val="solid"/>
          </a:ln>
        </p:spPr>
      </p:sp>
      <p:sp>
        <p:nvSpPr>
          <p:cNvPr id="7" name="Text 5"/>
          <p:cNvSpPr/>
          <p:nvPr/>
        </p:nvSpPr>
        <p:spPr>
          <a:xfrm>
            <a:off x="822960" y="1572768"/>
            <a:ext cx="1243584" cy="164592"/>
          </a:xfrm>
          <a:prstGeom prst="rect">
            <a:avLst/>
          </a:prstGeom>
          <a:noFill/>
          <a:ln/>
        </p:spPr>
        <p:txBody>
          <a:bodyPr wrap="square" rtlCol="0" anchor="ctr"/>
          <a:lstStyle/>
          <a:p>
            <a:pPr indent="0" marL="0">
              <a:buNone/>
            </a:pPr>
            <a:r>
              <a:rPr lang="en-US" sz="650" b="1" dirty="0">
                <a:solidFill>
                  <a:srgbClr val="50534D"/>
                </a:solidFill>
                <a:latin typeface="Consolas" pitchFamily="34" charset="0"/>
                <a:ea typeface="Consolas" pitchFamily="34" charset="-122"/>
                <a:cs typeface="Consolas" pitchFamily="34" charset="-120"/>
              </a:rPr>
              <a:t>STAGE 01</a:t>
            </a:r>
            <a:endParaRPr lang="en-US" sz="650" dirty="0"/>
          </a:p>
        </p:txBody>
      </p:sp>
      <p:sp>
        <p:nvSpPr>
          <p:cNvPr id="8" name="Text 6"/>
          <p:cNvSpPr/>
          <p:nvPr/>
        </p:nvSpPr>
        <p:spPr>
          <a:xfrm>
            <a:off x="822960" y="1719072"/>
            <a:ext cx="1243584" cy="475488"/>
          </a:xfrm>
          <a:prstGeom prst="rect">
            <a:avLst/>
          </a:prstGeom>
          <a:noFill/>
          <a:ln/>
        </p:spPr>
        <p:txBody>
          <a:bodyPr wrap="square" rtlCol="0" anchor="ctr"/>
          <a:lstStyle/>
          <a:p>
            <a:pPr indent="0" marL="0">
              <a:buNone/>
            </a:pPr>
            <a:r>
              <a:rPr lang="en-US" sz="2000" b="1" dirty="0">
                <a:solidFill>
                  <a:srgbClr val="174A4A"/>
                </a:solidFill>
                <a:latin typeface="Georgia" pitchFamily="34" charset="0"/>
                <a:ea typeface="Georgia" pitchFamily="34" charset="-122"/>
                <a:cs typeface="Georgia" pitchFamily="34" charset="-120"/>
              </a:rPr>
              <a:t>237</a:t>
            </a:r>
            <a:endParaRPr lang="en-US" sz="2000" dirty="0"/>
          </a:p>
        </p:txBody>
      </p:sp>
      <p:sp>
        <p:nvSpPr>
          <p:cNvPr id="9" name="Text 7"/>
          <p:cNvSpPr/>
          <p:nvPr/>
        </p:nvSpPr>
        <p:spPr>
          <a:xfrm>
            <a:off x="822960" y="2176272"/>
            <a:ext cx="1243584" cy="164592"/>
          </a:xfrm>
          <a:prstGeom prst="rect">
            <a:avLst/>
          </a:prstGeom>
          <a:noFill/>
          <a:ln/>
        </p:spPr>
        <p:txBody>
          <a:bodyPr wrap="square" rtlCol="0" anchor="ctr"/>
          <a:lstStyle/>
          <a:p>
            <a:pPr indent="0" marL="0">
              <a:buNone/>
            </a:pPr>
            <a:r>
              <a:rPr lang="en-US" sz="700" b="1" dirty="0">
                <a:solidFill>
                  <a:srgbClr val="50534D"/>
                </a:solidFill>
                <a:latin typeface="Consolas" pitchFamily="34" charset="0"/>
                <a:ea typeface="Consolas" pitchFamily="34" charset="-122"/>
                <a:cs typeface="Consolas" pitchFamily="34" charset="-120"/>
              </a:rPr>
              <a:t>WEEKS</a:t>
            </a:r>
            <a:endParaRPr lang="en-US" sz="700" dirty="0"/>
          </a:p>
        </p:txBody>
      </p:sp>
      <p:sp>
        <p:nvSpPr>
          <p:cNvPr id="10" name="Text 8"/>
          <p:cNvSpPr/>
          <p:nvPr/>
        </p:nvSpPr>
        <p:spPr>
          <a:xfrm>
            <a:off x="822960" y="2359152"/>
            <a:ext cx="1243584" cy="219456"/>
          </a:xfrm>
          <a:prstGeom prst="rect">
            <a:avLst/>
          </a:prstGeom>
          <a:noFill/>
          <a:ln/>
        </p:spPr>
        <p:txBody>
          <a:bodyPr wrap="square" rtlCol="0" anchor="ctr"/>
          <a:lstStyle/>
          <a:p>
            <a:pPr indent="0" marL="0">
              <a:buNone/>
            </a:pPr>
            <a:r>
              <a:rPr lang="en-US" sz="900" b="1" dirty="0">
                <a:solidFill>
                  <a:srgbClr val="171A18"/>
                </a:solidFill>
                <a:latin typeface="Calibri" pitchFamily="34" charset="0"/>
                <a:ea typeface="Calibri" pitchFamily="34" charset="-122"/>
                <a:cs typeface="Calibri" pitchFamily="34" charset="-120"/>
              </a:rPr>
              <a:t>Archive Scope</a:t>
            </a:r>
            <a:endParaRPr lang="en-US" sz="900" dirty="0"/>
          </a:p>
        </p:txBody>
      </p:sp>
      <p:sp>
        <p:nvSpPr>
          <p:cNvPr id="11" name="Text 9"/>
          <p:cNvSpPr/>
          <p:nvPr/>
        </p:nvSpPr>
        <p:spPr>
          <a:xfrm>
            <a:off x="822960" y="2578608"/>
            <a:ext cx="1243584" cy="502920"/>
          </a:xfrm>
          <a:prstGeom prst="rect">
            <a:avLst/>
          </a:prstGeom>
          <a:noFill/>
          <a:ln/>
        </p:spPr>
        <p:txBody>
          <a:bodyPr wrap="square" rtlCol="0" anchor="ctr"/>
          <a:lstStyle/>
          <a:p>
            <a:pPr indent="0" marL="0">
              <a:lnSpc>
                <a:spcPct val="110000"/>
              </a:lnSpc>
              <a:buNone/>
            </a:pPr>
            <a:r>
              <a:rPr lang="en-US" sz="750" dirty="0">
                <a:solidFill>
                  <a:srgbClr val="50534D"/>
                </a:solidFill>
                <a:latin typeface="Calibri" pitchFamily="34" charset="0"/>
                <a:ea typeface="Calibri" pitchFamily="34" charset="-122"/>
                <a:cs typeface="Calibri" pitchFamily="34" charset="-120"/>
              </a:rPr>
              <a:t>NCDC weekly outbreak PDF bulletins (2022–2026 W32)</a:t>
            </a:r>
            <a:endParaRPr lang="en-US" sz="750" dirty="0"/>
          </a:p>
        </p:txBody>
      </p:sp>
      <p:sp>
        <p:nvSpPr>
          <p:cNvPr id="12" name="Text 10"/>
          <p:cNvSpPr/>
          <p:nvPr/>
        </p:nvSpPr>
        <p:spPr>
          <a:xfrm>
            <a:off x="2157984" y="2148840"/>
            <a:ext cx="137160" cy="274320"/>
          </a:xfrm>
          <a:prstGeom prst="rect">
            <a:avLst/>
          </a:prstGeom>
          <a:noFill/>
          <a:ln/>
        </p:spPr>
        <p:txBody>
          <a:bodyPr wrap="square" rtlCol="0" anchor="ctr"/>
          <a:lstStyle/>
          <a:p>
            <a:pPr algn="ctr" indent="0" marL="0">
              <a:buNone/>
            </a:pPr>
            <a:r>
              <a:rPr lang="en-US" sz="1200" b="1" dirty="0">
                <a:solidFill>
                  <a:srgbClr val="7A7D77"/>
                </a:solidFill>
                <a:latin typeface="Georgia" pitchFamily="34" charset="0"/>
                <a:ea typeface="Georgia" pitchFamily="34" charset="-122"/>
                <a:cs typeface="Georgia" pitchFamily="34" charset="-120"/>
              </a:rPr>
              <a:t>→</a:t>
            </a:r>
            <a:endParaRPr lang="en-US" sz="1200" dirty="0"/>
          </a:p>
        </p:txBody>
      </p:sp>
      <p:sp>
        <p:nvSpPr>
          <p:cNvPr id="13" name="Shape 11"/>
          <p:cNvSpPr/>
          <p:nvPr/>
        </p:nvSpPr>
        <p:spPr>
          <a:xfrm>
            <a:off x="2295144" y="1463040"/>
            <a:ext cx="1426464" cy="1691640"/>
          </a:xfrm>
          <a:prstGeom prst="rect">
            <a:avLst/>
          </a:prstGeom>
          <a:solidFill>
            <a:srgbClr val="E9E2D2"/>
          </a:solidFill>
          <a:ln w="9525">
            <a:solidFill>
              <a:srgbClr val="D8CFBC"/>
            </a:solidFill>
            <a:prstDash val="solid"/>
          </a:ln>
        </p:spPr>
      </p:sp>
      <p:sp>
        <p:nvSpPr>
          <p:cNvPr id="14" name="Text 12"/>
          <p:cNvSpPr/>
          <p:nvPr/>
        </p:nvSpPr>
        <p:spPr>
          <a:xfrm>
            <a:off x="2386584" y="1572768"/>
            <a:ext cx="1243584" cy="164592"/>
          </a:xfrm>
          <a:prstGeom prst="rect">
            <a:avLst/>
          </a:prstGeom>
          <a:noFill/>
          <a:ln/>
        </p:spPr>
        <p:txBody>
          <a:bodyPr wrap="square" rtlCol="0" anchor="ctr"/>
          <a:lstStyle/>
          <a:p>
            <a:pPr indent="0" marL="0">
              <a:buNone/>
            </a:pPr>
            <a:r>
              <a:rPr lang="en-US" sz="650" b="1" dirty="0">
                <a:solidFill>
                  <a:srgbClr val="50534D"/>
                </a:solidFill>
                <a:latin typeface="Consolas" pitchFamily="34" charset="0"/>
                <a:ea typeface="Consolas" pitchFamily="34" charset="-122"/>
                <a:cs typeface="Consolas" pitchFamily="34" charset="-120"/>
              </a:rPr>
              <a:t>STAGE 02</a:t>
            </a:r>
            <a:endParaRPr lang="en-US" sz="650" dirty="0"/>
          </a:p>
        </p:txBody>
      </p:sp>
      <p:sp>
        <p:nvSpPr>
          <p:cNvPr id="15" name="Text 13"/>
          <p:cNvSpPr/>
          <p:nvPr/>
        </p:nvSpPr>
        <p:spPr>
          <a:xfrm>
            <a:off x="2386584" y="1719072"/>
            <a:ext cx="1243584" cy="475488"/>
          </a:xfrm>
          <a:prstGeom prst="rect">
            <a:avLst/>
          </a:prstGeom>
          <a:noFill/>
          <a:ln/>
        </p:spPr>
        <p:txBody>
          <a:bodyPr wrap="square" rtlCol="0" anchor="ctr"/>
          <a:lstStyle/>
          <a:p>
            <a:pPr indent="0" marL="0">
              <a:buNone/>
            </a:pPr>
            <a:r>
              <a:rPr lang="en-US" sz="2000" b="1" dirty="0">
                <a:solidFill>
                  <a:srgbClr val="174A4A"/>
                </a:solidFill>
                <a:latin typeface="Georgia" pitchFamily="34" charset="0"/>
                <a:ea typeface="Georgia" pitchFamily="34" charset="-122"/>
                <a:cs typeface="Georgia" pitchFamily="34" charset="-120"/>
              </a:rPr>
              <a:t>809</a:t>
            </a:r>
            <a:endParaRPr lang="en-US" sz="2000" dirty="0"/>
          </a:p>
        </p:txBody>
      </p:sp>
      <p:sp>
        <p:nvSpPr>
          <p:cNvPr id="16" name="Text 14"/>
          <p:cNvSpPr/>
          <p:nvPr/>
        </p:nvSpPr>
        <p:spPr>
          <a:xfrm>
            <a:off x="2386584" y="2176272"/>
            <a:ext cx="1243584" cy="164592"/>
          </a:xfrm>
          <a:prstGeom prst="rect">
            <a:avLst/>
          </a:prstGeom>
          <a:noFill/>
          <a:ln/>
        </p:spPr>
        <p:txBody>
          <a:bodyPr wrap="square" rtlCol="0" anchor="ctr"/>
          <a:lstStyle/>
          <a:p>
            <a:pPr indent="0" marL="0">
              <a:buNone/>
            </a:pPr>
            <a:r>
              <a:rPr lang="en-US" sz="700" b="1" dirty="0">
                <a:solidFill>
                  <a:srgbClr val="50534D"/>
                </a:solidFill>
                <a:latin typeface="Consolas" pitchFamily="34" charset="0"/>
                <a:ea typeface="Consolas" pitchFamily="34" charset="-122"/>
                <a:cs typeface="Consolas" pitchFamily="34" charset="-120"/>
              </a:rPr>
              <a:t>RECORDS</a:t>
            </a:r>
            <a:endParaRPr lang="en-US" sz="700" dirty="0"/>
          </a:p>
        </p:txBody>
      </p:sp>
      <p:sp>
        <p:nvSpPr>
          <p:cNvPr id="17" name="Text 15"/>
          <p:cNvSpPr/>
          <p:nvPr/>
        </p:nvSpPr>
        <p:spPr>
          <a:xfrm>
            <a:off x="2386584" y="2359152"/>
            <a:ext cx="1243584" cy="219456"/>
          </a:xfrm>
          <a:prstGeom prst="rect">
            <a:avLst/>
          </a:prstGeom>
          <a:noFill/>
          <a:ln/>
        </p:spPr>
        <p:txBody>
          <a:bodyPr wrap="square" rtlCol="0" anchor="ctr"/>
          <a:lstStyle/>
          <a:p>
            <a:pPr indent="0" marL="0">
              <a:buNone/>
            </a:pPr>
            <a:r>
              <a:rPr lang="en-US" sz="900" b="1" dirty="0">
                <a:solidFill>
                  <a:srgbClr val="171A18"/>
                </a:solidFill>
                <a:latin typeface="Calibri" pitchFamily="34" charset="0"/>
                <a:ea typeface="Calibri" pitchFamily="34" charset="-122"/>
                <a:cs typeface="Calibri" pitchFamily="34" charset="-120"/>
              </a:rPr>
              <a:t>Curated Records</a:t>
            </a:r>
            <a:endParaRPr lang="en-US" sz="900" dirty="0"/>
          </a:p>
        </p:txBody>
      </p:sp>
      <p:sp>
        <p:nvSpPr>
          <p:cNvPr id="18" name="Text 16"/>
          <p:cNvSpPr/>
          <p:nvPr/>
        </p:nvSpPr>
        <p:spPr>
          <a:xfrm>
            <a:off x="2386584" y="2578608"/>
            <a:ext cx="1243584" cy="502920"/>
          </a:xfrm>
          <a:prstGeom prst="rect">
            <a:avLst/>
          </a:prstGeom>
          <a:noFill/>
          <a:ln/>
        </p:spPr>
        <p:txBody>
          <a:bodyPr wrap="square" rtlCol="0" anchor="ctr"/>
          <a:lstStyle/>
          <a:p>
            <a:pPr indent="0" marL="0">
              <a:lnSpc>
                <a:spcPct val="110000"/>
              </a:lnSpc>
              <a:buNone/>
            </a:pPr>
            <a:r>
              <a:rPr lang="en-US" sz="750" dirty="0">
                <a:solidFill>
                  <a:srgbClr val="50534D"/>
                </a:solidFill>
                <a:latin typeface="Calibri" pitchFamily="34" charset="0"/>
                <a:ea typeface="Calibri" pitchFamily="34" charset="-122"/>
                <a:cs typeface="Calibri" pitchFamily="34" charset="-120"/>
              </a:rPr>
              <a:t>Extracted Maharashtra outbreak rows with PDF/page linkage</a:t>
            </a:r>
            <a:endParaRPr lang="en-US" sz="750" dirty="0"/>
          </a:p>
        </p:txBody>
      </p:sp>
      <p:sp>
        <p:nvSpPr>
          <p:cNvPr id="19" name="Text 17"/>
          <p:cNvSpPr/>
          <p:nvPr/>
        </p:nvSpPr>
        <p:spPr>
          <a:xfrm>
            <a:off x="3721608" y="2148840"/>
            <a:ext cx="137160" cy="274320"/>
          </a:xfrm>
          <a:prstGeom prst="rect">
            <a:avLst/>
          </a:prstGeom>
          <a:noFill/>
          <a:ln/>
        </p:spPr>
        <p:txBody>
          <a:bodyPr wrap="square" rtlCol="0" anchor="ctr"/>
          <a:lstStyle/>
          <a:p>
            <a:pPr algn="ctr" indent="0" marL="0">
              <a:buNone/>
            </a:pPr>
            <a:r>
              <a:rPr lang="en-US" sz="1200" b="1" dirty="0">
                <a:solidFill>
                  <a:srgbClr val="7A7D77"/>
                </a:solidFill>
                <a:latin typeface="Georgia" pitchFamily="34" charset="0"/>
                <a:ea typeface="Georgia" pitchFamily="34" charset="-122"/>
                <a:cs typeface="Georgia" pitchFamily="34" charset="-120"/>
              </a:rPr>
              <a:t>→</a:t>
            </a:r>
            <a:endParaRPr lang="en-US" sz="1200" dirty="0"/>
          </a:p>
        </p:txBody>
      </p:sp>
      <p:sp>
        <p:nvSpPr>
          <p:cNvPr id="20" name="Shape 18"/>
          <p:cNvSpPr/>
          <p:nvPr/>
        </p:nvSpPr>
        <p:spPr>
          <a:xfrm>
            <a:off x="3858768" y="1463040"/>
            <a:ext cx="1426464" cy="1691640"/>
          </a:xfrm>
          <a:prstGeom prst="rect">
            <a:avLst/>
          </a:prstGeom>
          <a:solidFill>
            <a:srgbClr val="E9E2D2"/>
          </a:solidFill>
          <a:ln w="9525">
            <a:solidFill>
              <a:srgbClr val="D8CFBC"/>
            </a:solidFill>
            <a:prstDash val="solid"/>
          </a:ln>
        </p:spPr>
      </p:sp>
      <p:sp>
        <p:nvSpPr>
          <p:cNvPr id="21" name="Text 19"/>
          <p:cNvSpPr/>
          <p:nvPr/>
        </p:nvSpPr>
        <p:spPr>
          <a:xfrm>
            <a:off x="3950208" y="1572768"/>
            <a:ext cx="1243584" cy="164592"/>
          </a:xfrm>
          <a:prstGeom prst="rect">
            <a:avLst/>
          </a:prstGeom>
          <a:noFill/>
          <a:ln/>
        </p:spPr>
        <p:txBody>
          <a:bodyPr wrap="square" rtlCol="0" anchor="ctr"/>
          <a:lstStyle/>
          <a:p>
            <a:pPr indent="0" marL="0">
              <a:buNone/>
            </a:pPr>
            <a:r>
              <a:rPr lang="en-US" sz="650" b="1" dirty="0">
                <a:solidFill>
                  <a:srgbClr val="50534D"/>
                </a:solidFill>
                <a:latin typeface="Consolas" pitchFamily="34" charset="0"/>
                <a:ea typeface="Consolas" pitchFamily="34" charset="-122"/>
                <a:cs typeface="Consolas" pitchFamily="34" charset="-120"/>
              </a:rPr>
              <a:t>STAGE 03</a:t>
            </a:r>
            <a:endParaRPr lang="en-US" sz="650" dirty="0"/>
          </a:p>
        </p:txBody>
      </p:sp>
      <p:sp>
        <p:nvSpPr>
          <p:cNvPr id="22" name="Text 20"/>
          <p:cNvSpPr/>
          <p:nvPr/>
        </p:nvSpPr>
        <p:spPr>
          <a:xfrm>
            <a:off x="3950208" y="1719072"/>
            <a:ext cx="1243584" cy="475488"/>
          </a:xfrm>
          <a:prstGeom prst="rect">
            <a:avLst/>
          </a:prstGeom>
          <a:noFill/>
          <a:ln/>
        </p:spPr>
        <p:txBody>
          <a:bodyPr wrap="square" rtlCol="0" anchor="ctr"/>
          <a:lstStyle/>
          <a:p>
            <a:pPr indent="0" marL="0">
              <a:buNone/>
            </a:pPr>
            <a:r>
              <a:rPr lang="en-US" sz="1400" b="1" dirty="0">
                <a:solidFill>
                  <a:srgbClr val="174A4A"/>
                </a:solidFill>
                <a:latin typeface="Georgia" pitchFamily="34" charset="0"/>
                <a:ea typeface="Georgia" pitchFamily="34" charset="-122"/>
                <a:cs typeface="Georgia" pitchFamily="34" charset="-120"/>
              </a:rPr>
              <a:t>116 → 56</a:t>
            </a:r>
            <a:endParaRPr lang="en-US" sz="1400" dirty="0"/>
          </a:p>
        </p:txBody>
      </p:sp>
      <p:sp>
        <p:nvSpPr>
          <p:cNvPr id="23" name="Text 21"/>
          <p:cNvSpPr/>
          <p:nvPr/>
        </p:nvSpPr>
        <p:spPr>
          <a:xfrm>
            <a:off x="3950208" y="2176272"/>
            <a:ext cx="1243584" cy="164592"/>
          </a:xfrm>
          <a:prstGeom prst="rect">
            <a:avLst/>
          </a:prstGeom>
          <a:noFill/>
          <a:ln/>
        </p:spPr>
        <p:txBody>
          <a:bodyPr wrap="square" rtlCol="0" anchor="ctr"/>
          <a:lstStyle/>
          <a:p>
            <a:pPr indent="0" marL="0">
              <a:buNone/>
            </a:pPr>
            <a:r>
              <a:rPr lang="en-US" sz="700" b="1" dirty="0">
                <a:solidFill>
                  <a:srgbClr val="50534D"/>
                </a:solidFill>
                <a:latin typeface="Consolas" pitchFamily="34" charset="0"/>
                <a:ea typeface="Consolas" pitchFamily="34" charset="-122"/>
                <a:cs typeface="Consolas" pitchFamily="34" charset="-120"/>
              </a:rPr>
              <a:t>LABELS</a:t>
            </a:r>
            <a:endParaRPr lang="en-US" sz="700" dirty="0"/>
          </a:p>
        </p:txBody>
      </p:sp>
      <p:sp>
        <p:nvSpPr>
          <p:cNvPr id="24" name="Text 22"/>
          <p:cNvSpPr/>
          <p:nvPr/>
        </p:nvSpPr>
        <p:spPr>
          <a:xfrm>
            <a:off x="3950208" y="2359152"/>
            <a:ext cx="1243584" cy="219456"/>
          </a:xfrm>
          <a:prstGeom prst="rect">
            <a:avLst/>
          </a:prstGeom>
          <a:noFill/>
          <a:ln/>
        </p:spPr>
        <p:txBody>
          <a:bodyPr wrap="square" rtlCol="0" anchor="ctr"/>
          <a:lstStyle/>
          <a:p>
            <a:pPr indent="0" marL="0">
              <a:buNone/>
            </a:pPr>
            <a:r>
              <a:rPr lang="en-US" sz="900" b="1" dirty="0">
                <a:solidFill>
                  <a:srgbClr val="171A18"/>
                </a:solidFill>
                <a:latin typeface="Calibri" pitchFamily="34" charset="0"/>
                <a:ea typeface="Calibri" pitchFamily="34" charset="-122"/>
                <a:cs typeface="Calibri" pitchFamily="34" charset="-120"/>
              </a:rPr>
              <a:t>Label Normalization</a:t>
            </a:r>
            <a:endParaRPr lang="en-US" sz="900" dirty="0"/>
          </a:p>
        </p:txBody>
      </p:sp>
      <p:sp>
        <p:nvSpPr>
          <p:cNvPr id="25" name="Text 23"/>
          <p:cNvSpPr/>
          <p:nvPr/>
        </p:nvSpPr>
        <p:spPr>
          <a:xfrm>
            <a:off x="3950208" y="2578608"/>
            <a:ext cx="1243584" cy="502920"/>
          </a:xfrm>
          <a:prstGeom prst="rect">
            <a:avLst/>
          </a:prstGeom>
          <a:noFill/>
          <a:ln/>
        </p:spPr>
        <p:txBody>
          <a:bodyPr wrap="square" rtlCol="0" anchor="ctr"/>
          <a:lstStyle/>
          <a:p>
            <a:pPr indent="0" marL="0">
              <a:lnSpc>
                <a:spcPct val="110000"/>
              </a:lnSpc>
              <a:buNone/>
            </a:pPr>
            <a:r>
              <a:rPr lang="en-US" sz="750" dirty="0">
                <a:solidFill>
                  <a:srgbClr val="50534D"/>
                </a:solidFill>
                <a:latin typeface="Calibri" pitchFamily="34" charset="0"/>
                <a:ea typeface="Calibri" pitchFamily="34" charset="-122"/>
                <a:cs typeface="Calibri" pitchFamily="34" charset="-120"/>
              </a:rPr>
              <a:t>116 raw text strings mapped to 56 clean analytical labels</a:t>
            </a:r>
            <a:endParaRPr lang="en-US" sz="750" dirty="0"/>
          </a:p>
        </p:txBody>
      </p:sp>
      <p:sp>
        <p:nvSpPr>
          <p:cNvPr id="26" name="Text 24"/>
          <p:cNvSpPr/>
          <p:nvPr/>
        </p:nvSpPr>
        <p:spPr>
          <a:xfrm>
            <a:off x="5285232" y="2148840"/>
            <a:ext cx="137160" cy="274320"/>
          </a:xfrm>
          <a:prstGeom prst="rect">
            <a:avLst/>
          </a:prstGeom>
          <a:noFill/>
          <a:ln/>
        </p:spPr>
        <p:txBody>
          <a:bodyPr wrap="square" rtlCol="0" anchor="ctr"/>
          <a:lstStyle/>
          <a:p>
            <a:pPr algn="ctr" indent="0" marL="0">
              <a:buNone/>
            </a:pPr>
            <a:r>
              <a:rPr lang="en-US" sz="1200" b="1" dirty="0">
                <a:solidFill>
                  <a:srgbClr val="7A7D77"/>
                </a:solidFill>
                <a:latin typeface="Georgia" pitchFamily="34" charset="0"/>
                <a:ea typeface="Georgia" pitchFamily="34" charset="-122"/>
                <a:cs typeface="Georgia" pitchFamily="34" charset="-120"/>
              </a:rPr>
              <a:t>→</a:t>
            </a:r>
            <a:endParaRPr lang="en-US" sz="1200" dirty="0"/>
          </a:p>
        </p:txBody>
      </p:sp>
      <p:sp>
        <p:nvSpPr>
          <p:cNvPr id="27" name="Shape 25"/>
          <p:cNvSpPr/>
          <p:nvPr/>
        </p:nvSpPr>
        <p:spPr>
          <a:xfrm>
            <a:off x="5422392" y="1463040"/>
            <a:ext cx="1426464" cy="1691640"/>
          </a:xfrm>
          <a:prstGeom prst="rect">
            <a:avLst/>
          </a:prstGeom>
          <a:solidFill>
            <a:srgbClr val="E9E2D2"/>
          </a:solidFill>
          <a:ln w="9525">
            <a:solidFill>
              <a:srgbClr val="D8CFBC"/>
            </a:solidFill>
            <a:prstDash val="solid"/>
          </a:ln>
        </p:spPr>
      </p:sp>
      <p:sp>
        <p:nvSpPr>
          <p:cNvPr id="28" name="Text 26"/>
          <p:cNvSpPr/>
          <p:nvPr/>
        </p:nvSpPr>
        <p:spPr>
          <a:xfrm>
            <a:off x="5513832" y="1572768"/>
            <a:ext cx="1243584" cy="164592"/>
          </a:xfrm>
          <a:prstGeom prst="rect">
            <a:avLst/>
          </a:prstGeom>
          <a:noFill/>
          <a:ln/>
        </p:spPr>
        <p:txBody>
          <a:bodyPr wrap="square" rtlCol="0" anchor="ctr"/>
          <a:lstStyle/>
          <a:p>
            <a:pPr indent="0" marL="0">
              <a:buNone/>
            </a:pPr>
            <a:r>
              <a:rPr lang="en-US" sz="650" b="1" dirty="0">
                <a:solidFill>
                  <a:srgbClr val="50534D"/>
                </a:solidFill>
                <a:latin typeface="Consolas" pitchFamily="34" charset="0"/>
                <a:ea typeface="Consolas" pitchFamily="34" charset="-122"/>
                <a:cs typeface="Consolas" pitchFamily="34" charset="-120"/>
              </a:rPr>
              <a:t>STAGE 04</a:t>
            </a:r>
            <a:endParaRPr lang="en-US" sz="650" dirty="0"/>
          </a:p>
        </p:txBody>
      </p:sp>
      <p:sp>
        <p:nvSpPr>
          <p:cNvPr id="29" name="Text 27"/>
          <p:cNvSpPr/>
          <p:nvPr/>
        </p:nvSpPr>
        <p:spPr>
          <a:xfrm>
            <a:off x="5513832" y="1719072"/>
            <a:ext cx="1243584" cy="475488"/>
          </a:xfrm>
          <a:prstGeom prst="rect">
            <a:avLst/>
          </a:prstGeom>
          <a:noFill/>
          <a:ln/>
        </p:spPr>
        <p:txBody>
          <a:bodyPr wrap="square" rtlCol="0" anchor="ctr"/>
          <a:lstStyle/>
          <a:p>
            <a:pPr indent="0" marL="0">
              <a:buNone/>
            </a:pPr>
            <a:r>
              <a:rPr lang="en-US" sz="2000" b="1" dirty="0">
                <a:solidFill>
                  <a:srgbClr val="174A4A"/>
                </a:solidFill>
                <a:latin typeface="Georgia" pitchFamily="34" charset="0"/>
                <a:ea typeface="Georgia" pitchFamily="34" charset="-122"/>
                <a:cs typeface="Georgia" pitchFamily="34" charset="-120"/>
              </a:rPr>
              <a:t>30</a:t>
            </a:r>
            <a:endParaRPr lang="en-US" sz="2000" dirty="0"/>
          </a:p>
        </p:txBody>
      </p:sp>
      <p:sp>
        <p:nvSpPr>
          <p:cNvPr id="30" name="Text 28"/>
          <p:cNvSpPr/>
          <p:nvPr/>
        </p:nvSpPr>
        <p:spPr>
          <a:xfrm>
            <a:off x="5513832" y="2176272"/>
            <a:ext cx="1243584" cy="164592"/>
          </a:xfrm>
          <a:prstGeom prst="rect">
            <a:avLst/>
          </a:prstGeom>
          <a:noFill/>
          <a:ln/>
        </p:spPr>
        <p:txBody>
          <a:bodyPr wrap="square" rtlCol="0" anchor="ctr"/>
          <a:lstStyle/>
          <a:p>
            <a:pPr indent="0" marL="0">
              <a:buNone/>
            </a:pPr>
            <a:r>
              <a:rPr lang="en-US" sz="700" b="1" dirty="0">
                <a:solidFill>
                  <a:srgbClr val="50534D"/>
                </a:solidFill>
                <a:latin typeface="Consolas" pitchFamily="34" charset="0"/>
                <a:ea typeface="Consolas" pitchFamily="34" charset="-122"/>
                <a:cs typeface="Consolas" pitchFamily="34" charset="-120"/>
              </a:rPr>
              <a:t>FAMILIES</a:t>
            </a:r>
            <a:endParaRPr lang="en-US" sz="700" dirty="0"/>
          </a:p>
        </p:txBody>
      </p:sp>
      <p:sp>
        <p:nvSpPr>
          <p:cNvPr id="31" name="Text 29"/>
          <p:cNvSpPr/>
          <p:nvPr/>
        </p:nvSpPr>
        <p:spPr>
          <a:xfrm>
            <a:off x="5513832" y="2359152"/>
            <a:ext cx="1243584" cy="219456"/>
          </a:xfrm>
          <a:prstGeom prst="rect">
            <a:avLst/>
          </a:prstGeom>
          <a:noFill/>
          <a:ln/>
        </p:spPr>
        <p:txBody>
          <a:bodyPr wrap="square" rtlCol="0" anchor="ctr"/>
          <a:lstStyle/>
          <a:p>
            <a:pPr indent="0" marL="0">
              <a:buNone/>
            </a:pPr>
            <a:r>
              <a:rPr lang="en-US" sz="900" b="1" dirty="0">
                <a:solidFill>
                  <a:srgbClr val="171A18"/>
                </a:solidFill>
                <a:latin typeface="Calibri" pitchFamily="34" charset="0"/>
                <a:ea typeface="Calibri" pitchFamily="34" charset="-122"/>
                <a:cs typeface="Calibri" pitchFamily="34" charset="-120"/>
              </a:rPr>
              <a:t>Disease Families</a:t>
            </a:r>
            <a:endParaRPr lang="en-US" sz="900" dirty="0"/>
          </a:p>
        </p:txBody>
      </p:sp>
      <p:sp>
        <p:nvSpPr>
          <p:cNvPr id="32" name="Text 30"/>
          <p:cNvSpPr/>
          <p:nvPr/>
        </p:nvSpPr>
        <p:spPr>
          <a:xfrm>
            <a:off x="5513832" y="2578608"/>
            <a:ext cx="1243584" cy="502920"/>
          </a:xfrm>
          <a:prstGeom prst="rect">
            <a:avLst/>
          </a:prstGeom>
          <a:noFill/>
          <a:ln/>
        </p:spPr>
        <p:txBody>
          <a:bodyPr wrap="square" rtlCol="0" anchor="ctr"/>
          <a:lstStyle/>
          <a:p>
            <a:pPr indent="0" marL="0">
              <a:lnSpc>
                <a:spcPct val="110000"/>
              </a:lnSpc>
              <a:buNone/>
            </a:pPr>
            <a:r>
              <a:rPr lang="en-US" sz="750" dirty="0">
                <a:solidFill>
                  <a:srgbClr val="50534D"/>
                </a:solidFill>
                <a:latin typeface="Calibri" pitchFamily="34" charset="0"/>
                <a:ea typeface="Calibri" pitchFamily="34" charset="-122"/>
                <a:cs typeface="Calibri" pitchFamily="34" charset="-120"/>
              </a:rPr>
              <a:t>Consolidated clinical &amp; transmission syndrome groups</a:t>
            </a:r>
            <a:endParaRPr lang="en-US" sz="750" dirty="0"/>
          </a:p>
        </p:txBody>
      </p:sp>
      <p:sp>
        <p:nvSpPr>
          <p:cNvPr id="33" name="Text 31"/>
          <p:cNvSpPr/>
          <p:nvPr/>
        </p:nvSpPr>
        <p:spPr>
          <a:xfrm>
            <a:off x="6848856" y="2148840"/>
            <a:ext cx="137160" cy="274320"/>
          </a:xfrm>
          <a:prstGeom prst="rect">
            <a:avLst/>
          </a:prstGeom>
          <a:noFill/>
          <a:ln/>
        </p:spPr>
        <p:txBody>
          <a:bodyPr wrap="square" rtlCol="0" anchor="ctr"/>
          <a:lstStyle/>
          <a:p>
            <a:pPr algn="ctr" indent="0" marL="0">
              <a:buNone/>
            </a:pPr>
            <a:r>
              <a:rPr lang="en-US" sz="1200" b="1" dirty="0">
                <a:solidFill>
                  <a:srgbClr val="7A7D77"/>
                </a:solidFill>
                <a:latin typeface="Georgia" pitchFamily="34" charset="0"/>
                <a:ea typeface="Georgia" pitchFamily="34" charset="-122"/>
                <a:cs typeface="Georgia" pitchFamily="34" charset="-120"/>
              </a:rPr>
              <a:t>→</a:t>
            </a:r>
            <a:endParaRPr lang="en-US" sz="1200" dirty="0"/>
          </a:p>
        </p:txBody>
      </p:sp>
      <p:sp>
        <p:nvSpPr>
          <p:cNvPr id="34" name="Shape 32"/>
          <p:cNvSpPr/>
          <p:nvPr/>
        </p:nvSpPr>
        <p:spPr>
          <a:xfrm>
            <a:off x="6986016" y="1463040"/>
            <a:ext cx="1426464" cy="1691640"/>
          </a:xfrm>
          <a:prstGeom prst="rect">
            <a:avLst/>
          </a:prstGeom>
          <a:solidFill>
            <a:srgbClr val="F9F6EF"/>
          </a:solidFill>
          <a:ln w="15240">
            <a:solidFill>
              <a:srgbClr val="C84B2F"/>
            </a:solidFill>
            <a:prstDash val="solid"/>
          </a:ln>
        </p:spPr>
      </p:sp>
      <p:sp>
        <p:nvSpPr>
          <p:cNvPr id="35" name="Text 33"/>
          <p:cNvSpPr/>
          <p:nvPr/>
        </p:nvSpPr>
        <p:spPr>
          <a:xfrm>
            <a:off x="7077456" y="1572768"/>
            <a:ext cx="1243584" cy="164592"/>
          </a:xfrm>
          <a:prstGeom prst="rect">
            <a:avLst/>
          </a:prstGeom>
          <a:noFill/>
          <a:ln/>
        </p:spPr>
        <p:txBody>
          <a:bodyPr wrap="square" rtlCol="0" anchor="ctr"/>
          <a:lstStyle/>
          <a:p>
            <a:pPr indent="0" marL="0">
              <a:buNone/>
            </a:pPr>
            <a:r>
              <a:rPr lang="en-US" sz="650" b="1" dirty="0">
                <a:solidFill>
                  <a:srgbClr val="C84B2F"/>
                </a:solidFill>
                <a:latin typeface="Consolas" pitchFamily="34" charset="0"/>
                <a:ea typeface="Consolas" pitchFamily="34" charset="-122"/>
                <a:cs typeface="Consolas" pitchFamily="34" charset="-120"/>
              </a:rPr>
              <a:t>STAGE 05</a:t>
            </a:r>
            <a:endParaRPr lang="en-US" sz="650" dirty="0"/>
          </a:p>
        </p:txBody>
      </p:sp>
      <p:sp>
        <p:nvSpPr>
          <p:cNvPr id="36" name="Text 34"/>
          <p:cNvSpPr/>
          <p:nvPr/>
        </p:nvSpPr>
        <p:spPr>
          <a:xfrm>
            <a:off x="7077456" y="1719072"/>
            <a:ext cx="1243584" cy="475488"/>
          </a:xfrm>
          <a:prstGeom prst="rect">
            <a:avLst/>
          </a:prstGeom>
          <a:noFill/>
          <a:ln/>
        </p:spPr>
        <p:txBody>
          <a:bodyPr wrap="square" rtlCol="0" anchor="ctr"/>
          <a:lstStyle/>
          <a:p>
            <a:pPr indent="0" marL="0">
              <a:buNone/>
            </a:pPr>
            <a:r>
              <a:rPr lang="en-US" sz="2000" b="1" dirty="0">
                <a:solidFill>
                  <a:srgbClr val="C84B2F"/>
                </a:solidFill>
                <a:latin typeface="Georgia" pitchFamily="34" charset="0"/>
                <a:ea typeface="Georgia" pitchFamily="34" charset="-122"/>
                <a:cs typeface="Georgia" pitchFamily="34" charset="-120"/>
              </a:rPr>
              <a:t>5</a:t>
            </a:r>
            <a:endParaRPr lang="en-US" sz="2000" dirty="0"/>
          </a:p>
        </p:txBody>
      </p:sp>
      <p:sp>
        <p:nvSpPr>
          <p:cNvPr id="37" name="Text 35"/>
          <p:cNvSpPr/>
          <p:nvPr/>
        </p:nvSpPr>
        <p:spPr>
          <a:xfrm>
            <a:off x="7077456" y="2176272"/>
            <a:ext cx="1243584" cy="164592"/>
          </a:xfrm>
          <a:prstGeom prst="rect">
            <a:avLst/>
          </a:prstGeom>
          <a:noFill/>
          <a:ln/>
        </p:spPr>
        <p:txBody>
          <a:bodyPr wrap="square" rtlCol="0" anchor="ctr"/>
          <a:lstStyle/>
          <a:p>
            <a:pPr indent="0" marL="0">
              <a:buNone/>
            </a:pPr>
            <a:r>
              <a:rPr lang="en-US" sz="700" b="1" dirty="0">
                <a:solidFill>
                  <a:srgbClr val="50534D"/>
                </a:solidFill>
                <a:latin typeface="Consolas" pitchFamily="34" charset="0"/>
                <a:ea typeface="Consolas" pitchFamily="34" charset="-122"/>
                <a:cs typeface="Consolas" pitchFamily="34" charset="-120"/>
              </a:rPr>
              <a:t>STUDY FAMILIES</a:t>
            </a:r>
            <a:endParaRPr lang="en-US" sz="700" dirty="0"/>
          </a:p>
        </p:txBody>
      </p:sp>
      <p:sp>
        <p:nvSpPr>
          <p:cNvPr id="38" name="Text 36"/>
          <p:cNvSpPr/>
          <p:nvPr/>
        </p:nvSpPr>
        <p:spPr>
          <a:xfrm>
            <a:off x="7077456" y="2359152"/>
            <a:ext cx="1243584" cy="219456"/>
          </a:xfrm>
          <a:prstGeom prst="rect">
            <a:avLst/>
          </a:prstGeom>
          <a:noFill/>
          <a:ln/>
        </p:spPr>
        <p:txBody>
          <a:bodyPr wrap="square" rtlCol="0" anchor="ctr"/>
          <a:lstStyle/>
          <a:p>
            <a:pPr indent="0" marL="0">
              <a:buNone/>
            </a:pPr>
            <a:r>
              <a:rPr lang="en-US" sz="900" b="1" dirty="0">
                <a:solidFill>
                  <a:srgbClr val="171A18"/>
                </a:solidFill>
                <a:latin typeface="Calibri" pitchFamily="34" charset="0"/>
                <a:ea typeface="Calibri" pitchFamily="34" charset="-122"/>
                <a:cs typeface="Calibri" pitchFamily="34" charset="-120"/>
              </a:rPr>
              <a:t>Primary Cohort</a:t>
            </a:r>
            <a:endParaRPr lang="en-US" sz="900" dirty="0"/>
          </a:p>
        </p:txBody>
      </p:sp>
      <p:sp>
        <p:nvSpPr>
          <p:cNvPr id="39" name="Text 37"/>
          <p:cNvSpPr/>
          <p:nvPr/>
        </p:nvSpPr>
        <p:spPr>
          <a:xfrm>
            <a:off x="7077456" y="2578608"/>
            <a:ext cx="1243584" cy="502920"/>
          </a:xfrm>
          <a:prstGeom prst="rect">
            <a:avLst/>
          </a:prstGeom>
          <a:noFill/>
          <a:ln/>
        </p:spPr>
        <p:txBody>
          <a:bodyPr wrap="square" rtlCol="0" anchor="ctr"/>
          <a:lstStyle/>
          <a:p>
            <a:pPr indent="0" marL="0">
              <a:lnSpc>
                <a:spcPct val="110000"/>
              </a:lnSpc>
              <a:buNone/>
            </a:pPr>
            <a:r>
              <a:rPr lang="en-US" sz="750" dirty="0">
                <a:solidFill>
                  <a:srgbClr val="50534D"/>
                </a:solidFill>
                <a:latin typeface="Calibri" pitchFamily="34" charset="0"/>
                <a:ea typeface="Calibri" pitchFamily="34" charset="-122"/>
                <a:cs typeface="Calibri" pitchFamily="34" charset="-120"/>
              </a:rPr>
              <a:t>Screened primary families representing 93.9% of records</a:t>
            </a:r>
            <a:endParaRPr lang="en-US" sz="750" dirty="0"/>
          </a:p>
        </p:txBody>
      </p:sp>
      <p:sp>
        <p:nvSpPr>
          <p:cNvPr id="40" name="Shape 38"/>
          <p:cNvSpPr/>
          <p:nvPr/>
        </p:nvSpPr>
        <p:spPr>
          <a:xfrm>
            <a:off x="731520" y="3337560"/>
            <a:ext cx="3703320" cy="1234440"/>
          </a:xfrm>
          <a:prstGeom prst="rect">
            <a:avLst/>
          </a:prstGeom>
          <a:solidFill>
            <a:srgbClr val="E9E2D2"/>
          </a:solidFill>
          <a:ln w="9525">
            <a:solidFill>
              <a:srgbClr val="D8CFBC"/>
            </a:solidFill>
            <a:prstDash val="solid"/>
          </a:ln>
        </p:spPr>
      </p:sp>
      <p:sp>
        <p:nvSpPr>
          <p:cNvPr id="41" name="Text 39"/>
          <p:cNvSpPr/>
          <p:nvPr/>
        </p:nvSpPr>
        <p:spPr>
          <a:xfrm>
            <a:off x="914400" y="3447288"/>
            <a:ext cx="3337560" cy="182880"/>
          </a:xfrm>
          <a:prstGeom prst="rect">
            <a:avLst/>
          </a:prstGeom>
          <a:noFill/>
          <a:ln/>
        </p:spPr>
        <p:txBody>
          <a:bodyPr wrap="square" rtlCol="0" anchor="ctr"/>
          <a:lstStyle/>
          <a:p>
            <a:pPr indent="0" marL="0">
              <a:buNone/>
            </a:pPr>
            <a:r>
              <a:rPr lang="en-US" sz="750" b="1" dirty="0">
                <a:solidFill>
                  <a:srgbClr val="174A4A"/>
                </a:solidFill>
                <a:latin typeface="Consolas" pitchFamily="34" charset="0"/>
                <a:ea typeface="Consolas" pitchFamily="34" charset="-122"/>
                <a:cs typeface="Consolas" pitchFamily="34" charset="-120"/>
              </a:rPr>
              <a:t>ADDITIVE NON-DESTRUCTIVE CLEANING</a:t>
            </a:r>
            <a:endParaRPr lang="en-US" sz="750" dirty="0"/>
          </a:p>
        </p:txBody>
      </p:sp>
      <p:sp>
        <p:nvSpPr>
          <p:cNvPr id="42" name="Text 40"/>
          <p:cNvSpPr/>
          <p:nvPr/>
        </p:nvSpPr>
        <p:spPr>
          <a:xfrm>
            <a:off x="914400" y="3657600"/>
            <a:ext cx="3337560" cy="822960"/>
          </a:xfrm>
          <a:prstGeom prst="rect">
            <a:avLst/>
          </a:prstGeom>
          <a:noFill/>
          <a:ln/>
        </p:spPr>
        <p:txBody>
          <a:bodyPr wrap="square" rtlCol="0" anchor="ctr"/>
          <a:lstStyle/>
          <a:p>
            <a:pPr indent="0" marL="0">
              <a:lnSpc>
                <a:spcPct val="120000"/>
              </a:lnSpc>
              <a:buNone/>
            </a:pPr>
            <a:r>
              <a:rPr lang="en-US" sz="850" dirty="0">
                <a:solidFill>
                  <a:srgbClr val="171A18"/>
                </a:solidFill>
                <a:latin typeface="Calibri" pitchFamily="34" charset="0"/>
                <a:ea typeface="Calibri" pitchFamily="34" charset="-122"/>
                <a:cs typeface="Calibri" pitchFamily="34" charset="-120"/>
              </a:rPr>
              <a:t>• Raw disease text was NEVER overwritten; preserved in disease_raw column.</a:t>
            </a:r>
            <a:endParaRPr lang="en-US" sz="850" dirty="0"/>
          </a:p>
          <a:p>
            <a:pPr indent="0" marL="0">
              <a:lnSpc>
                <a:spcPct val="120000"/>
              </a:lnSpc>
              <a:buNone/>
            </a:pPr>
            <a:r>
              <a:rPr lang="en-US" sz="850" dirty="0">
                <a:solidFill>
                  <a:srgbClr val="171A18"/>
                </a:solidFill>
                <a:latin typeface="Calibri" pitchFamily="34" charset="0"/>
                <a:ea typeface="Calibri" pitchFamily="34" charset="-122"/>
                <a:cs typeface="Calibri" pitchFamily="34" charset="-120"/>
              </a:rPr>
              <a:t>• Programmatic linking: every row retains official source PDF filename and table page.</a:t>
            </a:r>
            <a:endParaRPr lang="en-US" sz="850" dirty="0"/>
          </a:p>
          <a:p>
            <a:pPr indent="0" marL="0">
              <a:lnSpc>
                <a:spcPct val="120000"/>
              </a:lnSpc>
              <a:buNone/>
            </a:pPr>
            <a:r>
              <a:rPr lang="en-US" sz="850" dirty="0">
                <a:solidFill>
                  <a:srgbClr val="171A18"/>
                </a:solidFill>
                <a:latin typeface="Calibri" pitchFamily="34" charset="0"/>
                <a:ea typeface="Calibri" pitchFamily="34" charset="-122"/>
                <a:cs typeface="Calibri" pitchFamily="34" charset="-120"/>
              </a:rPr>
              <a:t>• Unique record IDs generated (MAHA-YYYY-Wxx-nnn) ensuring full forensic auditability.</a:t>
            </a:r>
            <a:endParaRPr lang="en-US" sz="850" dirty="0"/>
          </a:p>
        </p:txBody>
      </p:sp>
      <p:sp>
        <p:nvSpPr>
          <p:cNvPr id="43" name="Shape 41"/>
          <p:cNvSpPr/>
          <p:nvPr/>
        </p:nvSpPr>
        <p:spPr>
          <a:xfrm>
            <a:off x="4709160" y="3337560"/>
            <a:ext cx="3703320" cy="1234440"/>
          </a:xfrm>
          <a:prstGeom prst="rect">
            <a:avLst/>
          </a:prstGeom>
          <a:solidFill>
            <a:srgbClr val="E9E2D2"/>
          </a:solidFill>
          <a:ln w="9525">
            <a:solidFill>
              <a:srgbClr val="D8CFBC"/>
            </a:solidFill>
            <a:prstDash val="solid"/>
          </a:ln>
        </p:spPr>
      </p:sp>
      <p:sp>
        <p:nvSpPr>
          <p:cNvPr id="44" name="Text 42"/>
          <p:cNvSpPr/>
          <p:nvPr/>
        </p:nvSpPr>
        <p:spPr>
          <a:xfrm>
            <a:off x="4892040" y="3447288"/>
            <a:ext cx="3337560" cy="182880"/>
          </a:xfrm>
          <a:prstGeom prst="rect">
            <a:avLst/>
          </a:prstGeom>
          <a:noFill/>
          <a:ln/>
        </p:spPr>
        <p:txBody>
          <a:bodyPr wrap="square" rtlCol="0" anchor="ctr"/>
          <a:lstStyle/>
          <a:p>
            <a:pPr indent="0" marL="0">
              <a:buNone/>
            </a:pPr>
            <a:r>
              <a:rPr lang="en-US" sz="750" b="1" dirty="0">
                <a:solidFill>
                  <a:srgbClr val="C84B2F"/>
                </a:solidFill>
                <a:latin typeface="Consolas" pitchFamily="34" charset="0"/>
                <a:ea typeface="Consolas" pitchFamily="34" charset="-122"/>
                <a:cs typeface="Consolas" pitchFamily="34" charset="-120"/>
              </a:rPr>
              <a:t>PRIMARY COHORT SELECTION CRITERIA</a:t>
            </a:r>
            <a:endParaRPr lang="en-US" sz="750" dirty="0"/>
          </a:p>
        </p:txBody>
      </p:sp>
      <p:sp>
        <p:nvSpPr>
          <p:cNvPr id="45" name="Text 43"/>
          <p:cNvSpPr/>
          <p:nvPr/>
        </p:nvSpPr>
        <p:spPr>
          <a:xfrm>
            <a:off x="4892040" y="3657600"/>
            <a:ext cx="3337560" cy="822960"/>
          </a:xfrm>
          <a:prstGeom prst="rect">
            <a:avLst/>
          </a:prstGeom>
          <a:noFill/>
          <a:ln/>
        </p:spPr>
        <p:txBody>
          <a:bodyPr wrap="square" rtlCol="0" anchor="ctr"/>
          <a:lstStyle/>
          <a:p>
            <a:pPr indent="0" marL="0">
              <a:lnSpc>
                <a:spcPct val="120000"/>
              </a:lnSpc>
              <a:buNone/>
            </a:pPr>
            <a:r>
              <a:rPr lang="en-US" sz="850" dirty="0">
                <a:solidFill>
                  <a:srgbClr val="171A18"/>
                </a:solidFill>
                <a:latin typeface="Calibri" pitchFamily="34" charset="0"/>
                <a:ea typeface="Calibri" pitchFamily="34" charset="-122"/>
                <a:cs typeface="Calibri" pitchFamily="34" charset="-120"/>
              </a:rPr>
              <a:t>• Sufficient record frequency: minimum threshold of ≥40 records across the baseline.</a:t>
            </a:r>
            <a:endParaRPr lang="en-US" sz="850" dirty="0"/>
          </a:p>
          <a:p>
            <a:pPr indent="0" marL="0">
              <a:lnSpc>
                <a:spcPct val="120000"/>
              </a:lnSpc>
              <a:buNone/>
            </a:pPr>
            <a:r>
              <a:rPr lang="en-US" sz="850" dirty="0">
                <a:solidFill>
                  <a:srgbClr val="171A18"/>
                </a:solidFill>
                <a:latin typeface="Calibri" pitchFamily="34" charset="0"/>
                <a:ea typeface="Calibri" pitchFamily="34" charset="-122"/>
                <a:cs typeface="Calibri" pitchFamily="34" charset="-120"/>
              </a:rPr>
              <a:t>• Multi-year persistence: presence across all completed surveillance years (2022–2025).</a:t>
            </a:r>
            <a:endParaRPr lang="en-US" sz="850" dirty="0"/>
          </a:p>
          <a:p>
            <a:pPr indent="0" marL="0">
              <a:lnSpc>
                <a:spcPct val="120000"/>
              </a:lnSpc>
              <a:buNone/>
            </a:pPr>
            <a:r>
              <a:rPr lang="en-US" sz="850" dirty="0">
                <a:solidFill>
                  <a:srgbClr val="171A18"/>
                </a:solidFill>
                <a:latin typeface="Calibri" pitchFamily="34" charset="0"/>
                <a:ea typeface="Calibri" pitchFamily="34" charset="-122"/>
                <a:cs typeface="Calibri" pitchFamily="34" charset="-120"/>
              </a:rPr>
              <a:t>• Transmission representation: vector-borne (Dengue, Malaria, Chikungunya), water-borne (ADD), and point-source foodborne (Food Poisoning).</a:t>
            </a:r>
            <a:endParaRPr lang="en-US" sz="850" dirty="0"/>
          </a:p>
        </p:txBody>
      </p:sp>
      <p:sp>
        <p:nvSpPr>
          <p:cNvPr id="46" name="Shape 44"/>
          <p:cNvSpPr/>
          <p:nvPr/>
        </p:nvSpPr>
        <p:spPr>
          <a:xfrm>
            <a:off x="731520" y="4736592"/>
            <a:ext cx="7680960" cy="0"/>
          </a:xfrm>
          <a:prstGeom prst="line">
            <a:avLst/>
          </a:prstGeom>
          <a:noFill/>
          <a:ln w="9525">
            <a:solidFill>
              <a:srgbClr val="D8CFBC"/>
            </a:solidFill>
            <a:prstDash val="solid"/>
          </a:ln>
        </p:spPr>
      </p:sp>
      <p:sp>
        <p:nvSpPr>
          <p:cNvPr id="47" name="Text 45"/>
          <p:cNvSpPr/>
          <p:nvPr/>
        </p:nvSpPr>
        <p:spPr>
          <a:xfrm>
            <a:off x="731520" y="4809744"/>
            <a:ext cx="6400800" cy="201168"/>
          </a:xfrm>
          <a:prstGeom prst="rect">
            <a:avLst/>
          </a:prstGeom>
          <a:noFill/>
          <a:ln/>
        </p:spPr>
        <p:txBody>
          <a:bodyPr wrap="square" rtlCol="0" anchor="ctr"/>
          <a:lstStyle/>
          <a:p>
            <a:pPr indent="0" marL="0">
              <a:buNone/>
            </a:pPr>
            <a:r>
              <a:rPr lang="en-US" sz="650" dirty="0">
                <a:solidFill>
                  <a:srgbClr val="7A7D77"/>
                </a:solidFill>
                <a:latin typeface="Consolas" pitchFamily="34" charset="0"/>
                <a:ea typeface="Consolas" pitchFamily="34" charset="-122"/>
                <a:cs typeface="Consolas" pitchFamily="34" charset="-120"/>
              </a:rPr>
              <a:t>SOURCE: NCDC / IDSP SURVEILLANCE ARCHIVE | PHASE 5A DISEASE AUDIT</a:t>
            </a:r>
            <a:endParaRPr lang="en-US" sz="650" dirty="0"/>
          </a:p>
        </p:txBody>
      </p:sp>
      <p:sp>
        <p:nvSpPr>
          <p:cNvPr id="48" name="Text 46"/>
          <p:cNvSpPr/>
          <p:nvPr/>
        </p:nvSpPr>
        <p:spPr>
          <a:xfrm>
            <a:off x="7498080" y="4809744"/>
            <a:ext cx="914400" cy="201168"/>
          </a:xfrm>
          <a:prstGeom prst="rect">
            <a:avLst/>
          </a:prstGeom>
          <a:noFill/>
          <a:ln/>
        </p:spPr>
        <p:txBody>
          <a:bodyPr wrap="square" rtlCol="0" anchor="ctr"/>
          <a:lstStyle/>
          <a:p>
            <a:pPr algn="r" indent="0" marL="0">
              <a:buNone/>
            </a:pPr>
            <a:r>
              <a:rPr lang="en-US" sz="750" b="1" dirty="0">
                <a:solidFill>
                  <a:srgbClr val="50534D"/>
                </a:solidFill>
                <a:latin typeface="Consolas" pitchFamily="34" charset="0"/>
                <a:ea typeface="Consolas" pitchFamily="34" charset="-122"/>
                <a:cs typeface="Consolas" pitchFamily="34" charset="-120"/>
              </a:rPr>
              <a:t>03 / 10</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BDD"/>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750" b="1" spc="200" kern="0" dirty="0">
                <a:solidFill>
                  <a:srgbClr val="50534D"/>
                </a:solidFill>
                <a:latin typeface="Consolas" pitchFamily="34" charset="0"/>
                <a:ea typeface="Consolas" pitchFamily="34" charset="-122"/>
                <a:cs typeface="Consolas" pitchFamily="34" charset="-120"/>
              </a:rPr>
              <a:t>EPIDEMIOLOGICAL BASELINE // 2022–2025 COMPLETED YEARS</a:t>
            </a:r>
            <a:endParaRPr lang="en-US" sz="750" dirty="0"/>
          </a:p>
        </p:txBody>
      </p:sp>
      <p:sp>
        <p:nvSpPr>
          <p:cNvPr id="3" name="Text 1"/>
          <p:cNvSpPr/>
          <p:nvPr/>
        </p:nvSpPr>
        <p:spPr>
          <a:xfrm>
            <a:off x="731520" y="530352"/>
            <a:ext cx="7680960" cy="457200"/>
          </a:xfrm>
          <a:prstGeom prst="rect">
            <a:avLst/>
          </a:prstGeom>
          <a:noFill/>
          <a:ln/>
        </p:spPr>
        <p:txBody>
          <a:bodyPr wrap="square" rtlCol="0" anchor="ctr"/>
          <a:lstStyle/>
          <a:p>
            <a:pPr indent="0" marL="0">
              <a:lnSpc>
                <a:spcPct val="110000"/>
              </a:lnSpc>
              <a:buNone/>
            </a:pPr>
            <a:r>
              <a:rPr lang="en-US" sz="2000" b="1" dirty="0">
                <a:solidFill>
                  <a:srgbClr val="171A18"/>
                </a:solidFill>
                <a:latin typeface="Georgia" pitchFamily="34" charset="0"/>
                <a:ea typeface="Georgia" pitchFamily="34" charset="-122"/>
                <a:cs typeface="Georgia" pitchFamily="34" charset="-120"/>
              </a:rPr>
              <a:t>The Four-Year Primary Surveillance Baseline</a:t>
            </a:r>
            <a:endParaRPr lang="en-US" sz="2000" dirty="0"/>
          </a:p>
        </p:txBody>
      </p:sp>
      <p:sp>
        <p:nvSpPr>
          <p:cNvPr id="4" name="Text 2"/>
          <p:cNvSpPr/>
          <p:nvPr/>
        </p:nvSpPr>
        <p:spPr>
          <a:xfrm>
            <a:off x="731520" y="987552"/>
            <a:ext cx="7680960" cy="274320"/>
          </a:xfrm>
          <a:prstGeom prst="rect">
            <a:avLst/>
          </a:prstGeom>
          <a:noFill/>
          <a:ln/>
        </p:spPr>
        <p:txBody>
          <a:bodyPr wrap="square" rtlCol="0" anchor="ctr"/>
          <a:lstStyle/>
          <a:p>
            <a:pPr indent="0" marL="0">
              <a:buNone/>
            </a:pPr>
            <a:r>
              <a:rPr lang="en-US" sz="1050" dirty="0">
                <a:solidFill>
                  <a:srgbClr val="50534D"/>
                </a:solidFill>
                <a:latin typeface="Calibri" pitchFamily="34" charset="0"/>
                <a:ea typeface="Calibri" pitchFamily="34" charset="-122"/>
                <a:cs typeface="Calibri" pitchFamily="34" charset="-120"/>
              </a:rPr>
              <a:t>Aggregated outbreak events, case enumerations, and surveillance fatalities across Maharashtra.</a:t>
            </a:r>
            <a:endParaRPr lang="en-US" sz="1050" dirty="0"/>
          </a:p>
        </p:txBody>
      </p:sp>
      <p:sp>
        <p:nvSpPr>
          <p:cNvPr id="5" name="Shape 3"/>
          <p:cNvSpPr/>
          <p:nvPr/>
        </p:nvSpPr>
        <p:spPr>
          <a:xfrm>
            <a:off x="731520" y="1298448"/>
            <a:ext cx="7680960" cy="0"/>
          </a:xfrm>
          <a:prstGeom prst="line">
            <a:avLst/>
          </a:prstGeom>
          <a:noFill/>
          <a:ln w="9525">
            <a:solidFill>
              <a:srgbClr val="D8CFBC"/>
            </a:solidFill>
            <a:prstDash val="solid"/>
          </a:ln>
        </p:spPr>
      </p:sp>
      <p:sp>
        <p:nvSpPr>
          <p:cNvPr id="6" name="Shape 4"/>
          <p:cNvSpPr/>
          <p:nvPr/>
        </p:nvSpPr>
        <p:spPr>
          <a:xfrm>
            <a:off x="731520" y="1371600"/>
            <a:ext cx="2423160" cy="1371600"/>
          </a:xfrm>
          <a:prstGeom prst="rect">
            <a:avLst/>
          </a:prstGeom>
          <a:solidFill>
            <a:srgbClr val="E9E2D2"/>
          </a:solidFill>
          <a:ln w="9525">
            <a:solidFill>
              <a:srgbClr val="D8CFBC"/>
            </a:solidFill>
            <a:prstDash val="solid"/>
          </a:ln>
        </p:spPr>
      </p:sp>
      <p:sp>
        <p:nvSpPr>
          <p:cNvPr id="7" name="Text 5"/>
          <p:cNvSpPr/>
          <p:nvPr/>
        </p:nvSpPr>
        <p:spPr>
          <a:xfrm>
            <a:off x="868680" y="1481328"/>
            <a:ext cx="2148840" cy="594360"/>
          </a:xfrm>
          <a:prstGeom prst="rect">
            <a:avLst/>
          </a:prstGeom>
          <a:noFill/>
          <a:ln/>
        </p:spPr>
        <p:txBody>
          <a:bodyPr wrap="square" rtlCol="0" anchor="ctr"/>
          <a:lstStyle/>
          <a:p>
            <a:pPr indent="0" marL="0">
              <a:buNone/>
            </a:pPr>
            <a:r>
              <a:rPr lang="en-US" sz="2800" b="1" dirty="0">
                <a:solidFill>
                  <a:srgbClr val="174A4A"/>
                </a:solidFill>
                <a:latin typeface="Georgia" pitchFamily="34" charset="0"/>
                <a:ea typeface="Georgia" pitchFamily="34" charset="-122"/>
                <a:cs typeface="Georgia" pitchFamily="34" charset="-120"/>
              </a:rPr>
              <a:t>539</a:t>
            </a:r>
            <a:endParaRPr lang="en-US" sz="2800" dirty="0"/>
          </a:p>
        </p:txBody>
      </p:sp>
      <p:sp>
        <p:nvSpPr>
          <p:cNvPr id="8" name="Text 6"/>
          <p:cNvSpPr/>
          <p:nvPr/>
        </p:nvSpPr>
        <p:spPr>
          <a:xfrm>
            <a:off x="868680" y="2057400"/>
            <a:ext cx="2148840" cy="182880"/>
          </a:xfrm>
          <a:prstGeom prst="rect">
            <a:avLst/>
          </a:prstGeom>
          <a:noFill/>
          <a:ln/>
        </p:spPr>
        <p:txBody>
          <a:bodyPr wrap="square" rtlCol="0" anchor="ctr"/>
          <a:lstStyle/>
          <a:p>
            <a:pPr indent="0" marL="0">
              <a:buNone/>
            </a:pPr>
            <a:r>
              <a:rPr lang="en-US" sz="800" b="1" spc="100" kern="0" dirty="0">
                <a:solidFill>
                  <a:srgbClr val="50534D"/>
                </a:solidFill>
                <a:latin typeface="Consolas" pitchFamily="34" charset="0"/>
                <a:ea typeface="Consolas" pitchFamily="34" charset="-122"/>
                <a:cs typeface="Consolas" pitchFamily="34" charset="-120"/>
              </a:rPr>
              <a:t>OUTBREAK RECORDS</a:t>
            </a:r>
            <a:endParaRPr lang="en-US" sz="800" dirty="0"/>
          </a:p>
        </p:txBody>
      </p:sp>
      <p:sp>
        <p:nvSpPr>
          <p:cNvPr id="9" name="Text 7"/>
          <p:cNvSpPr/>
          <p:nvPr/>
        </p:nvSpPr>
        <p:spPr>
          <a:xfrm>
            <a:off x="868680" y="2240280"/>
            <a:ext cx="2148840" cy="320040"/>
          </a:xfrm>
          <a:prstGeom prst="rect">
            <a:avLst/>
          </a:prstGeom>
          <a:noFill/>
          <a:ln/>
        </p:spPr>
        <p:txBody>
          <a:bodyPr wrap="square" rtlCol="0" anchor="ctr"/>
          <a:lstStyle/>
          <a:p>
            <a:pPr indent="0" marL="0">
              <a:buNone/>
            </a:pPr>
            <a:r>
              <a:rPr lang="en-US" sz="1100" b="1" dirty="0">
                <a:solidFill>
                  <a:srgbClr val="171A18"/>
                </a:solidFill>
                <a:latin typeface="Calibri" pitchFamily="34" charset="0"/>
                <a:ea typeface="Calibri" pitchFamily="34" charset="-122"/>
                <a:cs typeface="Calibri" pitchFamily="34" charset="-120"/>
              </a:rPr>
              <a:t>Investigated Clusters</a:t>
            </a:r>
            <a:endParaRPr lang="en-US" sz="1100" dirty="0"/>
          </a:p>
        </p:txBody>
      </p:sp>
      <p:sp>
        <p:nvSpPr>
          <p:cNvPr id="10" name="Text 8"/>
          <p:cNvSpPr/>
          <p:nvPr/>
        </p:nvSpPr>
        <p:spPr>
          <a:xfrm>
            <a:off x="868680" y="2560320"/>
            <a:ext cx="2148840" cy="91440"/>
          </a:xfrm>
          <a:prstGeom prst="rect">
            <a:avLst/>
          </a:prstGeom>
          <a:noFill/>
          <a:ln/>
        </p:spPr>
        <p:txBody>
          <a:bodyPr wrap="square" rtlCol="0" anchor="ctr"/>
          <a:lstStyle/>
          <a:p>
            <a:pPr indent="0" marL="0">
              <a:lnSpc>
                <a:spcPct val="110000"/>
              </a:lnSpc>
              <a:buNone/>
            </a:pPr>
            <a:r>
              <a:rPr lang="en-US" sz="850" dirty="0">
                <a:solidFill>
                  <a:srgbClr val="50534D"/>
                </a:solidFill>
                <a:latin typeface="Calibri" pitchFamily="34" charset="0"/>
                <a:ea typeface="Calibri" pitchFamily="34" charset="-122"/>
                <a:cs typeface="Calibri" pitchFamily="34" charset="-120"/>
              </a:rPr>
              <a:t>Formal outbreak events meeting state notification thresholds across 36 districts.</a:t>
            </a:r>
            <a:endParaRPr lang="en-US" sz="850" dirty="0"/>
          </a:p>
        </p:txBody>
      </p:sp>
      <p:sp>
        <p:nvSpPr>
          <p:cNvPr id="11" name="Shape 9"/>
          <p:cNvSpPr/>
          <p:nvPr/>
        </p:nvSpPr>
        <p:spPr>
          <a:xfrm>
            <a:off x="3355848" y="1371600"/>
            <a:ext cx="2423160" cy="1371600"/>
          </a:xfrm>
          <a:prstGeom prst="rect">
            <a:avLst/>
          </a:prstGeom>
          <a:solidFill>
            <a:srgbClr val="F9F6EF"/>
          </a:solidFill>
          <a:ln w="9525">
            <a:solidFill>
              <a:srgbClr val="D8CFBC"/>
            </a:solidFill>
            <a:prstDash val="solid"/>
          </a:ln>
        </p:spPr>
      </p:sp>
      <p:sp>
        <p:nvSpPr>
          <p:cNvPr id="12" name="Text 10"/>
          <p:cNvSpPr/>
          <p:nvPr/>
        </p:nvSpPr>
        <p:spPr>
          <a:xfrm>
            <a:off x="3493008" y="1481328"/>
            <a:ext cx="2148840" cy="594360"/>
          </a:xfrm>
          <a:prstGeom prst="rect">
            <a:avLst/>
          </a:prstGeom>
          <a:noFill/>
          <a:ln/>
        </p:spPr>
        <p:txBody>
          <a:bodyPr wrap="square" rtlCol="0" anchor="ctr"/>
          <a:lstStyle/>
          <a:p>
            <a:pPr indent="0" marL="0">
              <a:buNone/>
            </a:pPr>
            <a:r>
              <a:rPr lang="en-US" sz="2800" b="1" dirty="0">
                <a:solidFill>
                  <a:srgbClr val="C84B2F"/>
                </a:solidFill>
                <a:latin typeface="Georgia" pitchFamily="34" charset="0"/>
                <a:ea typeface="Georgia" pitchFamily="34" charset="-122"/>
                <a:cs typeface="Georgia" pitchFamily="34" charset="-120"/>
              </a:rPr>
              <a:t>21,955</a:t>
            </a:r>
            <a:endParaRPr lang="en-US" sz="2800" dirty="0"/>
          </a:p>
        </p:txBody>
      </p:sp>
      <p:sp>
        <p:nvSpPr>
          <p:cNvPr id="13" name="Text 11"/>
          <p:cNvSpPr/>
          <p:nvPr/>
        </p:nvSpPr>
        <p:spPr>
          <a:xfrm>
            <a:off x="3493008" y="2057400"/>
            <a:ext cx="2148840" cy="182880"/>
          </a:xfrm>
          <a:prstGeom prst="rect">
            <a:avLst/>
          </a:prstGeom>
          <a:noFill/>
          <a:ln/>
        </p:spPr>
        <p:txBody>
          <a:bodyPr wrap="square" rtlCol="0" anchor="ctr"/>
          <a:lstStyle/>
          <a:p>
            <a:pPr indent="0" marL="0">
              <a:buNone/>
            </a:pPr>
            <a:r>
              <a:rPr lang="en-US" sz="800" b="1" spc="100" kern="0" dirty="0">
                <a:solidFill>
                  <a:srgbClr val="50534D"/>
                </a:solidFill>
                <a:latin typeface="Consolas" pitchFamily="34" charset="0"/>
                <a:ea typeface="Consolas" pitchFamily="34" charset="-122"/>
                <a:cs typeface="Consolas" pitchFamily="34" charset="-120"/>
              </a:rPr>
              <a:t>REPORTED CASES</a:t>
            </a:r>
            <a:endParaRPr lang="en-US" sz="800" dirty="0"/>
          </a:p>
        </p:txBody>
      </p:sp>
      <p:sp>
        <p:nvSpPr>
          <p:cNvPr id="14" name="Text 12"/>
          <p:cNvSpPr/>
          <p:nvPr/>
        </p:nvSpPr>
        <p:spPr>
          <a:xfrm>
            <a:off x="3493008" y="2240280"/>
            <a:ext cx="2148840" cy="320040"/>
          </a:xfrm>
          <a:prstGeom prst="rect">
            <a:avLst/>
          </a:prstGeom>
          <a:noFill/>
          <a:ln/>
        </p:spPr>
        <p:txBody>
          <a:bodyPr wrap="square" rtlCol="0" anchor="ctr"/>
          <a:lstStyle/>
          <a:p>
            <a:pPr indent="0" marL="0">
              <a:buNone/>
            </a:pPr>
            <a:r>
              <a:rPr lang="en-US" sz="1100" b="1" dirty="0">
                <a:solidFill>
                  <a:srgbClr val="171A18"/>
                </a:solidFill>
                <a:latin typeface="Calibri" pitchFamily="34" charset="0"/>
                <a:ea typeface="Calibri" pitchFamily="34" charset="-122"/>
                <a:cs typeface="Calibri" pitchFamily="34" charset="-120"/>
              </a:rPr>
              <a:t>Case Enumerations</a:t>
            </a:r>
            <a:endParaRPr lang="en-US" sz="1100" dirty="0"/>
          </a:p>
        </p:txBody>
      </p:sp>
      <p:sp>
        <p:nvSpPr>
          <p:cNvPr id="15" name="Text 13"/>
          <p:cNvSpPr/>
          <p:nvPr/>
        </p:nvSpPr>
        <p:spPr>
          <a:xfrm>
            <a:off x="3493008" y="2560320"/>
            <a:ext cx="2148840" cy="91440"/>
          </a:xfrm>
          <a:prstGeom prst="rect">
            <a:avLst/>
          </a:prstGeom>
          <a:noFill/>
          <a:ln/>
        </p:spPr>
        <p:txBody>
          <a:bodyPr wrap="square" rtlCol="0" anchor="ctr"/>
          <a:lstStyle/>
          <a:p>
            <a:pPr indent="0" marL="0">
              <a:lnSpc>
                <a:spcPct val="110000"/>
              </a:lnSpc>
              <a:buNone/>
            </a:pPr>
            <a:r>
              <a:rPr lang="en-US" sz="850" dirty="0">
                <a:solidFill>
                  <a:srgbClr val="50534D"/>
                </a:solidFill>
                <a:latin typeface="Calibri" pitchFamily="34" charset="0"/>
                <a:ea typeface="Calibri" pitchFamily="34" charset="-122"/>
                <a:cs typeface="Calibri" pitchFamily="34" charset="-120"/>
              </a:rPr>
              <a:t>Total patients enumerated during epidemiological outbreak investigations.</a:t>
            </a:r>
            <a:endParaRPr lang="en-US" sz="850" dirty="0"/>
          </a:p>
        </p:txBody>
      </p:sp>
      <p:sp>
        <p:nvSpPr>
          <p:cNvPr id="16" name="Shape 14"/>
          <p:cNvSpPr/>
          <p:nvPr/>
        </p:nvSpPr>
        <p:spPr>
          <a:xfrm>
            <a:off x="5980176" y="1371600"/>
            <a:ext cx="2423160" cy="1371600"/>
          </a:xfrm>
          <a:prstGeom prst="rect">
            <a:avLst/>
          </a:prstGeom>
          <a:solidFill>
            <a:srgbClr val="E9E2D2"/>
          </a:solidFill>
          <a:ln w="9525">
            <a:solidFill>
              <a:srgbClr val="D8CFBC"/>
            </a:solidFill>
            <a:prstDash val="solid"/>
          </a:ln>
        </p:spPr>
      </p:sp>
      <p:sp>
        <p:nvSpPr>
          <p:cNvPr id="17" name="Text 15"/>
          <p:cNvSpPr/>
          <p:nvPr/>
        </p:nvSpPr>
        <p:spPr>
          <a:xfrm>
            <a:off x="6117336" y="1481328"/>
            <a:ext cx="2148840" cy="594360"/>
          </a:xfrm>
          <a:prstGeom prst="rect">
            <a:avLst/>
          </a:prstGeom>
          <a:noFill/>
          <a:ln/>
        </p:spPr>
        <p:txBody>
          <a:bodyPr wrap="square" rtlCol="0" anchor="ctr"/>
          <a:lstStyle/>
          <a:p>
            <a:pPr indent="0" marL="0">
              <a:buNone/>
            </a:pPr>
            <a:r>
              <a:rPr lang="en-US" sz="2800" b="1" dirty="0">
                <a:solidFill>
                  <a:srgbClr val="171A18"/>
                </a:solidFill>
                <a:latin typeface="Georgia" pitchFamily="34" charset="0"/>
                <a:ea typeface="Georgia" pitchFamily="34" charset="-122"/>
                <a:cs typeface="Georgia" pitchFamily="34" charset="-120"/>
              </a:rPr>
              <a:t>266</a:t>
            </a:r>
            <a:endParaRPr lang="en-US" sz="2800" dirty="0"/>
          </a:p>
        </p:txBody>
      </p:sp>
      <p:sp>
        <p:nvSpPr>
          <p:cNvPr id="18" name="Text 16"/>
          <p:cNvSpPr/>
          <p:nvPr/>
        </p:nvSpPr>
        <p:spPr>
          <a:xfrm>
            <a:off x="6117336" y="2057400"/>
            <a:ext cx="2148840" cy="182880"/>
          </a:xfrm>
          <a:prstGeom prst="rect">
            <a:avLst/>
          </a:prstGeom>
          <a:noFill/>
          <a:ln/>
        </p:spPr>
        <p:txBody>
          <a:bodyPr wrap="square" rtlCol="0" anchor="ctr"/>
          <a:lstStyle/>
          <a:p>
            <a:pPr indent="0" marL="0">
              <a:buNone/>
            </a:pPr>
            <a:r>
              <a:rPr lang="en-US" sz="800" b="1" spc="100" kern="0" dirty="0">
                <a:solidFill>
                  <a:srgbClr val="50534D"/>
                </a:solidFill>
                <a:latin typeface="Consolas" pitchFamily="34" charset="0"/>
                <a:ea typeface="Consolas" pitchFamily="34" charset="-122"/>
                <a:cs typeface="Consolas" pitchFamily="34" charset="-120"/>
              </a:rPr>
              <a:t>REPORTED DEATHS</a:t>
            </a:r>
            <a:endParaRPr lang="en-US" sz="800" dirty="0"/>
          </a:p>
        </p:txBody>
      </p:sp>
      <p:sp>
        <p:nvSpPr>
          <p:cNvPr id="19" name="Text 17"/>
          <p:cNvSpPr/>
          <p:nvPr/>
        </p:nvSpPr>
        <p:spPr>
          <a:xfrm>
            <a:off x="6117336" y="2240280"/>
            <a:ext cx="2148840" cy="320040"/>
          </a:xfrm>
          <a:prstGeom prst="rect">
            <a:avLst/>
          </a:prstGeom>
          <a:noFill/>
          <a:ln/>
        </p:spPr>
        <p:txBody>
          <a:bodyPr wrap="square" rtlCol="0" anchor="ctr"/>
          <a:lstStyle/>
          <a:p>
            <a:pPr indent="0" marL="0">
              <a:buNone/>
            </a:pPr>
            <a:r>
              <a:rPr lang="en-US" sz="1100" b="1" dirty="0">
                <a:solidFill>
                  <a:srgbClr val="171A18"/>
                </a:solidFill>
                <a:latin typeface="Calibri" pitchFamily="34" charset="0"/>
                <a:ea typeface="Calibri" pitchFamily="34" charset="-122"/>
                <a:cs typeface="Calibri" pitchFamily="34" charset="-120"/>
              </a:rPr>
              <a:t>Surveillance Fatalities</a:t>
            </a:r>
            <a:endParaRPr lang="en-US" sz="1100" dirty="0"/>
          </a:p>
        </p:txBody>
      </p:sp>
      <p:sp>
        <p:nvSpPr>
          <p:cNvPr id="20" name="Text 18"/>
          <p:cNvSpPr/>
          <p:nvPr/>
        </p:nvSpPr>
        <p:spPr>
          <a:xfrm>
            <a:off x="6117336" y="2560320"/>
            <a:ext cx="2148840" cy="91440"/>
          </a:xfrm>
          <a:prstGeom prst="rect">
            <a:avLst/>
          </a:prstGeom>
          <a:noFill/>
          <a:ln/>
        </p:spPr>
        <p:txBody>
          <a:bodyPr wrap="square" rtlCol="0" anchor="ctr"/>
          <a:lstStyle/>
          <a:p>
            <a:pPr indent="0" marL="0">
              <a:lnSpc>
                <a:spcPct val="110000"/>
              </a:lnSpc>
              <a:buNone/>
            </a:pPr>
            <a:r>
              <a:rPr lang="en-US" sz="850" dirty="0">
                <a:solidFill>
                  <a:srgbClr val="50534D"/>
                </a:solidFill>
                <a:latin typeface="Calibri" pitchFamily="34" charset="0"/>
                <a:ea typeface="Calibri" pitchFamily="34" charset="-122"/>
                <a:cs typeface="Calibri" pitchFamily="34" charset="-120"/>
              </a:rPr>
              <a:t>Cumulative disease fatalities documented in public health reports.</a:t>
            </a:r>
            <a:endParaRPr lang="en-US" sz="850" dirty="0"/>
          </a:p>
        </p:txBody>
      </p:sp>
      <p:sp>
        <p:nvSpPr>
          <p:cNvPr id="21" name="Shape 19"/>
          <p:cNvSpPr/>
          <p:nvPr/>
        </p:nvSpPr>
        <p:spPr>
          <a:xfrm>
            <a:off x="731520" y="2971800"/>
            <a:ext cx="7680960" cy="1600200"/>
          </a:xfrm>
          <a:prstGeom prst="rect">
            <a:avLst/>
          </a:prstGeom>
          <a:solidFill>
            <a:srgbClr val="F9F6EF"/>
          </a:solidFill>
          <a:ln w="9525">
            <a:solidFill>
              <a:srgbClr val="D8CFBC"/>
            </a:solidFill>
            <a:prstDash val="solid"/>
          </a:ln>
        </p:spPr>
      </p:sp>
      <p:sp>
        <p:nvSpPr>
          <p:cNvPr id="22" name="Text 20"/>
          <p:cNvSpPr/>
          <p:nvPr/>
        </p:nvSpPr>
        <p:spPr>
          <a:xfrm>
            <a:off x="914400" y="3063240"/>
            <a:ext cx="4572000" cy="182880"/>
          </a:xfrm>
          <a:prstGeom prst="rect">
            <a:avLst/>
          </a:prstGeom>
          <a:noFill/>
          <a:ln/>
        </p:spPr>
        <p:txBody>
          <a:bodyPr wrap="square" rtlCol="0" anchor="ctr"/>
          <a:lstStyle/>
          <a:p>
            <a:pPr indent="0" marL="0">
              <a:buNone/>
            </a:pPr>
            <a:r>
              <a:rPr lang="en-US" sz="700" b="1" dirty="0">
                <a:solidFill>
                  <a:srgbClr val="174A4A"/>
                </a:solidFill>
                <a:latin typeface="Consolas" pitchFamily="34" charset="0"/>
                <a:ea typeface="Consolas" pitchFamily="34" charset="-122"/>
                <a:cs typeface="Consolas" pitchFamily="34" charset="-120"/>
              </a:rPr>
              <a:t>PRIMARY COHORT BREAKDOWN BY DISEASE FAMILY (2022–2025)</a:t>
            </a:r>
            <a:endParaRPr lang="en-US" sz="700" dirty="0"/>
          </a:p>
        </p:txBody>
      </p:sp>
      <p:sp>
        <p:nvSpPr>
          <p:cNvPr id="23" name="Text 21"/>
          <p:cNvSpPr/>
          <p:nvPr/>
        </p:nvSpPr>
        <p:spPr>
          <a:xfrm>
            <a:off x="914400" y="3264408"/>
            <a:ext cx="1920240" cy="164592"/>
          </a:xfrm>
          <a:prstGeom prst="rect">
            <a:avLst/>
          </a:prstGeom>
          <a:noFill/>
          <a:ln/>
        </p:spPr>
        <p:txBody>
          <a:bodyPr wrap="square" rtlCol="0" anchor="ctr"/>
          <a:lstStyle/>
          <a:p>
            <a:pPr algn="l" indent="0" marL="0">
              <a:buNone/>
            </a:pPr>
            <a:r>
              <a:rPr lang="en-US" sz="650" b="1" dirty="0">
                <a:solidFill>
                  <a:srgbClr val="50534D"/>
                </a:solidFill>
                <a:latin typeface="Consolas" pitchFamily="34" charset="0"/>
                <a:ea typeface="Consolas" pitchFamily="34" charset="-122"/>
                <a:cs typeface="Consolas" pitchFamily="34" charset="-120"/>
              </a:rPr>
              <a:t>DISEASE FAMILY</a:t>
            </a:r>
            <a:endParaRPr lang="en-US" sz="650" dirty="0"/>
          </a:p>
        </p:txBody>
      </p:sp>
      <p:sp>
        <p:nvSpPr>
          <p:cNvPr id="24" name="Text 22"/>
          <p:cNvSpPr/>
          <p:nvPr/>
        </p:nvSpPr>
        <p:spPr>
          <a:xfrm>
            <a:off x="2926080" y="3264408"/>
            <a:ext cx="1005840" cy="164592"/>
          </a:xfrm>
          <a:prstGeom prst="rect">
            <a:avLst/>
          </a:prstGeom>
          <a:noFill/>
          <a:ln/>
        </p:spPr>
        <p:txBody>
          <a:bodyPr wrap="square" rtlCol="0" anchor="ctr"/>
          <a:lstStyle/>
          <a:p>
            <a:pPr algn="r" indent="0" marL="0">
              <a:buNone/>
            </a:pPr>
            <a:r>
              <a:rPr lang="en-US" sz="650" b="1" dirty="0">
                <a:solidFill>
                  <a:srgbClr val="50534D"/>
                </a:solidFill>
                <a:latin typeface="Consolas" pitchFamily="34" charset="0"/>
                <a:ea typeface="Consolas" pitchFamily="34" charset="-122"/>
                <a:cs typeface="Consolas" pitchFamily="34" charset="-120"/>
              </a:rPr>
              <a:t>RECORDS</a:t>
            </a:r>
            <a:endParaRPr lang="en-US" sz="650" dirty="0"/>
          </a:p>
        </p:txBody>
      </p:sp>
      <p:sp>
        <p:nvSpPr>
          <p:cNvPr id="25" name="Text 23"/>
          <p:cNvSpPr/>
          <p:nvPr/>
        </p:nvSpPr>
        <p:spPr>
          <a:xfrm>
            <a:off x="4023360" y="3264408"/>
            <a:ext cx="1005840" cy="164592"/>
          </a:xfrm>
          <a:prstGeom prst="rect">
            <a:avLst/>
          </a:prstGeom>
          <a:noFill/>
          <a:ln/>
        </p:spPr>
        <p:txBody>
          <a:bodyPr wrap="square" rtlCol="0" anchor="ctr"/>
          <a:lstStyle/>
          <a:p>
            <a:pPr algn="r" indent="0" marL="0">
              <a:buNone/>
            </a:pPr>
            <a:r>
              <a:rPr lang="en-US" sz="650" b="1" dirty="0">
                <a:solidFill>
                  <a:srgbClr val="50534D"/>
                </a:solidFill>
                <a:latin typeface="Consolas" pitchFamily="34" charset="0"/>
                <a:ea typeface="Consolas" pitchFamily="34" charset="-122"/>
                <a:cs typeface="Consolas" pitchFamily="34" charset="-120"/>
              </a:rPr>
              <a:t>CASES</a:t>
            </a:r>
            <a:endParaRPr lang="en-US" sz="650" dirty="0"/>
          </a:p>
        </p:txBody>
      </p:sp>
      <p:sp>
        <p:nvSpPr>
          <p:cNvPr id="26" name="Text 24"/>
          <p:cNvSpPr/>
          <p:nvPr/>
        </p:nvSpPr>
        <p:spPr>
          <a:xfrm>
            <a:off x="5120640" y="3264408"/>
            <a:ext cx="1005840" cy="164592"/>
          </a:xfrm>
          <a:prstGeom prst="rect">
            <a:avLst/>
          </a:prstGeom>
          <a:noFill/>
          <a:ln/>
        </p:spPr>
        <p:txBody>
          <a:bodyPr wrap="square" rtlCol="0" anchor="ctr"/>
          <a:lstStyle/>
          <a:p>
            <a:pPr algn="r" indent="0" marL="0">
              <a:buNone/>
            </a:pPr>
            <a:r>
              <a:rPr lang="en-US" sz="650" b="1" dirty="0">
                <a:solidFill>
                  <a:srgbClr val="50534D"/>
                </a:solidFill>
                <a:latin typeface="Consolas" pitchFamily="34" charset="0"/>
                <a:ea typeface="Consolas" pitchFamily="34" charset="-122"/>
                <a:cs typeface="Consolas" pitchFamily="34" charset="-120"/>
              </a:rPr>
              <a:t>DEATHS</a:t>
            </a:r>
            <a:endParaRPr lang="en-US" sz="650" dirty="0"/>
          </a:p>
        </p:txBody>
      </p:sp>
      <p:sp>
        <p:nvSpPr>
          <p:cNvPr id="27" name="Text 25"/>
          <p:cNvSpPr/>
          <p:nvPr/>
        </p:nvSpPr>
        <p:spPr>
          <a:xfrm>
            <a:off x="6400800" y="3264408"/>
            <a:ext cx="1920240" cy="164592"/>
          </a:xfrm>
          <a:prstGeom prst="rect">
            <a:avLst/>
          </a:prstGeom>
          <a:noFill/>
          <a:ln/>
        </p:spPr>
        <p:txBody>
          <a:bodyPr wrap="square" rtlCol="0" anchor="ctr"/>
          <a:lstStyle/>
          <a:p>
            <a:pPr algn="r" indent="0" marL="0">
              <a:buNone/>
            </a:pPr>
            <a:r>
              <a:rPr lang="en-US" sz="650" b="1" dirty="0">
                <a:solidFill>
                  <a:srgbClr val="50534D"/>
                </a:solidFill>
                <a:latin typeface="Consolas" pitchFamily="34" charset="0"/>
                <a:ea typeface="Consolas" pitchFamily="34" charset="-122"/>
                <a:cs typeface="Consolas" pitchFamily="34" charset="-120"/>
              </a:rPr>
              <a:t>PRIMARY SHARE</a:t>
            </a:r>
            <a:endParaRPr lang="en-US" sz="650" dirty="0"/>
          </a:p>
        </p:txBody>
      </p:sp>
      <p:sp>
        <p:nvSpPr>
          <p:cNvPr id="28" name="Shape 26"/>
          <p:cNvSpPr/>
          <p:nvPr/>
        </p:nvSpPr>
        <p:spPr>
          <a:xfrm>
            <a:off x="914400" y="3447288"/>
            <a:ext cx="7315200" cy="0"/>
          </a:xfrm>
          <a:prstGeom prst="line">
            <a:avLst/>
          </a:prstGeom>
          <a:noFill/>
          <a:ln w="6350">
            <a:solidFill>
              <a:srgbClr val="D8CFBC"/>
            </a:solidFill>
            <a:prstDash val="solid"/>
          </a:ln>
        </p:spPr>
      </p:sp>
      <p:sp>
        <p:nvSpPr>
          <p:cNvPr id="29" name="Text 27"/>
          <p:cNvSpPr/>
          <p:nvPr/>
        </p:nvSpPr>
        <p:spPr>
          <a:xfrm>
            <a:off x="914400" y="3502152"/>
            <a:ext cx="1920240" cy="201168"/>
          </a:xfrm>
          <a:prstGeom prst="rect">
            <a:avLst/>
          </a:prstGeom>
          <a:noFill/>
          <a:ln/>
        </p:spPr>
        <p:txBody>
          <a:bodyPr wrap="square" rtlCol="0" anchor="ctr"/>
          <a:lstStyle/>
          <a:p>
            <a:pPr indent="0" marL="0">
              <a:buNone/>
            </a:pPr>
            <a:r>
              <a:rPr lang="en-US" sz="850" b="1" dirty="0">
                <a:solidFill>
                  <a:srgbClr val="171A18"/>
                </a:solidFill>
                <a:latin typeface="Calibri" pitchFamily="34" charset="0"/>
                <a:ea typeface="Calibri" pitchFamily="34" charset="-122"/>
                <a:cs typeface="Calibri" pitchFamily="34" charset="-120"/>
              </a:rPr>
              <a:t>Dengue</a:t>
            </a:r>
            <a:endParaRPr lang="en-US" sz="850" dirty="0"/>
          </a:p>
        </p:txBody>
      </p:sp>
      <p:sp>
        <p:nvSpPr>
          <p:cNvPr id="30" name="Text 28"/>
          <p:cNvSpPr/>
          <p:nvPr/>
        </p:nvSpPr>
        <p:spPr>
          <a:xfrm>
            <a:off x="2926080" y="3502152"/>
            <a:ext cx="1005840" cy="201168"/>
          </a:xfrm>
          <a:prstGeom prst="rect">
            <a:avLst/>
          </a:prstGeom>
          <a:noFill/>
          <a:ln/>
        </p:spPr>
        <p:txBody>
          <a:bodyPr wrap="square" rtlCol="0" anchor="ctr"/>
          <a:lstStyle/>
          <a:p>
            <a:pPr algn="r" indent="0" marL="0">
              <a:buNone/>
            </a:pPr>
            <a:r>
              <a:rPr lang="en-US" sz="800" b="1" dirty="0">
                <a:solidFill>
                  <a:srgbClr val="174A4A"/>
                </a:solidFill>
                <a:latin typeface="Consolas" pitchFamily="34" charset="0"/>
                <a:ea typeface="Consolas" pitchFamily="34" charset="-122"/>
                <a:cs typeface="Consolas" pitchFamily="34" charset="-120"/>
              </a:rPr>
              <a:t>204</a:t>
            </a:r>
            <a:endParaRPr lang="en-US" sz="800" dirty="0"/>
          </a:p>
        </p:txBody>
      </p:sp>
      <p:sp>
        <p:nvSpPr>
          <p:cNvPr id="31" name="Text 29"/>
          <p:cNvSpPr/>
          <p:nvPr/>
        </p:nvSpPr>
        <p:spPr>
          <a:xfrm>
            <a:off x="4023360" y="3502152"/>
            <a:ext cx="1005840" cy="201168"/>
          </a:xfrm>
          <a:prstGeom prst="rect">
            <a:avLst/>
          </a:prstGeom>
          <a:noFill/>
          <a:ln/>
        </p:spPr>
        <p:txBody>
          <a:bodyPr wrap="square" rtlCol="0" anchor="ctr"/>
          <a:lstStyle/>
          <a:p>
            <a:pPr algn="r" indent="0" marL="0">
              <a:buNone/>
            </a:pPr>
            <a:r>
              <a:rPr lang="en-US" sz="800" dirty="0">
                <a:solidFill>
                  <a:srgbClr val="171A18"/>
                </a:solidFill>
                <a:latin typeface="Consolas" pitchFamily="34" charset="0"/>
                <a:ea typeface="Consolas" pitchFamily="34" charset="-122"/>
                <a:cs typeface="Consolas" pitchFamily="34" charset="-120"/>
              </a:rPr>
              <a:t>3,144</a:t>
            </a:r>
            <a:endParaRPr lang="en-US" sz="800" dirty="0"/>
          </a:p>
        </p:txBody>
      </p:sp>
      <p:sp>
        <p:nvSpPr>
          <p:cNvPr id="32" name="Text 30"/>
          <p:cNvSpPr/>
          <p:nvPr/>
        </p:nvSpPr>
        <p:spPr>
          <a:xfrm>
            <a:off x="5120640" y="3502152"/>
            <a:ext cx="1005840" cy="201168"/>
          </a:xfrm>
          <a:prstGeom prst="rect">
            <a:avLst/>
          </a:prstGeom>
          <a:noFill/>
          <a:ln/>
        </p:spPr>
        <p:txBody>
          <a:bodyPr wrap="square" rtlCol="0" anchor="ctr"/>
          <a:lstStyle/>
          <a:p>
            <a:pPr algn="r" indent="0" marL="0">
              <a:buNone/>
            </a:pPr>
            <a:r>
              <a:rPr lang="en-US" sz="800" dirty="0">
                <a:solidFill>
                  <a:srgbClr val="171A18"/>
                </a:solidFill>
                <a:latin typeface="Consolas" pitchFamily="34" charset="0"/>
                <a:ea typeface="Consolas" pitchFamily="34" charset="-122"/>
                <a:cs typeface="Consolas" pitchFamily="34" charset="-120"/>
              </a:rPr>
              <a:t>93</a:t>
            </a:r>
            <a:endParaRPr lang="en-US" sz="800" dirty="0"/>
          </a:p>
        </p:txBody>
      </p:sp>
      <p:sp>
        <p:nvSpPr>
          <p:cNvPr id="33" name="Text 31"/>
          <p:cNvSpPr/>
          <p:nvPr/>
        </p:nvSpPr>
        <p:spPr>
          <a:xfrm>
            <a:off x="6400800" y="3502152"/>
            <a:ext cx="1920240" cy="201168"/>
          </a:xfrm>
          <a:prstGeom prst="rect">
            <a:avLst/>
          </a:prstGeom>
          <a:noFill/>
          <a:ln/>
        </p:spPr>
        <p:txBody>
          <a:bodyPr wrap="square" rtlCol="0" anchor="ctr"/>
          <a:lstStyle/>
          <a:p>
            <a:pPr algn="r" indent="0" marL="0">
              <a:buNone/>
            </a:pPr>
            <a:r>
              <a:rPr lang="en-US" sz="750" dirty="0">
                <a:solidFill>
                  <a:srgbClr val="50534D"/>
                </a:solidFill>
                <a:latin typeface="Consolas" pitchFamily="34" charset="0"/>
                <a:ea typeface="Consolas" pitchFamily="34" charset="-122"/>
                <a:cs typeface="Consolas" pitchFamily="34" charset="-120"/>
              </a:rPr>
              <a:t>37.8% of records</a:t>
            </a:r>
            <a:endParaRPr lang="en-US" sz="750" dirty="0"/>
          </a:p>
        </p:txBody>
      </p:sp>
      <p:sp>
        <p:nvSpPr>
          <p:cNvPr id="34" name="Text 32"/>
          <p:cNvSpPr/>
          <p:nvPr/>
        </p:nvSpPr>
        <p:spPr>
          <a:xfrm>
            <a:off x="914400" y="3703320"/>
            <a:ext cx="1920240" cy="201168"/>
          </a:xfrm>
          <a:prstGeom prst="rect">
            <a:avLst/>
          </a:prstGeom>
          <a:noFill/>
          <a:ln/>
        </p:spPr>
        <p:txBody>
          <a:bodyPr wrap="square" rtlCol="0" anchor="ctr"/>
          <a:lstStyle/>
          <a:p>
            <a:pPr indent="0" marL="0">
              <a:buNone/>
            </a:pPr>
            <a:r>
              <a:rPr lang="en-US" sz="850" b="1" dirty="0">
                <a:solidFill>
                  <a:srgbClr val="171A18"/>
                </a:solidFill>
                <a:latin typeface="Calibri" pitchFamily="34" charset="0"/>
                <a:ea typeface="Calibri" pitchFamily="34" charset="-122"/>
                <a:cs typeface="Calibri" pitchFamily="34" charset="-120"/>
              </a:rPr>
              <a:t>Acute Diarrheal Disease</a:t>
            </a:r>
            <a:endParaRPr lang="en-US" sz="850" dirty="0"/>
          </a:p>
        </p:txBody>
      </p:sp>
      <p:sp>
        <p:nvSpPr>
          <p:cNvPr id="35" name="Text 33"/>
          <p:cNvSpPr/>
          <p:nvPr/>
        </p:nvSpPr>
        <p:spPr>
          <a:xfrm>
            <a:off x="2926080" y="3703320"/>
            <a:ext cx="1005840" cy="201168"/>
          </a:xfrm>
          <a:prstGeom prst="rect">
            <a:avLst/>
          </a:prstGeom>
          <a:noFill/>
          <a:ln/>
        </p:spPr>
        <p:txBody>
          <a:bodyPr wrap="square" rtlCol="0" anchor="ctr"/>
          <a:lstStyle/>
          <a:p>
            <a:pPr algn="r" indent="0" marL="0">
              <a:buNone/>
            </a:pPr>
            <a:r>
              <a:rPr lang="en-US" sz="800" b="1" dirty="0">
                <a:solidFill>
                  <a:srgbClr val="174A4A"/>
                </a:solidFill>
                <a:latin typeface="Consolas" pitchFamily="34" charset="0"/>
                <a:ea typeface="Consolas" pitchFamily="34" charset="-122"/>
                <a:cs typeface="Consolas" pitchFamily="34" charset="-120"/>
              </a:rPr>
              <a:t>153</a:t>
            </a:r>
            <a:endParaRPr lang="en-US" sz="800" dirty="0"/>
          </a:p>
        </p:txBody>
      </p:sp>
      <p:sp>
        <p:nvSpPr>
          <p:cNvPr id="36" name="Text 34"/>
          <p:cNvSpPr/>
          <p:nvPr/>
        </p:nvSpPr>
        <p:spPr>
          <a:xfrm>
            <a:off x="4023360" y="3703320"/>
            <a:ext cx="1005840" cy="201168"/>
          </a:xfrm>
          <a:prstGeom prst="rect">
            <a:avLst/>
          </a:prstGeom>
          <a:noFill/>
          <a:ln/>
        </p:spPr>
        <p:txBody>
          <a:bodyPr wrap="square" rtlCol="0" anchor="ctr"/>
          <a:lstStyle/>
          <a:p>
            <a:pPr algn="r" indent="0" marL="0">
              <a:buNone/>
            </a:pPr>
            <a:r>
              <a:rPr lang="en-US" sz="800" b="1" dirty="0">
                <a:solidFill>
                  <a:srgbClr val="C84B2F"/>
                </a:solidFill>
                <a:latin typeface="Consolas" pitchFamily="34" charset="0"/>
                <a:ea typeface="Consolas" pitchFamily="34" charset="-122"/>
                <a:cs typeface="Consolas" pitchFamily="34" charset="-120"/>
              </a:rPr>
              <a:t>9,050</a:t>
            </a:r>
            <a:endParaRPr lang="en-US" sz="800" dirty="0"/>
          </a:p>
        </p:txBody>
      </p:sp>
      <p:sp>
        <p:nvSpPr>
          <p:cNvPr id="37" name="Text 35"/>
          <p:cNvSpPr/>
          <p:nvPr/>
        </p:nvSpPr>
        <p:spPr>
          <a:xfrm>
            <a:off x="5120640" y="3703320"/>
            <a:ext cx="1005840" cy="201168"/>
          </a:xfrm>
          <a:prstGeom prst="rect">
            <a:avLst/>
          </a:prstGeom>
          <a:noFill/>
          <a:ln/>
        </p:spPr>
        <p:txBody>
          <a:bodyPr wrap="square" rtlCol="0" anchor="ctr"/>
          <a:lstStyle/>
          <a:p>
            <a:pPr algn="r" indent="0" marL="0">
              <a:buNone/>
            </a:pPr>
            <a:r>
              <a:rPr lang="en-US" sz="800" dirty="0">
                <a:solidFill>
                  <a:srgbClr val="171A18"/>
                </a:solidFill>
                <a:latin typeface="Consolas" pitchFamily="34" charset="0"/>
                <a:ea typeface="Consolas" pitchFamily="34" charset="-122"/>
                <a:cs typeface="Consolas" pitchFamily="34" charset="-120"/>
              </a:rPr>
              <a:t>93</a:t>
            </a:r>
            <a:endParaRPr lang="en-US" sz="800" dirty="0"/>
          </a:p>
        </p:txBody>
      </p:sp>
      <p:sp>
        <p:nvSpPr>
          <p:cNvPr id="38" name="Text 36"/>
          <p:cNvSpPr/>
          <p:nvPr/>
        </p:nvSpPr>
        <p:spPr>
          <a:xfrm>
            <a:off x="6400800" y="3703320"/>
            <a:ext cx="1920240" cy="201168"/>
          </a:xfrm>
          <a:prstGeom prst="rect">
            <a:avLst/>
          </a:prstGeom>
          <a:noFill/>
          <a:ln/>
        </p:spPr>
        <p:txBody>
          <a:bodyPr wrap="square" rtlCol="0" anchor="ctr"/>
          <a:lstStyle/>
          <a:p>
            <a:pPr algn="r" indent="0" marL="0">
              <a:buNone/>
            </a:pPr>
            <a:r>
              <a:rPr lang="en-US" sz="750" dirty="0">
                <a:solidFill>
                  <a:srgbClr val="50534D"/>
                </a:solidFill>
                <a:latin typeface="Consolas" pitchFamily="34" charset="0"/>
                <a:ea typeface="Consolas" pitchFamily="34" charset="-122"/>
                <a:cs typeface="Consolas" pitchFamily="34" charset="-120"/>
              </a:rPr>
              <a:t>28.4% of records</a:t>
            </a:r>
            <a:endParaRPr lang="en-US" sz="750" dirty="0"/>
          </a:p>
        </p:txBody>
      </p:sp>
      <p:sp>
        <p:nvSpPr>
          <p:cNvPr id="39" name="Text 37"/>
          <p:cNvSpPr/>
          <p:nvPr/>
        </p:nvSpPr>
        <p:spPr>
          <a:xfrm>
            <a:off x="914400" y="3904488"/>
            <a:ext cx="1920240" cy="201168"/>
          </a:xfrm>
          <a:prstGeom prst="rect">
            <a:avLst/>
          </a:prstGeom>
          <a:noFill/>
          <a:ln/>
        </p:spPr>
        <p:txBody>
          <a:bodyPr wrap="square" rtlCol="0" anchor="ctr"/>
          <a:lstStyle/>
          <a:p>
            <a:pPr indent="0" marL="0">
              <a:buNone/>
            </a:pPr>
            <a:r>
              <a:rPr lang="en-US" sz="850" dirty="0">
                <a:solidFill>
                  <a:srgbClr val="171A18"/>
                </a:solidFill>
                <a:latin typeface="Calibri" pitchFamily="34" charset="0"/>
                <a:ea typeface="Calibri" pitchFamily="34" charset="-122"/>
                <a:cs typeface="Calibri" pitchFamily="34" charset="-120"/>
              </a:rPr>
              <a:t>Malaria</a:t>
            </a:r>
            <a:endParaRPr lang="en-US" sz="850" dirty="0"/>
          </a:p>
        </p:txBody>
      </p:sp>
      <p:sp>
        <p:nvSpPr>
          <p:cNvPr id="40" name="Text 38"/>
          <p:cNvSpPr/>
          <p:nvPr/>
        </p:nvSpPr>
        <p:spPr>
          <a:xfrm>
            <a:off x="2926080" y="3904488"/>
            <a:ext cx="1005840" cy="201168"/>
          </a:xfrm>
          <a:prstGeom prst="rect">
            <a:avLst/>
          </a:prstGeom>
          <a:noFill/>
          <a:ln/>
        </p:spPr>
        <p:txBody>
          <a:bodyPr wrap="square" rtlCol="0" anchor="ctr"/>
          <a:lstStyle/>
          <a:p>
            <a:pPr algn="r" indent="0" marL="0">
              <a:buNone/>
            </a:pPr>
            <a:r>
              <a:rPr lang="en-US" sz="800" b="1" dirty="0">
                <a:solidFill>
                  <a:srgbClr val="174A4A"/>
                </a:solidFill>
                <a:latin typeface="Consolas" pitchFamily="34" charset="0"/>
                <a:ea typeface="Consolas" pitchFamily="34" charset="-122"/>
                <a:cs typeface="Consolas" pitchFamily="34" charset="-120"/>
              </a:rPr>
              <a:t>70</a:t>
            </a:r>
            <a:endParaRPr lang="en-US" sz="800" dirty="0"/>
          </a:p>
        </p:txBody>
      </p:sp>
      <p:sp>
        <p:nvSpPr>
          <p:cNvPr id="41" name="Text 39"/>
          <p:cNvSpPr/>
          <p:nvPr/>
        </p:nvSpPr>
        <p:spPr>
          <a:xfrm>
            <a:off x="4023360" y="3904488"/>
            <a:ext cx="1005840" cy="201168"/>
          </a:xfrm>
          <a:prstGeom prst="rect">
            <a:avLst/>
          </a:prstGeom>
          <a:noFill/>
          <a:ln/>
        </p:spPr>
        <p:txBody>
          <a:bodyPr wrap="square" rtlCol="0" anchor="ctr"/>
          <a:lstStyle/>
          <a:p>
            <a:pPr algn="r" indent="0" marL="0">
              <a:buNone/>
            </a:pPr>
            <a:r>
              <a:rPr lang="en-US" sz="800" dirty="0">
                <a:solidFill>
                  <a:srgbClr val="171A18"/>
                </a:solidFill>
                <a:latin typeface="Consolas" pitchFamily="34" charset="0"/>
                <a:ea typeface="Consolas" pitchFamily="34" charset="-122"/>
                <a:cs typeface="Consolas" pitchFamily="34" charset="-120"/>
              </a:rPr>
              <a:t>2,133</a:t>
            </a:r>
            <a:endParaRPr lang="en-US" sz="800" dirty="0"/>
          </a:p>
        </p:txBody>
      </p:sp>
      <p:sp>
        <p:nvSpPr>
          <p:cNvPr id="42" name="Text 40"/>
          <p:cNvSpPr/>
          <p:nvPr/>
        </p:nvSpPr>
        <p:spPr>
          <a:xfrm>
            <a:off x="5120640" y="3904488"/>
            <a:ext cx="1005840" cy="201168"/>
          </a:xfrm>
          <a:prstGeom prst="rect">
            <a:avLst/>
          </a:prstGeom>
          <a:noFill/>
          <a:ln/>
        </p:spPr>
        <p:txBody>
          <a:bodyPr wrap="square" rtlCol="0" anchor="ctr"/>
          <a:lstStyle/>
          <a:p>
            <a:pPr algn="r" indent="0" marL="0">
              <a:buNone/>
            </a:pPr>
            <a:r>
              <a:rPr lang="en-US" sz="800" dirty="0">
                <a:solidFill>
                  <a:srgbClr val="171A18"/>
                </a:solidFill>
                <a:latin typeface="Consolas" pitchFamily="34" charset="0"/>
                <a:ea typeface="Consolas" pitchFamily="34" charset="-122"/>
                <a:cs typeface="Consolas" pitchFamily="34" charset="-120"/>
              </a:rPr>
              <a:t>51</a:t>
            </a:r>
            <a:endParaRPr lang="en-US" sz="800" dirty="0"/>
          </a:p>
        </p:txBody>
      </p:sp>
      <p:sp>
        <p:nvSpPr>
          <p:cNvPr id="43" name="Text 41"/>
          <p:cNvSpPr/>
          <p:nvPr/>
        </p:nvSpPr>
        <p:spPr>
          <a:xfrm>
            <a:off x="6400800" y="3904488"/>
            <a:ext cx="1920240" cy="201168"/>
          </a:xfrm>
          <a:prstGeom prst="rect">
            <a:avLst/>
          </a:prstGeom>
          <a:noFill/>
          <a:ln/>
        </p:spPr>
        <p:txBody>
          <a:bodyPr wrap="square" rtlCol="0" anchor="ctr"/>
          <a:lstStyle/>
          <a:p>
            <a:pPr algn="r" indent="0" marL="0">
              <a:buNone/>
            </a:pPr>
            <a:r>
              <a:rPr lang="en-US" sz="750" dirty="0">
                <a:solidFill>
                  <a:srgbClr val="50534D"/>
                </a:solidFill>
                <a:latin typeface="Consolas" pitchFamily="34" charset="0"/>
                <a:ea typeface="Consolas" pitchFamily="34" charset="-122"/>
                <a:cs typeface="Consolas" pitchFamily="34" charset="-120"/>
              </a:rPr>
              <a:t>13.0% of records</a:t>
            </a:r>
            <a:endParaRPr lang="en-US" sz="750" dirty="0"/>
          </a:p>
        </p:txBody>
      </p:sp>
      <p:sp>
        <p:nvSpPr>
          <p:cNvPr id="44" name="Text 42"/>
          <p:cNvSpPr/>
          <p:nvPr/>
        </p:nvSpPr>
        <p:spPr>
          <a:xfrm>
            <a:off x="914400" y="4105656"/>
            <a:ext cx="1920240" cy="201168"/>
          </a:xfrm>
          <a:prstGeom prst="rect">
            <a:avLst/>
          </a:prstGeom>
          <a:noFill/>
          <a:ln/>
        </p:spPr>
        <p:txBody>
          <a:bodyPr wrap="square" rtlCol="0" anchor="ctr"/>
          <a:lstStyle/>
          <a:p>
            <a:pPr indent="0" marL="0">
              <a:buNone/>
            </a:pPr>
            <a:r>
              <a:rPr lang="en-US" sz="850" dirty="0">
                <a:solidFill>
                  <a:srgbClr val="171A18"/>
                </a:solidFill>
                <a:latin typeface="Calibri" pitchFamily="34" charset="0"/>
                <a:ea typeface="Calibri" pitchFamily="34" charset="-122"/>
                <a:cs typeface="Calibri" pitchFamily="34" charset="-120"/>
              </a:rPr>
              <a:t>Food Poisoning</a:t>
            </a:r>
            <a:endParaRPr lang="en-US" sz="850" dirty="0"/>
          </a:p>
        </p:txBody>
      </p:sp>
      <p:sp>
        <p:nvSpPr>
          <p:cNvPr id="45" name="Text 43"/>
          <p:cNvSpPr/>
          <p:nvPr/>
        </p:nvSpPr>
        <p:spPr>
          <a:xfrm>
            <a:off x="2926080" y="4105656"/>
            <a:ext cx="1005840" cy="201168"/>
          </a:xfrm>
          <a:prstGeom prst="rect">
            <a:avLst/>
          </a:prstGeom>
          <a:noFill/>
          <a:ln/>
        </p:spPr>
        <p:txBody>
          <a:bodyPr wrap="square" rtlCol="0" anchor="ctr"/>
          <a:lstStyle/>
          <a:p>
            <a:pPr algn="r" indent="0" marL="0">
              <a:buNone/>
            </a:pPr>
            <a:r>
              <a:rPr lang="en-US" sz="800" b="1" dirty="0">
                <a:solidFill>
                  <a:srgbClr val="174A4A"/>
                </a:solidFill>
                <a:latin typeface="Consolas" pitchFamily="34" charset="0"/>
                <a:ea typeface="Consolas" pitchFamily="34" charset="-122"/>
                <a:cs typeface="Consolas" pitchFamily="34" charset="-120"/>
              </a:rPr>
              <a:t>69</a:t>
            </a:r>
            <a:endParaRPr lang="en-US" sz="800" dirty="0"/>
          </a:p>
        </p:txBody>
      </p:sp>
      <p:sp>
        <p:nvSpPr>
          <p:cNvPr id="46" name="Text 44"/>
          <p:cNvSpPr/>
          <p:nvPr/>
        </p:nvSpPr>
        <p:spPr>
          <a:xfrm>
            <a:off x="4023360" y="4105656"/>
            <a:ext cx="1005840" cy="201168"/>
          </a:xfrm>
          <a:prstGeom prst="rect">
            <a:avLst/>
          </a:prstGeom>
          <a:noFill/>
          <a:ln/>
        </p:spPr>
        <p:txBody>
          <a:bodyPr wrap="square" rtlCol="0" anchor="ctr"/>
          <a:lstStyle/>
          <a:p>
            <a:pPr algn="r" indent="0" marL="0">
              <a:buNone/>
            </a:pPr>
            <a:r>
              <a:rPr lang="en-US" sz="800" b="1" dirty="0">
                <a:solidFill>
                  <a:srgbClr val="C84B2F"/>
                </a:solidFill>
                <a:latin typeface="Consolas" pitchFamily="34" charset="0"/>
                <a:ea typeface="Consolas" pitchFamily="34" charset="-122"/>
                <a:cs typeface="Consolas" pitchFamily="34" charset="-120"/>
              </a:rPr>
              <a:t>5,927</a:t>
            </a:r>
            <a:endParaRPr lang="en-US" sz="800" dirty="0"/>
          </a:p>
        </p:txBody>
      </p:sp>
      <p:sp>
        <p:nvSpPr>
          <p:cNvPr id="47" name="Text 45"/>
          <p:cNvSpPr/>
          <p:nvPr/>
        </p:nvSpPr>
        <p:spPr>
          <a:xfrm>
            <a:off x="5120640" y="4105656"/>
            <a:ext cx="1005840" cy="201168"/>
          </a:xfrm>
          <a:prstGeom prst="rect">
            <a:avLst/>
          </a:prstGeom>
          <a:noFill/>
          <a:ln/>
        </p:spPr>
        <p:txBody>
          <a:bodyPr wrap="square" rtlCol="0" anchor="ctr"/>
          <a:lstStyle/>
          <a:p>
            <a:pPr algn="r" indent="0" marL="0">
              <a:buNone/>
            </a:pPr>
            <a:r>
              <a:rPr lang="en-US" sz="800" dirty="0">
                <a:solidFill>
                  <a:srgbClr val="50534D"/>
                </a:solidFill>
                <a:latin typeface="Consolas" pitchFamily="34" charset="0"/>
                <a:ea typeface="Consolas" pitchFamily="34" charset="-122"/>
                <a:cs typeface="Consolas" pitchFamily="34" charset="-120"/>
              </a:rPr>
              <a:t>29</a:t>
            </a:r>
            <a:endParaRPr lang="en-US" sz="800" dirty="0"/>
          </a:p>
        </p:txBody>
      </p:sp>
      <p:sp>
        <p:nvSpPr>
          <p:cNvPr id="48" name="Text 46"/>
          <p:cNvSpPr/>
          <p:nvPr/>
        </p:nvSpPr>
        <p:spPr>
          <a:xfrm>
            <a:off x="6400800" y="4105656"/>
            <a:ext cx="1920240" cy="201168"/>
          </a:xfrm>
          <a:prstGeom prst="rect">
            <a:avLst/>
          </a:prstGeom>
          <a:noFill/>
          <a:ln/>
        </p:spPr>
        <p:txBody>
          <a:bodyPr wrap="square" rtlCol="0" anchor="ctr"/>
          <a:lstStyle/>
          <a:p>
            <a:pPr algn="r" indent="0" marL="0">
              <a:buNone/>
            </a:pPr>
            <a:r>
              <a:rPr lang="en-US" sz="750" dirty="0">
                <a:solidFill>
                  <a:srgbClr val="50534D"/>
                </a:solidFill>
                <a:latin typeface="Consolas" pitchFamily="34" charset="0"/>
                <a:ea typeface="Consolas" pitchFamily="34" charset="-122"/>
                <a:cs typeface="Consolas" pitchFamily="34" charset="-120"/>
              </a:rPr>
              <a:t>12.8% of records</a:t>
            </a:r>
            <a:endParaRPr lang="en-US" sz="750" dirty="0"/>
          </a:p>
        </p:txBody>
      </p:sp>
      <p:sp>
        <p:nvSpPr>
          <p:cNvPr id="49" name="Text 47"/>
          <p:cNvSpPr/>
          <p:nvPr/>
        </p:nvSpPr>
        <p:spPr>
          <a:xfrm>
            <a:off x="914400" y="4306824"/>
            <a:ext cx="1920240" cy="201168"/>
          </a:xfrm>
          <a:prstGeom prst="rect">
            <a:avLst/>
          </a:prstGeom>
          <a:noFill/>
          <a:ln/>
        </p:spPr>
        <p:txBody>
          <a:bodyPr wrap="square" rtlCol="0" anchor="ctr"/>
          <a:lstStyle/>
          <a:p>
            <a:pPr indent="0" marL="0">
              <a:buNone/>
            </a:pPr>
            <a:r>
              <a:rPr lang="en-US" sz="850" dirty="0">
                <a:solidFill>
                  <a:srgbClr val="171A18"/>
                </a:solidFill>
                <a:latin typeface="Calibri" pitchFamily="34" charset="0"/>
                <a:ea typeface="Calibri" pitchFamily="34" charset="-122"/>
                <a:cs typeface="Calibri" pitchFamily="34" charset="-120"/>
              </a:rPr>
              <a:t>Chikungunya</a:t>
            </a:r>
            <a:endParaRPr lang="en-US" sz="850" dirty="0"/>
          </a:p>
        </p:txBody>
      </p:sp>
      <p:sp>
        <p:nvSpPr>
          <p:cNvPr id="50" name="Text 48"/>
          <p:cNvSpPr/>
          <p:nvPr/>
        </p:nvSpPr>
        <p:spPr>
          <a:xfrm>
            <a:off x="2926080" y="4306824"/>
            <a:ext cx="1005840" cy="201168"/>
          </a:xfrm>
          <a:prstGeom prst="rect">
            <a:avLst/>
          </a:prstGeom>
          <a:noFill/>
          <a:ln/>
        </p:spPr>
        <p:txBody>
          <a:bodyPr wrap="square" rtlCol="0" anchor="ctr"/>
          <a:lstStyle/>
          <a:p>
            <a:pPr algn="r" indent="0" marL="0">
              <a:buNone/>
            </a:pPr>
            <a:r>
              <a:rPr lang="en-US" sz="800" b="1" dirty="0">
                <a:solidFill>
                  <a:srgbClr val="174A4A"/>
                </a:solidFill>
                <a:latin typeface="Consolas" pitchFamily="34" charset="0"/>
                <a:ea typeface="Consolas" pitchFamily="34" charset="-122"/>
                <a:cs typeface="Consolas" pitchFamily="34" charset="-120"/>
              </a:rPr>
              <a:t>43</a:t>
            </a:r>
            <a:endParaRPr lang="en-US" sz="800" dirty="0"/>
          </a:p>
        </p:txBody>
      </p:sp>
      <p:sp>
        <p:nvSpPr>
          <p:cNvPr id="51" name="Text 49"/>
          <p:cNvSpPr/>
          <p:nvPr/>
        </p:nvSpPr>
        <p:spPr>
          <a:xfrm>
            <a:off x="4023360" y="4306824"/>
            <a:ext cx="1005840" cy="201168"/>
          </a:xfrm>
          <a:prstGeom prst="rect">
            <a:avLst/>
          </a:prstGeom>
          <a:noFill/>
          <a:ln/>
        </p:spPr>
        <p:txBody>
          <a:bodyPr wrap="square" rtlCol="0" anchor="ctr"/>
          <a:lstStyle/>
          <a:p>
            <a:pPr algn="r" indent="0" marL="0">
              <a:buNone/>
            </a:pPr>
            <a:r>
              <a:rPr lang="en-US" sz="800" dirty="0">
                <a:solidFill>
                  <a:srgbClr val="171A18"/>
                </a:solidFill>
                <a:latin typeface="Consolas" pitchFamily="34" charset="0"/>
                <a:ea typeface="Consolas" pitchFamily="34" charset="-122"/>
                <a:cs typeface="Consolas" pitchFamily="34" charset="-120"/>
              </a:rPr>
              <a:t>701</a:t>
            </a:r>
            <a:endParaRPr lang="en-US" sz="800" dirty="0"/>
          </a:p>
        </p:txBody>
      </p:sp>
      <p:sp>
        <p:nvSpPr>
          <p:cNvPr id="52" name="Text 50"/>
          <p:cNvSpPr/>
          <p:nvPr/>
        </p:nvSpPr>
        <p:spPr>
          <a:xfrm>
            <a:off x="5120640" y="4306824"/>
            <a:ext cx="1005840" cy="201168"/>
          </a:xfrm>
          <a:prstGeom prst="rect">
            <a:avLst/>
          </a:prstGeom>
          <a:noFill/>
          <a:ln/>
        </p:spPr>
        <p:txBody>
          <a:bodyPr wrap="square" rtlCol="0" anchor="ctr"/>
          <a:lstStyle/>
          <a:p>
            <a:pPr algn="r" indent="0" marL="0">
              <a:buNone/>
            </a:pPr>
            <a:r>
              <a:rPr lang="en-US" sz="800" dirty="0">
                <a:solidFill>
                  <a:srgbClr val="50534D"/>
                </a:solidFill>
                <a:latin typeface="Consolas" pitchFamily="34" charset="0"/>
                <a:ea typeface="Consolas" pitchFamily="34" charset="-122"/>
                <a:cs typeface="Consolas" pitchFamily="34" charset="-120"/>
              </a:rPr>
              <a:t>0</a:t>
            </a:r>
            <a:endParaRPr lang="en-US" sz="800" dirty="0"/>
          </a:p>
        </p:txBody>
      </p:sp>
      <p:sp>
        <p:nvSpPr>
          <p:cNvPr id="53" name="Text 51"/>
          <p:cNvSpPr/>
          <p:nvPr/>
        </p:nvSpPr>
        <p:spPr>
          <a:xfrm>
            <a:off x="6400800" y="4306824"/>
            <a:ext cx="1920240" cy="201168"/>
          </a:xfrm>
          <a:prstGeom prst="rect">
            <a:avLst/>
          </a:prstGeom>
          <a:noFill/>
          <a:ln/>
        </p:spPr>
        <p:txBody>
          <a:bodyPr wrap="square" rtlCol="0" anchor="ctr"/>
          <a:lstStyle/>
          <a:p>
            <a:pPr algn="r" indent="0" marL="0">
              <a:buNone/>
            </a:pPr>
            <a:r>
              <a:rPr lang="en-US" sz="750" dirty="0">
                <a:solidFill>
                  <a:srgbClr val="50534D"/>
                </a:solidFill>
                <a:latin typeface="Consolas" pitchFamily="34" charset="0"/>
                <a:ea typeface="Consolas" pitchFamily="34" charset="-122"/>
                <a:cs typeface="Consolas" pitchFamily="34" charset="-120"/>
              </a:rPr>
              <a:t>8.0% of records</a:t>
            </a:r>
            <a:endParaRPr lang="en-US" sz="750" dirty="0"/>
          </a:p>
        </p:txBody>
      </p:sp>
      <p:sp>
        <p:nvSpPr>
          <p:cNvPr id="54" name="Shape 52"/>
          <p:cNvSpPr/>
          <p:nvPr/>
        </p:nvSpPr>
        <p:spPr>
          <a:xfrm>
            <a:off x="731520" y="4736592"/>
            <a:ext cx="7680960" cy="0"/>
          </a:xfrm>
          <a:prstGeom prst="line">
            <a:avLst/>
          </a:prstGeom>
          <a:noFill/>
          <a:ln w="9525">
            <a:solidFill>
              <a:srgbClr val="D8CFBC"/>
            </a:solidFill>
            <a:prstDash val="solid"/>
          </a:ln>
        </p:spPr>
      </p:sp>
      <p:sp>
        <p:nvSpPr>
          <p:cNvPr id="55" name="Text 53"/>
          <p:cNvSpPr/>
          <p:nvPr/>
        </p:nvSpPr>
        <p:spPr>
          <a:xfrm>
            <a:off x="731520" y="4809744"/>
            <a:ext cx="6400800" cy="201168"/>
          </a:xfrm>
          <a:prstGeom prst="rect">
            <a:avLst/>
          </a:prstGeom>
          <a:noFill/>
          <a:ln/>
        </p:spPr>
        <p:txBody>
          <a:bodyPr wrap="square" rtlCol="0" anchor="ctr"/>
          <a:lstStyle/>
          <a:p>
            <a:pPr indent="0" marL="0">
              <a:buNone/>
            </a:pPr>
            <a:r>
              <a:rPr lang="en-US" sz="650" dirty="0">
                <a:solidFill>
                  <a:srgbClr val="7A7D77"/>
                </a:solidFill>
                <a:latin typeface="Consolas" pitchFamily="34" charset="0"/>
                <a:ea typeface="Consolas" pitchFamily="34" charset="-122"/>
                <a:cs typeface="Consolas" pitchFamily="34" charset="-120"/>
              </a:rPr>
              <a:t>SOURCE: NCDC / IDSP WEEKLY OUTBREAK REPORTS (2022–2025 BASELINE)</a:t>
            </a:r>
            <a:endParaRPr lang="en-US" sz="650" dirty="0"/>
          </a:p>
        </p:txBody>
      </p:sp>
      <p:sp>
        <p:nvSpPr>
          <p:cNvPr id="56" name="Text 54"/>
          <p:cNvSpPr/>
          <p:nvPr/>
        </p:nvSpPr>
        <p:spPr>
          <a:xfrm>
            <a:off x="7498080" y="4809744"/>
            <a:ext cx="914400" cy="201168"/>
          </a:xfrm>
          <a:prstGeom prst="rect">
            <a:avLst/>
          </a:prstGeom>
          <a:noFill/>
          <a:ln/>
        </p:spPr>
        <p:txBody>
          <a:bodyPr wrap="square" rtlCol="0" anchor="ctr"/>
          <a:lstStyle/>
          <a:p>
            <a:pPr algn="r" indent="0" marL="0">
              <a:buNone/>
            </a:pPr>
            <a:r>
              <a:rPr lang="en-US" sz="750" b="1" dirty="0">
                <a:solidFill>
                  <a:srgbClr val="50534D"/>
                </a:solidFill>
                <a:latin typeface="Consolas" pitchFamily="34" charset="0"/>
                <a:ea typeface="Consolas" pitchFamily="34" charset="-122"/>
                <a:cs typeface="Consolas" pitchFamily="34" charset="-120"/>
              </a:rPr>
              <a:t>04 / 10</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BDD"/>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750" b="1" spc="200" kern="0" dirty="0">
                <a:solidFill>
                  <a:srgbClr val="50534D"/>
                </a:solidFill>
                <a:latin typeface="Consolas" pitchFamily="34" charset="0"/>
                <a:ea typeface="Consolas" pitchFamily="34" charset="-122"/>
                <a:cs typeface="Consolas" pitchFamily="34" charset="-120"/>
              </a:rPr>
              <a:t>CORE SEASONAL PATTERN ANALYSIS // EMPIRICAL BASELINE (2022–2025)</a:t>
            </a:r>
            <a:endParaRPr lang="en-US" sz="750" dirty="0"/>
          </a:p>
        </p:txBody>
      </p:sp>
      <p:sp>
        <p:nvSpPr>
          <p:cNvPr id="3" name="Text 1"/>
          <p:cNvSpPr/>
          <p:nvPr/>
        </p:nvSpPr>
        <p:spPr>
          <a:xfrm>
            <a:off x="731520" y="530352"/>
            <a:ext cx="7680960" cy="457200"/>
          </a:xfrm>
          <a:prstGeom prst="rect">
            <a:avLst/>
          </a:prstGeom>
          <a:noFill/>
          <a:ln/>
        </p:spPr>
        <p:txBody>
          <a:bodyPr wrap="square" rtlCol="0" anchor="ctr"/>
          <a:lstStyle/>
          <a:p>
            <a:pPr indent="0" marL="0">
              <a:lnSpc>
                <a:spcPct val="110000"/>
              </a:lnSpc>
              <a:buNone/>
            </a:pPr>
            <a:r>
              <a:rPr lang="en-US" sz="2000" b="1" dirty="0">
                <a:solidFill>
                  <a:srgbClr val="171A18"/>
                </a:solidFill>
                <a:latin typeface="Georgia" pitchFamily="34" charset="0"/>
                <a:ea typeface="Georgia" pitchFamily="34" charset="-122"/>
                <a:cs typeface="Georgia" pitchFamily="34" charset="-120"/>
              </a:rPr>
              <a:t>Five Diseases. Five Distinct Temporal Signatures.</a:t>
            </a:r>
            <a:endParaRPr lang="en-US" sz="2000" dirty="0"/>
          </a:p>
        </p:txBody>
      </p:sp>
      <p:sp>
        <p:nvSpPr>
          <p:cNvPr id="4" name="Text 2"/>
          <p:cNvSpPr/>
          <p:nvPr/>
        </p:nvSpPr>
        <p:spPr>
          <a:xfrm>
            <a:off x="731520" y="987552"/>
            <a:ext cx="7680960" cy="274320"/>
          </a:xfrm>
          <a:prstGeom prst="rect">
            <a:avLst/>
          </a:prstGeom>
          <a:noFill/>
          <a:ln/>
        </p:spPr>
        <p:txBody>
          <a:bodyPr wrap="square" rtlCol="0" anchor="ctr"/>
          <a:lstStyle/>
          <a:p>
            <a:pPr indent="0" marL="0">
              <a:buNone/>
            </a:pPr>
            <a:r>
              <a:rPr lang="en-US" sz="1050" dirty="0">
                <a:solidFill>
                  <a:srgbClr val="50534D"/>
                </a:solidFill>
                <a:latin typeface="Calibri" pitchFamily="34" charset="0"/>
                <a:ea typeface="Calibri" pitchFamily="34" charset="-122"/>
                <a:cs typeface="Calibri" pitchFamily="34" charset="-120"/>
              </a:rPr>
              <a:t>Total reported outbreak-event record counts by calendar month, revealing stark divergence in seasonal timing.</a:t>
            </a:r>
            <a:endParaRPr lang="en-US" sz="1050" dirty="0"/>
          </a:p>
        </p:txBody>
      </p:sp>
      <p:sp>
        <p:nvSpPr>
          <p:cNvPr id="5" name="Shape 3"/>
          <p:cNvSpPr/>
          <p:nvPr/>
        </p:nvSpPr>
        <p:spPr>
          <a:xfrm>
            <a:off x="731520" y="1298448"/>
            <a:ext cx="7680960" cy="0"/>
          </a:xfrm>
          <a:prstGeom prst="line">
            <a:avLst/>
          </a:prstGeom>
          <a:noFill/>
          <a:ln w="9525">
            <a:solidFill>
              <a:srgbClr val="D8CFBC"/>
            </a:solidFill>
            <a:prstDash val="solid"/>
          </a:ln>
        </p:spPr>
      </p:sp>
      <p:sp>
        <p:nvSpPr>
          <p:cNvPr id="6" name="Shape 4"/>
          <p:cNvSpPr/>
          <p:nvPr/>
        </p:nvSpPr>
        <p:spPr>
          <a:xfrm>
            <a:off x="4450080" y="1645920"/>
            <a:ext cx="1584960" cy="2743200"/>
          </a:xfrm>
          <a:prstGeom prst="rect">
            <a:avLst/>
          </a:prstGeom>
          <a:solidFill>
            <a:srgbClr val="E2DAC8"/>
          </a:solidFill>
          <a:ln/>
        </p:spPr>
      </p:sp>
      <p:sp>
        <p:nvSpPr>
          <p:cNvPr id="7" name="Text 5"/>
          <p:cNvSpPr/>
          <p:nvPr/>
        </p:nvSpPr>
        <p:spPr>
          <a:xfrm>
            <a:off x="4450080" y="1371600"/>
            <a:ext cx="1584960" cy="201168"/>
          </a:xfrm>
          <a:prstGeom prst="rect">
            <a:avLst/>
          </a:prstGeom>
          <a:noFill/>
          <a:ln/>
        </p:spPr>
        <p:txBody>
          <a:bodyPr wrap="square" rtlCol="0" anchor="ctr"/>
          <a:lstStyle/>
          <a:p>
            <a:pPr algn="ctr" indent="0" marL="0">
              <a:buNone/>
            </a:pPr>
            <a:r>
              <a:rPr lang="en-US" sz="650" b="1" dirty="0">
                <a:solidFill>
                  <a:srgbClr val="174A4A"/>
                </a:solidFill>
                <a:latin typeface="Consolas" pitchFamily="34" charset="0"/>
                <a:ea typeface="Consolas" pitchFamily="34" charset="-122"/>
                <a:cs typeface="Consolas" pitchFamily="34" charset="-120"/>
              </a:rPr>
              <a:t>MONSOON SURVEILLANCE WINDOW (JUN–SEP)</a:t>
            </a:r>
            <a:endParaRPr lang="en-US" sz="650" dirty="0"/>
          </a:p>
        </p:txBody>
      </p:sp>
      <p:sp>
        <p:nvSpPr>
          <p:cNvPr id="8" name="Text 6"/>
          <p:cNvSpPr/>
          <p:nvPr/>
        </p:nvSpPr>
        <p:spPr>
          <a:xfrm>
            <a:off x="2468880" y="1490472"/>
            <a:ext cx="396240" cy="201168"/>
          </a:xfrm>
          <a:prstGeom prst="rect">
            <a:avLst/>
          </a:prstGeom>
          <a:noFill/>
          <a:ln/>
        </p:spPr>
        <p:txBody>
          <a:bodyPr wrap="square" rtlCol="0" anchor="ctr"/>
          <a:lstStyle/>
          <a:p>
            <a:pPr algn="ctr" indent="0" marL="0">
              <a:buNone/>
            </a:pPr>
            <a:r>
              <a:rPr lang="en-US" sz="750" b="1" dirty="0">
                <a:solidFill>
                  <a:srgbClr val="50534D"/>
                </a:solidFill>
                <a:latin typeface="Consolas" pitchFamily="34" charset="0"/>
                <a:ea typeface="Consolas" pitchFamily="34" charset="-122"/>
                <a:cs typeface="Consolas" pitchFamily="34" charset="-120"/>
              </a:rPr>
              <a:t>JAN</a:t>
            </a:r>
            <a:endParaRPr lang="en-US" sz="750" dirty="0"/>
          </a:p>
        </p:txBody>
      </p:sp>
      <p:sp>
        <p:nvSpPr>
          <p:cNvPr id="9" name="Text 7"/>
          <p:cNvSpPr/>
          <p:nvPr/>
        </p:nvSpPr>
        <p:spPr>
          <a:xfrm>
            <a:off x="2865120" y="1490472"/>
            <a:ext cx="396240" cy="201168"/>
          </a:xfrm>
          <a:prstGeom prst="rect">
            <a:avLst/>
          </a:prstGeom>
          <a:noFill/>
          <a:ln/>
        </p:spPr>
        <p:txBody>
          <a:bodyPr wrap="square" rtlCol="0" anchor="ctr"/>
          <a:lstStyle/>
          <a:p>
            <a:pPr algn="ctr" indent="0" marL="0">
              <a:buNone/>
            </a:pPr>
            <a:r>
              <a:rPr lang="en-US" sz="750" b="1" dirty="0">
                <a:solidFill>
                  <a:srgbClr val="50534D"/>
                </a:solidFill>
                <a:latin typeface="Consolas" pitchFamily="34" charset="0"/>
                <a:ea typeface="Consolas" pitchFamily="34" charset="-122"/>
                <a:cs typeface="Consolas" pitchFamily="34" charset="-120"/>
              </a:rPr>
              <a:t>FEB</a:t>
            </a:r>
            <a:endParaRPr lang="en-US" sz="750" dirty="0"/>
          </a:p>
        </p:txBody>
      </p:sp>
      <p:sp>
        <p:nvSpPr>
          <p:cNvPr id="10" name="Text 8"/>
          <p:cNvSpPr/>
          <p:nvPr/>
        </p:nvSpPr>
        <p:spPr>
          <a:xfrm>
            <a:off x="3261360" y="1490472"/>
            <a:ext cx="396240" cy="201168"/>
          </a:xfrm>
          <a:prstGeom prst="rect">
            <a:avLst/>
          </a:prstGeom>
          <a:noFill/>
          <a:ln/>
        </p:spPr>
        <p:txBody>
          <a:bodyPr wrap="square" rtlCol="0" anchor="ctr"/>
          <a:lstStyle/>
          <a:p>
            <a:pPr algn="ctr" indent="0" marL="0">
              <a:buNone/>
            </a:pPr>
            <a:r>
              <a:rPr lang="en-US" sz="750" b="1" dirty="0">
                <a:solidFill>
                  <a:srgbClr val="50534D"/>
                </a:solidFill>
                <a:latin typeface="Consolas" pitchFamily="34" charset="0"/>
                <a:ea typeface="Consolas" pitchFamily="34" charset="-122"/>
                <a:cs typeface="Consolas" pitchFamily="34" charset="-120"/>
              </a:rPr>
              <a:t>MAR</a:t>
            </a:r>
            <a:endParaRPr lang="en-US" sz="750" dirty="0"/>
          </a:p>
        </p:txBody>
      </p:sp>
      <p:sp>
        <p:nvSpPr>
          <p:cNvPr id="11" name="Text 9"/>
          <p:cNvSpPr/>
          <p:nvPr/>
        </p:nvSpPr>
        <p:spPr>
          <a:xfrm>
            <a:off x="3657600" y="1490472"/>
            <a:ext cx="396240" cy="201168"/>
          </a:xfrm>
          <a:prstGeom prst="rect">
            <a:avLst/>
          </a:prstGeom>
          <a:noFill/>
          <a:ln/>
        </p:spPr>
        <p:txBody>
          <a:bodyPr wrap="square" rtlCol="0" anchor="ctr"/>
          <a:lstStyle/>
          <a:p>
            <a:pPr algn="ctr" indent="0" marL="0">
              <a:buNone/>
            </a:pPr>
            <a:r>
              <a:rPr lang="en-US" sz="750" b="1" dirty="0">
                <a:solidFill>
                  <a:srgbClr val="50534D"/>
                </a:solidFill>
                <a:latin typeface="Consolas" pitchFamily="34" charset="0"/>
                <a:ea typeface="Consolas" pitchFamily="34" charset="-122"/>
                <a:cs typeface="Consolas" pitchFamily="34" charset="-120"/>
              </a:rPr>
              <a:t>APR</a:t>
            </a:r>
            <a:endParaRPr lang="en-US" sz="750" dirty="0"/>
          </a:p>
        </p:txBody>
      </p:sp>
      <p:sp>
        <p:nvSpPr>
          <p:cNvPr id="12" name="Text 10"/>
          <p:cNvSpPr/>
          <p:nvPr/>
        </p:nvSpPr>
        <p:spPr>
          <a:xfrm>
            <a:off x="4053840" y="1490472"/>
            <a:ext cx="396240" cy="201168"/>
          </a:xfrm>
          <a:prstGeom prst="rect">
            <a:avLst/>
          </a:prstGeom>
          <a:noFill/>
          <a:ln/>
        </p:spPr>
        <p:txBody>
          <a:bodyPr wrap="square" rtlCol="0" anchor="ctr"/>
          <a:lstStyle/>
          <a:p>
            <a:pPr algn="ctr" indent="0" marL="0">
              <a:buNone/>
            </a:pPr>
            <a:r>
              <a:rPr lang="en-US" sz="750" b="1" dirty="0">
                <a:solidFill>
                  <a:srgbClr val="50534D"/>
                </a:solidFill>
                <a:latin typeface="Consolas" pitchFamily="34" charset="0"/>
                <a:ea typeface="Consolas" pitchFamily="34" charset="-122"/>
                <a:cs typeface="Consolas" pitchFamily="34" charset="-120"/>
              </a:rPr>
              <a:t>MAY</a:t>
            </a:r>
            <a:endParaRPr lang="en-US" sz="750" dirty="0"/>
          </a:p>
        </p:txBody>
      </p:sp>
      <p:sp>
        <p:nvSpPr>
          <p:cNvPr id="13" name="Text 11"/>
          <p:cNvSpPr/>
          <p:nvPr/>
        </p:nvSpPr>
        <p:spPr>
          <a:xfrm>
            <a:off x="4450080" y="1490472"/>
            <a:ext cx="396240" cy="201168"/>
          </a:xfrm>
          <a:prstGeom prst="rect">
            <a:avLst/>
          </a:prstGeom>
          <a:noFill/>
          <a:ln/>
        </p:spPr>
        <p:txBody>
          <a:bodyPr wrap="square" rtlCol="0" anchor="ctr"/>
          <a:lstStyle/>
          <a:p>
            <a:pPr algn="ctr" indent="0" marL="0">
              <a:buNone/>
            </a:pPr>
            <a:r>
              <a:rPr lang="en-US" sz="750" b="1" dirty="0">
                <a:solidFill>
                  <a:srgbClr val="171A18"/>
                </a:solidFill>
                <a:latin typeface="Consolas" pitchFamily="34" charset="0"/>
                <a:ea typeface="Consolas" pitchFamily="34" charset="-122"/>
                <a:cs typeface="Consolas" pitchFamily="34" charset="-120"/>
              </a:rPr>
              <a:t>JUN</a:t>
            </a:r>
            <a:endParaRPr lang="en-US" sz="750" dirty="0"/>
          </a:p>
        </p:txBody>
      </p:sp>
      <p:sp>
        <p:nvSpPr>
          <p:cNvPr id="14" name="Text 12"/>
          <p:cNvSpPr/>
          <p:nvPr/>
        </p:nvSpPr>
        <p:spPr>
          <a:xfrm>
            <a:off x="4846320" y="1490472"/>
            <a:ext cx="396240" cy="201168"/>
          </a:xfrm>
          <a:prstGeom prst="rect">
            <a:avLst/>
          </a:prstGeom>
          <a:noFill/>
          <a:ln/>
        </p:spPr>
        <p:txBody>
          <a:bodyPr wrap="square" rtlCol="0" anchor="ctr"/>
          <a:lstStyle/>
          <a:p>
            <a:pPr algn="ctr" indent="0" marL="0">
              <a:buNone/>
            </a:pPr>
            <a:r>
              <a:rPr lang="en-US" sz="750" b="1" dirty="0">
                <a:solidFill>
                  <a:srgbClr val="171A18"/>
                </a:solidFill>
                <a:latin typeface="Consolas" pitchFamily="34" charset="0"/>
                <a:ea typeface="Consolas" pitchFamily="34" charset="-122"/>
                <a:cs typeface="Consolas" pitchFamily="34" charset="-120"/>
              </a:rPr>
              <a:t>JUL</a:t>
            </a:r>
            <a:endParaRPr lang="en-US" sz="750" dirty="0"/>
          </a:p>
        </p:txBody>
      </p:sp>
      <p:sp>
        <p:nvSpPr>
          <p:cNvPr id="15" name="Text 13"/>
          <p:cNvSpPr/>
          <p:nvPr/>
        </p:nvSpPr>
        <p:spPr>
          <a:xfrm>
            <a:off x="5242560" y="1490472"/>
            <a:ext cx="396240" cy="201168"/>
          </a:xfrm>
          <a:prstGeom prst="rect">
            <a:avLst/>
          </a:prstGeom>
          <a:noFill/>
          <a:ln/>
        </p:spPr>
        <p:txBody>
          <a:bodyPr wrap="square" rtlCol="0" anchor="ctr"/>
          <a:lstStyle/>
          <a:p>
            <a:pPr algn="ctr" indent="0" marL="0">
              <a:buNone/>
            </a:pPr>
            <a:r>
              <a:rPr lang="en-US" sz="750" b="1" dirty="0">
                <a:solidFill>
                  <a:srgbClr val="171A18"/>
                </a:solidFill>
                <a:latin typeface="Consolas" pitchFamily="34" charset="0"/>
                <a:ea typeface="Consolas" pitchFamily="34" charset="-122"/>
                <a:cs typeface="Consolas" pitchFamily="34" charset="-120"/>
              </a:rPr>
              <a:t>AUG</a:t>
            </a:r>
            <a:endParaRPr lang="en-US" sz="750" dirty="0"/>
          </a:p>
        </p:txBody>
      </p:sp>
      <p:sp>
        <p:nvSpPr>
          <p:cNvPr id="16" name="Text 14"/>
          <p:cNvSpPr/>
          <p:nvPr/>
        </p:nvSpPr>
        <p:spPr>
          <a:xfrm>
            <a:off x="5638800" y="1490472"/>
            <a:ext cx="396240" cy="201168"/>
          </a:xfrm>
          <a:prstGeom prst="rect">
            <a:avLst/>
          </a:prstGeom>
          <a:noFill/>
          <a:ln/>
        </p:spPr>
        <p:txBody>
          <a:bodyPr wrap="square" rtlCol="0" anchor="ctr"/>
          <a:lstStyle/>
          <a:p>
            <a:pPr algn="ctr" indent="0" marL="0">
              <a:buNone/>
            </a:pPr>
            <a:r>
              <a:rPr lang="en-US" sz="750" b="1" dirty="0">
                <a:solidFill>
                  <a:srgbClr val="171A18"/>
                </a:solidFill>
                <a:latin typeface="Consolas" pitchFamily="34" charset="0"/>
                <a:ea typeface="Consolas" pitchFamily="34" charset="-122"/>
                <a:cs typeface="Consolas" pitchFamily="34" charset="-120"/>
              </a:rPr>
              <a:t>SEP</a:t>
            </a:r>
            <a:endParaRPr lang="en-US" sz="750" dirty="0"/>
          </a:p>
        </p:txBody>
      </p:sp>
      <p:sp>
        <p:nvSpPr>
          <p:cNvPr id="17" name="Text 15"/>
          <p:cNvSpPr/>
          <p:nvPr/>
        </p:nvSpPr>
        <p:spPr>
          <a:xfrm>
            <a:off x="6035040" y="1490472"/>
            <a:ext cx="396240" cy="201168"/>
          </a:xfrm>
          <a:prstGeom prst="rect">
            <a:avLst/>
          </a:prstGeom>
          <a:noFill/>
          <a:ln/>
        </p:spPr>
        <p:txBody>
          <a:bodyPr wrap="square" rtlCol="0" anchor="ctr"/>
          <a:lstStyle/>
          <a:p>
            <a:pPr algn="ctr" indent="0" marL="0">
              <a:buNone/>
            </a:pPr>
            <a:r>
              <a:rPr lang="en-US" sz="750" b="1" dirty="0">
                <a:solidFill>
                  <a:srgbClr val="50534D"/>
                </a:solidFill>
                <a:latin typeface="Consolas" pitchFamily="34" charset="0"/>
                <a:ea typeface="Consolas" pitchFamily="34" charset="-122"/>
                <a:cs typeface="Consolas" pitchFamily="34" charset="-120"/>
              </a:rPr>
              <a:t>OCT</a:t>
            </a:r>
            <a:endParaRPr lang="en-US" sz="750" dirty="0"/>
          </a:p>
        </p:txBody>
      </p:sp>
      <p:sp>
        <p:nvSpPr>
          <p:cNvPr id="18" name="Text 16"/>
          <p:cNvSpPr/>
          <p:nvPr/>
        </p:nvSpPr>
        <p:spPr>
          <a:xfrm>
            <a:off x="6431280" y="1490472"/>
            <a:ext cx="396240" cy="201168"/>
          </a:xfrm>
          <a:prstGeom prst="rect">
            <a:avLst/>
          </a:prstGeom>
          <a:noFill/>
          <a:ln/>
        </p:spPr>
        <p:txBody>
          <a:bodyPr wrap="square" rtlCol="0" anchor="ctr"/>
          <a:lstStyle/>
          <a:p>
            <a:pPr algn="ctr" indent="0" marL="0">
              <a:buNone/>
            </a:pPr>
            <a:r>
              <a:rPr lang="en-US" sz="750" b="1" dirty="0">
                <a:solidFill>
                  <a:srgbClr val="50534D"/>
                </a:solidFill>
                <a:latin typeface="Consolas" pitchFamily="34" charset="0"/>
                <a:ea typeface="Consolas" pitchFamily="34" charset="-122"/>
                <a:cs typeface="Consolas" pitchFamily="34" charset="-120"/>
              </a:rPr>
              <a:t>NOV</a:t>
            </a:r>
            <a:endParaRPr lang="en-US" sz="750" dirty="0"/>
          </a:p>
        </p:txBody>
      </p:sp>
      <p:sp>
        <p:nvSpPr>
          <p:cNvPr id="19" name="Text 17"/>
          <p:cNvSpPr/>
          <p:nvPr/>
        </p:nvSpPr>
        <p:spPr>
          <a:xfrm>
            <a:off x="6827520" y="1490472"/>
            <a:ext cx="396240" cy="201168"/>
          </a:xfrm>
          <a:prstGeom prst="rect">
            <a:avLst/>
          </a:prstGeom>
          <a:noFill/>
          <a:ln/>
        </p:spPr>
        <p:txBody>
          <a:bodyPr wrap="square" rtlCol="0" anchor="ctr"/>
          <a:lstStyle/>
          <a:p>
            <a:pPr algn="ctr" indent="0" marL="0">
              <a:buNone/>
            </a:pPr>
            <a:r>
              <a:rPr lang="en-US" sz="750" b="1" dirty="0">
                <a:solidFill>
                  <a:srgbClr val="50534D"/>
                </a:solidFill>
                <a:latin typeface="Consolas" pitchFamily="34" charset="0"/>
                <a:ea typeface="Consolas" pitchFamily="34" charset="-122"/>
                <a:cs typeface="Consolas" pitchFamily="34" charset="-120"/>
              </a:rPr>
              <a:t>DEC</a:t>
            </a:r>
            <a:endParaRPr lang="en-US" sz="750" dirty="0"/>
          </a:p>
        </p:txBody>
      </p:sp>
      <p:sp>
        <p:nvSpPr>
          <p:cNvPr id="20" name="Text 18"/>
          <p:cNvSpPr/>
          <p:nvPr/>
        </p:nvSpPr>
        <p:spPr>
          <a:xfrm>
            <a:off x="7223760" y="1490472"/>
            <a:ext cx="1188720" cy="201168"/>
          </a:xfrm>
          <a:prstGeom prst="rect">
            <a:avLst/>
          </a:prstGeom>
          <a:noFill/>
          <a:ln/>
        </p:spPr>
        <p:txBody>
          <a:bodyPr wrap="square" rtlCol="0" anchor="ctr"/>
          <a:lstStyle/>
          <a:p>
            <a:pPr algn="r" indent="0" marL="0">
              <a:buNone/>
            </a:pPr>
            <a:r>
              <a:rPr lang="en-US" sz="700" b="1" dirty="0">
                <a:solidFill>
                  <a:srgbClr val="50534D"/>
                </a:solidFill>
                <a:latin typeface="Consolas" pitchFamily="34" charset="0"/>
                <a:ea typeface="Consolas" pitchFamily="34" charset="-122"/>
                <a:cs typeface="Consolas" pitchFamily="34" charset="-120"/>
              </a:rPr>
              <a:t>PEAK WINDOW / CR3</a:t>
            </a:r>
            <a:endParaRPr lang="en-US" sz="700" dirty="0"/>
          </a:p>
        </p:txBody>
      </p:sp>
      <p:sp>
        <p:nvSpPr>
          <p:cNvPr id="21" name="Shape 19"/>
          <p:cNvSpPr/>
          <p:nvPr/>
        </p:nvSpPr>
        <p:spPr>
          <a:xfrm>
            <a:off x="731520" y="1691640"/>
            <a:ext cx="7680960" cy="0"/>
          </a:xfrm>
          <a:prstGeom prst="line">
            <a:avLst/>
          </a:prstGeom>
          <a:noFill/>
          <a:ln w="6350">
            <a:solidFill>
              <a:srgbClr val="D8CFBC"/>
            </a:solidFill>
            <a:prstDash val="solid"/>
          </a:ln>
        </p:spPr>
      </p:sp>
      <p:sp>
        <p:nvSpPr>
          <p:cNvPr id="22" name="Text 20"/>
          <p:cNvSpPr/>
          <p:nvPr/>
        </p:nvSpPr>
        <p:spPr>
          <a:xfrm>
            <a:off x="731520" y="1764792"/>
            <a:ext cx="1645920" cy="237744"/>
          </a:xfrm>
          <a:prstGeom prst="rect">
            <a:avLst/>
          </a:prstGeom>
          <a:noFill/>
          <a:ln/>
        </p:spPr>
        <p:txBody>
          <a:bodyPr wrap="square" rtlCol="0" anchor="ctr"/>
          <a:lstStyle/>
          <a:p>
            <a:pPr indent="0" marL="0">
              <a:buNone/>
            </a:pPr>
            <a:r>
              <a:rPr lang="en-US" sz="1100" b="1" dirty="0">
                <a:solidFill>
                  <a:srgbClr val="171A18"/>
                </a:solidFill>
                <a:latin typeface="Georgia" pitchFamily="34" charset="0"/>
                <a:ea typeface="Georgia" pitchFamily="34" charset="-122"/>
                <a:cs typeface="Georgia" pitchFamily="34" charset="-120"/>
              </a:rPr>
              <a:t>Dengue</a:t>
            </a:r>
            <a:endParaRPr lang="en-US" sz="1100" dirty="0"/>
          </a:p>
        </p:txBody>
      </p:sp>
      <p:sp>
        <p:nvSpPr>
          <p:cNvPr id="23" name="Text 21"/>
          <p:cNvSpPr/>
          <p:nvPr/>
        </p:nvSpPr>
        <p:spPr>
          <a:xfrm>
            <a:off x="731520" y="1984248"/>
            <a:ext cx="1645920" cy="182880"/>
          </a:xfrm>
          <a:prstGeom prst="rect">
            <a:avLst/>
          </a:prstGeom>
          <a:noFill/>
          <a:ln/>
        </p:spPr>
        <p:txBody>
          <a:bodyPr wrap="square" rtlCol="0" anchor="ctr"/>
          <a:lstStyle/>
          <a:p>
            <a:pPr indent="0" marL="0">
              <a:buNone/>
            </a:pPr>
            <a:r>
              <a:rPr lang="en-US" sz="650" dirty="0">
                <a:solidFill>
                  <a:srgbClr val="50534D"/>
                </a:solidFill>
                <a:latin typeface="Consolas" pitchFamily="34" charset="0"/>
                <a:ea typeface="Consolas" pitchFamily="34" charset="-122"/>
                <a:cs typeface="Consolas" pitchFamily="34" charset="-120"/>
              </a:rPr>
              <a:t>204 OUTBREAKS | 3,144 CASES</a:t>
            </a:r>
            <a:endParaRPr lang="en-US" sz="650" dirty="0"/>
          </a:p>
        </p:txBody>
      </p:sp>
      <p:sp>
        <p:nvSpPr>
          <p:cNvPr id="24" name="Shape 22"/>
          <p:cNvSpPr/>
          <p:nvPr/>
        </p:nvSpPr>
        <p:spPr>
          <a:xfrm>
            <a:off x="2538222" y="2093976"/>
            <a:ext cx="257556" cy="73152"/>
          </a:xfrm>
          <a:prstGeom prst="rect">
            <a:avLst/>
          </a:prstGeom>
          <a:solidFill>
            <a:srgbClr val="174A4A"/>
          </a:solidFill>
          <a:ln/>
        </p:spPr>
      </p:sp>
      <p:sp>
        <p:nvSpPr>
          <p:cNvPr id="25" name="Text 23"/>
          <p:cNvSpPr/>
          <p:nvPr/>
        </p:nvSpPr>
        <p:spPr>
          <a:xfrm>
            <a:off x="2468880" y="1929384"/>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4</a:t>
            </a:r>
            <a:endParaRPr lang="en-US" sz="650" dirty="0"/>
          </a:p>
        </p:txBody>
      </p:sp>
      <p:sp>
        <p:nvSpPr>
          <p:cNvPr id="26" name="Shape 24"/>
          <p:cNvSpPr/>
          <p:nvPr/>
        </p:nvSpPr>
        <p:spPr>
          <a:xfrm>
            <a:off x="2934462" y="2093976"/>
            <a:ext cx="257556" cy="73152"/>
          </a:xfrm>
          <a:prstGeom prst="rect">
            <a:avLst/>
          </a:prstGeom>
          <a:solidFill>
            <a:srgbClr val="174A4A"/>
          </a:solidFill>
          <a:ln/>
        </p:spPr>
      </p:sp>
      <p:sp>
        <p:nvSpPr>
          <p:cNvPr id="27" name="Text 25"/>
          <p:cNvSpPr/>
          <p:nvPr/>
        </p:nvSpPr>
        <p:spPr>
          <a:xfrm>
            <a:off x="2865120" y="1929384"/>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2</a:t>
            </a:r>
            <a:endParaRPr lang="en-US" sz="650" dirty="0"/>
          </a:p>
        </p:txBody>
      </p:sp>
      <p:sp>
        <p:nvSpPr>
          <p:cNvPr id="28" name="Shape 26"/>
          <p:cNvSpPr/>
          <p:nvPr/>
        </p:nvSpPr>
        <p:spPr>
          <a:xfrm>
            <a:off x="3330702" y="2093976"/>
            <a:ext cx="257556" cy="73152"/>
          </a:xfrm>
          <a:prstGeom prst="rect">
            <a:avLst/>
          </a:prstGeom>
          <a:solidFill>
            <a:srgbClr val="174A4A"/>
          </a:solidFill>
          <a:ln/>
        </p:spPr>
      </p:sp>
      <p:sp>
        <p:nvSpPr>
          <p:cNvPr id="29" name="Text 27"/>
          <p:cNvSpPr/>
          <p:nvPr/>
        </p:nvSpPr>
        <p:spPr>
          <a:xfrm>
            <a:off x="3261360" y="1929384"/>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5</a:t>
            </a:r>
            <a:endParaRPr lang="en-US" sz="650" dirty="0"/>
          </a:p>
        </p:txBody>
      </p:sp>
      <p:sp>
        <p:nvSpPr>
          <p:cNvPr id="30" name="Shape 28"/>
          <p:cNvSpPr/>
          <p:nvPr/>
        </p:nvSpPr>
        <p:spPr>
          <a:xfrm>
            <a:off x="3726942" y="2068373"/>
            <a:ext cx="257556" cy="98755"/>
          </a:xfrm>
          <a:prstGeom prst="rect">
            <a:avLst/>
          </a:prstGeom>
          <a:solidFill>
            <a:srgbClr val="174A4A"/>
          </a:solidFill>
          <a:ln/>
        </p:spPr>
      </p:sp>
      <p:sp>
        <p:nvSpPr>
          <p:cNvPr id="31" name="Text 29"/>
          <p:cNvSpPr/>
          <p:nvPr/>
        </p:nvSpPr>
        <p:spPr>
          <a:xfrm>
            <a:off x="3657600" y="1903781"/>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12</a:t>
            </a:r>
            <a:endParaRPr lang="en-US" sz="650" dirty="0"/>
          </a:p>
        </p:txBody>
      </p:sp>
      <p:sp>
        <p:nvSpPr>
          <p:cNvPr id="32" name="Shape 30"/>
          <p:cNvSpPr/>
          <p:nvPr/>
        </p:nvSpPr>
        <p:spPr>
          <a:xfrm>
            <a:off x="4123182" y="2043684"/>
            <a:ext cx="257556" cy="123444"/>
          </a:xfrm>
          <a:prstGeom prst="rect">
            <a:avLst/>
          </a:prstGeom>
          <a:solidFill>
            <a:srgbClr val="174A4A"/>
          </a:solidFill>
          <a:ln/>
        </p:spPr>
      </p:sp>
      <p:sp>
        <p:nvSpPr>
          <p:cNvPr id="33" name="Text 31"/>
          <p:cNvSpPr/>
          <p:nvPr/>
        </p:nvSpPr>
        <p:spPr>
          <a:xfrm>
            <a:off x="4053840" y="187909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15</a:t>
            </a:r>
            <a:endParaRPr lang="en-US" sz="650" dirty="0"/>
          </a:p>
        </p:txBody>
      </p:sp>
      <p:sp>
        <p:nvSpPr>
          <p:cNvPr id="34" name="Shape 32"/>
          <p:cNvSpPr/>
          <p:nvPr/>
        </p:nvSpPr>
        <p:spPr>
          <a:xfrm>
            <a:off x="4519422" y="1944929"/>
            <a:ext cx="257556" cy="222199"/>
          </a:xfrm>
          <a:prstGeom prst="rect">
            <a:avLst/>
          </a:prstGeom>
          <a:solidFill>
            <a:srgbClr val="174A4A"/>
          </a:solidFill>
          <a:ln/>
        </p:spPr>
      </p:sp>
      <p:sp>
        <p:nvSpPr>
          <p:cNvPr id="35" name="Text 33"/>
          <p:cNvSpPr/>
          <p:nvPr/>
        </p:nvSpPr>
        <p:spPr>
          <a:xfrm>
            <a:off x="4450080" y="1780337"/>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27</a:t>
            </a:r>
            <a:endParaRPr lang="en-US" sz="650" dirty="0"/>
          </a:p>
        </p:txBody>
      </p:sp>
      <p:sp>
        <p:nvSpPr>
          <p:cNvPr id="36" name="Shape 34"/>
          <p:cNvSpPr/>
          <p:nvPr/>
        </p:nvSpPr>
        <p:spPr>
          <a:xfrm>
            <a:off x="4915662" y="1953158"/>
            <a:ext cx="257556" cy="213970"/>
          </a:xfrm>
          <a:prstGeom prst="rect">
            <a:avLst/>
          </a:prstGeom>
          <a:solidFill>
            <a:srgbClr val="174A4A"/>
          </a:solidFill>
          <a:ln/>
        </p:spPr>
      </p:sp>
      <p:sp>
        <p:nvSpPr>
          <p:cNvPr id="37" name="Text 35"/>
          <p:cNvSpPr/>
          <p:nvPr/>
        </p:nvSpPr>
        <p:spPr>
          <a:xfrm>
            <a:off x="4846320" y="1788566"/>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26</a:t>
            </a:r>
            <a:endParaRPr lang="en-US" sz="650" dirty="0"/>
          </a:p>
        </p:txBody>
      </p:sp>
      <p:sp>
        <p:nvSpPr>
          <p:cNvPr id="38" name="Shape 36"/>
          <p:cNvSpPr/>
          <p:nvPr/>
        </p:nvSpPr>
        <p:spPr>
          <a:xfrm>
            <a:off x="5311902" y="2002536"/>
            <a:ext cx="257556" cy="164592"/>
          </a:xfrm>
          <a:prstGeom prst="rect">
            <a:avLst/>
          </a:prstGeom>
          <a:solidFill>
            <a:srgbClr val="174A4A"/>
          </a:solidFill>
          <a:ln/>
        </p:spPr>
      </p:sp>
      <p:sp>
        <p:nvSpPr>
          <p:cNvPr id="39" name="Text 37"/>
          <p:cNvSpPr/>
          <p:nvPr/>
        </p:nvSpPr>
        <p:spPr>
          <a:xfrm>
            <a:off x="5242560" y="1837944"/>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20</a:t>
            </a:r>
            <a:endParaRPr lang="en-US" sz="650" dirty="0"/>
          </a:p>
        </p:txBody>
      </p:sp>
      <p:sp>
        <p:nvSpPr>
          <p:cNvPr id="40" name="Shape 38"/>
          <p:cNvSpPr/>
          <p:nvPr/>
        </p:nvSpPr>
        <p:spPr>
          <a:xfrm>
            <a:off x="5708142" y="1870862"/>
            <a:ext cx="257556" cy="296266"/>
          </a:xfrm>
          <a:prstGeom prst="rect">
            <a:avLst/>
          </a:prstGeom>
          <a:solidFill>
            <a:srgbClr val="C84B2F"/>
          </a:solidFill>
          <a:ln/>
        </p:spPr>
      </p:sp>
      <p:sp>
        <p:nvSpPr>
          <p:cNvPr id="41" name="Text 39"/>
          <p:cNvSpPr/>
          <p:nvPr/>
        </p:nvSpPr>
        <p:spPr>
          <a:xfrm>
            <a:off x="5638800" y="1706270"/>
            <a:ext cx="396240" cy="164592"/>
          </a:xfrm>
          <a:prstGeom prst="rect">
            <a:avLst/>
          </a:prstGeom>
          <a:noFill/>
          <a:ln/>
        </p:spPr>
        <p:txBody>
          <a:bodyPr wrap="square" rtlCol="0" anchor="ctr"/>
          <a:lstStyle/>
          <a:p>
            <a:pPr algn="ctr" indent="0" marL="0">
              <a:buNone/>
            </a:pPr>
            <a:r>
              <a:rPr lang="en-US" sz="750" b="1" dirty="0">
                <a:solidFill>
                  <a:srgbClr val="C84B2F"/>
                </a:solidFill>
                <a:latin typeface="Consolas" pitchFamily="34" charset="0"/>
                <a:ea typeface="Consolas" pitchFamily="34" charset="-122"/>
                <a:cs typeface="Consolas" pitchFamily="34" charset="-120"/>
              </a:rPr>
              <a:t>36</a:t>
            </a:r>
            <a:endParaRPr lang="en-US" sz="750" dirty="0"/>
          </a:p>
        </p:txBody>
      </p:sp>
      <p:sp>
        <p:nvSpPr>
          <p:cNvPr id="42" name="Shape 40"/>
          <p:cNvSpPr/>
          <p:nvPr/>
        </p:nvSpPr>
        <p:spPr>
          <a:xfrm>
            <a:off x="6104382" y="1837944"/>
            <a:ext cx="257556" cy="329184"/>
          </a:xfrm>
          <a:prstGeom prst="rect">
            <a:avLst/>
          </a:prstGeom>
          <a:solidFill>
            <a:srgbClr val="C84B2F"/>
          </a:solidFill>
          <a:ln/>
        </p:spPr>
      </p:sp>
      <p:sp>
        <p:nvSpPr>
          <p:cNvPr id="43" name="Text 41"/>
          <p:cNvSpPr/>
          <p:nvPr/>
        </p:nvSpPr>
        <p:spPr>
          <a:xfrm>
            <a:off x="6035040" y="1673352"/>
            <a:ext cx="396240" cy="164592"/>
          </a:xfrm>
          <a:prstGeom prst="rect">
            <a:avLst/>
          </a:prstGeom>
          <a:noFill/>
          <a:ln/>
        </p:spPr>
        <p:txBody>
          <a:bodyPr wrap="square" rtlCol="0" anchor="ctr"/>
          <a:lstStyle/>
          <a:p>
            <a:pPr algn="ctr" indent="0" marL="0">
              <a:buNone/>
            </a:pPr>
            <a:r>
              <a:rPr lang="en-US" sz="750" b="1" dirty="0">
                <a:solidFill>
                  <a:srgbClr val="C84B2F"/>
                </a:solidFill>
                <a:latin typeface="Consolas" pitchFamily="34" charset="0"/>
                <a:ea typeface="Consolas" pitchFamily="34" charset="-122"/>
                <a:cs typeface="Consolas" pitchFamily="34" charset="-120"/>
              </a:rPr>
              <a:t>40</a:t>
            </a:r>
            <a:endParaRPr lang="en-US" sz="750" dirty="0"/>
          </a:p>
        </p:txBody>
      </p:sp>
      <p:sp>
        <p:nvSpPr>
          <p:cNvPr id="44" name="Shape 42"/>
          <p:cNvSpPr/>
          <p:nvPr/>
        </p:nvSpPr>
        <p:spPr>
          <a:xfrm>
            <a:off x="6500622" y="2043684"/>
            <a:ext cx="257556" cy="123444"/>
          </a:xfrm>
          <a:prstGeom prst="rect">
            <a:avLst/>
          </a:prstGeom>
          <a:solidFill>
            <a:srgbClr val="174A4A"/>
          </a:solidFill>
          <a:ln/>
        </p:spPr>
      </p:sp>
      <p:sp>
        <p:nvSpPr>
          <p:cNvPr id="45" name="Text 43"/>
          <p:cNvSpPr/>
          <p:nvPr/>
        </p:nvSpPr>
        <p:spPr>
          <a:xfrm>
            <a:off x="6431280" y="187909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15</a:t>
            </a:r>
            <a:endParaRPr lang="en-US" sz="650" dirty="0"/>
          </a:p>
        </p:txBody>
      </p:sp>
      <p:sp>
        <p:nvSpPr>
          <p:cNvPr id="46" name="Shape 44"/>
          <p:cNvSpPr/>
          <p:nvPr/>
        </p:nvSpPr>
        <p:spPr>
          <a:xfrm>
            <a:off x="6896862" y="2093976"/>
            <a:ext cx="257556" cy="73152"/>
          </a:xfrm>
          <a:prstGeom prst="rect">
            <a:avLst/>
          </a:prstGeom>
          <a:solidFill>
            <a:srgbClr val="174A4A"/>
          </a:solidFill>
          <a:ln/>
        </p:spPr>
      </p:sp>
      <p:sp>
        <p:nvSpPr>
          <p:cNvPr id="47" name="Text 45"/>
          <p:cNvSpPr/>
          <p:nvPr/>
        </p:nvSpPr>
        <p:spPr>
          <a:xfrm>
            <a:off x="6827520" y="1929384"/>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2</a:t>
            </a:r>
            <a:endParaRPr lang="en-US" sz="650" dirty="0"/>
          </a:p>
        </p:txBody>
      </p:sp>
      <p:sp>
        <p:nvSpPr>
          <p:cNvPr id="48" name="Text 46"/>
          <p:cNvSpPr/>
          <p:nvPr/>
        </p:nvSpPr>
        <p:spPr>
          <a:xfrm>
            <a:off x="7223760" y="1764792"/>
            <a:ext cx="1188720" cy="219456"/>
          </a:xfrm>
          <a:prstGeom prst="rect">
            <a:avLst/>
          </a:prstGeom>
          <a:noFill/>
          <a:ln/>
        </p:spPr>
        <p:txBody>
          <a:bodyPr wrap="square" rtlCol="0" anchor="ctr"/>
          <a:lstStyle/>
          <a:p>
            <a:pPr algn="r" indent="0" marL="0">
              <a:buNone/>
            </a:pPr>
            <a:r>
              <a:rPr lang="en-US" sz="950" b="1" dirty="0">
                <a:solidFill>
                  <a:srgbClr val="171A18"/>
                </a:solidFill>
                <a:latin typeface="Calibri" pitchFamily="34" charset="0"/>
                <a:ea typeface="Calibri" pitchFamily="34" charset="-122"/>
                <a:cs typeface="Calibri" pitchFamily="34" charset="-120"/>
              </a:rPr>
              <a:t>June–October</a:t>
            </a:r>
            <a:endParaRPr lang="en-US" sz="950" dirty="0"/>
          </a:p>
        </p:txBody>
      </p:sp>
      <p:sp>
        <p:nvSpPr>
          <p:cNvPr id="49" name="Text 47"/>
          <p:cNvSpPr/>
          <p:nvPr/>
        </p:nvSpPr>
        <p:spPr>
          <a:xfrm>
            <a:off x="7223760" y="1984248"/>
            <a:ext cx="1188720" cy="182880"/>
          </a:xfrm>
          <a:prstGeom prst="rect">
            <a:avLst/>
          </a:prstGeom>
          <a:noFill/>
          <a:ln/>
        </p:spPr>
        <p:txBody>
          <a:bodyPr wrap="square" rtlCol="0" anchor="ctr"/>
          <a:lstStyle/>
          <a:p>
            <a:pPr algn="r" indent="0" marL="0">
              <a:buNone/>
            </a:pPr>
            <a:r>
              <a:rPr lang="en-US" sz="700" b="1" dirty="0">
                <a:solidFill>
                  <a:srgbClr val="C84B2F"/>
                </a:solidFill>
                <a:latin typeface="Consolas" pitchFamily="34" charset="0"/>
                <a:ea typeface="Consolas" pitchFamily="34" charset="-122"/>
                <a:cs typeface="Consolas" pitchFamily="34" charset="-120"/>
              </a:rPr>
              <a:t>CR3: 50.5% (Aug–Oct)</a:t>
            </a:r>
            <a:endParaRPr lang="en-US" sz="700" dirty="0"/>
          </a:p>
        </p:txBody>
      </p:sp>
      <p:sp>
        <p:nvSpPr>
          <p:cNvPr id="50" name="Shape 48"/>
          <p:cNvSpPr/>
          <p:nvPr/>
        </p:nvSpPr>
        <p:spPr>
          <a:xfrm>
            <a:off x="731520" y="2221992"/>
            <a:ext cx="7680960" cy="0"/>
          </a:xfrm>
          <a:prstGeom prst="line">
            <a:avLst/>
          </a:prstGeom>
          <a:noFill/>
          <a:ln w="6350">
            <a:solidFill>
              <a:srgbClr val="D8CFBC"/>
            </a:solidFill>
            <a:prstDash val="solid"/>
          </a:ln>
        </p:spPr>
      </p:sp>
      <p:sp>
        <p:nvSpPr>
          <p:cNvPr id="51" name="Text 49"/>
          <p:cNvSpPr/>
          <p:nvPr/>
        </p:nvSpPr>
        <p:spPr>
          <a:xfrm>
            <a:off x="731520" y="2295144"/>
            <a:ext cx="1645920" cy="237744"/>
          </a:xfrm>
          <a:prstGeom prst="rect">
            <a:avLst/>
          </a:prstGeom>
          <a:noFill/>
          <a:ln/>
        </p:spPr>
        <p:txBody>
          <a:bodyPr wrap="square" rtlCol="0" anchor="ctr"/>
          <a:lstStyle/>
          <a:p>
            <a:pPr indent="0" marL="0">
              <a:buNone/>
            </a:pPr>
            <a:r>
              <a:rPr lang="en-US" sz="1100" b="1" dirty="0">
                <a:solidFill>
                  <a:srgbClr val="171A18"/>
                </a:solidFill>
                <a:latin typeface="Georgia" pitchFamily="34" charset="0"/>
                <a:ea typeface="Georgia" pitchFamily="34" charset="-122"/>
                <a:cs typeface="Georgia" pitchFamily="34" charset="-120"/>
              </a:rPr>
              <a:t>Acute Diarrheal Disease</a:t>
            </a:r>
            <a:endParaRPr lang="en-US" sz="1100" dirty="0"/>
          </a:p>
        </p:txBody>
      </p:sp>
      <p:sp>
        <p:nvSpPr>
          <p:cNvPr id="52" name="Text 50"/>
          <p:cNvSpPr/>
          <p:nvPr/>
        </p:nvSpPr>
        <p:spPr>
          <a:xfrm>
            <a:off x="731520" y="2514600"/>
            <a:ext cx="1645920" cy="182880"/>
          </a:xfrm>
          <a:prstGeom prst="rect">
            <a:avLst/>
          </a:prstGeom>
          <a:noFill/>
          <a:ln/>
        </p:spPr>
        <p:txBody>
          <a:bodyPr wrap="square" rtlCol="0" anchor="ctr"/>
          <a:lstStyle/>
          <a:p>
            <a:pPr indent="0" marL="0">
              <a:buNone/>
            </a:pPr>
            <a:r>
              <a:rPr lang="en-US" sz="650" dirty="0">
                <a:solidFill>
                  <a:srgbClr val="50534D"/>
                </a:solidFill>
                <a:latin typeface="Consolas" pitchFamily="34" charset="0"/>
                <a:ea typeface="Consolas" pitchFamily="34" charset="-122"/>
                <a:cs typeface="Consolas" pitchFamily="34" charset="-120"/>
              </a:rPr>
              <a:t>153 OUTBREAKS | 9,050 CASES</a:t>
            </a:r>
            <a:endParaRPr lang="en-US" sz="650" dirty="0"/>
          </a:p>
        </p:txBody>
      </p:sp>
      <p:sp>
        <p:nvSpPr>
          <p:cNvPr id="53" name="Shape 51"/>
          <p:cNvSpPr/>
          <p:nvPr/>
        </p:nvSpPr>
        <p:spPr>
          <a:xfrm>
            <a:off x="2538222" y="2624328"/>
            <a:ext cx="257556" cy="73152"/>
          </a:xfrm>
          <a:prstGeom prst="rect">
            <a:avLst/>
          </a:prstGeom>
          <a:solidFill>
            <a:srgbClr val="174A4A"/>
          </a:solidFill>
          <a:ln/>
        </p:spPr>
      </p:sp>
      <p:sp>
        <p:nvSpPr>
          <p:cNvPr id="54" name="Text 52"/>
          <p:cNvSpPr/>
          <p:nvPr/>
        </p:nvSpPr>
        <p:spPr>
          <a:xfrm>
            <a:off x="2468880" y="2459736"/>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3</a:t>
            </a:r>
            <a:endParaRPr lang="en-US" sz="650" dirty="0"/>
          </a:p>
        </p:txBody>
      </p:sp>
      <p:sp>
        <p:nvSpPr>
          <p:cNvPr id="55" name="Shape 53"/>
          <p:cNvSpPr/>
          <p:nvPr/>
        </p:nvSpPr>
        <p:spPr>
          <a:xfrm>
            <a:off x="2934462" y="2623414"/>
            <a:ext cx="257556" cy="74066"/>
          </a:xfrm>
          <a:prstGeom prst="rect">
            <a:avLst/>
          </a:prstGeom>
          <a:solidFill>
            <a:srgbClr val="174A4A"/>
          </a:solidFill>
          <a:ln/>
        </p:spPr>
      </p:sp>
      <p:sp>
        <p:nvSpPr>
          <p:cNvPr id="56" name="Text 54"/>
          <p:cNvSpPr/>
          <p:nvPr/>
        </p:nvSpPr>
        <p:spPr>
          <a:xfrm>
            <a:off x="2865120" y="245882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9</a:t>
            </a:r>
            <a:endParaRPr lang="en-US" sz="650" dirty="0"/>
          </a:p>
        </p:txBody>
      </p:sp>
      <p:sp>
        <p:nvSpPr>
          <p:cNvPr id="57" name="Shape 55"/>
          <p:cNvSpPr/>
          <p:nvPr/>
        </p:nvSpPr>
        <p:spPr>
          <a:xfrm>
            <a:off x="3330702" y="2582266"/>
            <a:ext cx="257556" cy="115214"/>
          </a:xfrm>
          <a:prstGeom prst="rect">
            <a:avLst/>
          </a:prstGeom>
          <a:solidFill>
            <a:srgbClr val="174A4A"/>
          </a:solidFill>
          <a:ln/>
        </p:spPr>
      </p:sp>
      <p:sp>
        <p:nvSpPr>
          <p:cNvPr id="58" name="Text 56"/>
          <p:cNvSpPr/>
          <p:nvPr/>
        </p:nvSpPr>
        <p:spPr>
          <a:xfrm>
            <a:off x="3261360" y="2417674"/>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14</a:t>
            </a:r>
            <a:endParaRPr lang="en-US" sz="650" dirty="0"/>
          </a:p>
        </p:txBody>
      </p:sp>
      <p:sp>
        <p:nvSpPr>
          <p:cNvPr id="59" name="Shape 57"/>
          <p:cNvSpPr/>
          <p:nvPr/>
        </p:nvSpPr>
        <p:spPr>
          <a:xfrm>
            <a:off x="3726942" y="2624328"/>
            <a:ext cx="257556" cy="73152"/>
          </a:xfrm>
          <a:prstGeom prst="rect">
            <a:avLst/>
          </a:prstGeom>
          <a:solidFill>
            <a:srgbClr val="174A4A"/>
          </a:solidFill>
          <a:ln/>
        </p:spPr>
      </p:sp>
      <p:sp>
        <p:nvSpPr>
          <p:cNvPr id="60" name="Text 58"/>
          <p:cNvSpPr/>
          <p:nvPr/>
        </p:nvSpPr>
        <p:spPr>
          <a:xfrm>
            <a:off x="3657600" y="2459736"/>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6</a:t>
            </a:r>
            <a:endParaRPr lang="en-US" sz="650" dirty="0"/>
          </a:p>
        </p:txBody>
      </p:sp>
      <p:sp>
        <p:nvSpPr>
          <p:cNvPr id="61" name="Shape 59"/>
          <p:cNvSpPr/>
          <p:nvPr/>
        </p:nvSpPr>
        <p:spPr>
          <a:xfrm>
            <a:off x="4123182" y="2624328"/>
            <a:ext cx="257556" cy="73152"/>
          </a:xfrm>
          <a:prstGeom prst="rect">
            <a:avLst/>
          </a:prstGeom>
          <a:solidFill>
            <a:srgbClr val="174A4A"/>
          </a:solidFill>
          <a:ln/>
        </p:spPr>
      </p:sp>
      <p:sp>
        <p:nvSpPr>
          <p:cNvPr id="62" name="Text 60"/>
          <p:cNvSpPr/>
          <p:nvPr/>
        </p:nvSpPr>
        <p:spPr>
          <a:xfrm>
            <a:off x="4053840" y="2459736"/>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5</a:t>
            </a:r>
            <a:endParaRPr lang="en-US" sz="650" dirty="0"/>
          </a:p>
        </p:txBody>
      </p:sp>
      <p:sp>
        <p:nvSpPr>
          <p:cNvPr id="63" name="Shape 61"/>
          <p:cNvSpPr/>
          <p:nvPr/>
        </p:nvSpPr>
        <p:spPr>
          <a:xfrm>
            <a:off x="4519422" y="2541118"/>
            <a:ext cx="257556" cy="156362"/>
          </a:xfrm>
          <a:prstGeom prst="rect">
            <a:avLst/>
          </a:prstGeom>
          <a:solidFill>
            <a:srgbClr val="C84B2F"/>
          </a:solidFill>
          <a:ln/>
        </p:spPr>
      </p:sp>
      <p:sp>
        <p:nvSpPr>
          <p:cNvPr id="64" name="Text 62"/>
          <p:cNvSpPr/>
          <p:nvPr/>
        </p:nvSpPr>
        <p:spPr>
          <a:xfrm>
            <a:off x="4450080" y="2376526"/>
            <a:ext cx="396240" cy="164592"/>
          </a:xfrm>
          <a:prstGeom prst="rect">
            <a:avLst/>
          </a:prstGeom>
          <a:noFill/>
          <a:ln/>
        </p:spPr>
        <p:txBody>
          <a:bodyPr wrap="square" rtlCol="0" anchor="ctr"/>
          <a:lstStyle/>
          <a:p>
            <a:pPr algn="ctr" indent="0" marL="0">
              <a:buNone/>
            </a:pPr>
            <a:r>
              <a:rPr lang="en-US" sz="750" b="1" dirty="0">
                <a:solidFill>
                  <a:srgbClr val="C84B2F"/>
                </a:solidFill>
                <a:latin typeface="Consolas" pitchFamily="34" charset="0"/>
                <a:ea typeface="Consolas" pitchFamily="34" charset="-122"/>
                <a:cs typeface="Consolas" pitchFamily="34" charset="-120"/>
              </a:rPr>
              <a:t>19</a:t>
            </a:r>
            <a:endParaRPr lang="en-US" sz="750" dirty="0"/>
          </a:p>
        </p:txBody>
      </p:sp>
      <p:sp>
        <p:nvSpPr>
          <p:cNvPr id="65" name="Shape 63"/>
          <p:cNvSpPr/>
          <p:nvPr/>
        </p:nvSpPr>
        <p:spPr>
          <a:xfrm>
            <a:off x="4915662" y="2516429"/>
            <a:ext cx="257556" cy="181051"/>
          </a:xfrm>
          <a:prstGeom prst="rect">
            <a:avLst/>
          </a:prstGeom>
          <a:solidFill>
            <a:srgbClr val="C84B2F"/>
          </a:solidFill>
          <a:ln/>
        </p:spPr>
      </p:sp>
      <p:sp>
        <p:nvSpPr>
          <p:cNvPr id="66" name="Text 64"/>
          <p:cNvSpPr/>
          <p:nvPr/>
        </p:nvSpPr>
        <p:spPr>
          <a:xfrm>
            <a:off x="4846320" y="2351837"/>
            <a:ext cx="396240" cy="164592"/>
          </a:xfrm>
          <a:prstGeom prst="rect">
            <a:avLst/>
          </a:prstGeom>
          <a:noFill/>
          <a:ln/>
        </p:spPr>
        <p:txBody>
          <a:bodyPr wrap="square" rtlCol="0" anchor="ctr"/>
          <a:lstStyle/>
          <a:p>
            <a:pPr algn="ctr" indent="0" marL="0">
              <a:buNone/>
            </a:pPr>
            <a:r>
              <a:rPr lang="en-US" sz="750" b="1" dirty="0">
                <a:solidFill>
                  <a:srgbClr val="C84B2F"/>
                </a:solidFill>
                <a:latin typeface="Consolas" pitchFamily="34" charset="0"/>
                <a:ea typeface="Consolas" pitchFamily="34" charset="-122"/>
                <a:cs typeface="Consolas" pitchFamily="34" charset="-120"/>
              </a:rPr>
              <a:t>22</a:t>
            </a:r>
            <a:endParaRPr lang="en-US" sz="750" dirty="0"/>
          </a:p>
        </p:txBody>
      </p:sp>
      <p:sp>
        <p:nvSpPr>
          <p:cNvPr id="67" name="Shape 65"/>
          <p:cNvSpPr/>
          <p:nvPr/>
        </p:nvSpPr>
        <p:spPr>
          <a:xfrm>
            <a:off x="5311902" y="2565806"/>
            <a:ext cx="257556" cy="131674"/>
          </a:xfrm>
          <a:prstGeom prst="rect">
            <a:avLst/>
          </a:prstGeom>
          <a:solidFill>
            <a:srgbClr val="174A4A"/>
          </a:solidFill>
          <a:ln/>
        </p:spPr>
      </p:sp>
      <p:sp>
        <p:nvSpPr>
          <p:cNvPr id="68" name="Text 66"/>
          <p:cNvSpPr/>
          <p:nvPr/>
        </p:nvSpPr>
        <p:spPr>
          <a:xfrm>
            <a:off x="5242560" y="2401214"/>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16</a:t>
            </a:r>
            <a:endParaRPr lang="en-US" sz="650" dirty="0"/>
          </a:p>
        </p:txBody>
      </p:sp>
      <p:sp>
        <p:nvSpPr>
          <p:cNvPr id="69" name="Shape 67"/>
          <p:cNvSpPr/>
          <p:nvPr/>
        </p:nvSpPr>
        <p:spPr>
          <a:xfrm>
            <a:off x="5708142" y="2590495"/>
            <a:ext cx="257556" cy="106985"/>
          </a:xfrm>
          <a:prstGeom prst="rect">
            <a:avLst/>
          </a:prstGeom>
          <a:solidFill>
            <a:srgbClr val="174A4A"/>
          </a:solidFill>
          <a:ln/>
        </p:spPr>
      </p:sp>
      <p:sp>
        <p:nvSpPr>
          <p:cNvPr id="70" name="Text 68"/>
          <p:cNvSpPr/>
          <p:nvPr/>
        </p:nvSpPr>
        <p:spPr>
          <a:xfrm>
            <a:off x="5638800" y="2425903"/>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13</a:t>
            </a:r>
            <a:endParaRPr lang="en-US" sz="650" dirty="0"/>
          </a:p>
        </p:txBody>
      </p:sp>
      <p:sp>
        <p:nvSpPr>
          <p:cNvPr id="71" name="Shape 69"/>
          <p:cNvSpPr/>
          <p:nvPr/>
        </p:nvSpPr>
        <p:spPr>
          <a:xfrm>
            <a:off x="6104382" y="2491740"/>
            <a:ext cx="257556" cy="205740"/>
          </a:xfrm>
          <a:prstGeom prst="rect">
            <a:avLst/>
          </a:prstGeom>
          <a:solidFill>
            <a:srgbClr val="C84B2F"/>
          </a:solidFill>
          <a:ln/>
        </p:spPr>
      </p:sp>
      <p:sp>
        <p:nvSpPr>
          <p:cNvPr id="72" name="Text 70"/>
          <p:cNvSpPr/>
          <p:nvPr/>
        </p:nvSpPr>
        <p:spPr>
          <a:xfrm>
            <a:off x="6035040" y="2327148"/>
            <a:ext cx="396240" cy="164592"/>
          </a:xfrm>
          <a:prstGeom prst="rect">
            <a:avLst/>
          </a:prstGeom>
          <a:noFill/>
          <a:ln/>
        </p:spPr>
        <p:txBody>
          <a:bodyPr wrap="square" rtlCol="0" anchor="ctr"/>
          <a:lstStyle/>
          <a:p>
            <a:pPr algn="ctr" indent="0" marL="0">
              <a:buNone/>
            </a:pPr>
            <a:r>
              <a:rPr lang="en-US" sz="750" b="1" dirty="0">
                <a:solidFill>
                  <a:srgbClr val="C84B2F"/>
                </a:solidFill>
                <a:latin typeface="Consolas" pitchFamily="34" charset="0"/>
                <a:ea typeface="Consolas" pitchFamily="34" charset="-122"/>
                <a:cs typeface="Consolas" pitchFamily="34" charset="-120"/>
              </a:rPr>
              <a:t>25</a:t>
            </a:r>
            <a:endParaRPr lang="en-US" sz="750" dirty="0"/>
          </a:p>
        </p:txBody>
      </p:sp>
      <p:sp>
        <p:nvSpPr>
          <p:cNvPr id="73" name="Shape 71"/>
          <p:cNvSpPr/>
          <p:nvPr/>
        </p:nvSpPr>
        <p:spPr>
          <a:xfrm>
            <a:off x="6500622" y="2624328"/>
            <a:ext cx="257556" cy="73152"/>
          </a:xfrm>
          <a:prstGeom prst="rect">
            <a:avLst/>
          </a:prstGeom>
          <a:solidFill>
            <a:srgbClr val="174A4A"/>
          </a:solidFill>
          <a:ln/>
        </p:spPr>
      </p:sp>
      <p:sp>
        <p:nvSpPr>
          <p:cNvPr id="74" name="Text 72"/>
          <p:cNvSpPr/>
          <p:nvPr/>
        </p:nvSpPr>
        <p:spPr>
          <a:xfrm>
            <a:off x="6431280" y="2459736"/>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7</a:t>
            </a:r>
            <a:endParaRPr lang="en-US" sz="650" dirty="0"/>
          </a:p>
        </p:txBody>
      </p:sp>
      <p:sp>
        <p:nvSpPr>
          <p:cNvPr id="75" name="Shape 73"/>
          <p:cNvSpPr/>
          <p:nvPr/>
        </p:nvSpPr>
        <p:spPr>
          <a:xfrm>
            <a:off x="6896862" y="2582266"/>
            <a:ext cx="257556" cy="115214"/>
          </a:xfrm>
          <a:prstGeom prst="rect">
            <a:avLst/>
          </a:prstGeom>
          <a:solidFill>
            <a:srgbClr val="174A4A"/>
          </a:solidFill>
          <a:ln/>
        </p:spPr>
      </p:sp>
      <p:sp>
        <p:nvSpPr>
          <p:cNvPr id="76" name="Text 74"/>
          <p:cNvSpPr/>
          <p:nvPr/>
        </p:nvSpPr>
        <p:spPr>
          <a:xfrm>
            <a:off x="6827520" y="2417674"/>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14</a:t>
            </a:r>
            <a:endParaRPr lang="en-US" sz="650" dirty="0"/>
          </a:p>
        </p:txBody>
      </p:sp>
      <p:sp>
        <p:nvSpPr>
          <p:cNvPr id="77" name="Text 75"/>
          <p:cNvSpPr/>
          <p:nvPr/>
        </p:nvSpPr>
        <p:spPr>
          <a:xfrm>
            <a:off x="7223760" y="2295144"/>
            <a:ext cx="1188720" cy="219456"/>
          </a:xfrm>
          <a:prstGeom prst="rect">
            <a:avLst/>
          </a:prstGeom>
          <a:noFill/>
          <a:ln/>
        </p:spPr>
        <p:txBody>
          <a:bodyPr wrap="square" rtlCol="0" anchor="ctr"/>
          <a:lstStyle/>
          <a:p>
            <a:pPr algn="r" indent="0" marL="0">
              <a:buNone/>
            </a:pPr>
            <a:r>
              <a:rPr lang="en-US" sz="950" b="1" dirty="0">
                <a:solidFill>
                  <a:srgbClr val="171A18"/>
                </a:solidFill>
                <a:latin typeface="Calibri" pitchFamily="34" charset="0"/>
                <a:ea typeface="Calibri" pitchFamily="34" charset="-122"/>
                <a:cs typeface="Calibri" pitchFamily="34" charset="-120"/>
              </a:rPr>
              <a:t>June–August &amp; October</a:t>
            </a:r>
            <a:endParaRPr lang="en-US" sz="950" dirty="0"/>
          </a:p>
        </p:txBody>
      </p:sp>
      <p:sp>
        <p:nvSpPr>
          <p:cNvPr id="78" name="Text 76"/>
          <p:cNvSpPr/>
          <p:nvPr/>
        </p:nvSpPr>
        <p:spPr>
          <a:xfrm>
            <a:off x="7223760" y="2514600"/>
            <a:ext cx="1188720" cy="182880"/>
          </a:xfrm>
          <a:prstGeom prst="rect">
            <a:avLst/>
          </a:prstGeom>
          <a:noFill/>
          <a:ln/>
        </p:spPr>
        <p:txBody>
          <a:bodyPr wrap="square" rtlCol="0" anchor="ctr"/>
          <a:lstStyle/>
          <a:p>
            <a:pPr algn="r" indent="0" marL="0">
              <a:buNone/>
            </a:pPr>
            <a:r>
              <a:rPr lang="en-US" sz="700" b="1" dirty="0">
                <a:solidFill>
                  <a:srgbClr val="C84B2F"/>
                </a:solidFill>
                <a:latin typeface="Consolas" pitchFamily="34" charset="0"/>
                <a:ea typeface="Consolas" pitchFamily="34" charset="-122"/>
                <a:cs typeface="Consolas" pitchFamily="34" charset="-120"/>
              </a:rPr>
              <a:t>CR3: 43.1% (Jun–Aug)</a:t>
            </a:r>
            <a:endParaRPr lang="en-US" sz="700" dirty="0"/>
          </a:p>
        </p:txBody>
      </p:sp>
      <p:sp>
        <p:nvSpPr>
          <p:cNvPr id="79" name="Shape 77"/>
          <p:cNvSpPr/>
          <p:nvPr/>
        </p:nvSpPr>
        <p:spPr>
          <a:xfrm>
            <a:off x="731520" y="2752344"/>
            <a:ext cx="7680960" cy="0"/>
          </a:xfrm>
          <a:prstGeom prst="line">
            <a:avLst/>
          </a:prstGeom>
          <a:noFill/>
          <a:ln w="6350">
            <a:solidFill>
              <a:srgbClr val="D8CFBC"/>
            </a:solidFill>
            <a:prstDash val="solid"/>
          </a:ln>
        </p:spPr>
      </p:sp>
      <p:sp>
        <p:nvSpPr>
          <p:cNvPr id="80" name="Text 78"/>
          <p:cNvSpPr/>
          <p:nvPr/>
        </p:nvSpPr>
        <p:spPr>
          <a:xfrm>
            <a:off x="731520" y="2825496"/>
            <a:ext cx="1645920" cy="237744"/>
          </a:xfrm>
          <a:prstGeom prst="rect">
            <a:avLst/>
          </a:prstGeom>
          <a:noFill/>
          <a:ln/>
        </p:spPr>
        <p:txBody>
          <a:bodyPr wrap="square" rtlCol="0" anchor="ctr"/>
          <a:lstStyle/>
          <a:p>
            <a:pPr indent="0" marL="0">
              <a:buNone/>
            </a:pPr>
            <a:r>
              <a:rPr lang="en-US" sz="1100" b="1" dirty="0">
                <a:solidFill>
                  <a:srgbClr val="171A18"/>
                </a:solidFill>
                <a:latin typeface="Georgia" pitchFamily="34" charset="0"/>
                <a:ea typeface="Georgia" pitchFamily="34" charset="-122"/>
                <a:cs typeface="Georgia" pitchFamily="34" charset="-120"/>
              </a:rPr>
              <a:t>Malaria</a:t>
            </a:r>
            <a:endParaRPr lang="en-US" sz="1100" dirty="0"/>
          </a:p>
        </p:txBody>
      </p:sp>
      <p:sp>
        <p:nvSpPr>
          <p:cNvPr id="81" name="Text 79"/>
          <p:cNvSpPr/>
          <p:nvPr/>
        </p:nvSpPr>
        <p:spPr>
          <a:xfrm>
            <a:off x="731520" y="3044952"/>
            <a:ext cx="1645920" cy="182880"/>
          </a:xfrm>
          <a:prstGeom prst="rect">
            <a:avLst/>
          </a:prstGeom>
          <a:noFill/>
          <a:ln/>
        </p:spPr>
        <p:txBody>
          <a:bodyPr wrap="square" rtlCol="0" anchor="ctr"/>
          <a:lstStyle/>
          <a:p>
            <a:pPr indent="0" marL="0">
              <a:buNone/>
            </a:pPr>
            <a:r>
              <a:rPr lang="en-US" sz="650" dirty="0">
                <a:solidFill>
                  <a:srgbClr val="50534D"/>
                </a:solidFill>
                <a:latin typeface="Consolas" pitchFamily="34" charset="0"/>
                <a:ea typeface="Consolas" pitchFamily="34" charset="-122"/>
                <a:cs typeface="Consolas" pitchFamily="34" charset="-120"/>
              </a:rPr>
              <a:t>70 OUTBREAKS | 2,133 CASES</a:t>
            </a:r>
            <a:endParaRPr lang="en-US" sz="650" dirty="0"/>
          </a:p>
        </p:txBody>
      </p:sp>
      <p:sp>
        <p:nvSpPr>
          <p:cNvPr id="82" name="Shape 80"/>
          <p:cNvSpPr/>
          <p:nvPr/>
        </p:nvSpPr>
        <p:spPr>
          <a:xfrm>
            <a:off x="2538222" y="3154680"/>
            <a:ext cx="257556" cy="73152"/>
          </a:xfrm>
          <a:prstGeom prst="rect">
            <a:avLst/>
          </a:prstGeom>
          <a:solidFill>
            <a:srgbClr val="174A4A"/>
          </a:solidFill>
          <a:ln/>
        </p:spPr>
      </p:sp>
      <p:sp>
        <p:nvSpPr>
          <p:cNvPr id="83" name="Text 81"/>
          <p:cNvSpPr/>
          <p:nvPr/>
        </p:nvSpPr>
        <p:spPr>
          <a:xfrm>
            <a:off x="2468880" y="2990088"/>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2</a:t>
            </a:r>
            <a:endParaRPr lang="en-US" sz="650" dirty="0"/>
          </a:p>
        </p:txBody>
      </p:sp>
      <p:sp>
        <p:nvSpPr>
          <p:cNvPr id="84" name="Shape 82"/>
          <p:cNvSpPr/>
          <p:nvPr/>
        </p:nvSpPr>
        <p:spPr>
          <a:xfrm>
            <a:off x="2934462" y="3154680"/>
            <a:ext cx="257556" cy="73152"/>
          </a:xfrm>
          <a:prstGeom prst="rect">
            <a:avLst/>
          </a:prstGeom>
          <a:solidFill>
            <a:srgbClr val="174A4A"/>
          </a:solidFill>
          <a:ln/>
        </p:spPr>
      </p:sp>
      <p:sp>
        <p:nvSpPr>
          <p:cNvPr id="85" name="Text 83"/>
          <p:cNvSpPr/>
          <p:nvPr/>
        </p:nvSpPr>
        <p:spPr>
          <a:xfrm>
            <a:off x="2865120" y="2990088"/>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3</a:t>
            </a:r>
            <a:endParaRPr lang="en-US" sz="650" dirty="0"/>
          </a:p>
        </p:txBody>
      </p:sp>
      <p:sp>
        <p:nvSpPr>
          <p:cNvPr id="86" name="Shape 84"/>
          <p:cNvSpPr/>
          <p:nvPr/>
        </p:nvSpPr>
        <p:spPr>
          <a:xfrm>
            <a:off x="3330702" y="3154680"/>
            <a:ext cx="257556" cy="73152"/>
          </a:xfrm>
          <a:prstGeom prst="rect">
            <a:avLst/>
          </a:prstGeom>
          <a:solidFill>
            <a:srgbClr val="174A4A"/>
          </a:solidFill>
          <a:ln/>
        </p:spPr>
      </p:sp>
      <p:sp>
        <p:nvSpPr>
          <p:cNvPr id="87" name="Text 85"/>
          <p:cNvSpPr/>
          <p:nvPr/>
        </p:nvSpPr>
        <p:spPr>
          <a:xfrm>
            <a:off x="3261360" y="2990088"/>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3</a:t>
            </a:r>
            <a:endParaRPr lang="en-US" sz="650" dirty="0"/>
          </a:p>
        </p:txBody>
      </p:sp>
      <p:sp>
        <p:nvSpPr>
          <p:cNvPr id="88" name="Shape 86"/>
          <p:cNvSpPr/>
          <p:nvPr/>
        </p:nvSpPr>
        <p:spPr>
          <a:xfrm>
            <a:off x="3726942" y="3154680"/>
            <a:ext cx="257556" cy="73152"/>
          </a:xfrm>
          <a:prstGeom prst="rect">
            <a:avLst/>
          </a:prstGeom>
          <a:solidFill>
            <a:srgbClr val="174A4A"/>
          </a:solidFill>
          <a:ln/>
        </p:spPr>
      </p:sp>
      <p:sp>
        <p:nvSpPr>
          <p:cNvPr id="89" name="Text 87"/>
          <p:cNvSpPr/>
          <p:nvPr/>
        </p:nvSpPr>
        <p:spPr>
          <a:xfrm>
            <a:off x="3657600" y="2990088"/>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1</a:t>
            </a:r>
            <a:endParaRPr lang="en-US" sz="650" dirty="0"/>
          </a:p>
        </p:txBody>
      </p:sp>
      <p:sp>
        <p:nvSpPr>
          <p:cNvPr id="90" name="Shape 88"/>
          <p:cNvSpPr/>
          <p:nvPr/>
        </p:nvSpPr>
        <p:spPr>
          <a:xfrm>
            <a:off x="4123182" y="3154680"/>
            <a:ext cx="257556" cy="73152"/>
          </a:xfrm>
          <a:prstGeom prst="rect">
            <a:avLst/>
          </a:prstGeom>
          <a:solidFill>
            <a:srgbClr val="174A4A"/>
          </a:solidFill>
          <a:ln/>
        </p:spPr>
      </p:sp>
      <p:sp>
        <p:nvSpPr>
          <p:cNvPr id="91" name="Text 89"/>
          <p:cNvSpPr/>
          <p:nvPr/>
        </p:nvSpPr>
        <p:spPr>
          <a:xfrm>
            <a:off x="4053840" y="2990088"/>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7</a:t>
            </a:r>
            <a:endParaRPr lang="en-US" sz="650" dirty="0"/>
          </a:p>
        </p:txBody>
      </p:sp>
      <p:sp>
        <p:nvSpPr>
          <p:cNvPr id="92" name="Shape 90"/>
          <p:cNvSpPr/>
          <p:nvPr/>
        </p:nvSpPr>
        <p:spPr>
          <a:xfrm>
            <a:off x="4519422" y="3104388"/>
            <a:ext cx="257556" cy="123444"/>
          </a:xfrm>
          <a:prstGeom prst="rect">
            <a:avLst/>
          </a:prstGeom>
          <a:solidFill>
            <a:srgbClr val="C84B2F"/>
          </a:solidFill>
          <a:ln/>
        </p:spPr>
      </p:sp>
      <p:sp>
        <p:nvSpPr>
          <p:cNvPr id="93" name="Text 91"/>
          <p:cNvSpPr/>
          <p:nvPr/>
        </p:nvSpPr>
        <p:spPr>
          <a:xfrm>
            <a:off x="4450080" y="2939796"/>
            <a:ext cx="396240" cy="164592"/>
          </a:xfrm>
          <a:prstGeom prst="rect">
            <a:avLst/>
          </a:prstGeom>
          <a:noFill/>
          <a:ln/>
        </p:spPr>
        <p:txBody>
          <a:bodyPr wrap="square" rtlCol="0" anchor="ctr"/>
          <a:lstStyle/>
          <a:p>
            <a:pPr algn="ctr" indent="0" marL="0">
              <a:buNone/>
            </a:pPr>
            <a:r>
              <a:rPr lang="en-US" sz="750" b="1" dirty="0">
                <a:solidFill>
                  <a:srgbClr val="C84B2F"/>
                </a:solidFill>
                <a:latin typeface="Consolas" pitchFamily="34" charset="0"/>
                <a:ea typeface="Consolas" pitchFamily="34" charset="-122"/>
                <a:cs typeface="Consolas" pitchFamily="34" charset="-120"/>
              </a:rPr>
              <a:t>15</a:t>
            </a:r>
            <a:endParaRPr lang="en-US" sz="750" dirty="0"/>
          </a:p>
        </p:txBody>
      </p:sp>
      <p:sp>
        <p:nvSpPr>
          <p:cNvPr id="94" name="Shape 92"/>
          <p:cNvSpPr/>
          <p:nvPr/>
        </p:nvSpPr>
        <p:spPr>
          <a:xfrm>
            <a:off x="4915662" y="3112618"/>
            <a:ext cx="257556" cy="115214"/>
          </a:xfrm>
          <a:prstGeom prst="rect">
            <a:avLst/>
          </a:prstGeom>
          <a:solidFill>
            <a:srgbClr val="C84B2F"/>
          </a:solidFill>
          <a:ln/>
        </p:spPr>
      </p:sp>
      <p:sp>
        <p:nvSpPr>
          <p:cNvPr id="95" name="Text 93"/>
          <p:cNvSpPr/>
          <p:nvPr/>
        </p:nvSpPr>
        <p:spPr>
          <a:xfrm>
            <a:off x="4846320" y="2948026"/>
            <a:ext cx="396240" cy="164592"/>
          </a:xfrm>
          <a:prstGeom prst="rect">
            <a:avLst/>
          </a:prstGeom>
          <a:noFill/>
          <a:ln/>
        </p:spPr>
        <p:txBody>
          <a:bodyPr wrap="square" rtlCol="0" anchor="ctr"/>
          <a:lstStyle/>
          <a:p>
            <a:pPr algn="ctr" indent="0" marL="0">
              <a:buNone/>
            </a:pPr>
            <a:r>
              <a:rPr lang="en-US" sz="750" b="1" dirty="0">
                <a:solidFill>
                  <a:srgbClr val="C84B2F"/>
                </a:solidFill>
                <a:latin typeface="Consolas" pitchFamily="34" charset="0"/>
                <a:ea typeface="Consolas" pitchFamily="34" charset="-122"/>
                <a:cs typeface="Consolas" pitchFamily="34" charset="-120"/>
              </a:rPr>
              <a:t>14</a:t>
            </a:r>
            <a:endParaRPr lang="en-US" sz="750" dirty="0"/>
          </a:p>
        </p:txBody>
      </p:sp>
      <p:sp>
        <p:nvSpPr>
          <p:cNvPr id="96" name="Shape 94"/>
          <p:cNvSpPr/>
          <p:nvPr/>
        </p:nvSpPr>
        <p:spPr>
          <a:xfrm>
            <a:off x="5311902" y="3154680"/>
            <a:ext cx="257556" cy="73152"/>
          </a:xfrm>
          <a:prstGeom prst="rect">
            <a:avLst/>
          </a:prstGeom>
          <a:solidFill>
            <a:srgbClr val="174A4A"/>
          </a:solidFill>
          <a:ln/>
        </p:spPr>
      </p:sp>
      <p:sp>
        <p:nvSpPr>
          <p:cNvPr id="97" name="Text 95"/>
          <p:cNvSpPr/>
          <p:nvPr/>
        </p:nvSpPr>
        <p:spPr>
          <a:xfrm>
            <a:off x="5242560" y="2990088"/>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7</a:t>
            </a:r>
            <a:endParaRPr lang="en-US" sz="650" dirty="0"/>
          </a:p>
        </p:txBody>
      </p:sp>
      <p:sp>
        <p:nvSpPr>
          <p:cNvPr id="98" name="Shape 96"/>
          <p:cNvSpPr/>
          <p:nvPr/>
        </p:nvSpPr>
        <p:spPr>
          <a:xfrm>
            <a:off x="5708142" y="3154680"/>
            <a:ext cx="257556" cy="73152"/>
          </a:xfrm>
          <a:prstGeom prst="rect">
            <a:avLst/>
          </a:prstGeom>
          <a:solidFill>
            <a:srgbClr val="174A4A"/>
          </a:solidFill>
          <a:ln/>
        </p:spPr>
      </p:sp>
      <p:sp>
        <p:nvSpPr>
          <p:cNvPr id="99" name="Text 97"/>
          <p:cNvSpPr/>
          <p:nvPr/>
        </p:nvSpPr>
        <p:spPr>
          <a:xfrm>
            <a:off x="5638800" y="2990088"/>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7</a:t>
            </a:r>
            <a:endParaRPr lang="en-US" sz="650" dirty="0"/>
          </a:p>
        </p:txBody>
      </p:sp>
      <p:sp>
        <p:nvSpPr>
          <p:cNvPr id="100" name="Shape 98"/>
          <p:cNvSpPr/>
          <p:nvPr/>
        </p:nvSpPr>
        <p:spPr>
          <a:xfrm>
            <a:off x="6104382" y="3154680"/>
            <a:ext cx="257556" cy="73152"/>
          </a:xfrm>
          <a:prstGeom prst="rect">
            <a:avLst/>
          </a:prstGeom>
          <a:solidFill>
            <a:srgbClr val="174A4A"/>
          </a:solidFill>
          <a:ln/>
        </p:spPr>
      </p:sp>
      <p:sp>
        <p:nvSpPr>
          <p:cNvPr id="101" name="Text 99"/>
          <p:cNvSpPr/>
          <p:nvPr/>
        </p:nvSpPr>
        <p:spPr>
          <a:xfrm>
            <a:off x="6035040" y="2990088"/>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3</a:t>
            </a:r>
            <a:endParaRPr lang="en-US" sz="650" dirty="0"/>
          </a:p>
        </p:txBody>
      </p:sp>
      <p:sp>
        <p:nvSpPr>
          <p:cNvPr id="102" name="Shape 100"/>
          <p:cNvSpPr/>
          <p:nvPr/>
        </p:nvSpPr>
        <p:spPr>
          <a:xfrm>
            <a:off x="6500622" y="3154680"/>
            <a:ext cx="257556" cy="73152"/>
          </a:xfrm>
          <a:prstGeom prst="rect">
            <a:avLst/>
          </a:prstGeom>
          <a:solidFill>
            <a:srgbClr val="174A4A"/>
          </a:solidFill>
          <a:ln/>
        </p:spPr>
      </p:sp>
      <p:sp>
        <p:nvSpPr>
          <p:cNvPr id="103" name="Text 101"/>
          <p:cNvSpPr/>
          <p:nvPr/>
        </p:nvSpPr>
        <p:spPr>
          <a:xfrm>
            <a:off x="6431280" y="2990088"/>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2</a:t>
            </a:r>
            <a:endParaRPr lang="en-US" sz="650" dirty="0"/>
          </a:p>
        </p:txBody>
      </p:sp>
      <p:sp>
        <p:nvSpPr>
          <p:cNvPr id="104" name="Shape 102"/>
          <p:cNvSpPr/>
          <p:nvPr/>
        </p:nvSpPr>
        <p:spPr>
          <a:xfrm>
            <a:off x="6896862" y="3154680"/>
            <a:ext cx="257556" cy="73152"/>
          </a:xfrm>
          <a:prstGeom prst="rect">
            <a:avLst/>
          </a:prstGeom>
          <a:solidFill>
            <a:srgbClr val="174A4A"/>
          </a:solidFill>
          <a:ln/>
        </p:spPr>
      </p:sp>
      <p:sp>
        <p:nvSpPr>
          <p:cNvPr id="105" name="Text 103"/>
          <p:cNvSpPr/>
          <p:nvPr/>
        </p:nvSpPr>
        <p:spPr>
          <a:xfrm>
            <a:off x="6827520" y="2990088"/>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6</a:t>
            </a:r>
            <a:endParaRPr lang="en-US" sz="650" dirty="0"/>
          </a:p>
        </p:txBody>
      </p:sp>
      <p:sp>
        <p:nvSpPr>
          <p:cNvPr id="106" name="Text 104"/>
          <p:cNvSpPr/>
          <p:nvPr/>
        </p:nvSpPr>
        <p:spPr>
          <a:xfrm>
            <a:off x="7223760" y="2825496"/>
            <a:ext cx="1188720" cy="219456"/>
          </a:xfrm>
          <a:prstGeom prst="rect">
            <a:avLst/>
          </a:prstGeom>
          <a:noFill/>
          <a:ln/>
        </p:spPr>
        <p:txBody>
          <a:bodyPr wrap="square" rtlCol="0" anchor="ctr"/>
          <a:lstStyle/>
          <a:p>
            <a:pPr algn="r" indent="0" marL="0">
              <a:buNone/>
            </a:pPr>
            <a:r>
              <a:rPr lang="en-US" sz="950" b="1" dirty="0">
                <a:solidFill>
                  <a:srgbClr val="171A18"/>
                </a:solidFill>
                <a:latin typeface="Calibri" pitchFamily="34" charset="0"/>
                <a:ea typeface="Calibri" pitchFamily="34" charset="-122"/>
                <a:cs typeface="Calibri" pitchFamily="34" charset="-120"/>
              </a:rPr>
              <a:t>May–July</a:t>
            </a:r>
            <a:endParaRPr lang="en-US" sz="950" dirty="0"/>
          </a:p>
        </p:txBody>
      </p:sp>
      <p:sp>
        <p:nvSpPr>
          <p:cNvPr id="107" name="Text 105"/>
          <p:cNvSpPr/>
          <p:nvPr/>
        </p:nvSpPr>
        <p:spPr>
          <a:xfrm>
            <a:off x="7223760" y="3044952"/>
            <a:ext cx="1188720" cy="182880"/>
          </a:xfrm>
          <a:prstGeom prst="rect">
            <a:avLst/>
          </a:prstGeom>
          <a:noFill/>
          <a:ln/>
        </p:spPr>
        <p:txBody>
          <a:bodyPr wrap="square" rtlCol="0" anchor="ctr"/>
          <a:lstStyle/>
          <a:p>
            <a:pPr algn="r" indent="0" marL="0">
              <a:buNone/>
            </a:pPr>
            <a:r>
              <a:rPr lang="en-US" sz="700" b="1" dirty="0">
                <a:solidFill>
                  <a:srgbClr val="C84B2F"/>
                </a:solidFill>
                <a:latin typeface="Consolas" pitchFamily="34" charset="0"/>
                <a:ea typeface="Consolas" pitchFamily="34" charset="-122"/>
                <a:cs typeface="Consolas" pitchFamily="34" charset="-120"/>
              </a:rPr>
              <a:t>CR3: 51.4% (May–Jul)</a:t>
            </a:r>
            <a:endParaRPr lang="en-US" sz="700" dirty="0"/>
          </a:p>
        </p:txBody>
      </p:sp>
      <p:sp>
        <p:nvSpPr>
          <p:cNvPr id="108" name="Shape 106"/>
          <p:cNvSpPr/>
          <p:nvPr/>
        </p:nvSpPr>
        <p:spPr>
          <a:xfrm>
            <a:off x="731520" y="3282696"/>
            <a:ext cx="7680960" cy="0"/>
          </a:xfrm>
          <a:prstGeom prst="line">
            <a:avLst/>
          </a:prstGeom>
          <a:noFill/>
          <a:ln w="6350">
            <a:solidFill>
              <a:srgbClr val="D8CFBC"/>
            </a:solidFill>
            <a:prstDash val="solid"/>
          </a:ln>
        </p:spPr>
      </p:sp>
      <p:sp>
        <p:nvSpPr>
          <p:cNvPr id="109" name="Text 107"/>
          <p:cNvSpPr/>
          <p:nvPr/>
        </p:nvSpPr>
        <p:spPr>
          <a:xfrm>
            <a:off x="731520" y="3355848"/>
            <a:ext cx="1645920" cy="237744"/>
          </a:xfrm>
          <a:prstGeom prst="rect">
            <a:avLst/>
          </a:prstGeom>
          <a:noFill/>
          <a:ln/>
        </p:spPr>
        <p:txBody>
          <a:bodyPr wrap="square" rtlCol="0" anchor="ctr"/>
          <a:lstStyle/>
          <a:p>
            <a:pPr indent="0" marL="0">
              <a:buNone/>
            </a:pPr>
            <a:r>
              <a:rPr lang="en-US" sz="1100" b="1" dirty="0">
                <a:solidFill>
                  <a:srgbClr val="171A18"/>
                </a:solidFill>
                <a:latin typeface="Georgia" pitchFamily="34" charset="0"/>
                <a:ea typeface="Georgia" pitchFamily="34" charset="-122"/>
                <a:cs typeface="Georgia" pitchFamily="34" charset="-120"/>
              </a:rPr>
              <a:t>Food Poisoning</a:t>
            </a:r>
            <a:endParaRPr lang="en-US" sz="1100" dirty="0"/>
          </a:p>
        </p:txBody>
      </p:sp>
      <p:sp>
        <p:nvSpPr>
          <p:cNvPr id="110" name="Text 108"/>
          <p:cNvSpPr/>
          <p:nvPr/>
        </p:nvSpPr>
        <p:spPr>
          <a:xfrm>
            <a:off x="731520" y="3575304"/>
            <a:ext cx="1645920" cy="182880"/>
          </a:xfrm>
          <a:prstGeom prst="rect">
            <a:avLst/>
          </a:prstGeom>
          <a:noFill/>
          <a:ln/>
        </p:spPr>
        <p:txBody>
          <a:bodyPr wrap="square" rtlCol="0" anchor="ctr"/>
          <a:lstStyle/>
          <a:p>
            <a:pPr indent="0" marL="0">
              <a:buNone/>
            </a:pPr>
            <a:r>
              <a:rPr lang="en-US" sz="650" dirty="0">
                <a:solidFill>
                  <a:srgbClr val="50534D"/>
                </a:solidFill>
                <a:latin typeface="Consolas" pitchFamily="34" charset="0"/>
                <a:ea typeface="Consolas" pitchFamily="34" charset="-122"/>
                <a:cs typeface="Consolas" pitchFamily="34" charset="-120"/>
              </a:rPr>
              <a:t>69 OUTBREAKS | 5,927 CASES</a:t>
            </a:r>
            <a:endParaRPr lang="en-US" sz="650" dirty="0"/>
          </a:p>
        </p:txBody>
      </p:sp>
      <p:sp>
        <p:nvSpPr>
          <p:cNvPr id="111" name="Shape 109"/>
          <p:cNvSpPr/>
          <p:nvPr/>
        </p:nvSpPr>
        <p:spPr>
          <a:xfrm>
            <a:off x="2538222" y="3685032"/>
            <a:ext cx="257556" cy="73152"/>
          </a:xfrm>
          <a:prstGeom prst="rect">
            <a:avLst/>
          </a:prstGeom>
          <a:solidFill>
            <a:srgbClr val="174A4A"/>
          </a:solidFill>
          <a:ln/>
        </p:spPr>
      </p:sp>
      <p:sp>
        <p:nvSpPr>
          <p:cNvPr id="112" name="Text 110"/>
          <p:cNvSpPr/>
          <p:nvPr/>
        </p:nvSpPr>
        <p:spPr>
          <a:xfrm>
            <a:off x="2468880" y="3520440"/>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7</a:t>
            </a:r>
            <a:endParaRPr lang="en-US" sz="650" dirty="0"/>
          </a:p>
        </p:txBody>
      </p:sp>
      <p:sp>
        <p:nvSpPr>
          <p:cNvPr id="113" name="Shape 111"/>
          <p:cNvSpPr/>
          <p:nvPr/>
        </p:nvSpPr>
        <p:spPr>
          <a:xfrm>
            <a:off x="2934462" y="3667658"/>
            <a:ext cx="257556" cy="90526"/>
          </a:xfrm>
          <a:prstGeom prst="rect">
            <a:avLst/>
          </a:prstGeom>
          <a:solidFill>
            <a:srgbClr val="C84B2F"/>
          </a:solidFill>
          <a:ln/>
        </p:spPr>
      </p:sp>
      <p:sp>
        <p:nvSpPr>
          <p:cNvPr id="114" name="Text 112"/>
          <p:cNvSpPr/>
          <p:nvPr/>
        </p:nvSpPr>
        <p:spPr>
          <a:xfrm>
            <a:off x="2865120" y="3503066"/>
            <a:ext cx="396240" cy="164592"/>
          </a:xfrm>
          <a:prstGeom prst="rect">
            <a:avLst/>
          </a:prstGeom>
          <a:noFill/>
          <a:ln/>
        </p:spPr>
        <p:txBody>
          <a:bodyPr wrap="square" rtlCol="0" anchor="ctr"/>
          <a:lstStyle/>
          <a:p>
            <a:pPr algn="ctr" indent="0" marL="0">
              <a:buNone/>
            </a:pPr>
            <a:r>
              <a:rPr lang="en-US" sz="750" b="1" dirty="0">
                <a:solidFill>
                  <a:srgbClr val="C84B2F"/>
                </a:solidFill>
                <a:latin typeface="Consolas" pitchFamily="34" charset="0"/>
                <a:ea typeface="Consolas" pitchFamily="34" charset="-122"/>
                <a:cs typeface="Consolas" pitchFamily="34" charset="-120"/>
              </a:rPr>
              <a:t>11</a:t>
            </a:r>
            <a:endParaRPr lang="en-US" sz="750" dirty="0"/>
          </a:p>
        </p:txBody>
      </p:sp>
      <p:sp>
        <p:nvSpPr>
          <p:cNvPr id="115" name="Shape 113"/>
          <p:cNvSpPr/>
          <p:nvPr/>
        </p:nvSpPr>
        <p:spPr>
          <a:xfrm>
            <a:off x="3330702" y="3685032"/>
            <a:ext cx="257556" cy="73152"/>
          </a:xfrm>
          <a:prstGeom prst="rect">
            <a:avLst/>
          </a:prstGeom>
          <a:solidFill>
            <a:srgbClr val="174A4A"/>
          </a:solidFill>
          <a:ln/>
        </p:spPr>
      </p:sp>
      <p:sp>
        <p:nvSpPr>
          <p:cNvPr id="116" name="Text 114"/>
          <p:cNvSpPr/>
          <p:nvPr/>
        </p:nvSpPr>
        <p:spPr>
          <a:xfrm>
            <a:off x="3261360" y="3520440"/>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4</a:t>
            </a:r>
            <a:endParaRPr lang="en-US" sz="650" dirty="0"/>
          </a:p>
        </p:txBody>
      </p:sp>
      <p:sp>
        <p:nvSpPr>
          <p:cNvPr id="117" name="Shape 115"/>
          <p:cNvSpPr/>
          <p:nvPr/>
        </p:nvSpPr>
        <p:spPr>
          <a:xfrm>
            <a:off x="3726942" y="3684118"/>
            <a:ext cx="257556" cy="74066"/>
          </a:xfrm>
          <a:prstGeom prst="rect">
            <a:avLst/>
          </a:prstGeom>
          <a:solidFill>
            <a:srgbClr val="C84B2F"/>
          </a:solidFill>
          <a:ln/>
        </p:spPr>
      </p:sp>
      <p:sp>
        <p:nvSpPr>
          <p:cNvPr id="118" name="Text 116"/>
          <p:cNvSpPr/>
          <p:nvPr/>
        </p:nvSpPr>
        <p:spPr>
          <a:xfrm>
            <a:off x="3657600" y="3519526"/>
            <a:ext cx="396240" cy="164592"/>
          </a:xfrm>
          <a:prstGeom prst="rect">
            <a:avLst/>
          </a:prstGeom>
          <a:noFill/>
          <a:ln/>
        </p:spPr>
        <p:txBody>
          <a:bodyPr wrap="square" rtlCol="0" anchor="ctr"/>
          <a:lstStyle/>
          <a:p>
            <a:pPr algn="ctr" indent="0" marL="0">
              <a:buNone/>
            </a:pPr>
            <a:r>
              <a:rPr lang="en-US" sz="750" b="1" dirty="0">
                <a:solidFill>
                  <a:srgbClr val="C84B2F"/>
                </a:solidFill>
                <a:latin typeface="Consolas" pitchFamily="34" charset="0"/>
                <a:ea typeface="Consolas" pitchFamily="34" charset="-122"/>
                <a:cs typeface="Consolas" pitchFamily="34" charset="-120"/>
              </a:rPr>
              <a:t>9</a:t>
            </a:r>
            <a:endParaRPr lang="en-US" sz="750" dirty="0"/>
          </a:p>
        </p:txBody>
      </p:sp>
      <p:sp>
        <p:nvSpPr>
          <p:cNvPr id="119" name="Shape 117"/>
          <p:cNvSpPr/>
          <p:nvPr/>
        </p:nvSpPr>
        <p:spPr>
          <a:xfrm>
            <a:off x="4123182" y="3667658"/>
            <a:ext cx="257556" cy="90526"/>
          </a:xfrm>
          <a:prstGeom prst="rect">
            <a:avLst/>
          </a:prstGeom>
          <a:solidFill>
            <a:srgbClr val="C84B2F"/>
          </a:solidFill>
          <a:ln/>
        </p:spPr>
      </p:sp>
      <p:sp>
        <p:nvSpPr>
          <p:cNvPr id="120" name="Text 118"/>
          <p:cNvSpPr/>
          <p:nvPr/>
        </p:nvSpPr>
        <p:spPr>
          <a:xfrm>
            <a:off x="4053840" y="3503066"/>
            <a:ext cx="396240" cy="164592"/>
          </a:xfrm>
          <a:prstGeom prst="rect">
            <a:avLst/>
          </a:prstGeom>
          <a:noFill/>
          <a:ln/>
        </p:spPr>
        <p:txBody>
          <a:bodyPr wrap="square" rtlCol="0" anchor="ctr"/>
          <a:lstStyle/>
          <a:p>
            <a:pPr algn="ctr" indent="0" marL="0">
              <a:buNone/>
            </a:pPr>
            <a:r>
              <a:rPr lang="en-US" sz="750" b="1" dirty="0">
                <a:solidFill>
                  <a:srgbClr val="C84B2F"/>
                </a:solidFill>
                <a:latin typeface="Consolas" pitchFamily="34" charset="0"/>
                <a:ea typeface="Consolas" pitchFamily="34" charset="-122"/>
                <a:cs typeface="Consolas" pitchFamily="34" charset="-120"/>
              </a:rPr>
              <a:t>11</a:t>
            </a:r>
            <a:endParaRPr lang="en-US" sz="750" dirty="0"/>
          </a:p>
        </p:txBody>
      </p:sp>
      <p:sp>
        <p:nvSpPr>
          <p:cNvPr id="121" name="Shape 119"/>
          <p:cNvSpPr/>
          <p:nvPr/>
        </p:nvSpPr>
        <p:spPr>
          <a:xfrm>
            <a:off x="4519422" y="3685032"/>
            <a:ext cx="257556" cy="73152"/>
          </a:xfrm>
          <a:prstGeom prst="rect">
            <a:avLst/>
          </a:prstGeom>
          <a:solidFill>
            <a:srgbClr val="174A4A"/>
          </a:solidFill>
          <a:ln/>
        </p:spPr>
      </p:sp>
      <p:sp>
        <p:nvSpPr>
          <p:cNvPr id="122" name="Text 120"/>
          <p:cNvSpPr/>
          <p:nvPr/>
        </p:nvSpPr>
        <p:spPr>
          <a:xfrm>
            <a:off x="4450080" y="3520440"/>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5</a:t>
            </a:r>
            <a:endParaRPr lang="en-US" sz="650" dirty="0"/>
          </a:p>
        </p:txBody>
      </p:sp>
      <p:sp>
        <p:nvSpPr>
          <p:cNvPr id="123" name="Shape 121"/>
          <p:cNvSpPr/>
          <p:nvPr/>
        </p:nvSpPr>
        <p:spPr>
          <a:xfrm>
            <a:off x="4915662" y="3685032"/>
            <a:ext cx="257556" cy="73152"/>
          </a:xfrm>
          <a:prstGeom prst="rect">
            <a:avLst/>
          </a:prstGeom>
          <a:solidFill>
            <a:srgbClr val="174A4A"/>
          </a:solidFill>
          <a:ln/>
        </p:spPr>
      </p:sp>
      <p:sp>
        <p:nvSpPr>
          <p:cNvPr id="124" name="Text 122"/>
          <p:cNvSpPr/>
          <p:nvPr/>
        </p:nvSpPr>
        <p:spPr>
          <a:xfrm>
            <a:off x="4846320" y="3520440"/>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2</a:t>
            </a:r>
            <a:endParaRPr lang="en-US" sz="650" dirty="0"/>
          </a:p>
        </p:txBody>
      </p:sp>
      <p:sp>
        <p:nvSpPr>
          <p:cNvPr id="125" name="Shape 123"/>
          <p:cNvSpPr/>
          <p:nvPr/>
        </p:nvSpPr>
        <p:spPr>
          <a:xfrm>
            <a:off x="5311902" y="3685032"/>
            <a:ext cx="257556" cy="73152"/>
          </a:xfrm>
          <a:prstGeom prst="rect">
            <a:avLst/>
          </a:prstGeom>
          <a:solidFill>
            <a:srgbClr val="174A4A"/>
          </a:solidFill>
          <a:ln/>
        </p:spPr>
      </p:sp>
      <p:sp>
        <p:nvSpPr>
          <p:cNvPr id="126" name="Text 124"/>
          <p:cNvSpPr/>
          <p:nvPr/>
        </p:nvSpPr>
        <p:spPr>
          <a:xfrm>
            <a:off x="5242560" y="3520440"/>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4</a:t>
            </a:r>
            <a:endParaRPr lang="en-US" sz="650" dirty="0"/>
          </a:p>
        </p:txBody>
      </p:sp>
      <p:sp>
        <p:nvSpPr>
          <p:cNvPr id="127" name="Shape 125"/>
          <p:cNvSpPr/>
          <p:nvPr/>
        </p:nvSpPr>
        <p:spPr>
          <a:xfrm>
            <a:off x="5708142" y="3685032"/>
            <a:ext cx="257556" cy="73152"/>
          </a:xfrm>
          <a:prstGeom prst="rect">
            <a:avLst/>
          </a:prstGeom>
          <a:solidFill>
            <a:srgbClr val="174A4A"/>
          </a:solidFill>
          <a:ln/>
        </p:spPr>
      </p:sp>
      <p:sp>
        <p:nvSpPr>
          <p:cNvPr id="128" name="Text 126"/>
          <p:cNvSpPr/>
          <p:nvPr/>
        </p:nvSpPr>
        <p:spPr>
          <a:xfrm>
            <a:off x="5638800" y="3520440"/>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7</a:t>
            </a:r>
            <a:endParaRPr lang="en-US" sz="650" dirty="0"/>
          </a:p>
        </p:txBody>
      </p:sp>
      <p:sp>
        <p:nvSpPr>
          <p:cNvPr id="129" name="Shape 127"/>
          <p:cNvSpPr/>
          <p:nvPr/>
        </p:nvSpPr>
        <p:spPr>
          <a:xfrm>
            <a:off x="6104382" y="3685032"/>
            <a:ext cx="257556" cy="73152"/>
          </a:xfrm>
          <a:prstGeom prst="rect">
            <a:avLst/>
          </a:prstGeom>
          <a:solidFill>
            <a:srgbClr val="174A4A"/>
          </a:solidFill>
          <a:ln/>
        </p:spPr>
      </p:sp>
      <p:sp>
        <p:nvSpPr>
          <p:cNvPr id="130" name="Text 128"/>
          <p:cNvSpPr/>
          <p:nvPr/>
        </p:nvSpPr>
        <p:spPr>
          <a:xfrm>
            <a:off x="6035040" y="3520440"/>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4</a:t>
            </a:r>
            <a:endParaRPr lang="en-US" sz="650" dirty="0"/>
          </a:p>
        </p:txBody>
      </p:sp>
      <p:sp>
        <p:nvSpPr>
          <p:cNvPr id="131" name="Shape 129"/>
          <p:cNvSpPr/>
          <p:nvPr/>
        </p:nvSpPr>
        <p:spPr>
          <a:xfrm>
            <a:off x="6500622" y="3721608"/>
            <a:ext cx="257556" cy="36576"/>
          </a:xfrm>
          <a:prstGeom prst="rect">
            <a:avLst/>
          </a:prstGeom>
          <a:solidFill>
            <a:srgbClr val="D8CFBC"/>
          </a:solidFill>
          <a:ln/>
        </p:spPr>
      </p:sp>
      <p:sp>
        <p:nvSpPr>
          <p:cNvPr id="132" name="Text 130"/>
          <p:cNvSpPr/>
          <p:nvPr/>
        </p:nvSpPr>
        <p:spPr>
          <a:xfrm>
            <a:off x="6431280" y="3557016"/>
            <a:ext cx="396240" cy="164592"/>
          </a:xfrm>
          <a:prstGeom prst="rect">
            <a:avLst/>
          </a:prstGeom>
          <a:noFill/>
          <a:ln/>
        </p:spPr>
        <p:txBody>
          <a:bodyPr wrap="square" rtlCol="0" anchor="ctr"/>
          <a:lstStyle/>
          <a:p>
            <a:pPr algn="ctr" indent="0" marL="0">
              <a:buNone/>
            </a:pPr>
            <a:r>
              <a:rPr lang="en-US" sz="650" dirty="0">
                <a:solidFill>
                  <a:srgbClr val="7A7D77"/>
                </a:solidFill>
                <a:latin typeface="Consolas" pitchFamily="34" charset="0"/>
                <a:ea typeface="Consolas" pitchFamily="34" charset="-122"/>
                <a:cs typeface="Consolas" pitchFamily="34" charset="-120"/>
              </a:rPr>
              <a:t>0</a:t>
            </a:r>
            <a:endParaRPr lang="en-US" sz="650" dirty="0"/>
          </a:p>
        </p:txBody>
      </p:sp>
      <p:sp>
        <p:nvSpPr>
          <p:cNvPr id="133" name="Shape 131"/>
          <p:cNvSpPr/>
          <p:nvPr/>
        </p:nvSpPr>
        <p:spPr>
          <a:xfrm>
            <a:off x="6896862" y="3685032"/>
            <a:ext cx="257556" cy="73152"/>
          </a:xfrm>
          <a:prstGeom prst="rect">
            <a:avLst/>
          </a:prstGeom>
          <a:solidFill>
            <a:srgbClr val="174A4A"/>
          </a:solidFill>
          <a:ln/>
        </p:spPr>
      </p:sp>
      <p:sp>
        <p:nvSpPr>
          <p:cNvPr id="134" name="Text 132"/>
          <p:cNvSpPr/>
          <p:nvPr/>
        </p:nvSpPr>
        <p:spPr>
          <a:xfrm>
            <a:off x="6827520" y="3520440"/>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5</a:t>
            </a:r>
            <a:endParaRPr lang="en-US" sz="650" dirty="0"/>
          </a:p>
        </p:txBody>
      </p:sp>
      <p:sp>
        <p:nvSpPr>
          <p:cNvPr id="135" name="Text 133"/>
          <p:cNvSpPr/>
          <p:nvPr/>
        </p:nvSpPr>
        <p:spPr>
          <a:xfrm>
            <a:off x="7223760" y="3355848"/>
            <a:ext cx="1188720" cy="219456"/>
          </a:xfrm>
          <a:prstGeom prst="rect">
            <a:avLst/>
          </a:prstGeom>
          <a:noFill/>
          <a:ln/>
        </p:spPr>
        <p:txBody>
          <a:bodyPr wrap="square" rtlCol="0" anchor="ctr"/>
          <a:lstStyle/>
          <a:p>
            <a:pPr algn="r" indent="0" marL="0">
              <a:buNone/>
            </a:pPr>
            <a:r>
              <a:rPr lang="en-US" sz="950" b="1" dirty="0">
                <a:solidFill>
                  <a:srgbClr val="171A18"/>
                </a:solidFill>
                <a:latin typeface="Calibri" pitchFamily="34" charset="0"/>
                <a:ea typeface="Calibri" pitchFamily="34" charset="-122"/>
                <a:cs typeface="Calibri" pitchFamily="34" charset="-120"/>
              </a:rPr>
              <a:t>Jan–Feb &amp; Apr–May (Bimodal)</a:t>
            </a:r>
            <a:endParaRPr lang="en-US" sz="950" dirty="0"/>
          </a:p>
        </p:txBody>
      </p:sp>
      <p:sp>
        <p:nvSpPr>
          <p:cNvPr id="136" name="Text 134"/>
          <p:cNvSpPr/>
          <p:nvPr/>
        </p:nvSpPr>
        <p:spPr>
          <a:xfrm>
            <a:off x="7223760" y="3575304"/>
            <a:ext cx="1188720" cy="182880"/>
          </a:xfrm>
          <a:prstGeom prst="rect">
            <a:avLst/>
          </a:prstGeom>
          <a:noFill/>
          <a:ln/>
        </p:spPr>
        <p:txBody>
          <a:bodyPr wrap="square" rtlCol="0" anchor="ctr"/>
          <a:lstStyle/>
          <a:p>
            <a:pPr algn="r" indent="0" marL="0">
              <a:buNone/>
            </a:pPr>
            <a:r>
              <a:rPr lang="en-US" sz="700" b="1" dirty="0">
                <a:solidFill>
                  <a:srgbClr val="C84B2F"/>
                </a:solidFill>
                <a:latin typeface="Consolas" pitchFamily="34" charset="0"/>
                <a:ea typeface="Consolas" pitchFamily="34" charset="-122"/>
                <a:cs typeface="Consolas" pitchFamily="34" charset="-120"/>
              </a:rPr>
              <a:t>CR3: 44.9% (Apr, May, Feb)</a:t>
            </a:r>
            <a:endParaRPr lang="en-US" sz="700" dirty="0"/>
          </a:p>
        </p:txBody>
      </p:sp>
      <p:sp>
        <p:nvSpPr>
          <p:cNvPr id="137" name="Shape 135"/>
          <p:cNvSpPr/>
          <p:nvPr/>
        </p:nvSpPr>
        <p:spPr>
          <a:xfrm>
            <a:off x="731520" y="3813048"/>
            <a:ext cx="7680960" cy="0"/>
          </a:xfrm>
          <a:prstGeom prst="line">
            <a:avLst/>
          </a:prstGeom>
          <a:noFill/>
          <a:ln w="6350">
            <a:solidFill>
              <a:srgbClr val="D8CFBC"/>
            </a:solidFill>
            <a:prstDash val="solid"/>
          </a:ln>
        </p:spPr>
      </p:sp>
      <p:sp>
        <p:nvSpPr>
          <p:cNvPr id="138" name="Text 136"/>
          <p:cNvSpPr/>
          <p:nvPr/>
        </p:nvSpPr>
        <p:spPr>
          <a:xfrm>
            <a:off x="731520" y="3886200"/>
            <a:ext cx="1645920" cy="237744"/>
          </a:xfrm>
          <a:prstGeom prst="rect">
            <a:avLst/>
          </a:prstGeom>
          <a:noFill/>
          <a:ln/>
        </p:spPr>
        <p:txBody>
          <a:bodyPr wrap="square" rtlCol="0" anchor="ctr"/>
          <a:lstStyle/>
          <a:p>
            <a:pPr indent="0" marL="0">
              <a:buNone/>
            </a:pPr>
            <a:r>
              <a:rPr lang="en-US" sz="1100" b="1" dirty="0">
                <a:solidFill>
                  <a:srgbClr val="171A18"/>
                </a:solidFill>
                <a:latin typeface="Georgia" pitchFamily="34" charset="0"/>
                <a:ea typeface="Georgia" pitchFamily="34" charset="-122"/>
                <a:cs typeface="Georgia" pitchFamily="34" charset="-120"/>
              </a:rPr>
              <a:t>Chikungunya</a:t>
            </a:r>
            <a:endParaRPr lang="en-US" sz="1100" dirty="0"/>
          </a:p>
        </p:txBody>
      </p:sp>
      <p:sp>
        <p:nvSpPr>
          <p:cNvPr id="139" name="Text 137"/>
          <p:cNvSpPr/>
          <p:nvPr/>
        </p:nvSpPr>
        <p:spPr>
          <a:xfrm>
            <a:off x="731520" y="4105656"/>
            <a:ext cx="1645920" cy="182880"/>
          </a:xfrm>
          <a:prstGeom prst="rect">
            <a:avLst/>
          </a:prstGeom>
          <a:noFill/>
          <a:ln/>
        </p:spPr>
        <p:txBody>
          <a:bodyPr wrap="square" rtlCol="0" anchor="ctr"/>
          <a:lstStyle/>
          <a:p>
            <a:pPr indent="0" marL="0">
              <a:buNone/>
            </a:pPr>
            <a:r>
              <a:rPr lang="en-US" sz="650" dirty="0">
                <a:solidFill>
                  <a:srgbClr val="50534D"/>
                </a:solidFill>
                <a:latin typeface="Consolas" pitchFamily="34" charset="0"/>
                <a:ea typeface="Consolas" pitchFamily="34" charset="-122"/>
                <a:cs typeface="Consolas" pitchFamily="34" charset="-120"/>
              </a:rPr>
              <a:t>43 OUTBREAKS | 701 CASES</a:t>
            </a:r>
            <a:endParaRPr lang="en-US" sz="650" dirty="0"/>
          </a:p>
        </p:txBody>
      </p:sp>
      <p:sp>
        <p:nvSpPr>
          <p:cNvPr id="140" name="Shape 138"/>
          <p:cNvSpPr/>
          <p:nvPr/>
        </p:nvSpPr>
        <p:spPr>
          <a:xfrm>
            <a:off x="2538222" y="4215384"/>
            <a:ext cx="257556" cy="73152"/>
          </a:xfrm>
          <a:prstGeom prst="rect">
            <a:avLst/>
          </a:prstGeom>
          <a:solidFill>
            <a:srgbClr val="174A4A"/>
          </a:solidFill>
          <a:ln/>
        </p:spPr>
      </p:sp>
      <p:sp>
        <p:nvSpPr>
          <p:cNvPr id="141" name="Text 139"/>
          <p:cNvSpPr/>
          <p:nvPr/>
        </p:nvSpPr>
        <p:spPr>
          <a:xfrm>
            <a:off x="2468880" y="405079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1</a:t>
            </a:r>
            <a:endParaRPr lang="en-US" sz="650" dirty="0"/>
          </a:p>
        </p:txBody>
      </p:sp>
      <p:sp>
        <p:nvSpPr>
          <p:cNvPr id="142" name="Shape 140"/>
          <p:cNvSpPr/>
          <p:nvPr/>
        </p:nvSpPr>
        <p:spPr>
          <a:xfrm>
            <a:off x="2934462" y="4215384"/>
            <a:ext cx="257556" cy="73152"/>
          </a:xfrm>
          <a:prstGeom prst="rect">
            <a:avLst/>
          </a:prstGeom>
          <a:solidFill>
            <a:srgbClr val="174A4A"/>
          </a:solidFill>
          <a:ln/>
        </p:spPr>
      </p:sp>
      <p:sp>
        <p:nvSpPr>
          <p:cNvPr id="143" name="Text 141"/>
          <p:cNvSpPr/>
          <p:nvPr/>
        </p:nvSpPr>
        <p:spPr>
          <a:xfrm>
            <a:off x="2865120" y="405079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1</a:t>
            </a:r>
            <a:endParaRPr lang="en-US" sz="650" dirty="0"/>
          </a:p>
        </p:txBody>
      </p:sp>
      <p:sp>
        <p:nvSpPr>
          <p:cNvPr id="144" name="Shape 142"/>
          <p:cNvSpPr/>
          <p:nvPr/>
        </p:nvSpPr>
        <p:spPr>
          <a:xfrm>
            <a:off x="3330702" y="4215384"/>
            <a:ext cx="257556" cy="73152"/>
          </a:xfrm>
          <a:prstGeom prst="rect">
            <a:avLst/>
          </a:prstGeom>
          <a:solidFill>
            <a:srgbClr val="174A4A"/>
          </a:solidFill>
          <a:ln/>
        </p:spPr>
      </p:sp>
      <p:sp>
        <p:nvSpPr>
          <p:cNvPr id="145" name="Text 143"/>
          <p:cNvSpPr/>
          <p:nvPr/>
        </p:nvSpPr>
        <p:spPr>
          <a:xfrm>
            <a:off x="3261360" y="405079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5</a:t>
            </a:r>
            <a:endParaRPr lang="en-US" sz="650" dirty="0"/>
          </a:p>
        </p:txBody>
      </p:sp>
      <p:sp>
        <p:nvSpPr>
          <p:cNvPr id="146" name="Shape 144"/>
          <p:cNvSpPr/>
          <p:nvPr/>
        </p:nvSpPr>
        <p:spPr>
          <a:xfrm>
            <a:off x="3726942" y="4215384"/>
            <a:ext cx="257556" cy="73152"/>
          </a:xfrm>
          <a:prstGeom prst="rect">
            <a:avLst/>
          </a:prstGeom>
          <a:solidFill>
            <a:srgbClr val="174A4A"/>
          </a:solidFill>
          <a:ln/>
        </p:spPr>
      </p:sp>
      <p:sp>
        <p:nvSpPr>
          <p:cNvPr id="147" name="Text 145"/>
          <p:cNvSpPr/>
          <p:nvPr/>
        </p:nvSpPr>
        <p:spPr>
          <a:xfrm>
            <a:off x="3657600" y="405079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2</a:t>
            </a:r>
            <a:endParaRPr lang="en-US" sz="650" dirty="0"/>
          </a:p>
        </p:txBody>
      </p:sp>
      <p:sp>
        <p:nvSpPr>
          <p:cNvPr id="148" name="Shape 146"/>
          <p:cNvSpPr/>
          <p:nvPr/>
        </p:nvSpPr>
        <p:spPr>
          <a:xfrm>
            <a:off x="4123182" y="4215384"/>
            <a:ext cx="257556" cy="73152"/>
          </a:xfrm>
          <a:prstGeom prst="rect">
            <a:avLst/>
          </a:prstGeom>
          <a:solidFill>
            <a:srgbClr val="C84B2F"/>
          </a:solidFill>
          <a:ln/>
        </p:spPr>
      </p:sp>
      <p:sp>
        <p:nvSpPr>
          <p:cNvPr id="149" name="Text 147"/>
          <p:cNvSpPr/>
          <p:nvPr/>
        </p:nvSpPr>
        <p:spPr>
          <a:xfrm>
            <a:off x="4053840" y="4050792"/>
            <a:ext cx="396240" cy="164592"/>
          </a:xfrm>
          <a:prstGeom prst="rect">
            <a:avLst/>
          </a:prstGeom>
          <a:noFill/>
          <a:ln/>
        </p:spPr>
        <p:txBody>
          <a:bodyPr wrap="square" rtlCol="0" anchor="ctr"/>
          <a:lstStyle/>
          <a:p>
            <a:pPr algn="ctr" indent="0" marL="0">
              <a:buNone/>
            </a:pPr>
            <a:r>
              <a:rPr lang="en-US" sz="750" b="1" dirty="0">
                <a:solidFill>
                  <a:srgbClr val="C84B2F"/>
                </a:solidFill>
                <a:latin typeface="Consolas" pitchFamily="34" charset="0"/>
                <a:ea typeface="Consolas" pitchFamily="34" charset="-122"/>
                <a:cs typeface="Consolas" pitchFamily="34" charset="-120"/>
              </a:rPr>
              <a:t>6</a:t>
            </a:r>
            <a:endParaRPr lang="en-US" sz="750" dirty="0"/>
          </a:p>
        </p:txBody>
      </p:sp>
      <p:sp>
        <p:nvSpPr>
          <p:cNvPr id="150" name="Shape 148"/>
          <p:cNvSpPr/>
          <p:nvPr/>
        </p:nvSpPr>
        <p:spPr>
          <a:xfrm>
            <a:off x="4519422" y="4215384"/>
            <a:ext cx="257556" cy="73152"/>
          </a:xfrm>
          <a:prstGeom prst="rect">
            <a:avLst/>
          </a:prstGeom>
          <a:solidFill>
            <a:srgbClr val="C84B2F"/>
          </a:solidFill>
          <a:ln/>
        </p:spPr>
      </p:sp>
      <p:sp>
        <p:nvSpPr>
          <p:cNvPr id="151" name="Text 149"/>
          <p:cNvSpPr/>
          <p:nvPr/>
        </p:nvSpPr>
        <p:spPr>
          <a:xfrm>
            <a:off x="4450080" y="4050792"/>
            <a:ext cx="396240" cy="164592"/>
          </a:xfrm>
          <a:prstGeom prst="rect">
            <a:avLst/>
          </a:prstGeom>
          <a:noFill/>
          <a:ln/>
        </p:spPr>
        <p:txBody>
          <a:bodyPr wrap="square" rtlCol="0" anchor="ctr"/>
          <a:lstStyle/>
          <a:p>
            <a:pPr algn="ctr" indent="0" marL="0">
              <a:buNone/>
            </a:pPr>
            <a:r>
              <a:rPr lang="en-US" sz="750" b="1" dirty="0">
                <a:solidFill>
                  <a:srgbClr val="C84B2F"/>
                </a:solidFill>
                <a:latin typeface="Consolas" pitchFamily="34" charset="0"/>
                <a:ea typeface="Consolas" pitchFamily="34" charset="-122"/>
                <a:cs typeface="Consolas" pitchFamily="34" charset="-120"/>
              </a:rPr>
              <a:t>6</a:t>
            </a:r>
            <a:endParaRPr lang="en-US" sz="750" dirty="0"/>
          </a:p>
        </p:txBody>
      </p:sp>
      <p:sp>
        <p:nvSpPr>
          <p:cNvPr id="152" name="Shape 150"/>
          <p:cNvSpPr/>
          <p:nvPr/>
        </p:nvSpPr>
        <p:spPr>
          <a:xfrm>
            <a:off x="4915662" y="4215384"/>
            <a:ext cx="257556" cy="73152"/>
          </a:xfrm>
          <a:prstGeom prst="rect">
            <a:avLst/>
          </a:prstGeom>
          <a:solidFill>
            <a:srgbClr val="174A4A"/>
          </a:solidFill>
          <a:ln/>
        </p:spPr>
      </p:sp>
      <p:sp>
        <p:nvSpPr>
          <p:cNvPr id="153" name="Text 151"/>
          <p:cNvSpPr/>
          <p:nvPr/>
        </p:nvSpPr>
        <p:spPr>
          <a:xfrm>
            <a:off x="4846320" y="405079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4</a:t>
            </a:r>
            <a:endParaRPr lang="en-US" sz="650" dirty="0"/>
          </a:p>
        </p:txBody>
      </p:sp>
      <p:sp>
        <p:nvSpPr>
          <p:cNvPr id="154" name="Shape 152"/>
          <p:cNvSpPr/>
          <p:nvPr/>
        </p:nvSpPr>
        <p:spPr>
          <a:xfrm>
            <a:off x="5311902" y="4215384"/>
            <a:ext cx="257556" cy="73152"/>
          </a:xfrm>
          <a:prstGeom prst="rect">
            <a:avLst/>
          </a:prstGeom>
          <a:solidFill>
            <a:srgbClr val="174A4A"/>
          </a:solidFill>
          <a:ln/>
        </p:spPr>
      </p:sp>
      <p:sp>
        <p:nvSpPr>
          <p:cNvPr id="155" name="Text 153"/>
          <p:cNvSpPr/>
          <p:nvPr/>
        </p:nvSpPr>
        <p:spPr>
          <a:xfrm>
            <a:off x="5242560" y="405079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3</a:t>
            </a:r>
            <a:endParaRPr lang="en-US" sz="650" dirty="0"/>
          </a:p>
        </p:txBody>
      </p:sp>
      <p:sp>
        <p:nvSpPr>
          <p:cNvPr id="156" name="Shape 154"/>
          <p:cNvSpPr/>
          <p:nvPr/>
        </p:nvSpPr>
        <p:spPr>
          <a:xfrm>
            <a:off x="5708142" y="4215384"/>
            <a:ext cx="257556" cy="73152"/>
          </a:xfrm>
          <a:prstGeom prst="rect">
            <a:avLst/>
          </a:prstGeom>
          <a:solidFill>
            <a:srgbClr val="174A4A"/>
          </a:solidFill>
          <a:ln/>
        </p:spPr>
      </p:sp>
      <p:sp>
        <p:nvSpPr>
          <p:cNvPr id="157" name="Text 155"/>
          <p:cNvSpPr/>
          <p:nvPr/>
        </p:nvSpPr>
        <p:spPr>
          <a:xfrm>
            <a:off x="5638800" y="405079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5</a:t>
            </a:r>
            <a:endParaRPr lang="en-US" sz="650" dirty="0"/>
          </a:p>
        </p:txBody>
      </p:sp>
      <p:sp>
        <p:nvSpPr>
          <p:cNvPr id="158" name="Shape 156"/>
          <p:cNvSpPr/>
          <p:nvPr/>
        </p:nvSpPr>
        <p:spPr>
          <a:xfrm>
            <a:off x="6104382" y="4215384"/>
            <a:ext cx="257556" cy="73152"/>
          </a:xfrm>
          <a:prstGeom prst="rect">
            <a:avLst/>
          </a:prstGeom>
          <a:solidFill>
            <a:srgbClr val="174A4A"/>
          </a:solidFill>
          <a:ln/>
        </p:spPr>
      </p:sp>
      <p:sp>
        <p:nvSpPr>
          <p:cNvPr id="159" name="Text 157"/>
          <p:cNvSpPr/>
          <p:nvPr/>
        </p:nvSpPr>
        <p:spPr>
          <a:xfrm>
            <a:off x="6035040" y="405079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4</a:t>
            </a:r>
            <a:endParaRPr lang="en-US" sz="650" dirty="0"/>
          </a:p>
        </p:txBody>
      </p:sp>
      <p:sp>
        <p:nvSpPr>
          <p:cNvPr id="160" name="Shape 158"/>
          <p:cNvSpPr/>
          <p:nvPr/>
        </p:nvSpPr>
        <p:spPr>
          <a:xfrm>
            <a:off x="6500622" y="4215384"/>
            <a:ext cx="257556" cy="73152"/>
          </a:xfrm>
          <a:prstGeom prst="rect">
            <a:avLst/>
          </a:prstGeom>
          <a:solidFill>
            <a:srgbClr val="174A4A"/>
          </a:solidFill>
          <a:ln/>
        </p:spPr>
      </p:sp>
      <p:sp>
        <p:nvSpPr>
          <p:cNvPr id="161" name="Text 159"/>
          <p:cNvSpPr/>
          <p:nvPr/>
        </p:nvSpPr>
        <p:spPr>
          <a:xfrm>
            <a:off x="6431280" y="405079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5</a:t>
            </a:r>
            <a:endParaRPr lang="en-US" sz="650" dirty="0"/>
          </a:p>
        </p:txBody>
      </p:sp>
      <p:sp>
        <p:nvSpPr>
          <p:cNvPr id="162" name="Shape 160"/>
          <p:cNvSpPr/>
          <p:nvPr/>
        </p:nvSpPr>
        <p:spPr>
          <a:xfrm>
            <a:off x="6896862" y="4215384"/>
            <a:ext cx="257556" cy="73152"/>
          </a:xfrm>
          <a:prstGeom prst="rect">
            <a:avLst/>
          </a:prstGeom>
          <a:solidFill>
            <a:srgbClr val="174A4A"/>
          </a:solidFill>
          <a:ln/>
        </p:spPr>
      </p:sp>
      <p:sp>
        <p:nvSpPr>
          <p:cNvPr id="163" name="Text 161"/>
          <p:cNvSpPr/>
          <p:nvPr/>
        </p:nvSpPr>
        <p:spPr>
          <a:xfrm>
            <a:off x="6827520" y="4050792"/>
            <a:ext cx="396240" cy="164592"/>
          </a:xfrm>
          <a:prstGeom prst="rect">
            <a:avLst/>
          </a:prstGeom>
          <a:noFill/>
          <a:ln/>
        </p:spPr>
        <p:txBody>
          <a:bodyPr wrap="square" rtlCol="0" anchor="ctr"/>
          <a:lstStyle/>
          <a:p>
            <a:pPr algn="ctr" indent="0" marL="0">
              <a:buNone/>
            </a:pPr>
            <a:r>
              <a:rPr lang="en-US" sz="650" dirty="0">
                <a:solidFill>
                  <a:srgbClr val="171A18"/>
                </a:solidFill>
                <a:latin typeface="Consolas" pitchFamily="34" charset="0"/>
                <a:ea typeface="Consolas" pitchFamily="34" charset="-122"/>
                <a:cs typeface="Consolas" pitchFamily="34" charset="-120"/>
              </a:rPr>
              <a:t>1</a:t>
            </a:r>
            <a:endParaRPr lang="en-US" sz="650" dirty="0"/>
          </a:p>
        </p:txBody>
      </p:sp>
      <p:sp>
        <p:nvSpPr>
          <p:cNvPr id="164" name="Text 162"/>
          <p:cNvSpPr/>
          <p:nvPr/>
        </p:nvSpPr>
        <p:spPr>
          <a:xfrm>
            <a:off x="7223760" y="3886200"/>
            <a:ext cx="1188720" cy="219456"/>
          </a:xfrm>
          <a:prstGeom prst="rect">
            <a:avLst/>
          </a:prstGeom>
          <a:noFill/>
          <a:ln/>
        </p:spPr>
        <p:txBody>
          <a:bodyPr wrap="square" rtlCol="0" anchor="ctr"/>
          <a:lstStyle/>
          <a:p>
            <a:pPr algn="r" indent="0" marL="0">
              <a:buNone/>
            </a:pPr>
            <a:r>
              <a:rPr lang="en-US" sz="950" b="1" dirty="0">
                <a:solidFill>
                  <a:srgbClr val="171A18"/>
                </a:solidFill>
                <a:latin typeface="Calibri" pitchFamily="34" charset="0"/>
                <a:ea typeface="Calibri" pitchFamily="34" charset="-122"/>
                <a:cs typeface="Calibri" pitchFamily="34" charset="-120"/>
              </a:rPr>
              <a:t>May–July &amp; Sep–Nov</a:t>
            </a:r>
            <a:endParaRPr lang="en-US" sz="950" dirty="0"/>
          </a:p>
        </p:txBody>
      </p:sp>
      <p:sp>
        <p:nvSpPr>
          <p:cNvPr id="165" name="Text 163"/>
          <p:cNvSpPr/>
          <p:nvPr/>
        </p:nvSpPr>
        <p:spPr>
          <a:xfrm>
            <a:off x="7223760" y="4105656"/>
            <a:ext cx="1188720" cy="182880"/>
          </a:xfrm>
          <a:prstGeom prst="rect">
            <a:avLst/>
          </a:prstGeom>
          <a:noFill/>
          <a:ln/>
        </p:spPr>
        <p:txBody>
          <a:bodyPr wrap="square" rtlCol="0" anchor="ctr"/>
          <a:lstStyle/>
          <a:p>
            <a:pPr algn="r" indent="0" marL="0">
              <a:buNone/>
            </a:pPr>
            <a:r>
              <a:rPr lang="en-US" sz="700" b="1" dirty="0">
                <a:solidFill>
                  <a:srgbClr val="C84B2F"/>
                </a:solidFill>
                <a:latin typeface="Consolas" pitchFamily="34" charset="0"/>
                <a:ea typeface="Consolas" pitchFamily="34" charset="-122"/>
                <a:cs typeface="Consolas" pitchFamily="34" charset="-120"/>
              </a:rPr>
              <a:t>CR3: 41.9% (May, Jun, Sep)</a:t>
            </a:r>
            <a:endParaRPr lang="en-US" sz="700" dirty="0"/>
          </a:p>
        </p:txBody>
      </p:sp>
      <p:sp>
        <p:nvSpPr>
          <p:cNvPr id="166" name="Shape 164"/>
          <p:cNvSpPr/>
          <p:nvPr/>
        </p:nvSpPr>
        <p:spPr>
          <a:xfrm>
            <a:off x="731520" y="4343400"/>
            <a:ext cx="7680960" cy="0"/>
          </a:xfrm>
          <a:prstGeom prst="line">
            <a:avLst/>
          </a:prstGeom>
          <a:noFill/>
          <a:ln w="9525">
            <a:solidFill>
              <a:srgbClr val="D8CFBC"/>
            </a:solidFill>
            <a:prstDash val="solid"/>
          </a:ln>
        </p:spPr>
      </p:sp>
      <p:sp>
        <p:nvSpPr>
          <p:cNvPr id="167" name="Text 165"/>
          <p:cNvSpPr/>
          <p:nvPr/>
        </p:nvSpPr>
        <p:spPr>
          <a:xfrm>
            <a:off x="731520" y="4462272"/>
            <a:ext cx="7680960" cy="228600"/>
          </a:xfrm>
          <a:prstGeom prst="rect">
            <a:avLst/>
          </a:prstGeom>
          <a:noFill/>
          <a:ln/>
        </p:spPr>
        <p:txBody>
          <a:bodyPr wrap="square" rtlCol="0" anchor="ctr"/>
          <a:lstStyle/>
          <a:p>
            <a:pPr indent="0" marL="0">
              <a:buNone/>
            </a:pPr>
            <a:r>
              <a:rPr lang="en-US" sz="700" i="1" dirty="0">
                <a:solidFill>
                  <a:srgbClr val="50534D"/>
                </a:solidFill>
                <a:latin typeface="Calibri" pitchFamily="34" charset="0"/>
                <a:ea typeface="Calibri" pitchFamily="34" charset="-122"/>
                <a:cs typeface="Calibri" pitchFamily="34" charset="-120"/>
              </a:rPr>
              <a:t>*Outbreak event counts represent discrete investigated disease clusters meeting state notification thresholds (N=539 total records). Shaded vertical band denotes the Southwest Monsoon (June–September). Values in burnt orange highlight top concentration peak months.</a:t>
            </a:r>
            <a:endParaRPr lang="en-US" sz="700" dirty="0"/>
          </a:p>
        </p:txBody>
      </p:sp>
      <p:sp>
        <p:nvSpPr>
          <p:cNvPr id="168" name="Shape 166"/>
          <p:cNvSpPr/>
          <p:nvPr/>
        </p:nvSpPr>
        <p:spPr>
          <a:xfrm>
            <a:off x="731520" y="4736592"/>
            <a:ext cx="7680960" cy="0"/>
          </a:xfrm>
          <a:prstGeom prst="line">
            <a:avLst/>
          </a:prstGeom>
          <a:noFill/>
          <a:ln w="9525">
            <a:solidFill>
              <a:srgbClr val="D8CFBC"/>
            </a:solidFill>
            <a:prstDash val="solid"/>
          </a:ln>
        </p:spPr>
      </p:sp>
      <p:sp>
        <p:nvSpPr>
          <p:cNvPr id="169" name="Text 167"/>
          <p:cNvSpPr/>
          <p:nvPr/>
        </p:nvSpPr>
        <p:spPr>
          <a:xfrm>
            <a:off x="731520" y="4809744"/>
            <a:ext cx="6400800" cy="201168"/>
          </a:xfrm>
          <a:prstGeom prst="rect">
            <a:avLst/>
          </a:prstGeom>
          <a:noFill/>
          <a:ln/>
        </p:spPr>
        <p:txBody>
          <a:bodyPr wrap="square" rtlCol="0" anchor="ctr"/>
          <a:lstStyle/>
          <a:p>
            <a:pPr indent="0" marL="0">
              <a:buNone/>
            </a:pPr>
            <a:r>
              <a:rPr lang="en-US" sz="650" dirty="0">
                <a:solidFill>
                  <a:srgbClr val="7A7D77"/>
                </a:solidFill>
                <a:latin typeface="Consolas" pitchFamily="34" charset="0"/>
                <a:ea typeface="Consolas" pitchFamily="34" charset="-122"/>
                <a:cs typeface="Consolas" pitchFamily="34" charset="-120"/>
              </a:rPr>
              <a:t>SOURCE: NCDC / IDSP WEEKLY OUTBREAK REPORTS | 2022–2025 MONTHLY AGGREGATION MATRIX</a:t>
            </a:r>
            <a:endParaRPr lang="en-US" sz="650" dirty="0"/>
          </a:p>
        </p:txBody>
      </p:sp>
      <p:sp>
        <p:nvSpPr>
          <p:cNvPr id="170" name="Text 168"/>
          <p:cNvSpPr/>
          <p:nvPr/>
        </p:nvSpPr>
        <p:spPr>
          <a:xfrm>
            <a:off x="7498080" y="4809744"/>
            <a:ext cx="914400" cy="201168"/>
          </a:xfrm>
          <a:prstGeom prst="rect">
            <a:avLst/>
          </a:prstGeom>
          <a:noFill/>
          <a:ln/>
        </p:spPr>
        <p:txBody>
          <a:bodyPr wrap="square" rtlCol="0" anchor="ctr"/>
          <a:lstStyle/>
          <a:p>
            <a:pPr algn="r" indent="0" marL="0">
              <a:buNone/>
            </a:pPr>
            <a:r>
              <a:rPr lang="en-US" sz="750" b="1" dirty="0">
                <a:solidFill>
                  <a:srgbClr val="50534D"/>
                </a:solidFill>
                <a:latin typeface="Consolas" pitchFamily="34" charset="0"/>
                <a:ea typeface="Consolas" pitchFamily="34" charset="-122"/>
                <a:cs typeface="Consolas" pitchFamily="34" charset="-120"/>
              </a:rPr>
              <a:t>05 / 10</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BDD"/>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750" b="1" spc="200" kern="0" dirty="0">
                <a:solidFill>
                  <a:srgbClr val="50534D"/>
                </a:solidFill>
                <a:latin typeface="Consolas" pitchFamily="34" charset="0"/>
                <a:ea typeface="Consolas" pitchFamily="34" charset="-122"/>
                <a:cs typeface="Consolas" pitchFamily="34" charset="-120"/>
              </a:rPr>
              <a:t>COMPARATIVE EPIDEMIOLOGICAL PROFILES // STATISTICAL STABILITY</a:t>
            </a:r>
            <a:endParaRPr lang="en-US" sz="750" dirty="0"/>
          </a:p>
        </p:txBody>
      </p:sp>
      <p:sp>
        <p:nvSpPr>
          <p:cNvPr id="3" name="Text 1"/>
          <p:cNvSpPr/>
          <p:nvPr/>
        </p:nvSpPr>
        <p:spPr>
          <a:xfrm>
            <a:off x="731520" y="530352"/>
            <a:ext cx="7680960" cy="457200"/>
          </a:xfrm>
          <a:prstGeom prst="rect">
            <a:avLst/>
          </a:prstGeom>
          <a:noFill/>
          <a:ln/>
        </p:spPr>
        <p:txBody>
          <a:bodyPr wrap="square" rtlCol="0" anchor="ctr"/>
          <a:lstStyle/>
          <a:p>
            <a:pPr indent="0" marL="0">
              <a:lnSpc>
                <a:spcPct val="110000"/>
              </a:lnSpc>
              <a:buNone/>
            </a:pPr>
            <a:r>
              <a:rPr lang="en-US" sz="2000" b="1" dirty="0">
                <a:solidFill>
                  <a:srgbClr val="171A18"/>
                </a:solidFill>
                <a:latin typeface="Georgia" pitchFamily="34" charset="0"/>
                <a:ea typeface="Georgia" pitchFamily="34" charset="-122"/>
                <a:cs typeface="Georgia" pitchFamily="34" charset="-120"/>
              </a:rPr>
              <a:t>Contrasting Dynamics: Vector-Borne Asymmetry vs. Enteric Rhythms</a:t>
            </a:r>
            <a:endParaRPr lang="en-US" sz="2000" dirty="0"/>
          </a:p>
        </p:txBody>
      </p:sp>
      <p:sp>
        <p:nvSpPr>
          <p:cNvPr id="4" name="Text 2"/>
          <p:cNvSpPr/>
          <p:nvPr/>
        </p:nvSpPr>
        <p:spPr>
          <a:xfrm>
            <a:off x="731520" y="987552"/>
            <a:ext cx="7680960" cy="274320"/>
          </a:xfrm>
          <a:prstGeom prst="rect">
            <a:avLst/>
          </a:prstGeom>
          <a:noFill/>
          <a:ln/>
        </p:spPr>
        <p:txBody>
          <a:bodyPr wrap="square" rtlCol="0" anchor="ctr"/>
          <a:lstStyle/>
          <a:p>
            <a:pPr indent="0" marL="0">
              <a:buNone/>
            </a:pPr>
            <a:r>
              <a:rPr lang="en-US" sz="1050" dirty="0">
                <a:solidFill>
                  <a:srgbClr val="50534D"/>
                </a:solidFill>
                <a:latin typeface="Calibri" pitchFamily="34" charset="0"/>
                <a:ea typeface="Calibri" pitchFamily="34" charset="-122"/>
                <a:cs typeface="Calibri" pitchFamily="34" charset="-120"/>
              </a:rPr>
              <a:t>Comparing temporal peak windows and multi-year rank concordance across 2022–2025.</a:t>
            </a:r>
            <a:endParaRPr lang="en-US" sz="1050" dirty="0"/>
          </a:p>
        </p:txBody>
      </p:sp>
      <p:sp>
        <p:nvSpPr>
          <p:cNvPr id="5" name="Shape 3"/>
          <p:cNvSpPr/>
          <p:nvPr/>
        </p:nvSpPr>
        <p:spPr>
          <a:xfrm>
            <a:off x="731520" y="1298448"/>
            <a:ext cx="7680960" cy="0"/>
          </a:xfrm>
          <a:prstGeom prst="line">
            <a:avLst/>
          </a:prstGeom>
          <a:noFill/>
          <a:ln w="9525">
            <a:solidFill>
              <a:srgbClr val="D8CFBC"/>
            </a:solidFill>
            <a:prstDash val="solid"/>
          </a:ln>
        </p:spPr>
      </p:sp>
      <p:sp>
        <p:nvSpPr>
          <p:cNvPr id="6" name="Shape 4"/>
          <p:cNvSpPr/>
          <p:nvPr/>
        </p:nvSpPr>
        <p:spPr>
          <a:xfrm>
            <a:off x="731520" y="1325880"/>
            <a:ext cx="3703320" cy="3063240"/>
          </a:xfrm>
          <a:prstGeom prst="rect">
            <a:avLst/>
          </a:prstGeom>
          <a:solidFill>
            <a:srgbClr val="E9E2D2"/>
          </a:solidFill>
          <a:ln w="9525">
            <a:solidFill>
              <a:srgbClr val="D8CFBC"/>
            </a:solidFill>
            <a:prstDash val="solid"/>
          </a:ln>
        </p:spPr>
      </p:sp>
      <p:sp>
        <p:nvSpPr>
          <p:cNvPr id="7" name="Text 5"/>
          <p:cNvSpPr/>
          <p:nvPr/>
        </p:nvSpPr>
        <p:spPr>
          <a:xfrm>
            <a:off x="914400" y="1463040"/>
            <a:ext cx="3337560" cy="201168"/>
          </a:xfrm>
          <a:prstGeom prst="rect">
            <a:avLst/>
          </a:prstGeom>
          <a:noFill/>
          <a:ln/>
        </p:spPr>
        <p:txBody>
          <a:bodyPr wrap="square" rtlCol="0" anchor="ctr"/>
          <a:lstStyle/>
          <a:p>
            <a:pPr indent="0" marL="0">
              <a:buNone/>
            </a:pPr>
            <a:r>
              <a:rPr lang="en-US" sz="750" b="1" dirty="0">
                <a:solidFill>
                  <a:srgbClr val="174A4A"/>
                </a:solidFill>
                <a:latin typeface="Consolas" pitchFamily="34" charset="0"/>
                <a:ea typeface="Consolas" pitchFamily="34" charset="-122"/>
                <a:cs typeface="Consolas" pitchFamily="34" charset="-120"/>
              </a:rPr>
              <a:t>VECTOR-BORNE ASYMMETRY</a:t>
            </a:r>
            <a:endParaRPr lang="en-US" sz="750" dirty="0"/>
          </a:p>
        </p:txBody>
      </p:sp>
      <p:sp>
        <p:nvSpPr>
          <p:cNvPr id="8" name="Text 6"/>
          <p:cNvSpPr/>
          <p:nvPr/>
        </p:nvSpPr>
        <p:spPr>
          <a:xfrm>
            <a:off x="914400" y="1673352"/>
            <a:ext cx="3337560" cy="274320"/>
          </a:xfrm>
          <a:prstGeom prst="rect">
            <a:avLst/>
          </a:prstGeom>
          <a:noFill/>
          <a:ln/>
        </p:spPr>
        <p:txBody>
          <a:bodyPr wrap="square" rtlCol="0" anchor="ctr"/>
          <a:lstStyle/>
          <a:p>
            <a:pPr indent="0" marL="0">
              <a:buNone/>
            </a:pPr>
            <a:r>
              <a:rPr lang="en-US" sz="1300" b="1" dirty="0">
                <a:solidFill>
                  <a:srgbClr val="171A18"/>
                </a:solidFill>
                <a:latin typeface="Georgia" pitchFamily="34" charset="0"/>
                <a:ea typeface="Georgia" pitchFamily="34" charset="-122"/>
                <a:cs typeface="Georgia" pitchFamily="34" charset="-120"/>
              </a:rPr>
              <a:t>Dengue vs. Malaria Peak Lag</a:t>
            </a:r>
            <a:endParaRPr lang="en-US" sz="1300" dirty="0"/>
          </a:p>
        </p:txBody>
      </p:sp>
      <p:sp>
        <p:nvSpPr>
          <p:cNvPr id="9" name="Shape 7"/>
          <p:cNvSpPr/>
          <p:nvPr/>
        </p:nvSpPr>
        <p:spPr>
          <a:xfrm>
            <a:off x="914400" y="2011680"/>
            <a:ext cx="3337560" cy="960120"/>
          </a:xfrm>
          <a:prstGeom prst="rect">
            <a:avLst/>
          </a:prstGeom>
          <a:solidFill>
            <a:srgbClr val="F9F6EF"/>
          </a:solidFill>
          <a:ln w="9525">
            <a:solidFill>
              <a:srgbClr val="D8CFBC"/>
            </a:solidFill>
            <a:prstDash val="solid"/>
          </a:ln>
        </p:spPr>
      </p:sp>
      <p:sp>
        <p:nvSpPr>
          <p:cNvPr id="10" name="Text 8"/>
          <p:cNvSpPr/>
          <p:nvPr/>
        </p:nvSpPr>
        <p:spPr>
          <a:xfrm>
            <a:off x="1051560" y="2103120"/>
            <a:ext cx="3063240" cy="164592"/>
          </a:xfrm>
          <a:prstGeom prst="rect">
            <a:avLst/>
          </a:prstGeom>
          <a:noFill/>
          <a:ln/>
        </p:spPr>
        <p:txBody>
          <a:bodyPr wrap="square" rtlCol="0" anchor="ctr"/>
          <a:lstStyle/>
          <a:p>
            <a:pPr indent="0" marL="0">
              <a:buNone/>
            </a:pPr>
            <a:r>
              <a:rPr lang="en-US" sz="650" b="1" dirty="0">
                <a:solidFill>
                  <a:srgbClr val="C84B2F"/>
                </a:solidFill>
                <a:latin typeface="Consolas" pitchFamily="34" charset="0"/>
                <a:ea typeface="Consolas" pitchFamily="34" charset="-122"/>
                <a:cs typeface="Consolas" pitchFamily="34" charset="-120"/>
              </a:rPr>
              <a:t>MALARIA // EARLY MONSOON (MAY–JULY)</a:t>
            </a:r>
            <a:endParaRPr lang="en-US" sz="650" dirty="0"/>
          </a:p>
        </p:txBody>
      </p:sp>
      <p:sp>
        <p:nvSpPr>
          <p:cNvPr id="11" name="Text 9"/>
          <p:cNvSpPr/>
          <p:nvPr/>
        </p:nvSpPr>
        <p:spPr>
          <a:xfrm>
            <a:off x="1051560" y="2286000"/>
            <a:ext cx="3063240" cy="594360"/>
          </a:xfrm>
          <a:prstGeom prst="rect">
            <a:avLst/>
          </a:prstGeom>
          <a:noFill/>
          <a:ln/>
        </p:spPr>
        <p:txBody>
          <a:bodyPr wrap="square" rtlCol="0" anchor="ctr"/>
          <a:lstStyle/>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51.4% of all Malaria outbreaks occur in May–July; peaks in June (15 events).</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Driven by early rainwater pooling in rural and fringe environments.</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Kendall's W = 0.319 (p = 0.229) — indicates weak inter-annual concordance.</a:t>
            </a:r>
            <a:endParaRPr lang="en-US" sz="800" dirty="0"/>
          </a:p>
        </p:txBody>
      </p:sp>
      <p:sp>
        <p:nvSpPr>
          <p:cNvPr id="12" name="Shape 10"/>
          <p:cNvSpPr/>
          <p:nvPr/>
        </p:nvSpPr>
        <p:spPr>
          <a:xfrm>
            <a:off x="914400" y="3108960"/>
            <a:ext cx="3337560" cy="960120"/>
          </a:xfrm>
          <a:prstGeom prst="rect">
            <a:avLst/>
          </a:prstGeom>
          <a:solidFill>
            <a:srgbClr val="F9F6EF"/>
          </a:solidFill>
          <a:ln w="9525">
            <a:solidFill>
              <a:srgbClr val="D8CFBC"/>
            </a:solidFill>
            <a:prstDash val="solid"/>
          </a:ln>
        </p:spPr>
      </p:sp>
      <p:sp>
        <p:nvSpPr>
          <p:cNvPr id="13" name="Text 11"/>
          <p:cNvSpPr/>
          <p:nvPr/>
        </p:nvSpPr>
        <p:spPr>
          <a:xfrm>
            <a:off x="1051560" y="3200400"/>
            <a:ext cx="3063240" cy="164592"/>
          </a:xfrm>
          <a:prstGeom prst="rect">
            <a:avLst/>
          </a:prstGeom>
          <a:noFill/>
          <a:ln/>
        </p:spPr>
        <p:txBody>
          <a:bodyPr wrap="square" rtlCol="0" anchor="ctr"/>
          <a:lstStyle/>
          <a:p>
            <a:pPr indent="0" marL="0">
              <a:buNone/>
            </a:pPr>
            <a:r>
              <a:rPr lang="en-US" sz="650" b="1" dirty="0">
                <a:solidFill>
                  <a:srgbClr val="174A4A"/>
                </a:solidFill>
                <a:latin typeface="Consolas" pitchFamily="34" charset="0"/>
                <a:ea typeface="Consolas" pitchFamily="34" charset="-122"/>
                <a:cs typeface="Consolas" pitchFamily="34" charset="-120"/>
              </a:rPr>
              <a:t>DENGUE // LATE MONSOON TO AUTUMN (AUG–OCT)</a:t>
            </a:r>
            <a:endParaRPr lang="en-US" sz="650" dirty="0"/>
          </a:p>
        </p:txBody>
      </p:sp>
      <p:sp>
        <p:nvSpPr>
          <p:cNvPr id="14" name="Text 12"/>
          <p:cNvSpPr/>
          <p:nvPr/>
        </p:nvSpPr>
        <p:spPr>
          <a:xfrm>
            <a:off x="1051560" y="3383280"/>
            <a:ext cx="3063240" cy="594360"/>
          </a:xfrm>
          <a:prstGeom prst="rect">
            <a:avLst/>
          </a:prstGeom>
          <a:noFill/>
          <a:ln/>
        </p:spPr>
        <p:txBody>
          <a:bodyPr wrap="square" rtlCol="0" anchor="ctr"/>
          <a:lstStyle/>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82.8% of all Dengue outbreaks concentrate in June–October; peaks in October (40 events).</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Peaks 2–3 months AFTER Malaria due to Aedes breeding in artificial domestic storage.</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Kendall's W = 0.405 (p = 0.086) — moderate seasonal concordance.</a:t>
            </a:r>
            <a:endParaRPr lang="en-US" sz="800" dirty="0"/>
          </a:p>
        </p:txBody>
      </p:sp>
      <p:sp>
        <p:nvSpPr>
          <p:cNvPr id="15" name="Shape 13"/>
          <p:cNvSpPr/>
          <p:nvPr/>
        </p:nvSpPr>
        <p:spPr>
          <a:xfrm>
            <a:off x="4709160" y="1325880"/>
            <a:ext cx="3703320" cy="3063240"/>
          </a:xfrm>
          <a:prstGeom prst="rect">
            <a:avLst/>
          </a:prstGeom>
          <a:solidFill>
            <a:srgbClr val="E9E2D2"/>
          </a:solidFill>
          <a:ln w="9525">
            <a:solidFill>
              <a:srgbClr val="D8CFBC"/>
            </a:solidFill>
            <a:prstDash val="solid"/>
          </a:ln>
        </p:spPr>
      </p:sp>
      <p:sp>
        <p:nvSpPr>
          <p:cNvPr id="16" name="Text 14"/>
          <p:cNvSpPr/>
          <p:nvPr/>
        </p:nvSpPr>
        <p:spPr>
          <a:xfrm>
            <a:off x="4892040" y="1463040"/>
            <a:ext cx="3337560" cy="201168"/>
          </a:xfrm>
          <a:prstGeom prst="rect">
            <a:avLst/>
          </a:prstGeom>
          <a:noFill/>
          <a:ln/>
        </p:spPr>
        <p:txBody>
          <a:bodyPr wrap="square" rtlCol="0" anchor="ctr"/>
          <a:lstStyle/>
          <a:p>
            <a:pPr indent="0" marL="0">
              <a:buNone/>
            </a:pPr>
            <a:r>
              <a:rPr lang="en-US" sz="750" b="1" dirty="0">
                <a:solidFill>
                  <a:srgbClr val="C84B2F"/>
                </a:solidFill>
                <a:latin typeface="Consolas" pitchFamily="34" charset="0"/>
                <a:ea typeface="Consolas" pitchFamily="34" charset="-122"/>
                <a:cs typeface="Consolas" pitchFamily="34" charset="-120"/>
              </a:rPr>
              <a:t>ENTERIC &amp; FOODBORNE CONTRASTS</a:t>
            </a:r>
            <a:endParaRPr lang="en-US" sz="750" dirty="0"/>
          </a:p>
        </p:txBody>
      </p:sp>
      <p:sp>
        <p:nvSpPr>
          <p:cNvPr id="17" name="Text 15"/>
          <p:cNvSpPr/>
          <p:nvPr/>
        </p:nvSpPr>
        <p:spPr>
          <a:xfrm>
            <a:off x="4892040" y="1673352"/>
            <a:ext cx="3337560" cy="274320"/>
          </a:xfrm>
          <a:prstGeom prst="rect">
            <a:avLst/>
          </a:prstGeom>
          <a:noFill/>
          <a:ln/>
        </p:spPr>
        <p:txBody>
          <a:bodyPr wrap="square" rtlCol="0" anchor="ctr"/>
          <a:lstStyle/>
          <a:p>
            <a:pPr indent="0" marL="0">
              <a:buNone/>
            </a:pPr>
            <a:r>
              <a:rPr lang="en-US" sz="1300" b="1" dirty="0">
                <a:solidFill>
                  <a:srgbClr val="171A18"/>
                </a:solidFill>
                <a:latin typeface="Georgia" pitchFamily="34" charset="0"/>
                <a:ea typeface="Georgia" pitchFamily="34" charset="-122"/>
                <a:cs typeface="Georgia" pitchFamily="34" charset="-120"/>
              </a:rPr>
              <a:t>ADD Stability vs. Food Poisoning Points</a:t>
            </a:r>
            <a:endParaRPr lang="en-US" sz="1300" dirty="0"/>
          </a:p>
        </p:txBody>
      </p:sp>
      <p:sp>
        <p:nvSpPr>
          <p:cNvPr id="18" name="Shape 16"/>
          <p:cNvSpPr/>
          <p:nvPr/>
        </p:nvSpPr>
        <p:spPr>
          <a:xfrm>
            <a:off x="4892040" y="2011680"/>
            <a:ext cx="3337560" cy="960120"/>
          </a:xfrm>
          <a:prstGeom prst="rect">
            <a:avLst/>
          </a:prstGeom>
          <a:solidFill>
            <a:srgbClr val="F9F6EF"/>
          </a:solidFill>
          <a:ln w="9525">
            <a:solidFill>
              <a:srgbClr val="D8CFBC"/>
            </a:solidFill>
            <a:prstDash val="solid"/>
          </a:ln>
        </p:spPr>
      </p:sp>
      <p:sp>
        <p:nvSpPr>
          <p:cNvPr id="19" name="Text 17"/>
          <p:cNvSpPr/>
          <p:nvPr/>
        </p:nvSpPr>
        <p:spPr>
          <a:xfrm>
            <a:off x="5029200" y="2103120"/>
            <a:ext cx="3063240" cy="164592"/>
          </a:xfrm>
          <a:prstGeom prst="rect">
            <a:avLst/>
          </a:prstGeom>
          <a:noFill/>
          <a:ln/>
        </p:spPr>
        <p:txBody>
          <a:bodyPr wrap="square" rtlCol="0" anchor="ctr"/>
          <a:lstStyle/>
          <a:p>
            <a:pPr indent="0" marL="0">
              <a:buNone/>
            </a:pPr>
            <a:r>
              <a:rPr lang="en-US" sz="650" b="1" dirty="0">
                <a:solidFill>
                  <a:srgbClr val="174A4A"/>
                </a:solidFill>
                <a:latin typeface="Consolas" pitchFamily="34" charset="0"/>
                <a:ea typeface="Consolas" pitchFamily="34" charset="-122"/>
                <a:cs typeface="Consolas" pitchFamily="34" charset="-120"/>
              </a:rPr>
              <a:t>ACUTE DIARRHEAL DISEASE // STATISTICALLY CONCORDANT</a:t>
            </a:r>
            <a:endParaRPr lang="en-US" sz="650" dirty="0"/>
          </a:p>
        </p:txBody>
      </p:sp>
      <p:sp>
        <p:nvSpPr>
          <p:cNvPr id="20" name="Text 18"/>
          <p:cNvSpPr/>
          <p:nvPr/>
        </p:nvSpPr>
        <p:spPr>
          <a:xfrm>
            <a:off x="5029200" y="2286000"/>
            <a:ext cx="3063240" cy="594360"/>
          </a:xfrm>
          <a:prstGeom prst="rect">
            <a:avLst/>
          </a:prstGeom>
          <a:noFill/>
          <a:ln/>
        </p:spPr>
        <p:txBody>
          <a:bodyPr wrap="square" rtlCol="0" anchor="ctr"/>
          <a:lstStyle/>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43.1% CR3 in June–August; steady monsoon elevation with secondary post-monsoon wave.</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Kendall's W = 0.530 (p = 0.016, statistically significant at p &lt; 0.05).</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The ONLY disease family demonstrating reliable inter-annual monthly rank stability.</a:t>
            </a:r>
            <a:endParaRPr lang="en-US" sz="800" dirty="0"/>
          </a:p>
        </p:txBody>
      </p:sp>
      <p:sp>
        <p:nvSpPr>
          <p:cNvPr id="21" name="Shape 19"/>
          <p:cNvSpPr/>
          <p:nvPr/>
        </p:nvSpPr>
        <p:spPr>
          <a:xfrm>
            <a:off x="4892040" y="3108960"/>
            <a:ext cx="3337560" cy="960120"/>
          </a:xfrm>
          <a:prstGeom prst="rect">
            <a:avLst/>
          </a:prstGeom>
          <a:solidFill>
            <a:srgbClr val="F9F6EF"/>
          </a:solidFill>
          <a:ln w="9525">
            <a:solidFill>
              <a:srgbClr val="D8CFBC"/>
            </a:solidFill>
            <a:prstDash val="solid"/>
          </a:ln>
        </p:spPr>
      </p:sp>
      <p:sp>
        <p:nvSpPr>
          <p:cNvPr id="22" name="Text 20"/>
          <p:cNvSpPr/>
          <p:nvPr/>
        </p:nvSpPr>
        <p:spPr>
          <a:xfrm>
            <a:off x="5029200" y="3200400"/>
            <a:ext cx="3063240" cy="164592"/>
          </a:xfrm>
          <a:prstGeom prst="rect">
            <a:avLst/>
          </a:prstGeom>
          <a:noFill/>
          <a:ln/>
        </p:spPr>
        <p:txBody>
          <a:bodyPr wrap="square" rtlCol="0" anchor="ctr"/>
          <a:lstStyle/>
          <a:p>
            <a:pPr indent="0" marL="0">
              <a:buNone/>
            </a:pPr>
            <a:r>
              <a:rPr lang="en-US" sz="650" b="1" dirty="0">
                <a:solidFill>
                  <a:srgbClr val="C84B2F"/>
                </a:solidFill>
                <a:latin typeface="Consolas" pitchFamily="34" charset="0"/>
                <a:ea typeface="Consolas" pitchFamily="34" charset="-122"/>
                <a:cs typeface="Consolas" pitchFamily="34" charset="-120"/>
              </a:rPr>
              <a:t>FOOD POISONING // POINT-SOURCE &amp; BIMODAL</a:t>
            </a:r>
            <a:endParaRPr lang="en-US" sz="650" dirty="0"/>
          </a:p>
        </p:txBody>
      </p:sp>
      <p:sp>
        <p:nvSpPr>
          <p:cNvPr id="23" name="Text 21"/>
          <p:cNvSpPr/>
          <p:nvPr/>
        </p:nvSpPr>
        <p:spPr>
          <a:xfrm>
            <a:off x="5029200" y="3383280"/>
            <a:ext cx="3063240" cy="594360"/>
          </a:xfrm>
          <a:prstGeom prst="rect">
            <a:avLst/>
          </a:prstGeom>
          <a:noFill/>
          <a:ln/>
        </p:spPr>
        <p:txBody>
          <a:bodyPr wrap="square" rtlCol="0" anchor="ctr"/>
          <a:lstStyle/>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Bimodal outbreak records: Jan–Feb (18 events) and Apr–May (20 events).</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Kendall's W = 0.260 (p = 0.380) — non-concordant across baseline years.</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Governed by discrete institutional meal contaminations, not climatic cycles.</a:t>
            </a:r>
            <a:endParaRPr lang="en-US" sz="800" dirty="0"/>
          </a:p>
        </p:txBody>
      </p:sp>
      <p:sp>
        <p:nvSpPr>
          <p:cNvPr id="24" name="Shape 22"/>
          <p:cNvSpPr/>
          <p:nvPr/>
        </p:nvSpPr>
        <p:spPr>
          <a:xfrm>
            <a:off x="731520" y="4736592"/>
            <a:ext cx="7680960" cy="0"/>
          </a:xfrm>
          <a:prstGeom prst="line">
            <a:avLst/>
          </a:prstGeom>
          <a:noFill/>
          <a:ln w="9525">
            <a:solidFill>
              <a:srgbClr val="D8CFBC"/>
            </a:solidFill>
            <a:prstDash val="solid"/>
          </a:ln>
        </p:spPr>
      </p:sp>
      <p:sp>
        <p:nvSpPr>
          <p:cNvPr id="25" name="Text 23"/>
          <p:cNvSpPr/>
          <p:nvPr/>
        </p:nvSpPr>
        <p:spPr>
          <a:xfrm>
            <a:off x="731520" y="4809744"/>
            <a:ext cx="6400800" cy="201168"/>
          </a:xfrm>
          <a:prstGeom prst="rect">
            <a:avLst/>
          </a:prstGeom>
          <a:noFill/>
          <a:ln/>
        </p:spPr>
        <p:txBody>
          <a:bodyPr wrap="square" rtlCol="0" anchor="ctr"/>
          <a:lstStyle/>
          <a:p>
            <a:pPr indent="0" marL="0">
              <a:buNone/>
            </a:pPr>
            <a:r>
              <a:rPr lang="en-US" sz="650" dirty="0">
                <a:solidFill>
                  <a:srgbClr val="7A7D77"/>
                </a:solidFill>
                <a:latin typeface="Consolas" pitchFamily="34" charset="0"/>
                <a:ea typeface="Consolas" pitchFamily="34" charset="-122"/>
                <a:cs typeface="Consolas" pitchFamily="34" charset="-120"/>
              </a:rPr>
              <a:t>SOURCE: PHASE 5B SEASONAL INDICES &amp; PHASE 5C ADVANCED STATISTICAL ANALYSIS</a:t>
            </a:r>
            <a:endParaRPr lang="en-US" sz="650" dirty="0"/>
          </a:p>
        </p:txBody>
      </p:sp>
      <p:sp>
        <p:nvSpPr>
          <p:cNvPr id="26" name="Text 24"/>
          <p:cNvSpPr/>
          <p:nvPr/>
        </p:nvSpPr>
        <p:spPr>
          <a:xfrm>
            <a:off x="7498080" y="4809744"/>
            <a:ext cx="914400" cy="201168"/>
          </a:xfrm>
          <a:prstGeom prst="rect">
            <a:avLst/>
          </a:prstGeom>
          <a:noFill/>
          <a:ln/>
        </p:spPr>
        <p:txBody>
          <a:bodyPr wrap="square" rtlCol="0" anchor="ctr"/>
          <a:lstStyle/>
          <a:p>
            <a:pPr algn="r" indent="0" marL="0">
              <a:buNone/>
            </a:pPr>
            <a:r>
              <a:rPr lang="en-US" sz="750" b="1" dirty="0">
                <a:solidFill>
                  <a:srgbClr val="50534D"/>
                </a:solidFill>
                <a:latin typeface="Consolas" pitchFamily="34" charset="0"/>
                <a:ea typeface="Consolas" pitchFamily="34" charset="-122"/>
                <a:cs typeface="Consolas" pitchFamily="34" charset="-120"/>
              </a:rPr>
              <a:t>06 / 10</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BDD"/>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750" b="1" spc="200" kern="0" dirty="0">
                <a:solidFill>
                  <a:srgbClr val="50534D"/>
                </a:solidFill>
                <a:latin typeface="Consolas" pitchFamily="34" charset="0"/>
                <a:ea typeface="Consolas" pitchFamily="34" charset="-122"/>
                <a:cs typeface="Consolas" pitchFamily="34" charset="-120"/>
              </a:rPr>
              <a:t>SENSITIVITY ANALYSIS // EVENT VS. CASE VOLUME DIVERGENCE</a:t>
            </a:r>
            <a:endParaRPr lang="en-US" sz="750" dirty="0"/>
          </a:p>
        </p:txBody>
      </p:sp>
      <p:sp>
        <p:nvSpPr>
          <p:cNvPr id="3" name="Text 1"/>
          <p:cNvSpPr/>
          <p:nvPr/>
        </p:nvSpPr>
        <p:spPr>
          <a:xfrm>
            <a:off x="731520" y="530352"/>
            <a:ext cx="7680960" cy="457200"/>
          </a:xfrm>
          <a:prstGeom prst="rect">
            <a:avLst/>
          </a:prstGeom>
          <a:noFill/>
          <a:ln/>
        </p:spPr>
        <p:txBody>
          <a:bodyPr wrap="square" rtlCol="0" anchor="ctr"/>
          <a:lstStyle/>
          <a:p>
            <a:pPr indent="0" marL="0">
              <a:lnSpc>
                <a:spcPct val="110000"/>
              </a:lnSpc>
              <a:buNone/>
            </a:pPr>
            <a:r>
              <a:rPr lang="en-US" sz="2000" b="1" dirty="0">
                <a:solidFill>
                  <a:srgbClr val="171A18"/>
                </a:solidFill>
                <a:latin typeface="Georgia" pitchFamily="34" charset="0"/>
                <a:ea typeface="Georgia" pitchFamily="34" charset="-122"/>
                <a:cs typeface="Georgia" pitchFamily="34" charset="-120"/>
              </a:rPr>
              <a:t>Outlier Sensitivity: How Three Records Distort Four-Year Case Totals</a:t>
            </a:r>
            <a:endParaRPr lang="en-US" sz="2000" dirty="0"/>
          </a:p>
        </p:txBody>
      </p:sp>
      <p:sp>
        <p:nvSpPr>
          <p:cNvPr id="4" name="Text 2"/>
          <p:cNvSpPr/>
          <p:nvPr/>
        </p:nvSpPr>
        <p:spPr>
          <a:xfrm>
            <a:off x="731520" y="987552"/>
            <a:ext cx="7680960" cy="274320"/>
          </a:xfrm>
          <a:prstGeom prst="rect">
            <a:avLst/>
          </a:prstGeom>
          <a:noFill/>
          <a:ln/>
        </p:spPr>
        <p:txBody>
          <a:bodyPr wrap="square" rtlCol="0" anchor="ctr"/>
          <a:lstStyle/>
          <a:p>
            <a:pPr indent="0" marL="0">
              <a:buNone/>
            </a:pPr>
            <a:r>
              <a:rPr lang="en-US" sz="1050" dirty="0">
                <a:solidFill>
                  <a:srgbClr val="50534D"/>
                </a:solidFill>
                <a:latin typeface="Calibri" pitchFamily="34" charset="0"/>
                <a:ea typeface="Calibri" pitchFamily="34" charset="-122"/>
                <a:cs typeface="Calibri" pitchFamily="34" charset="-120"/>
              </a:rPr>
              <a:t>Why data science must separate outbreak event frequency from case volume enumeration.</a:t>
            </a:r>
            <a:endParaRPr lang="en-US" sz="1050" dirty="0"/>
          </a:p>
        </p:txBody>
      </p:sp>
      <p:sp>
        <p:nvSpPr>
          <p:cNvPr id="5" name="Shape 3"/>
          <p:cNvSpPr/>
          <p:nvPr/>
        </p:nvSpPr>
        <p:spPr>
          <a:xfrm>
            <a:off x="731520" y="1298448"/>
            <a:ext cx="7680960" cy="0"/>
          </a:xfrm>
          <a:prstGeom prst="line">
            <a:avLst/>
          </a:prstGeom>
          <a:noFill/>
          <a:ln w="9525">
            <a:solidFill>
              <a:srgbClr val="D8CFBC"/>
            </a:solidFill>
            <a:prstDash val="solid"/>
          </a:ln>
        </p:spPr>
      </p:sp>
      <p:sp>
        <p:nvSpPr>
          <p:cNvPr id="6" name="Shape 4"/>
          <p:cNvSpPr/>
          <p:nvPr/>
        </p:nvSpPr>
        <p:spPr>
          <a:xfrm>
            <a:off x="731520" y="1325880"/>
            <a:ext cx="3749040" cy="3063240"/>
          </a:xfrm>
          <a:prstGeom prst="rect">
            <a:avLst/>
          </a:prstGeom>
          <a:solidFill>
            <a:srgbClr val="E9E2D2"/>
          </a:solidFill>
          <a:ln w="9525">
            <a:solidFill>
              <a:srgbClr val="D8CFBC"/>
            </a:solidFill>
            <a:prstDash val="solid"/>
          </a:ln>
        </p:spPr>
      </p:sp>
      <p:sp>
        <p:nvSpPr>
          <p:cNvPr id="7" name="Text 5"/>
          <p:cNvSpPr/>
          <p:nvPr/>
        </p:nvSpPr>
        <p:spPr>
          <a:xfrm>
            <a:off x="914400" y="1463040"/>
            <a:ext cx="3383280" cy="201168"/>
          </a:xfrm>
          <a:prstGeom prst="rect">
            <a:avLst/>
          </a:prstGeom>
          <a:noFill/>
          <a:ln/>
        </p:spPr>
        <p:txBody>
          <a:bodyPr wrap="square" rtlCol="0" anchor="ctr"/>
          <a:lstStyle/>
          <a:p>
            <a:pPr indent="0" marL="0">
              <a:buNone/>
            </a:pPr>
            <a:r>
              <a:rPr lang="en-US" sz="750" b="1" dirty="0">
                <a:solidFill>
                  <a:srgbClr val="C84B2F"/>
                </a:solidFill>
                <a:latin typeface="Consolas" pitchFamily="34" charset="0"/>
                <a:ea typeface="Consolas" pitchFamily="34" charset="-122"/>
                <a:cs typeface="Consolas" pitchFamily="34" charset="-120"/>
              </a:rPr>
              <a:t>THE THREE DRIVER RECORDS</a:t>
            </a:r>
            <a:endParaRPr lang="en-US" sz="750" dirty="0"/>
          </a:p>
        </p:txBody>
      </p:sp>
      <p:sp>
        <p:nvSpPr>
          <p:cNvPr id="8" name="Text 6"/>
          <p:cNvSpPr/>
          <p:nvPr/>
        </p:nvSpPr>
        <p:spPr>
          <a:xfrm>
            <a:off x="914400" y="1673352"/>
            <a:ext cx="3383280" cy="256032"/>
          </a:xfrm>
          <a:prstGeom prst="rect">
            <a:avLst/>
          </a:prstGeom>
          <a:noFill/>
          <a:ln/>
        </p:spPr>
        <p:txBody>
          <a:bodyPr wrap="square" rtlCol="0" anchor="ctr"/>
          <a:lstStyle/>
          <a:p>
            <a:pPr indent="0" marL="0">
              <a:buNone/>
            </a:pPr>
            <a:r>
              <a:rPr lang="en-US" sz="1250" b="1" dirty="0">
                <a:solidFill>
                  <a:srgbClr val="171A18"/>
                </a:solidFill>
                <a:latin typeface="Georgia" pitchFamily="34" charset="0"/>
                <a:ea typeface="Georgia" pitchFamily="34" charset="-122"/>
                <a:cs typeface="Georgia" pitchFamily="34" charset="-120"/>
              </a:rPr>
              <a:t>Mass Institutional Outbreaks in February</a:t>
            </a:r>
            <a:endParaRPr lang="en-US" sz="1250" dirty="0"/>
          </a:p>
        </p:txBody>
      </p:sp>
      <p:sp>
        <p:nvSpPr>
          <p:cNvPr id="9" name="Shape 7"/>
          <p:cNvSpPr/>
          <p:nvPr/>
        </p:nvSpPr>
        <p:spPr>
          <a:xfrm>
            <a:off x="914400" y="2011680"/>
            <a:ext cx="3383280" cy="658368"/>
          </a:xfrm>
          <a:prstGeom prst="rect">
            <a:avLst/>
          </a:prstGeom>
          <a:solidFill>
            <a:srgbClr val="F9F6EF"/>
          </a:solidFill>
          <a:ln w="9525">
            <a:solidFill>
              <a:srgbClr val="D8CFBC"/>
            </a:solidFill>
            <a:prstDash val="solid"/>
          </a:ln>
        </p:spPr>
      </p:sp>
      <p:sp>
        <p:nvSpPr>
          <p:cNvPr id="10" name="Text 8"/>
          <p:cNvSpPr/>
          <p:nvPr/>
        </p:nvSpPr>
        <p:spPr>
          <a:xfrm>
            <a:off x="1051560" y="2084832"/>
            <a:ext cx="3108960" cy="182880"/>
          </a:xfrm>
          <a:prstGeom prst="rect">
            <a:avLst/>
          </a:prstGeom>
          <a:noFill/>
          <a:ln/>
        </p:spPr>
        <p:txBody>
          <a:bodyPr wrap="square" rtlCol="0" anchor="ctr"/>
          <a:lstStyle/>
          <a:p>
            <a:pPr indent="0" marL="0">
              <a:buNone/>
            </a:pPr>
            <a:r>
              <a:rPr lang="en-US" sz="700" b="1" dirty="0">
                <a:solidFill>
                  <a:srgbClr val="C84B2F"/>
                </a:solidFill>
                <a:latin typeface="Consolas" pitchFamily="34" charset="0"/>
                <a:ea typeface="Consolas" pitchFamily="34" charset="-122"/>
                <a:cs typeface="Consolas" pitchFamily="34" charset="-120"/>
              </a:rPr>
              <a:t>KOLHAPUR DISTRICT // 651 CASES</a:t>
            </a:r>
            <a:endParaRPr lang="en-US" sz="700" dirty="0"/>
          </a:p>
        </p:txBody>
      </p:sp>
      <p:sp>
        <p:nvSpPr>
          <p:cNvPr id="11" name="Text 9"/>
          <p:cNvSpPr/>
          <p:nvPr/>
        </p:nvSpPr>
        <p:spPr>
          <a:xfrm>
            <a:off x="1051560" y="2267712"/>
            <a:ext cx="3108960" cy="320040"/>
          </a:xfrm>
          <a:prstGeom prst="rect">
            <a:avLst/>
          </a:prstGeom>
          <a:noFill/>
          <a:ln/>
        </p:spPr>
        <p:txBody>
          <a:bodyPr wrap="square" rtlCol="0" anchor="ctr"/>
          <a:lstStyle/>
          <a:p>
            <a:pPr indent="0" marL="0">
              <a:buNone/>
            </a:pPr>
            <a:r>
              <a:rPr lang="en-US" sz="800" dirty="0">
                <a:solidFill>
                  <a:srgbClr val="50534D"/>
                </a:solidFill>
                <a:latin typeface="Calibri" pitchFamily="34" charset="0"/>
                <a:ea typeface="Calibri" pitchFamily="34" charset="-122"/>
                <a:cs typeface="Calibri" pitchFamily="34" charset="-120"/>
              </a:rPr>
              <a:t>Week 07 of 2024 | Single localized institutional food contamination event.</a:t>
            </a:r>
            <a:endParaRPr lang="en-US" sz="800" dirty="0"/>
          </a:p>
        </p:txBody>
      </p:sp>
      <p:sp>
        <p:nvSpPr>
          <p:cNvPr id="12" name="Shape 10"/>
          <p:cNvSpPr/>
          <p:nvPr/>
        </p:nvSpPr>
        <p:spPr>
          <a:xfrm>
            <a:off x="914400" y="2743200"/>
            <a:ext cx="3383280" cy="658368"/>
          </a:xfrm>
          <a:prstGeom prst="rect">
            <a:avLst/>
          </a:prstGeom>
          <a:solidFill>
            <a:srgbClr val="F9F6EF"/>
          </a:solidFill>
          <a:ln w="9525">
            <a:solidFill>
              <a:srgbClr val="D8CFBC"/>
            </a:solidFill>
            <a:prstDash val="solid"/>
          </a:ln>
        </p:spPr>
      </p:sp>
      <p:sp>
        <p:nvSpPr>
          <p:cNvPr id="13" name="Text 11"/>
          <p:cNvSpPr/>
          <p:nvPr/>
        </p:nvSpPr>
        <p:spPr>
          <a:xfrm>
            <a:off x="1051560" y="2816352"/>
            <a:ext cx="3108960" cy="182880"/>
          </a:xfrm>
          <a:prstGeom prst="rect">
            <a:avLst/>
          </a:prstGeom>
          <a:noFill/>
          <a:ln/>
        </p:spPr>
        <p:txBody>
          <a:bodyPr wrap="square" rtlCol="0" anchor="ctr"/>
          <a:lstStyle/>
          <a:p>
            <a:pPr indent="0" marL="0">
              <a:buNone/>
            </a:pPr>
            <a:r>
              <a:rPr lang="en-US" sz="700" b="1" dirty="0">
                <a:solidFill>
                  <a:srgbClr val="C84B2F"/>
                </a:solidFill>
                <a:latin typeface="Consolas" pitchFamily="34" charset="0"/>
                <a:ea typeface="Consolas" pitchFamily="34" charset="-122"/>
                <a:cs typeface="Consolas" pitchFamily="34" charset="-120"/>
              </a:rPr>
              <a:t>PARBHANI DISTRICT // 629 CASES</a:t>
            </a:r>
            <a:endParaRPr lang="en-US" sz="700" dirty="0"/>
          </a:p>
        </p:txBody>
      </p:sp>
      <p:sp>
        <p:nvSpPr>
          <p:cNvPr id="14" name="Text 12"/>
          <p:cNvSpPr/>
          <p:nvPr/>
        </p:nvSpPr>
        <p:spPr>
          <a:xfrm>
            <a:off x="1051560" y="2999232"/>
            <a:ext cx="3108960" cy="320040"/>
          </a:xfrm>
          <a:prstGeom prst="rect">
            <a:avLst/>
          </a:prstGeom>
          <a:noFill/>
          <a:ln/>
        </p:spPr>
        <p:txBody>
          <a:bodyPr wrap="square" rtlCol="0" anchor="ctr"/>
          <a:lstStyle/>
          <a:p>
            <a:pPr indent="0" marL="0">
              <a:buNone/>
            </a:pPr>
            <a:r>
              <a:rPr lang="en-US" sz="800" dirty="0">
                <a:solidFill>
                  <a:srgbClr val="50534D"/>
                </a:solidFill>
                <a:latin typeface="Calibri" pitchFamily="34" charset="0"/>
                <a:ea typeface="Calibri" pitchFamily="34" charset="-122"/>
                <a:cs typeface="Calibri" pitchFamily="34" charset="-120"/>
              </a:rPr>
              <a:t>Week 06 of 2025 | Single mass point-source cluster in rural Parbhani.</a:t>
            </a:r>
            <a:endParaRPr lang="en-US" sz="800" dirty="0"/>
          </a:p>
        </p:txBody>
      </p:sp>
      <p:sp>
        <p:nvSpPr>
          <p:cNvPr id="15" name="Shape 13"/>
          <p:cNvSpPr/>
          <p:nvPr/>
        </p:nvSpPr>
        <p:spPr>
          <a:xfrm>
            <a:off x="914400" y="3474720"/>
            <a:ext cx="3383280" cy="658368"/>
          </a:xfrm>
          <a:prstGeom prst="rect">
            <a:avLst/>
          </a:prstGeom>
          <a:solidFill>
            <a:srgbClr val="F9F6EF"/>
          </a:solidFill>
          <a:ln w="9525">
            <a:solidFill>
              <a:srgbClr val="D8CFBC"/>
            </a:solidFill>
            <a:prstDash val="solid"/>
          </a:ln>
        </p:spPr>
      </p:sp>
      <p:sp>
        <p:nvSpPr>
          <p:cNvPr id="16" name="Text 14"/>
          <p:cNvSpPr/>
          <p:nvPr/>
        </p:nvSpPr>
        <p:spPr>
          <a:xfrm>
            <a:off x="1051560" y="3547872"/>
            <a:ext cx="3108960" cy="182880"/>
          </a:xfrm>
          <a:prstGeom prst="rect">
            <a:avLst/>
          </a:prstGeom>
          <a:noFill/>
          <a:ln/>
        </p:spPr>
        <p:txBody>
          <a:bodyPr wrap="square" rtlCol="0" anchor="ctr"/>
          <a:lstStyle/>
          <a:p>
            <a:pPr indent="0" marL="0">
              <a:buNone/>
            </a:pPr>
            <a:r>
              <a:rPr lang="en-US" sz="700" b="1" dirty="0">
                <a:solidFill>
                  <a:srgbClr val="C84B2F"/>
                </a:solidFill>
                <a:latin typeface="Consolas" pitchFamily="34" charset="0"/>
                <a:ea typeface="Consolas" pitchFamily="34" charset="-122"/>
                <a:cs typeface="Consolas" pitchFamily="34" charset="-120"/>
              </a:rPr>
              <a:t>SOLAPUR DISTRICT // 335 CASES</a:t>
            </a:r>
            <a:endParaRPr lang="en-US" sz="700" dirty="0"/>
          </a:p>
        </p:txBody>
      </p:sp>
      <p:sp>
        <p:nvSpPr>
          <p:cNvPr id="17" name="Text 15"/>
          <p:cNvSpPr/>
          <p:nvPr/>
        </p:nvSpPr>
        <p:spPr>
          <a:xfrm>
            <a:off x="1051560" y="3730752"/>
            <a:ext cx="3108960" cy="320040"/>
          </a:xfrm>
          <a:prstGeom prst="rect">
            <a:avLst/>
          </a:prstGeom>
          <a:noFill/>
          <a:ln/>
        </p:spPr>
        <p:txBody>
          <a:bodyPr wrap="square" rtlCol="0" anchor="ctr"/>
          <a:lstStyle/>
          <a:p>
            <a:pPr indent="0" marL="0">
              <a:buNone/>
            </a:pPr>
            <a:r>
              <a:rPr lang="en-US" sz="800" dirty="0">
                <a:solidFill>
                  <a:srgbClr val="50534D"/>
                </a:solidFill>
                <a:latin typeface="Calibri" pitchFamily="34" charset="0"/>
                <a:ea typeface="Calibri" pitchFamily="34" charset="-122"/>
                <a:cs typeface="Calibri" pitchFamily="34" charset="-120"/>
              </a:rPr>
              <a:t>Week 06 of 2023 | Single high-density cluster report.</a:t>
            </a:r>
            <a:endParaRPr lang="en-US" sz="800" dirty="0"/>
          </a:p>
        </p:txBody>
      </p:sp>
      <p:sp>
        <p:nvSpPr>
          <p:cNvPr id="18" name="Shape 16"/>
          <p:cNvSpPr/>
          <p:nvPr/>
        </p:nvSpPr>
        <p:spPr>
          <a:xfrm>
            <a:off x="4754880" y="1325880"/>
            <a:ext cx="3657600" cy="3063240"/>
          </a:xfrm>
          <a:prstGeom prst="rect">
            <a:avLst/>
          </a:prstGeom>
          <a:solidFill>
            <a:srgbClr val="E9E2D2"/>
          </a:solidFill>
          <a:ln w="9525">
            <a:solidFill>
              <a:srgbClr val="D8CFBC"/>
            </a:solidFill>
            <a:prstDash val="solid"/>
          </a:ln>
        </p:spPr>
      </p:sp>
      <p:sp>
        <p:nvSpPr>
          <p:cNvPr id="19" name="Text 17"/>
          <p:cNvSpPr/>
          <p:nvPr/>
        </p:nvSpPr>
        <p:spPr>
          <a:xfrm>
            <a:off x="4937760" y="1463040"/>
            <a:ext cx="3291840" cy="201168"/>
          </a:xfrm>
          <a:prstGeom prst="rect">
            <a:avLst/>
          </a:prstGeom>
          <a:noFill/>
          <a:ln/>
        </p:spPr>
        <p:txBody>
          <a:bodyPr wrap="square" rtlCol="0" anchor="ctr"/>
          <a:lstStyle/>
          <a:p>
            <a:pPr indent="0" marL="0">
              <a:buNone/>
            </a:pPr>
            <a:r>
              <a:rPr lang="en-US" sz="750" b="1" dirty="0">
                <a:solidFill>
                  <a:srgbClr val="174A4A"/>
                </a:solidFill>
                <a:latin typeface="Consolas" pitchFamily="34" charset="0"/>
                <a:ea typeface="Consolas" pitchFamily="34" charset="-122"/>
                <a:cs typeface="Consolas" pitchFamily="34" charset="-120"/>
              </a:rPr>
              <a:t>EPIDEMIOLOGICAL IMPACT</a:t>
            </a:r>
            <a:endParaRPr lang="en-US" sz="750" dirty="0"/>
          </a:p>
        </p:txBody>
      </p:sp>
      <p:sp>
        <p:nvSpPr>
          <p:cNvPr id="20" name="Text 18"/>
          <p:cNvSpPr/>
          <p:nvPr/>
        </p:nvSpPr>
        <p:spPr>
          <a:xfrm>
            <a:off x="4937760" y="1673352"/>
            <a:ext cx="3291840" cy="256032"/>
          </a:xfrm>
          <a:prstGeom prst="rect">
            <a:avLst/>
          </a:prstGeom>
          <a:noFill/>
          <a:ln/>
        </p:spPr>
        <p:txBody>
          <a:bodyPr wrap="square" rtlCol="0" anchor="ctr"/>
          <a:lstStyle/>
          <a:p>
            <a:pPr indent="0" marL="0">
              <a:buNone/>
            </a:pPr>
            <a:r>
              <a:rPr lang="en-US" sz="1250" b="1" dirty="0">
                <a:solidFill>
                  <a:srgbClr val="171A18"/>
                </a:solidFill>
                <a:latin typeface="Georgia" pitchFamily="34" charset="0"/>
                <a:ea typeface="Georgia" pitchFamily="34" charset="-122"/>
                <a:cs typeface="Georgia" pitchFamily="34" charset="-120"/>
              </a:rPr>
              <a:t>The Distortion of the Case Curve</a:t>
            </a:r>
            <a:endParaRPr lang="en-US" sz="1250" dirty="0"/>
          </a:p>
        </p:txBody>
      </p:sp>
      <p:sp>
        <p:nvSpPr>
          <p:cNvPr id="21" name="Shape 19"/>
          <p:cNvSpPr/>
          <p:nvPr/>
        </p:nvSpPr>
        <p:spPr>
          <a:xfrm>
            <a:off x="4937760" y="2011680"/>
            <a:ext cx="3291840" cy="1005840"/>
          </a:xfrm>
          <a:prstGeom prst="rect">
            <a:avLst/>
          </a:prstGeom>
          <a:solidFill>
            <a:srgbClr val="F9F6EF"/>
          </a:solidFill>
          <a:ln w="9525">
            <a:solidFill>
              <a:srgbClr val="D8CFBC"/>
            </a:solidFill>
            <a:prstDash val="solid"/>
          </a:ln>
        </p:spPr>
      </p:sp>
      <p:sp>
        <p:nvSpPr>
          <p:cNvPr id="22" name="Text 20"/>
          <p:cNvSpPr/>
          <p:nvPr/>
        </p:nvSpPr>
        <p:spPr>
          <a:xfrm>
            <a:off x="5074920" y="2103120"/>
            <a:ext cx="3017520" cy="347472"/>
          </a:xfrm>
          <a:prstGeom prst="rect">
            <a:avLst/>
          </a:prstGeom>
          <a:noFill/>
          <a:ln/>
        </p:spPr>
        <p:txBody>
          <a:bodyPr wrap="square" rtlCol="0" anchor="ctr"/>
          <a:lstStyle/>
          <a:p>
            <a:pPr indent="0" marL="0">
              <a:buNone/>
            </a:pPr>
            <a:r>
              <a:rPr lang="en-US" sz="2000" b="1" dirty="0">
                <a:solidFill>
                  <a:srgbClr val="C84B2F"/>
                </a:solidFill>
                <a:latin typeface="Georgia" pitchFamily="34" charset="0"/>
                <a:ea typeface="Georgia" pitchFamily="34" charset="-122"/>
                <a:cs typeface="Georgia" pitchFamily="34" charset="-120"/>
              </a:rPr>
              <a:t>1,615 CASES</a:t>
            </a:r>
            <a:endParaRPr lang="en-US" sz="2000" dirty="0"/>
          </a:p>
        </p:txBody>
      </p:sp>
      <p:sp>
        <p:nvSpPr>
          <p:cNvPr id="23" name="Text 21"/>
          <p:cNvSpPr/>
          <p:nvPr/>
        </p:nvSpPr>
        <p:spPr>
          <a:xfrm>
            <a:off x="5074920" y="2468880"/>
            <a:ext cx="3017520" cy="457200"/>
          </a:xfrm>
          <a:prstGeom prst="rect">
            <a:avLst/>
          </a:prstGeom>
          <a:noFill/>
          <a:ln/>
        </p:spPr>
        <p:txBody>
          <a:bodyPr wrap="square" rtlCol="0" anchor="ctr"/>
          <a:lstStyle/>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Represent 74.7% of all February Food Poisoning cases (1,615 / 2,162), and 27.3% of ALL four-year cases across Maharashtra (1,615 / 5,927).</a:t>
            </a:r>
            <a:endParaRPr lang="en-US" sz="800" dirty="0"/>
          </a:p>
        </p:txBody>
      </p:sp>
      <p:sp>
        <p:nvSpPr>
          <p:cNvPr id="24" name="Shape 22"/>
          <p:cNvSpPr/>
          <p:nvPr/>
        </p:nvSpPr>
        <p:spPr>
          <a:xfrm>
            <a:off x="4937760" y="3108960"/>
            <a:ext cx="3291840" cy="1051560"/>
          </a:xfrm>
          <a:prstGeom prst="rect">
            <a:avLst/>
          </a:prstGeom>
          <a:solidFill>
            <a:srgbClr val="F9F6EF"/>
          </a:solidFill>
          <a:ln w="9525">
            <a:solidFill>
              <a:srgbClr val="D8CFBC"/>
            </a:solidFill>
            <a:prstDash val="solid"/>
          </a:ln>
        </p:spPr>
      </p:sp>
      <p:sp>
        <p:nvSpPr>
          <p:cNvPr id="25" name="Text 23"/>
          <p:cNvSpPr/>
          <p:nvPr/>
        </p:nvSpPr>
        <p:spPr>
          <a:xfrm>
            <a:off x="5074920" y="3200400"/>
            <a:ext cx="3017520" cy="182880"/>
          </a:xfrm>
          <a:prstGeom prst="rect">
            <a:avLst/>
          </a:prstGeom>
          <a:noFill/>
          <a:ln/>
        </p:spPr>
        <p:txBody>
          <a:bodyPr wrap="square" rtlCol="0" anchor="ctr"/>
          <a:lstStyle/>
          <a:p>
            <a:pPr indent="0" marL="0">
              <a:buNone/>
            </a:pPr>
            <a:r>
              <a:rPr lang="en-US" sz="700" b="1" dirty="0">
                <a:solidFill>
                  <a:srgbClr val="174A4A"/>
                </a:solidFill>
                <a:latin typeface="Consolas" pitchFamily="34" charset="0"/>
                <a:ea typeface="Consolas" pitchFamily="34" charset="-122"/>
                <a:cs typeface="Consolas" pitchFamily="34" charset="-120"/>
              </a:rPr>
              <a:t>CORE METHODOLOGICAL TAKEAWAY</a:t>
            </a:r>
            <a:endParaRPr lang="en-US" sz="700" dirty="0"/>
          </a:p>
        </p:txBody>
      </p:sp>
      <p:sp>
        <p:nvSpPr>
          <p:cNvPr id="26" name="Text 24"/>
          <p:cNvSpPr/>
          <p:nvPr/>
        </p:nvSpPr>
        <p:spPr>
          <a:xfrm>
            <a:off x="5074920" y="3410712"/>
            <a:ext cx="3017520" cy="685800"/>
          </a:xfrm>
          <a:prstGeom prst="rect">
            <a:avLst/>
          </a:prstGeom>
          <a:noFill/>
          <a:ln/>
        </p:spPr>
        <p:txBody>
          <a:bodyPr wrap="square" rtlCol="0" anchor="ctr"/>
          <a:lstStyle/>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If an analyst looks ONLY at total cases, February appears as the dominant peak.</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Looking at OUTBREAK EVENTS, February accounts for only 11 out of 69 events.</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We explain this as an extreme case-volume outlier effect, NOT as an unproven seasonal catering theory.</a:t>
            </a:r>
            <a:endParaRPr lang="en-US" sz="800" dirty="0"/>
          </a:p>
        </p:txBody>
      </p:sp>
      <p:sp>
        <p:nvSpPr>
          <p:cNvPr id="27" name="Shape 25"/>
          <p:cNvSpPr/>
          <p:nvPr/>
        </p:nvSpPr>
        <p:spPr>
          <a:xfrm>
            <a:off x="731520" y="4736592"/>
            <a:ext cx="7680960" cy="0"/>
          </a:xfrm>
          <a:prstGeom prst="line">
            <a:avLst/>
          </a:prstGeom>
          <a:noFill/>
          <a:ln w="9525">
            <a:solidFill>
              <a:srgbClr val="D8CFBC"/>
            </a:solidFill>
            <a:prstDash val="solid"/>
          </a:ln>
        </p:spPr>
      </p:sp>
      <p:sp>
        <p:nvSpPr>
          <p:cNvPr id="28" name="Text 26"/>
          <p:cNvSpPr/>
          <p:nvPr/>
        </p:nvSpPr>
        <p:spPr>
          <a:xfrm>
            <a:off x="731520" y="4809744"/>
            <a:ext cx="6400800" cy="201168"/>
          </a:xfrm>
          <a:prstGeom prst="rect">
            <a:avLst/>
          </a:prstGeom>
          <a:noFill/>
          <a:ln/>
        </p:spPr>
        <p:txBody>
          <a:bodyPr wrap="square" rtlCol="0" anchor="ctr"/>
          <a:lstStyle/>
          <a:p>
            <a:pPr indent="0" marL="0">
              <a:buNone/>
            </a:pPr>
            <a:r>
              <a:rPr lang="en-US" sz="650" dirty="0">
                <a:solidFill>
                  <a:srgbClr val="7A7D77"/>
                </a:solidFill>
                <a:latin typeface="Consolas" pitchFamily="34" charset="0"/>
                <a:ea typeface="Consolas" pitchFamily="34" charset="-122"/>
                <a:cs typeface="Consolas" pitchFamily="34" charset="-120"/>
              </a:rPr>
              <a:t>SOURCE: PHASE 5C OUTLIER SENSITIVITY ANALYSIS (TABLE 06) | NCDC IDSP RECORDS</a:t>
            </a:r>
            <a:endParaRPr lang="en-US" sz="650" dirty="0"/>
          </a:p>
        </p:txBody>
      </p:sp>
      <p:sp>
        <p:nvSpPr>
          <p:cNvPr id="29" name="Text 27"/>
          <p:cNvSpPr/>
          <p:nvPr/>
        </p:nvSpPr>
        <p:spPr>
          <a:xfrm>
            <a:off x="7498080" y="4809744"/>
            <a:ext cx="914400" cy="201168"/>
          </a:xfrm>
          <a:prstGeom prst="rect">
            <a:avLst/>
          </a:prstGeom>
          <a:noFill/>
          <a:ln/>
        </p:spPr>
        <p:txBody>
          <a:bodyPr wrap="square" rtlCol="0" anchor="ctr"/>
          <a:lstStyle/>
          <a:p>
            <a:pPr algn="r" indent="0" marL="0">
              <a:buNone/>
            </a:pPr>
            <a:r>
              <a:rPr lang="en-US" sz="750" b="1" dirty="0">
                <a:solidFill>
                  <a:srgbClr val="50534D"/>
                </a:solidFill>
                <a:latin typeface="Consolas" pitchFamily="34" charset="0"/>
                <a:ea typeface="Consolas" pitchFamily="34" charset="-122"/>
                <a:cs typeface="Consolas" pitchFamily="34" charset="-120"/>
              </a:rPr>
              <a:t>07 / 10</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BDD"/>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750" b="1" spc="200" kern="0" dirty="0">
                <a:solidFill>
                  <a:srgbClr val="50534D"/>
                </a:solidFill>
                <a:latin typeface="Consolas" pitchFamily="34" charset="0"/>
                <a:ea typeface="Consolas" pitchFamily="34" charset="-122"/>
                <a:cs typeface="Consolas" pitchFamily="34" charset="-120"/>
              </a:rPr>
              <a:t>SURVEILLANCE VALIDATION // OUT-OF-SAMPLE COMPARISON</a:t>
            </a:r>
            <a:endParaRPr lang="en-US" sz="750" dirty="0"/>
          </a:p>
        </p:txBody>
      </p:sp>
      <p:sp>
        <p:nvSpPr>
          <p:cNvPr id="3" name="Text 1"/>
          <p:cNvSpPr/>
          <p:nvPr/>
        </p:nvSpPr>
        <p:spPr>
          <a:xfrm>
            <a:off x="731520" y="530352"/>
            <a:ext cx="7680960" cy="457200"/>
          </a:xfrm>
          <a:prstGeom prst="rect">
            <a:avLst/>
          </a:prstGeom>
          <a:noFill/>
          <a:ln/>
        </p:spPr>
        <p:txBody>
          <a:bodyPr wrap="square" rtlCol="0" anchor="ctr"/>
          <a:lstStyle/>
          <a:p>
            <a:pPr indent="0" marL="0">
              <a:lnSpc>
                <a:spcPct val="110000"/>
              </a:lnSpc>
              <a:buNone/>
            </a:pPr>
            <a:r>
              <a:rPr lang="en-US" sz="2000" b="1" dirty="0">
                <a:solidFill>
                  <a:srgbClr val="171A18"/>
                </a:solidFill>
                <a:latin typeface="Georgia" pitchFamily="34" charset="0"/>
                <a:ea typeface="Georgia" pitchFamily="34" charset="-122"/>
                <a:cs typeface="Georgia" pitchFamily="34" charset="-120"/>
              </a:rPr>
              <a:t>2026 Partial-Year Check: Weeks 01–32 Surveillance Profile</a:t>
            </a:r>
            <a:endParaRPr lang="en-US" sz="2000" dirty="0"/>
          </a:p>
        </p:txBody>
      </p:sp>
      <p:sp>
        <p:nvSpPr>
          <p:cNvPr id="4" name="Text 2"/>
          <p:cNvSpPr/>
          <p:nvPr/>
        </p:nvSpPr>
        <p:spPr>
          <a:xfrm>
            <a:off x="731520" y="987552"/>
            <a:ext cx="7680960" cy="274320"/>
          </a:xfrm>
          <a:prstGeom prst="rect">
            <a:avLst/>
          </a:prstGeom>
          <a:noFill/>
          <a:ln/>
        </p:spPr>
        <p:txBody>
          <a:bodyPr wrap="square" rtlCol="0" anchor="ctr"/>
          <a:lstStyle/>
          <a:p>
            <a:pPr indent="0" marL="0">
              <a:buNone/>
            </a:pPr>
            <a:r>
              <a:rPr lang="en-US" sz="1050" dirty="0">
                <a:solidFill>
                  <a:srgbClr val="50534D"/>
                </a:solidFill>
                <a:latin typeface="Calibri" pitchFamily="34" charset="0"/>
                <a:ea typeface="Calibri" pitchFamily="34" charset="-122"/>
                <a:cs typeface="Calibri" pitchFamily="34" charset="-120"/>
              </a:rPr>
              <a:t>Testing historical seasonal patterns against unobserved, out-of-sample data without extrapolation.</a:t>
            </a:r>
            <a:endParaRPr lang="en-US" sz="1050" dirty="0"/>
          </a:p>
        </p:txBody>
      </p:sp>
      <p:sp>
        <p:nvSpPr>
          <p:cNvPr id="5" name="Shape 3"/>
          <p:cNvSpPr/>
          <p:nvPr/>
        </p:nvSpPr>
        <p:spPr>
          <a:xfrm>
            <a:off x="731520" y="1298448"/>
            <a:ext cx="7680960" cy="0"/>
          </a:xfrm>
          <a:prstGeom prst="line">
            <a:avLst/>
          </a:prstGeom>
          <a:noFill/>
          <a:ln w="9525">
            <a:solidFill>
              <a:srgbClr val="D8CFBC"/>
            </a:solidFill>
            <a:prstDash val="solid"/>
          </a:ln>
        </p:spPr>
      </p:sp>
      <p:sp>
        <p:nvSpPr>
          <p:cNvPr id="6" name="Shape 4"/>
          <p:cNvSpPr/>
          <p:nvPr/>
        </p:nvSpPr>
        <p:spPr>
          <a:xfrm>
            <a:off x="5120640" y="320040"/>
            <a:ext cx="3291840" cy="219456"/>
          </a:xfrm>
          <a:prstGeom prst="rect">
            <a:avLst/>
          </a:prstGeom>
          <a:solidFill>
            <a:srgbClr val="C84B2F"/>
          </a:solidFill>
          <a:ln/>
        </p:spPr>
      </p:sp>
      <p:sp>
        <p:nvSpPr>
          <p:cNvPr id="7" name="Text 5"/>
          <p:cNvSpPr/>
          <p:nvPr/>
        </p:nvSpPr>
        <p:spPr>
          <a:xfrm>
            <a:off x="5120640" y="338328"/>
            <a:ext cx="3291840" cy="182880"/>
          </a:xfrm>
          <a:prstGeom prst="rect">
            <a:avLst/>
          </a:prstGeom>
          <a:noFill/>
          <a:ln/>
        </p:spPr>
        <p:txBody>
          <a:bodyPr wrap="square" rtlCol="0" anchor="ctr"/>
          <a:lstStyle/>
          <a:p>
            <a:pPr algn="ctr" indent="0" marL="0">
              <a:buNone/>
            </a:pPr>
            <a:r>
              <a:rPr lang="en-US" sz="700" b="1" spc="100" kern="0" dirty="0">
                <a:solidFill>
                  <a:srgbClr val="FFFFFF"/>
                </a:solidFill>
                <a:latin typeface="Consolas" pitchFamily="34" charset="0"/>
                <a:ea typeface="Consolas" pitchFamily="34" charset="-122"/>
                <a:cs typeface="Consolas" pitchFamily="34" charset="-120"/>
              </a:rPr>
              <a:t>PARTIAL-YEAR // OUT-OF-SAMPLE ONLY</a:t>
            </a:r>
            <a:endParaRPr lang="en-US" sz="700" dirty="0"/>
          </a:p>
        </p:txBody>
      </p:sp>
      <p:sp>
        <p:nvSpPr>
          <p:cNvPr id="8" name="Shape 6"/>
          <p:cNvSpPr/>
          <p:nvPr/>
        </p:nvSpPr>
        <p:spPr>
          <a:xfrm>
            <a:off x="731520" y="1325880"/>
            <a:ext cx="2423160" cy="1234440"/>
          </a:xfrm>
          <a:prstGeom prst="rect">
            <a:avLst/>
          </a:prstGeom>
          <a:solidFill>
            <a:srgbClr val="E9E2D2"/>
          </a:solidFill>
          <a:ln w="9525">
            <a:solidFill>
              <a:srgbClr val="D8CFBC"/>
            </a:solidFill>
            <a:prstDash val="solid"/>
          </a:ln>
        </p:spPr>
      </p:sp>
      <p:sp>
        <p:nvSpPr>
          <p:cNvPr id="9" name="Text 7"/>
          <p:cNvSpPr/>
          <p:nvPr/>
        </p:nvSpPr>
        <p:spPr>
          <a:xfrm>
            <a:off x="868680" y="1435608"/>
            <a:ext cx="2148840" cy="594360"/>
          </a:xfrm>
          <a:prstGeom prst="rect">
            <a:avLst/>
          </a:prstGeom>
          <a:noFill/>
          <a:ln/>
        </p:spPr>
        <p:txBody>
          <a:bodyPr wrap="square" rtlCol="0" anchor="ctr"/>
          <a:lstStyle/>
          <a:p>
            <a:pPr indent="0" marL="0">
              <a:buNone/>
            </a:pPr>
            <a:r>
              <a:rPr lang="en-US" sz="2800" b="1" dirty="0">
                <a:solidFill>
                  <a:srgbClr val="174A4A"/>
                </a:solidFill>
                <a:latin typeface="Georgia" pitchFamily="34" charset="0"/>
                <a:ea typeface="Georgia" pitchFamily="34" charset="-122"/>
                <a:cs typeface="Georgia" pitchFamily="34" charset="-120"/>
              </a:rPr>
              <a:t>45</a:t>
            </a:r>
            <a:endParaRPr lang="en-US" sz="2800" dirty="0"/>
          </a:p>
        </p:txBody>
      </p:sp>
      <p:sp>
        <p:nvSpPr>
          <p:cNvPr id="10" name="Text 8"/>
          <p:cNvSpPr/>
          <p:nvPr/>
        </p:nvSpPr>
        <p:spPr>
          <a:xfrm>
            <a:off x="868680" y="2011680"/>
            <a:ext cx="2148840" cy="182880"/>
          </a:xfrm>
          <a:prstGeom prst="rect">
            <a:avLst/>
          </a:prstGeom>
          <a:noFill/>
          <a:ln/>
        </p:spPr>
        <p:txBody>
          <a:bodyPr wrap="square" rtlCol="0" anchor="ctr"/>
          <a:lstStyle/>
          <a:p>
            <a:pPr indent="0" marL="0">
              <a:buNone/>
            </a:pPr>
            <a:r>
              <a:rPr lang="en-US" sz="800" b="1" spc="100" kern="0" dirty="0">
                <a:solidFill>
                  <a:srgbClr val="50534D"/>
                </a:solidFill>
                <a:latin typeface="Consolas" pitchFamily="34" charset="0"/>
                <a:ea typeface="Consolas" pitchFamily="34" charset="-122"/>
                <a:cs typeface="Consolas" pitchFamily="34" charset="-120"/>
              </a:rPr>
              <a:t>OUTBREAK RECORDS</a:t>
            </a:r>
            <a:endParaRPr lang="en-US" sz="800" dirty="0"/>
          </a:p>
        </p:txBody>
      </p:sp>
      <p:sp>
        <p:nvSpPr>
          <p:cNvPr id="11" name="Text 9"/>
          <p:cNvSpPr/>
          <p:nvPr/>
        </p:nvSpPr>
        <p:spPr>
          <a:xfrm>
            <a:off x="868680" y="2194560"/>
            <a:ext cx="2148840" cy="320040"/>
          </a:xfrm>
          <a:prstGeom prst="rect">
            <a:avLst/>
          </a:prstGeom>
          <a:noFill/>
          <a:ln/>
        </p:spPr>
        <p:txBody>
          <a:bodyPr wrap="square" rtlCol="0" anchor="ctr"/>
          <a:lstStyle/>
          <a:p>
            <a:pPr indent="0" marL="0">
              <a:buNone/>
            </a:pPr>
            <a:r>
              <a:rPr lang="en-US" sz="1100" b="1" dirty="0">
                <a:solidFill>
                  <a:srgbClr val="171A18"/>
                </a:solidFill>
                <a:latin typeface="Calibri" pitchFamily="34" charset="0"/>
                <a:ea typeface="Calibri" pitchFamily="34" charset="-122"/>
                <a:cs typeface="Calibri" pitchFamily="34" charset="-120"/>
              </a:rPr>
              <a:t>Primary Cohort Events</a:t>
            </a:r>
            <a:endParaRPr lang="en-US" sz="1100" dirty="0"/>
          </a:p>
        </p:txBody>
      </p:sp>
      <p:sp>
        <p:nvSpPr>
          <p:cNvPr id="12" name="Text 10"/>
          <p:cNvSpPr/>
          <p:nvPr/>
        </p:nvSpPr>
        <p:spPr>
          <a:xfrm>
            <a:off x="868680" y="2514600"/>
            <a:ext cx="2148840" cy="91440"/>
          </a:xfrm>
          <a:prstGeom prst="rect">
            <a:avLst/>
          </a:prstGeom>
          <a:noFill/>
          <a:ln/>
        </p:spPr>
        <p:txBody>
          <a:bodyPr wrap="square" rtlCol="0" anchor="ctr"/>
          <a:lstStyle/>
          <a:p>
            <a:pPr indent="0" marL="0">
              <a:lnSpc>
                <a:spcPct val="110000"/>
              </a:lnSpc>
              <a:buNone/>
            </a:pPr>
            <a:r>
              <a:rPr lang="en-US" sz="850" dirty="0">
                <a:solidFill>
                  <a:srgbClr val="50534D"/>
                </a:solidFill>
                <a:latin typeface="Calibri" pitchFamily="34" charset="0"/>
                <a:ea typeface="Calibri" pitchFamily="34" charset="-122"/>
                <a:cs typeface="Calibri" pitchFamily="34" charset="-120"/>
              </a:rPr>
              <a:t>Records across primary families in monitored 32 weeks.</a:t>
            </a:r>
            <a:endParaRPr lang="en-US" sz="850" dirty="0"/>
          </a:p>
        </p:txBody>
      </p:sp>
      <p:sp>
        <p:nvSpPr>
          <p:cNvPr id="13" name="Shape 11"/>
          <p:cNvSpPr/>
          <p:nvPr/>
        </p:nvSpPr>
        <p:spPr>
          <a:xfrm>
            <a:off x="3355848" y="1325880"/>
            <a:ext cx="2423160" cy="1234440"/>
          </a:xfrm>
          <a:prstGeom prst="rect">
            <a:avLst/>
          </a:prstGeom>
          <a:solidFill>
            <a:srgbClr val="E9E2D2"/>
          </a:solidFill>
          <a:ln w="9525">
            <a:solidFill>
              <a:srgbClr val="D8CFBC"/>
            </a:solidFill>
            <a:prstDash val="solid"/>
          </a:ln>
        </p:spPr>
      </p:sp>
      <p:sp>
        <p:nvSpPr>
          <p:cNvPr id="14" name="Text 12"/>
          <p:cNvSpPr/>
          <p:nvPr/>
        </p:nvSpPr>
        <p:spPr>
          <a:xfrm>
            <a:off x="3493008" y="1435608"/>
            <a:ext cx="2148840" cy="594360"/>
          </a:xfrm>
          <a:prstGeom prst="rect">
            <a:avLst/>
          </a:prstGeom>
          <a:noFill/>
          <a:ln/>
        </p:spPr>
        <p:txBody>
          <a:bodyPr wrap="square" rtlCol="0" anchor="ctr"/>
          <a:lstStyle/>
          <a:p>
            <a:pPr indent="0" marL="0">
              <a:buNone/>
            </a:pPr>
            <a:r>
              <a:rPr lang="en-US" sz="2800" b="1" dirty="0">
                <a:solidFill>
                  <a:srgbClr val="171A18"/>
                </a:solidFill>
                <a:latin typeface="Georgia" pitchFamily="34" charset="0"/>
                <a:ea typeface="Georgia" pitchFamily="34" charset="-122"/>
                <a:cs typeface="Georgia" pitchFamily="34" charset="-120"/>
              </a:rPr>
              <a:t>1,118</a:t>
            </a:r>
            <a:endParaRPr lang="en-US" sz="2800" dirty="0"/>
          </a:p>
        </p:txBody>
      </p:sp>
      <p:sp>
        <p:nvSpPr>
          <p:cNvPr id="15" name="Text 13"/>
          <p:cNvSpPr/>
          <p:nvPr/>
        </p:nvSpPr>
        <p:spPr>
          <a:xfrm>
            <a:off x="3493008" y="2011680"/>
            <a:ext cx="2148840" cy="182880"/>
          </a:xfrm>
          <a:prstGeom prst="rect">
            <a:avLst/>
          </a:prstGeom>
          <a:noFill/>
          <a:ln/>
        </p:spPr>
        <p:txBody>
          <a:bodyPr wrap="square" rtlCol="0" anchor="ctr"/>
          <a:lstStyle/>
          <a:p>
            <a:pPr indent="0" marL="0">
              <a:buNone/>
            </a:pPr>
            <a:r>
              <a:rPr lang="en-US" sz="800" b="1" spc="100" kern="0" dirty="0">
                <a:solidFill>
                  <a:srgbClr val="50534D"/>
                </a:solidFill>
                <a:latin typeface="Consolas" pitchFamily="34" charset="0"/>
                <a:ea typeface="Consolas" pitchFamily="34" charset="-122"/>
                <a:cs typeface="Consolas" pitchFamily="34" charset="-120"/>
              </a:rPr>
              <a:t>REPORTED CASES</a:t>
            </a:r>
            <a:endParaRPr lang="en-US" sz="800" dirty="0"/>
          </a:p>
        </p:txBody>
      </p:sp>
      <p:sp>
        <p:nvSpPr>
          <p:cNvPr id="16" name="Text 14"/>
          <p:cNvSpPr/>
          <p:nvPr/>
        </p:nvSpPr>
        <p:spPr>
          <a:xfrm>
            <a:off x="3493008" y="2194560"/>
            <a:ext cx="2148840" cy="320040"/>
          </a:xfrm>
          <a:prstGeom prst="rect">
            <a:avLst/>
          </a:prstGeom>
          <a:noFill/>
          <a:ln/>
        </p:spPr>
        <p:txBody>
          <a:bodyPr wrap="square" rtlCol="0" anchor="ctr"/>
          <a:lstStyle/>
          <a:p>
            <a:pPr indent="0" marL="0">
              <a:buNone/>
            </a:pPr>
            <a:r>
              <a:rPr lang="en-US" sz="1100" b="1" dirty="0">
                <a:solidFill>
                  <a:srgbClr val="171A18"/>
                </a:solidFill>
                <a:latin typeface="Calibri" pitchFamily="34" charset="0"/>
                <a:ea typeface="Calibri" pitchFamily="34" charset="-122"/>
                <a:cs typeface="Calibri" pitchFamily="34" charset="-120"/>
              </a:rPr>
              <a:t>Primary Cohort Cases</a:t>
            </a:r>
            <a:endParaRPr lang="en-US" sz="1100" dirty="0"/>
          </a:p>
        </p:txBody>
      </p:sp>
      <p:sp>
        <p:nvSpPr>
          <p:cNvPr id="17" name="Text 15"/>
          <p:cNvSpPr/>
          <p:nvPr/>
        </p:nvSpPr>
        <p:spPr>
          <a:xfrm>
            <a:off x="3493008" y="2514600"/>
            <a:ext cx="2148840" cy="91440"/>
          </a:xfrm>
          <a:prstGeom prst="rect">
            <a:avLst/>
          </a:prstGeom>
          <a:noFill/>
          <a:ln/>
        </p:spPr>
        <p:txBody>
          <a:bodyPr wrap="square" rtlCol="0" anchor="ctr"/>
          <a:lstStyle/>
          <a:p>
            <a:pPr indent="0" marL="0">
              <a:lnSpc>
                <a:spcPct val="110000"/>
              </a:lnSpc>
              <a:buNone/>
            </a:pPr>
            <a:r>
              <a:rPr lang="en-US" sz="850" dirty="0">
                <a:solidFill>
                  <a:srgbClr val="50534D"/>
                </a:solidFill>
                <a:latin typeface="Calibri" pitchFamily="34" charset="0"/>
                <a:ea typeface="Calibri" pitchFamily="34" charset="-122"/>
                <a:cs typeface="Calibri" pitchFamily="34" charset="-120"/>
              </a:rPr>
              <a:t>Total cases enumerated in 2026 W01–W32 investigations.</a:t>
            </a:r>
            <a:endParaRPr lang="en-US" sz="850" dirty="0"/>
          </a:p>
        </p:txBody>
      </p:sp>
      <p:sp>
        <p:nvSpPr>
          <p:cNvPr id="18" name="Shape 16"/>
          <p:cNvSpPr/>
          <p:nvPr/>
        </p:nvSpPr>
        <p:spPr>
          <a:xfrm>
            <a:off x="5980176" y="1325880"/>
            <a:ext cx="2423160" cy="1234440"/>
          </a:xfrm>
          <a:prstGeom prst="rect">
            <a:avLst/>
          </a:prstGeom>
          <a:solidFill>
            <a:srgbClr val="F9F6EF"/>
          </a:solidFill>
          <a:ln w="9525">
            <a:solidFill>
              <a:srgbClr val="D8CFBC"/>
            </a:solidFill>
            <a:prstDash val="solid"/>
          </a:ln>
        </p:spPr>
      </p:sp>
      <p:sp>
        <p:nvSpPr>
          <p:cNvPr id="19" name="Text 17"/>
          <p:cNvSpPr/>
          <p:nvPr/>
        </p:nvSpPr>
        <p:spPr>
          <a:xfrm>
            <a:off x="6117336" y="1435608"/>
            <a:ext cx="2148840" cy="594360"/>
          </a:xfrm>
          <a:prstGeom prst="rect">
            <a:avLst/>
          </a:prstGeom>
          <a:noFill/>
          <a:ln/>
        </p:spPr>
        <p:txBody>
          <a:bodyPr wrap="square" rtlCol="0" anchor="ctr"/>
          <a:lstStyle/>
          <a:p>
            <a:pPr indent="0" marL="0">
              <a:buNone/>
            </a:pPr>
            <a:r>
              <a:rPr lang="en-US" sz="2800" b="1" dirty="0">
                <a:solidFill>
                  <a:srgbClr val="B6C43A"/>
                </a:solidFill>
                <a:latin typeface="Georgia" pitchFamily="34" charset="0"/>
                <a:ea typeface="Georgia" pitchFamily="34" charset="-122"/>
                <a:cs typeface="Georgia" pitchFamily="34" charset="-120"/>
              </a:rPr>
              <a:t>0</a:t>
            </a:r>
            <a:endParaRPr lang="en-US" sz="2800" dirty="0"/>
          </a:p>
        </p:txBody>
      </p:sp>
      <p:sp>
        <p:nvSpPr>
          <p:cNvPr id="20" name="Text 18"/>
          <p:cNvSpPr/>
          <p:nvPr/>
        </p:nvSpPr>
        <p:spPr>
          <a:xfrm>
            <a:off x="6117336" y="2011680"/>
            <a:ext cx="2148840" cy="182880"/>
          </a:xfrm>
          <a:prstGeom prst="rect">
            <a:avLst/>
          </a:prstGeom>
          <a:noFill/>
          <a:ln/>
        </p:spPr>
        <p:txBody>
          <a:bodyPr wrap="square" rtlCol="0" anchor="ctr"/>
          <a:lstStyle/>
          <a:p>
            <a:pPr indent="0" marL="0">
              <a:buNone/>
            </a:pPr>
            <a:r>
              <a:rPr lang="en-US" sz="800" b="1" spc="100" kern="0" dirty="0">
                <a:solidFill>
                  <a:srgbClr val="50534D"/>
                </a:solidFill>
                <a:latin typeface="Consolas" pitchFamily="34" charset="0"/>
                <a:ea typeface="Consolas" pitchFamily="34" charset="-122"/>
                <a:cs typeface="Consolas" pitchFamily="34" charset="-120"/>
              </a:rPr>
              <a:t>REPORTED DEATHS</a:t>
            </a:r>
            <a:endParaRPr lang="en-US" sz="800" dirty="0"/>
          </a:p>
        </p:txBody>
      </p:sp>
      <p:sp>
        <p:nvSpPr>
          <p:cNvPr id="21" name="Text 19"/>
          <p:cNvSpPr/>
          <p:nvPr/>
        </p:nvSpPr>
        <p:spPr>
          <a:xfrm>
            <a:off x="6117336" y="2194560"/>
            <a:ext cx="2148840" cy="320040"/>
          </a:xfrm>
          <a:prstGeom prst="rect">
            <a:avLst/>
          </a:prstGeom>
          <a:noFill/>
          <a:ln/>
        </p:spPr>
        <p:txBody>
          <a:bodyPr wrap="square" rtlCol="0" anchor="ctr"/>
          <a:lstStyle/>
          <a:p>
            <a:pPr indent="0" marL="0">
              <a:buNone/>
            </a:pPr>
            <a:r>
              <a:rPr lang="en-US" sz="1100" b="1" dirty="0">
                <a:solidFill>
                  <a:srgbClr val="171A18"/>
                </a:solidFill>
                <a:latin typeface="Calibri" pitchFamily="34" charset="0"/>
                <a:ea typeface="Calibri" pitchFamily="34" charset="-122"/>
                <a:cs typeface="Calibri" pitchFamily="34" charset="-120"/>
              </a:rPr>
              <a:t>Primary Surveillance Deaths</a:t>
            </a:r>
            <a:endParaRPr lang="en-US" sz="1100" dirty="0"/>
          </a:p>
        </p:txBody>
      </p:sp>
      <p:sp>
        <p:nvSpPr>
          <p:cNvPr id="22" name="Text 20"/>
          <p:cNvSpPr/>
          <p:nvPr/>
        </p:nvSpPr>
        <p:spPr>
          <a:xfrm>
            <a:off x="6117336" y="2514600"/>
            <a:ext cx="2148840" cy="91440"/>
          </a:xfrm>
          <a:prstGeom prst="rect">
            <a:avLst/>
          </a:prstGeom>
          <a:noFill/>
          <a:ln/>
        </p:spPr>
        <p:txBody>
          <a:bodyPr wrap="square" rtlCol="0" anchor="ctr"/>
          <a:lstStyle/>
          <a:p>
            <a:pPr indent="0" marL="0">
              <a:lnSpc>
                <a:spcPct val="110000"/>
              </a:lnSpc>
              <a:buNone/>
            </a:pPr>
            <a:r>
              <a:rPr lang="en-US" sz="850" dirty="0">
                <a:solidFill>
                  <a:srgbClr val="50534D"/>
                </a:solidFill>
                <a:latin typeface="Calibri" pitchFamily="34" charset="0"/>
                <a:ea typeface="Calibri" pitchFamily="34" charset="-122"/>
                <a:cs typeface="Calibri" pitchFamily="34" charset="-120"/>
              </a:rPr>
              <a:t>Zero disease fatalities logged in the 5 primary families.</a:t>
            </a:r>
            <a:endParaRPr lang="en-US" sz="850" dirty="0"/>
          </a:p>
        </p:txBody>
      </p:sp>
      <p:sp>
        <p:nvSpPr>
          <p:cNvPr id="23" name="Shape 21"/>
          <p:cNvSpPr/>
          <p:nvPr/>
        </p:nvSpPr>
        <p:spPr>
          <a:xfrm>
            <a:off x="731520" y="2743200"/>
            <a:ext cx="3703320" cy="1874520"/>
          </a:xfrm>
          <a:prstGeom prst="rect">
            <a:avLst/>
          </a:prstGeom>
          <a:solidFill>
            <a:srgbClr val="E9E2D2"/>
          </a:solidFill>
          <a:ln w="9525">
            <a:solidFill>
              <a:srgbClr val="D8CFBC"/>
            </a:solidFill>
            <a:prstDash val="solid"/>
          </a:ln>
        </p:spPr>
      </p:sp>
      <p:sp>
        <p:nvSpPr>
          <p:cNvPr id="24" name="Text 22"/>
          <p:cNvSpPr/>
          <p:nvPr/>
        </p:nvSpPr>
        <p:spPr>
          <a:xfrm>
            <a:off x="914400" y="2880360"/>
            <a:ext cx="3337560" cy="182880"/>
          </a:xfrm>
          <a:prstGeom prst="rect">
            <a:avLst/>
          </a:prstGeom>
          <a:noFill/>
          <a:ln/>
        </p:spPr>
        <p:txBody>
          <a:bodyPr wrap="square" rtlCol="0" anchor="ctr"/>
          <a:lstStyle/>
          <a:p>
            <a:pPr indent="0" marL="0">
              <a:buNone/>
            </a:pPr>
            <a:r>
              <a:rPr lang="en-US" sz="750" b="1" dirty="0">
                <a:solidFill>
                  <a:srgbClr val="174A4A"/>
                </a:solidFill>
                <a:latin typeface="Consolas" pitchFamily="34" charset="0"/>
                <a:ea typeface="Consolas" pitchFamily="34" charset="-122"/>
                <a:cs typeface="Consolas" pitchFamily="34" charset="-120"/>
              </a:rPr>
              <a:t>CASE STUDY 01 // DENGUE TRUNCATION</a:t>
            </a:r>
            <a:endParaRPr lang="en-US" sz="750" dirty="0"/>
          </a:p>
        </p:txBody>
      </p:sp>
      <p:sp>
        <p:nvSpPr>
          <p:cNvPr id="25" name="Text 23"/>
          <p:cNvSpPr/>
          <p:nvPr/>
        </p:nvSpPr>
        <p:spPr>
          <a:xfrm>
            <a:off x="914400" y="3090672"/>
            <a:ext cx="3337560" cy="256032"/>
          </a:xfrm>
          <a:prstGeom prst="rect">
            <a:avLst/>
          </a:prstGeom>
          <a:noFill/>
          <a:ln/>
        </p:spPr>
        <p:txBody>
          <a:bodyPr wrap="square" rtlCol="0" anchor="ctr"/>
          <a:lstStyle/>
          <a:p>
            <a:pPr indent="0" marL="0">
              <a:buNone/>
            </a:pPr>
            <a:r>
              <a:rPr lang="en-US" sz="1200" b="1" dirty="0">
                <a:solidFill>
                  <a:srgbClr val="171A18"/>
                </a:solidFill>
                <a:latin typeface="Georgia" pitchFamily="34" charset="0"/>
                <a:ea typeface="Georgia" pitchFamily="34" charset="-122"/>
                <a:cs typeface="Georgia" pitchFamily="34" charset="-120"/>
              </a:rPr>
              <a:t>Why Low Dengue Reports in 2026 is Expected</a:t>
            </a:r>
            <a:endParaRPr lang="en-US" sz="1200" dirty="0"/>
          </a:p>
        </p:txBody>
      </p:sp>
      <p:sp>
        <p:nvSpPr>
          <p:cNvPr id="26" name="Text 24"/>
          <p:cNvSpPr/>
          <p:nvPr/>
        </p:nvSpPr>
        <p:spPr>
          <a:xfrm>
            <a:off x="914400" y="3383280"/>
            <a:ext cx="3337560" cy="1143000"/>
          </a:xfrm>
          <a:prstGeom prst="rect">
            <a:avLst/>
          </a:prstGeom>
          <a:noFill/>
          <a:ln/>
        </p:spPr>
        <p:txBody>
          <a:bodyPr wrap="square" rtlCol="0" anchor="ctr"/>
          <a:lstStyle/>
          <a:p>
            <a:pPr indent="0" marL="0">
              <a:lnSpc>
                <a:spcPct val="120000"/>
              </a:lnSpc>
              <a:buNone/>
            </a:pPr>
            <a:r>
              <a:rPr lang="en-US" sz="800" dirty="0">
                <a:solidFill>
                  <a:srgbClr val="171A18"/>
                </a:solidFill>
                <a:latin typeface="Calibri" pitchFamily="34" charset="0"/>
                <a:ea typeface="Calibri" pitchFamily="34" charset="-122"/>
                <a:cs typeface="Calibri" pitchFamily="34" charset="-120"/>
              </a:rPr>
              <a:t>• Dengue recorded only 6 events (36 cases) in 2026 W01–W32.</a:t>
            </a:r>
            <a:endParaRPr lang="en-US" sz="800" dirty="0"/>
          </a:p>
          <a:p>
            <a:pPr indent="0" marL="0">
              <a:lnSpc>
                <a:spcPct val="120000"/>
              </a:lnSpc>
              <a:buNone/>
            </a:pPr>
            <a:r>
              <a:rPr lang="en-US" sz="800" dirty="0">
                <a:solidFill>
                  <a:srgbClr val="171A18"/>
                </a:solidFill>
                <a:latin typeface="Calibri" pitchFamily="34" charset="0"/>
                <a:ea typeface="Calibri" pitchFamily="34" charset="-122"/>
                <a:cs typeface="Calibri" pitchFamily="34" charset="-120"/>
              </a:rPr>
              <a:t>• A naive analyst might assume Dengue incidence has dropped sharply.</a:t>
            </a:r>
            <a:endParaRPr lang="en-US" sz="800" dirty="0"/>
          </a:p>
          <a:p>
            <a:pPr indent="0" marL="0">
              <a:lnSpc>
                <a:spcPct val="120000"/>
              </a:lnSpc>
              <a:buNone/>
            </a:pPr>
            <a:r>
              <a:rPr lang="en-US" sz="800" dirty="0">
                <a:solidFill>
                  <a:srgbClr val="171A18"/>
                </a:solidFill>
                <a:latin typeface="Calibri" pitchFamily="34" charset="0"/>
                <a:ea typeface="Calibri" pitchFamily="34" charset="-122"/>
                <a:cs typeface="Calibri" pitchFamily="34" charset="-120"/>
              </a:rPr>
              <a:t>• However, our four-year baseline proves that 55.4% of all Dengue outbreaks occur AFTER Week 32 (September to December)!</a:t>
            </a:r>
            <a:endParaRPr lang="en-US" sz="800" dirty="0"/>
          </a:p>
          <a:p>
            <a:pPr indent="0" marL="0">
              <a:lnSpc>
                <a:spcPct val="120000"/>
              </a:lnSpc>
              <a:buNone/>
            </a:pPr>
            <a:r>
              <a:rPr lang="en-US" sz="800" dirty="0">
                <a:solidFill>
                  <a:srgbClr val="171A18"/>
                </a:solidFill>
                <a:latin typeface="Calibri" pitchFamily="34" charset="0"/>
                <a:ea typeface="Calibri" pitchFamily="34" charset="-122"/>
                <a:cs typeface="Calibri" pitchFamily="34" charset="-120"/>
              </a:rPr>
              <a:t>• The low count is a direct mathematical artifact of calendar truncation, not proof of disease eradication.</a:t>
            </a:r>
            <a:endParaRPr lang="en-US" sz="800" dirty="0"/>
          </a:p>
        </p:txBody>
      </p:sp>
      <p:sp>
        <p:nvSpPr>
          <p:cNvPr id="27" name="Shape 25"/>
          <p:cNvSpPr/>
          <p:nvPr/>
        </p:nvSpPr>
        <p:spPr>
          <a:xfrm>
            <a:off x="4709160" y="2743200"/>
            <a:ext cx="3703320" cy="1874520"/>
          </a:xfrm>
          <a:prstGeom prst="rect">
            <a:avLst/>
          </a:prstGeom>
          <a:solidFill>
            <a:srgbClr val="E9E2D2"/>
          </a:solidFill>
          <a:ln w="9525">
            <a:solidFill>
              <a:srgbClr val="D8CFBC"/>
            </a:solidFill>
            <a:prstDash val="solid"/>
          </a:ln>
        </p:spPr>
      </p:sp>
      <p:sp>
        <p:nvSpPr>
          <p:cNvPr id="28" name="Text 26"/>
          <p:cNvSpPr/>
          <p:nvPr/>
        </p:nvSpPr>
        <p:spPr>
          <a:xfrm>
            <a:off x="4892040" y="2880360"/>
            <a:ext cx="3337560" cy="182880"/>
          </a:xfrm>
          <a:prstGeom prst="rect">
            <a:avLst/>
          </a:prstGeom>
          <a:noFill/>
          <a:ln/>
        </p:spPr>
        <p:txBody>
          <a:bodyPr wrap="square" rtlCol="0" anchor="ctr"/>
          <a:lstStyle/>
          <a:p>
            <a:pPr indent="0" marL="0">
              <a:buNone/>
            </a:pPr>
            <a:r>
              <a:rPr lang="en-US" sz="750" b="1" dirty="0">
                <a:solidFill>
                  <a:srgbClr val="C84B2F"/>
                </a:solidFill>
                <a:latin typeface="Consolas" pitchFamily="34" charset="0"/>
                <a:ea typeface="Consolas" pitchFamily="34" charset="-122"/>
                <a:cs typeface="Consolas" pitchFamily="34" charset="-120"/>
              </a:rPr>
              <a:t>CASE STUDY 02 // FOOD POISONING &amp; DIAGNOSTIC BIAS</a:t>
            </a:r>
            <a:endParaRPr lang="en-US" sz="750" dirty="0"/>
          </a:p>
        </p:txBody>
      </p:sp>
      <p:sp>
        <p:nvSpPr>
          <p:cNvPr id="29" name="Text 27"/>
          <p:cNvSpPr/>
          <p:nvPr/>
        </p:nvSpPr>
        <p:spPr>
          <a:xfrm>
            <a:off x="4892040" y="3090672"/>
            <a:ext cx="3337560" cy="256032"/>
          </a:xfrm>
          <a:prstGeom prst="rect">
            <a:avLst/>
          </a:prstGeom>
          <a:noFill/>
          <a:ln/>
        </p:spPr>
        <p:txBody>
          <a:bodyPr wrap="square" rtlCol="0" anchor="ctr"/>
          <a:lstStyle/>
          <a:p>
            <a:pPr indent="0" marL="0">
              <a:buNone/>
            </a:pPr>
            <a:r>
              <a:rPr lang="en-US" sz="1200" b="1" dirty="0">
                <a:solidFill>
                  <a:srgbClr val="171A18"/>
                </a:solidFill>
                <a:latin typeface="Georgia" pitchFamily="34" charset="0"/>
                <a:ea typeface="Georgia" pitchFamily="34" charset="-122"/>
                <a:cs typeface="Georgia" pitchFamily="34" charset="-120"/>
              </a:rPr>
              <a:t>Early-Year Volume Surge (+49.0% vs Mean)</a:t>
            </a:r>
            <a:endParaRPr lang="en-US" sz="1200" dirty="0"/>
          </a:p>
        </p:txBody>
      </p:sp>
      <p:sp>
        <p:nvSpPr>
          <p:cNvPr id="30" name="Text 28"/>
          <p:cNvSpPr/>
          <p:nvPr/>
        </p:nvSpPr>
        <p:spPr>
          <a:xfrm>
            <a:off x="4892040" y="3383280"/>
            <a:ext cx="3337560" cy="1143000"/>
          </a:xfrm>
          <a:prstGeom prst="rect">
            <a:avLst/>
          </a:prstGeom>
          <a:noFill/>
          <a:ln/>
        </p:spPr>
        <p:txBody>
          <a:bodyPr wrap="square" rtlCol="0" anchor="ctr"/>
          <a:lstStyle/>
          <a:p>
            <a:pPr indent="0" marL="0">
              <a:lnSpc>
                <a:spcPct val="120000"/>
              </a:lnSpc>
              <a:buNone/>
            </a:pPr>
            <a:r>
              <a:rPr lang="en-US" sz="800" dirty="0">
                <a:solidFill>
                  <a:srgbClr val="171A18"/>
                </a:solidFill>
                <a:latin typeface="Calibri" pitchFamily="34" charset="0"/>
                <a:ea typeface="Calibri" pitchFamily="34" charset="-122"/>
                <a:cs typeface="Calibri" pitchFamily="34" charset="-120"/>
              </a:rPr>
              <a:t>• Food Poisoning recorded 19 events in 2026 W01–W32, compared to the 4-year early-year historical mean of 12.8 events (+49.0% elevation).</a:t>
            </a:r>
            <a:endParaRPr lang="en-US" sz="800" dirty="0"/>
          </a:p>
          <a:p>
            <a:pPr indent="0" marL="0">
              <a:lnSpc>
                <a:spcPct val="120000"/>
              </a:lnSpc>
              <a:buNone/>
            </a:pPr>
            <a:r>
              <a:rPr lang="en-US" sz="800" dirty="0">
                <a:solidFill>
                  <a:srgbClr val="171A18"/>
                </a:solidFill>
                <a:latin typeface="Calibri" pitchFamily="34" charset="0"/>
                <a:ea typeface="Calibri" pitchFamily="34" charset="-122"/>
                <a:cs typeface="Calibri" pitchFamily="34" charset="-120"/>
              </a:rPr>
              <a:t>• Crucially, 100% of these 19 records were published under the 'Suspected' label in the source PDFs.</a:t>
            </a:r>
            <a:endParaRPr lang="en-US" sz="800" dirty="0"/>
          </a:p>
          <a:p>
            <a:pPr indent="0" marL="0">
              <a:lnSpc>
                <a:spcPct val="120000"/>
              </a:lnSpc>
              <a:buNone/>
            </a:pPr>
            <a:r>
              <a:rPr lang="en-US" sz="800" dirty="0">
                <a:solidFill>
                  <a:srgbClr val="171A18"/>
                </a:solidFill>
                <a:latin typeface="Calibri" pitchFamily="34" charset="0"/>
                <a:ea typeface="Calibri" pitchFamily="34" charset="-122"/>
                <a:cs typeface="Calibri" pitchFamily="34" charset="-120"/>
              </a:rPr>
              <a:t>• Demonstrates how surveillance reporting practices and administrative thresholds influence raw outbreak counts.</a:t>
            </a:r>
            <a:endParaRPr lang="en-US" sz="800" dirty="0"/>
          </a:p>
        </p:txBody>
      </p:sp>
      <p:sp>
        <p:nvSpPr>
          <p:cNvPr id="31" name="Shape 29"/>
          <p:cNvSpPr/>
          <p:nvPr/>
        </p:nvSpPr>
        <p:spPr>
          <a:xfrm>
            <a:off x="731520" y="4736592"/>
            <a:ext cx="7680960" cy="0"/>
          </a:xfrm>
          <a:prstGeom prst="line">
            <a:avLst/>
          </a:prstGeom>
          <a:noFill/>
          <a:ln w="9525">
            <a:solidFill>
              <a:srgbClr val="D8CFBC"/>
            </a:solidFill>
            <a:prstDash val="solid"/>
          </a:ln>
        </p:spPr>
      </p:sp>
      <p:sp>
        <p:nvSpPr>
          <p:cNvPr id="32" name="Text 30"/>
          <p:cNvSpPr/>
          <p:nvPr/>
        </p:nvSpPr>
        <p:spPr>
          <a:xfrm>
            <a:off x="731520" y="4809744"/>
            <a:ext cx="6400800" cy="201168"/>
          </a:xfrm>
          <a:prstGeom prst="rect">
            <a:avLst/>
          </a:prstGeom>
          <a:noFill/>
          <a:ln/>
        </p:spPr>
        <p:txBody>
          <a:bodyPr wrap="square" rtlCol="0" anchor="ctr"/>
          <a:lstStyle/>
          <a:p>
            <a:pPr indent="0" marL="0">
              <a:buNone/>
            </a:pPr>
            <a:r>
              <a:rPr lang="en-US" sz="650" dirty="0">
                <a:solidFill>
                  <a:srgbClr val="7A7D77"/>
                </a:solidFill>
                <a:latin typeface="Consolas" pitchFamily="34" charset="0"/>
                <a:ea typeface="Consolas" pitchFamily="34" charset="-122"/>
                <a:cs typeface="Consolas" pitchFamily="34" charset="-120"/>
              </a:rPr>
              <a:t>SOURCE: PHASE 5C TABLE 07 &amp; PHASE 5A BIAS CHECK | 2026 W01–W32 SURVEILLANCE</a:t>
            </a:r>
            <a:endParaRPr lang="en-US" sz="650" dirty="0"/>
          </a:p>
        </p:txBody>
      </p:sp>
      <p:sp>
        <p:nvSpPr>
          <p:cNvPr id="33" name="Text 31"/>
          <p:cNvSpPr/>
          <p:nvPr/>
        </p:nvSpPr>
        <p:spPr>
          <a:xfrm>
            <a:off x="7498080" y="4809744"/>
            <a:ext cx="914400" cy="201168"/>
          </a:xfrm>
          <a:prstGeom prst="rect">
            <a:avLst/>
          </a:prstGeom>
          <a:noFill/>
          <a:ln/>
        </p:spPr>
        <p:txBody>
          <a:bodyPr wrap="square" rtlCol="0" anchor="ctr"/>
          <a:lstStyle/>
          <a:p>
            <a:pPr algn="r" indent="0" marL="0">
              <a:buNone/>
            </a:pPr>
            <a:r>
              <a:rPr lang="en-US" sz="750" b="1" dirty="0">
                <a:solidFill>
                  <a:srgbClr val="50534D"/>
                </a:solidFill>
                <a:latin typeface="Consolas" pitchFamily="34" charset="0"/>
                <a:ea typeface="Consolas" pitchFamily="34" charset="-122"/>
                <a:cs typeface="Consolas" pitchFamily="34" charset="-120"/>
              </a:rPr>
              <a:t>08 / 10</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BDD"/>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750" b="1" spc="200" kern="0" dirty="0">
                <a:solidFill>
                  <a:srgbClr val="50534D"/>
                </a:solidFill>
                <a:latin typeface="Consolas" pitchFamily="34" charset="0"/>
                <a:ea typeface="Consolas" pitchFamily="34" charset="-122"/>
                <a:cs typeface="Consolas" pitchFamily="34" charset="-120"/>
              </a:rPr>
              <a:t>CRITICAL METHODOLOGY // METHODOLOGICAL BOUNDARIES</a:t>
            </a:r>
            <a:endParaRPr lang="en-US" sz="750" dirty="0"/>
          </a:p>
        </p:txBody>
      </p:sp>
      <p:sp>
        <p:nvSpPr>
          <p:cNvPr id="3" name="Text 1"/>
          <p:cNvSpPr/>
          <p:nvPr/>
        </p:nvSpPr>
        <p:spPr>
          <a:xfrm>
            <a:off x="731520" y="530352"/>
            <a:ext cx="7680960" cy="457200"/>
          </a:xfrm>
          <a:prstGeom prst="rect">
            <a:avLst/>
          </a:prstGeom>
          <a:noFill/>
          <a:ln/>
        </p:spPr>
        <p:txBody>
          <a:bodyPr wrap="square" rtlCol="0" anchor="ctr"/>
          <a:lstStyle/>
          <a:p>
            <a:pPr indent="0" marL="0">
              <a:lnSpc>
                <a:spcPct val="110000"/>
              </a:lnSpc>
              <a:buNone/>
            </a:pPr>
            <a:r>
              <a:rPr lang="en-US" sz="2000" b="1" dirty="0">
                <a:solidFill>
                  <a:srgbClr val="171A18"/>
                </a:solidFill>
                <a:latin typeface="Georgia" pitchFamily="34" charset="0"/>
                <a:ea typeface="Georgia" pitchFamily="34" charset="-122"/>
                <a:cs typeface="Georgia" pitchFamily="34" charset="-120"/>
              </a:rPr>
              <a:t>Surveillance Boundaries &amp; Methodological Limitations</a:t>
            </a:r>
            <a:endParaRPr lang="en-US" sz="2000" dirty="0"/>
          </a:p>
        </p:txBody>
      </p:sp>
      <p:sp>
        <p:nvSpPr>
          <p:cNvPr id="4" name="Text 2"/>
          <p:cNvSpPr/>
          <p:nvPr/>
        </p:nvSpPr>
        <p:spPr>
          <a:xfrm>
            <a:off x="731520" y="987552"/>
            <a:ext cx="7680960" cy="274320"/>
          </a:xfrm>
          <a:prstGeom prst="rect">
            <a:avLst/>
          </a:prstGeom>
          <a:noFill/>
          <a:ln/>
        </p:spPr>
        <p:txBody>
          <a:bodyPr wrap="square" rtlCol="0" anchor="ctr"/>
          <a:lstStyle/>
          <a:p>
            <a:pPr indent="0" marL="0">
              <a:buNone/>
            </a:pPr>
            <a:r>
              <a:rPr lang="en-US" sz="1050" dirty="0">
                <a:solidFill>
                  <a:srgbClr val="50534D"/>
                </a:solidFill>
                <a:latin typeface="Calibri" pitchFamily="34" charset="0"/>
                <a:ea typeface="Calibri" pitchFamily="34" charset="-122"/>
                <a:cs typeface="Calibri" pitchFamily="34" charset="-120"/>
              </a:rPr>
              <a:t>Defining what administrative public health data can and cannot conclude.</a:t>
            </a:r>
            <a:endParaRPr lang="en-US" sz="1050" dirty="0"/>
          </a:p>
        </p:txBody>
      </p:sp>
      <p:sp>
        <p:nvSpPr>
          <p:cNvPr id="5" name="Shape 3"/>
          <p:cNvSpPr/>
          <p:nvPr/>
        </p:nvSpPr>
        <p:spPr>
          <a:xfrm>
            <a:off x="731520" y="1298448"/>
            <a:ext cx="7680960" cy="0"/>
          </a:xfrm>
          <a:prstGeom prst="line">
            <a:avLst/>
          </a:prstGeom>
          <a:noFill/>
          <a:ln w="9525">
            <a:solidFill>
              <a:srgbClr val="D8CFBC"/>
            </a:solidFill>
            <a:prstDash val="solid"/>
          </a:ln>
        </p:spPr>
      </p:sp>
      <p:sp>
        <p:nvSpPr>
          <p:cNvPr id="6" name="Shape 4"/>
          <p:cNvSpPr/>
          <p:nvPr/>
        </p:nvSpPr>
        <p:spPr>
          <a:xfrm>
            <a:off x="731520" y="1325880"/>
            <a:ext cx="3703320" cy="1481328"/>
          </a:xfrm>
          <a:prstGeom prst="rect">
            <a:avLst/>
          </a:prstGeom>
          <a:solidFill>
            <a:srgbClr val="E9E2D2"/>
          </a:solidFill>
          <a:ln w="9525">
            <a:solidFill>
              <a:srgbClr val="D8CFBC"/>
            </a:solidFill>
            <a:prstDash val="solid"/>
          </a:ln>
        </p:spPr>
      </p:sp>
      <p:sp>
        <p:nvSpPr>
          <p:cNvPr id="7" name="Text 5"/>
          <p:cNvSpPr/>
          <p:nvPr/>
        </p:nvSpPr>
        <p:spPr>
          <a:xfrm>
            <a:off x="914400" y="1435608"/>
            <a:ext cx="3337560" cy="164592"/>
          </a:xfrm>
          <a:prstGeom prst="rect">
            <a:avLst/>
          </a:prstGeom>
          <a:noFill/>
          <a:ln/>
        </p:spPr>
        <p:txBody>
          <a:bodyPr wrap="square" rtlCol="0" anchor="ctr"/>
          <a:lstStyle/>
          <a:p>
            <a:pPr indent="0" marL="0">
              <a:buNone/>
            </a:pPr>
            <a:r>
              <a:rPr lang="en-US" sz="700" b="1" dirty="0">
                <a:solidFill>
                  <a:srgbClr val="C84B2F"/>
                </a:solidFill>
                <a:latin typeface="Consolas" pitchFamily="34" charset="0"/>
                <a:ea typeface="Consolas" pitchFamily="34" charset="-122"/>
                <a:cs typeface="Consolas" pitchFamily="34" charset="-120"/>
              </a:rPr>
              <a:t>BOUNDARY 01 // DATA GENERATION FILTER</a:t>
            </a:r>
            <a:endParaRPr lang="en-US" sz="700" dirty="0"/>
          </a:p>
        </p:txBody>
      </p:sp>
      <p:sp>
        <p:nvSpPr>
          <p:cNvPr id="8" name="Text 6"/>
          <p:cNvSpPr/>
          <p:nvPr/>
        </p:nvSpPr>
        <p:spPr>
          <a:xfrm>
            <a:off x="914400" y="1618488"/>
            <a:ext cx="3337560" cy="237744"/>
          </a:xfrm>
          <a:prstGeom prst="rect">
            <a:avLst/>
          </a:prstGeom>
          <a:noFill/>
          <a:ln/>
        </p:spPr>
        <p:txBody>
          <a:bodyPr wrap="square" rtlCol="0" anchor="ctr"/>
          <a:lstStyle/>
          <a:p>
            <a:pPr indent="0" marL="0">
              <a:buNone/>
            </a:pPr>
            <a:r>
              <a:rPr lang="en-US" sz="1150" b="1" dirty="0">
                <a:solidFill>
                  <a:srgbClr val="171A18"/>
                </a:solidFill>
                <a:latin typeface="Georgia" pitchFamily="34" charset="0"/>
                <a:ea typeface="Georgia" pitchFamily="34" charset="-122"/>
                <a:cs typeface="Georgia" pitchFamily="34" charset="-120"/>
              </a:rPr>
              <a:t>Surveillance vs. Population Incidence</a:t>
            </a:r>
            <a:endParaRPr lang="en-US" sz="1150" dirty="0"/>
          </a:p>
        </p:txBody>
      </p:sp>
      <p:sp>
        <p:nvSpPr>
          <p:cNvPr id="9" name="Text 7"/>
          <p:cNvSpPr/>
          <p:nvPr/>
        </p:nvSpPr>
        <p:spPr>
          <a:xfrm>
            <a:off x="914400" y="1874520"/>
            <a:ext cx="3337560" cy="868680"/>
          </a:xfrm>
          <a:prstGeom prst="rect">
            <a:avLst/>
          </a:prstGeom>
          <a:noFill/>
          <a:ln/>
        </p:spPr>
        <p:txBody>
          <a:bodyPr wrap="square" rtlCol="0" anchor="ctr"/>
          <a:lstStyle/>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Captures investigated disease clusters meeting official notification criteria.</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Mild, subclinical, or self-limiting infections that do not require hospital admission are inherently unrepresented.</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Outbreak counts must never be interpreted as population disease incidence.</a:t>
            </a:r>
            <a:endParaRPr lang="en-US" sz="800" dirty="0"/>
          </a:p>
        </p:txBody>
      </p:sp>
      <p:sp>
        <p:nvSpPr>
          <p:cNvPr id="10" name="Shape 8"/>
          <p:cNvSpPr/>
          <p:nvPr/>
        </p:nvSpPr>
        <p:spPr>
          <a:xfrm>
            <a:off x="4709160" y="1325880"/>
            <a:ext cx="3703320" cy="1481328"/>
          </a:xfrm>
          <a:prstGeom prst="rect">
            <a:avLst/>
          </a:prstGeom>
          <a:solidFill>
            <a:srgbClr val="E9E2D2"/>
          </a:solidFill>
          <a:ln w="9525">
            <a:solidFill>
              <a:srgbClr val="D8CFBC"/>
            </a:solidFill>
            <a:prstDash val="solid"/>
          </a:ln>
        </p:spPr>
      </p:sp>
      <p:sp>
        <p:nvSpPr>
          <p:cNvPr id="11" name="Text 9"/>
          <p:cNvSpPr/>
          <p:nvPr/>
        </p:nvSpPr>
        <p:spPr>
          <a:xfrm>
            <a:off x="4892040" y="1435608"/>
            <a:ext cx="3337560" cy="164592"/>
          </a:xfrm>
          <a:prstGeom prst="rect">
            <a:avLst/>
          </a:prstGeom>
          <a:noFill/>
          <a:ln/>
        </p:spPr>
        <p:txBody>
          <a:bodyPr wrap="square" rtlCol="0" anchor="ctr"/>
          <a:lstStyle/>
          <a:p>
            <a:pPr indent="0" marL="0">
              <a:buNone/>
            </a:pPr>
            <a:r>
              <a:rPr lang="en-US" sz="700" b="1" dirty="0">
                <a:solidFill>
                  <a:srgbClr val="174A4A"/>
                </a:solidFill>
                <a:latin typeface="Consolas" pitchFamily="34" charset="0"/>
                <a:ea typeface="Consolas" pitchFamily="34" charset="-122"/>
                <a:cs typeface="Consolas" pitchFamily="34" charset="-120"/>
              </a:rPr>
              <a:t>BOUNDARY 02 // SECTORAL COVERAGE</a:t>
            </a:r>
            <a:endParaRPr lang="en-US" sz="700" dirty="0"/>
          </a:p>
        </p:txBody>
      </p:sp>
      <p:sp>
        <p:nvSpPr>
          <p:cNvPr id="12" name="Text 10"/>
          <p:cNvSpPr/>
          <p:nvPr/>
        </p:nvSpPr>
        <p:spPr>
          <a:xfrm>
            <a:off x="4892040" y="1618488"/>
            <a:ext cx="3337560" cy="237744"/>
          </a:xfrm>
          <a:prstGeom prst="rect">
            <a:avLst/>
          </a:prstGeom>
          <a:noFill/>
          <a:ln/>
        </p:spPr>
        <p:txBody>
          <a:bodyPr wrap="square" rtlCol="0" anchor="ctr"/>
          <a:lstStyle/>
          <a:p>
            <a:pPr indent="0" marL="0">
              <a:buNone/>
            </a:pPr>
            <a:r>
              <a:rPr lang="en-US" sz="1150" b="1" dirty="0">
                <a:solidFill>
                  <a:srgbClr val="171A18"/>
                </a:solidFill>
                <a:latin typeface="Georgia" pitchFamily="34" charset="0"/>
                <a:ea typeface="Georgia" pitchFamily="34" charset="-122"/>
                <a:cs typeface="Georgia" pitchFamily="34" charset="-120"/>
              </a:rPr>
              <a:t>Private Healthcare Data Leakage</a:t>
            </a:r>
            <a:endParaRPr lang="en-US" sz="1150" dirty="0"/>
          </a:p>
        </p:txBody>
      </p:sp>
      <p:sp>
        <p:nvSpPr>
          <p:cNvPr id="13" name="Text 11"/>
          <p:cNvSpPr/>
          <p:nvPr/>
        </p:nvSpPr>
        <p:spPr>
          <a:xfrm>
            <a:off x="4892040" y="1874520"/>
            <a:ext cx="3337560" cy="868680"/>
          </a:xfrm>
          <a:prstGeom prst="rect">
            <a:avLst/>
          </a:prstGeom>
          <a:noFill/>
          <a:ln/>
        </p:spPr>
        <p:txBody>
          <a:bodyPr wrap="square" rtlCol="0" anchor="ctr"/>
          <a:lstStyle/>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In Maharashtra, over 65% of initial patient consultations occur in private clinics.</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Most private practitioners do not consistently report weekly cases to the IDSP portal unless an acute crisis emerges.</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Surveillance figures reflect public-sector institutional capture.</a:t>
            </a:r>
            <a:endParaRPr lang="en-US" sz="800" dirty="0"/>
          </a:p>
        </p:txBody>
      </p:sp>
      <p:sp>
        <p:nvSpPr>
          <p:cNvPr id="14" name="Shape 12"/>
          <p:cNvSpPr/>
          <p:nvPr/>
        </p:nvSpPr>
        <p:spPr>
          <a:xfrm>
            <a:off x="731520" y="2990088"/>
            <a:ext cx="3703320" cy="1481328"/>
          </a:xfrm>
          <a:prstGeom prst="rect">
            <a:avLst/>
          </a:prstGeom>
          <a:solidFill>
            <a:srgbClr val="E9E2D2"/>
          </a:solidFill>
          <a:ln w="9525">
            <a:solidFill>
              <a:srgbClr val="D8CFBC"/>
            </a:solidFill>
            <a:prstDash val="solid"/>
          </a:ln>
        </p:spPr>
      </p:sp>
      <p:sp>
        <p:nvSpPr>
          <p:cNvPr id="15" name="Text 13"/>
          <p:cNvSpPr/>
          <p:nvPr/>
        </p:nvSpPr>
        <p:spPr>
          <a:xfrm>
            <a:off x="914400" y="3099816"/>
            <a:ext cx="3337560" cy="164592"/>
          </a:xfrm>
          <a:prstGeom prst="rect">
            <a:avLst/>
          </a:prstGeom>
          <a:noFill/>
          <a:ln/>
        </p:spPr>
        <p:txBody>
          <a:bodyPr wrap="square" rtlCol="0" anchor="ctr"/>
          <a:lstStyle/>
          <a:p>
            <a:pPr indent="0" marL="0">
              <a:buNone/>
            </a:pPr>
            <a:r>
              <a:rPr lang="en-US" sz="700" b="1" dirty="0">
                <a:solidFill>
                  <a:srgbClr val="174A4A"/>
                </a:solidFill>
                <a:latin typeface="Consolas" pitchFamily="34" charset="0"/>
                <a:ea typeface="Consolas" pitchFamily="34" charset="-122"/>
                <a:cs typeface="Consolas" pitchFamily="34" charset="-120"/>
              </a:rPr>
              <a:t>BOUNDARY 03 // CAUSAL INFERENCE</a:t>
            </a:r>
            <a:endParaRPr lang="en-US" sz="700" dirty="0"/>
          </a:p>
        </p:txBody>
      </p:sp>
      <p:sp>
        <p:nvSpPr>
          <p:cNvPr id="16" name="Text 14"/>
          <p:cNvSpPr/>
          <p:nvPr/>
        </p:nvSpPr>
        <p:spPr>
          <a:xfrm>
            <a:off x="914400" y="3282696"/>
            <a:ext cx="3337560" cy="237744"/>
          </a:xfrm>
          <a:prstGeom prst="rect">
            <a:avLst/>
          </a:prstGeom>
          <a:noFill/>
          <a:ln/>
        </p:spPr>
        <p:txBody>
          <a:bodyPr wrap="square" rtlCol="0" anchor="ctr"/>
          <a:lstStyle/>
          <a:p>
            <a:pPr indent="0" marL="0">
              <a:buNone/>
            </a:pPr>
            <a:r>
              <a:rPr lang="en-US" sz="1150" b="1" dirty="0">
                <a:solidFill>
                  <a:srgbClr val="171A18"/>
                </a:solidFill>
                <a:latin typeface="Georgia" pitchFamily="34" charset="0"/>
                <a:ea typeface="Georgia" pitchFamily="34" charset="-122"/>
                <a:cs typeface="Georgia" pitchFamily="34" charset="-120"/>
              </a:rPr>
              <a:t>No Direct Climatic Co-Modeling</a:t>
            </a:r>
            <a:endParaRPr lang="en-US" sz="1150" dirty="0"/>
          </a:p>
        </p:txBody>
      </p:sp>
      <p:sp>
        <p:nvSpPr>
          <p:cNvPr id="17" name="Text 15"/>
          <p:cNvSpPr/>
          <p:nvPr/>
        </p:nvSpPr>
        <p:spPr>
          <a:xfrm>
            <a:off x="914400" y="3538728"/>
            <a:ext cx="3337560" cy="868680"/>
          </a:xfrm>
          <a:prstGeom prst="rect">
            <a:avLst/>
          </a:prstGeom>
          <a:noFill/>
          <a:ln/>
        </p:spPr>
        <p:txBody>
          <a:bodyPr wrap="square" rtlCol="0" anchor="ctr"/>
          <a:lstStyle/>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Meteorological data (rainfall volumes, humidity indices, temperature curves) were not mathematically co-modeled with outbreak series.</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Seasonality is inferred strictly from calendar-month reporting distributions.</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We do not claim direct climatic causation.</a:t>
            </a:r>
            <a:endParaRPr lang="en-US" sz="800" dirty="0"/>
          </a:p>
        </p:txBody>
      </p:sp>
      <p:sp>
        <p:nvSpPr>
          <p:cNvPr id="18" name="Shape 16"/>
          <p:cNvSpPr/>
          <p:nvPr/>
        </p:nvSpPr>
        <p:spPr>
          <a:xfrm>
            <a:off x="4709160" y="2990088"/>
            <a:ext cx="3703320" cy="1481328"/>
          </a:xfrm>
          <a:prstGeom prst="rect">
            <a:avLst/>
          </a:prstGeom>
          <a:solidFill>
            <a:srgbClr val="E9E2D2"/>
          </a:solidFill>
          <a:ln w="9525">
            <a:solidFill>
              <a:srgbClr val="D8CFBC"/>
            </a:solidFill>
            <a:prstDash val="solid"/>
          </a:ln>
        </p:spPr>
      </p:sp>
      <p:sp>
        <p:nvSpPr>
          <p:cNvPr id="19" name="Text 17"/>
          <p:cNvSpPr/>
          <p:nvPr/>
        </p:nvSpPr>
        <p:spPr>
          <a:xfrm>
            <a:off x="4892040" y="3099816"/>
            <a:ext cx="3337560" cy="164592"/>
          </a:xfrm>
          <a:prstGeom prst="rect">
            <a:avLst/>
          </a:prstGeom>
          <a:noFill/>
          <a:ln/>
        </p:spPr>
        <p:txBody>
          <a:bodyPr wrap="square" rtlCol="0" anchor="ctr"/>
          <a:lstStyle/>
          <a:p>
            <a:pPr indent="0" marL="0">
              <a:buNone/>
            </a:pPr>
            <a:r>
              <a:rPr lang="en-US" sz="700" b="1" dirty="0">
                <a:solidFill>
                  <a:srgbClr val="C84B2F"/>
                </a:solidFill>
                <a:latin typeface="Consolas" pitchFamily="34" charset="0"/>
                <a:ea typeface="Consolas" pitchFamily="34" charset="-122"/>
                <a:cs typeface="Consolas" pitchFamily="34" charset="-120"/>
              </a:rPr>
              <a:t>BOUNDARY 04 // SPATIAL SURVEILLANCE CAPACITY</a:t>
            </a:r>
            <a:endParaRPr lang="en-US" sz="700" dirty="0"/>
          </a:p>
        </p:txBody>
      </p:sp>
      <p:sp>
        <p:nvSpPr>
          <p:cNvPr id="20" name="Text 18"/>
          <p:cNvSpPr/>
          <p:nvPr/>
        </p:nvSpPr>
        <p:spPr>
          <a:xfrm>
            <a:off x="4892040" y="3282696"/>
            <a:ext cx="3337560" cy="237744"/>
          </a:xfrm>
          <a:prstGeom prst="rect">
            <a:avLst/>
          </a:prstGeom>
          <a:noFill/>
          <a:ln/>
        </p:spPr>
        <p:txBody>
          <a:bodyPr wrap="square" rtlCol="0" anchor="ctr"/>
          <a:lstStyle/>
          <a:p>
            <a:pPr indent="0" marL="0">
              <a:buNone/>
            </a:pPr>
            <a:r>
              <a:rPr lang="en-US" sz="1150" b="1" dirty="0">
                <a:solidFill>
                  <a:srgbClr val="171A18"/>
                </a:solidFill>
                <a:latin typeface="Georgia" pitchFamily="34" charset="0"/>
                <a:ea typeface="Georgia" pitchFamily="34" charset="-122"/>
                <a:cs typeface="Georgia" pitchFamily="34" charset="-120"/>
              </a:rPr>
              <a:t>District Reporting Intensity Variations</a:t>
            </a:r>
            <a:endParaRPr lang="en-US" sz="1150" dirty="0"/>
          </a:p>
        </p:txBody>
      </p:sp>
      <p:sp>
        <p:nvSpPr>
          <p:cNvPr id="21" name="Text 19"/>
          <p:cNvSpPr/>
          <p:nvPr/>
        </p:nvSpPr>
        <p:spPr>
          <a:xfrm>
            <a:off x="4892040" y="3538728"/>
            <a:ext cx="3337560" cy="868680"/>
          </a:xfrm>
          <a:prstGeom prst="rect">
            <a:avLst/>
          </a:prstGeom>
          <a:noFill/>
          <a:ln/>
        </p:spPr>
        <p:txBody>
          <a:bodyPr wrap="square" rtlCol="0" anchor="ctr"/>
          <a:lstStyle/>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High outbreak counts in certain districts (e.g., Pune, Kolhapur) reflect stronger surveillance machinery and active Rapid Response Teams.</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Low counts in peripheral districts may indicate reporting latency rather than an absence of disease.</a:t>
            </a:r>
            <a:endParaRPr lang="en-US" sz="800" dirty="0"/>
          </a:p>
          <a:p>
            <a:pPr indent="0" marL="0">
              <a:lnSpc>
                <a:spcPct val="115000"/>
              </a:lnSpc>
              <a:buNone/>
            </a:pPr>
            <a:r>
              <a:rPr lang="en-US" sz="800" dirty="0">
                <a:solidFill>
                  <a:srgbClr val="171A18"/>
                </a:solidFill>
                <a:latin typeface="Calibri" pitchFamily="34" charset="0"/>
                <a:ea typeface="Calibri" pitchFamily="34" charset="-122"/>
                <a:cs typeface="Calibri" pitchFamily="34" charset="-120"/>
              </a:rPr>
              <a:t>• Comparisons reflect surveillance output.</a:t>
            </a:r>
            <a:endParaRPr lang="en-US" sz="800" dirty="0"/>
          </a:p>
        </p:txBody>
      </p:sp>
      <p:sp>
        <p:nvSpPr>
          <p:cNvPr id="22" name="Shape 20"/>
          <p:cNvSpPr/>
          <p:nvPr/>
        </p:nvSpPr>
        <p:spPr>
          <a:xfrm>
            <a:off x="731520" y="4736592"/>
            <a:ext cx="7680960" cy="0"/>
          </a:xfrm>
          <a:prstGeom prst="line">
            <a:avLst/>
          </a:prstGeom>
          <a:noFill/>
          <a:ln w="9525">
            <a:solidFill>
              <a:srgbClr val="D8CFBC"/>
            </a:solidFill>
            <a:prstDash val="solid"/>
          </a:ln>
        </p:spPr>
      </p:sp>
      <p:sp>
        <p:nvSpPr>
          <p:cNvPr id="23" name="Text 21"/>
          <p:cNvSpPr/>
          <p:nvPr/>
        </p:nvSpPr>
        <p:spPr>
          <a:xfrm>
            <a:off x="731520" y="4809744"/>
            <a:ext cx="6400800" cy="201168"/>
          </a:xfrm>
          <a:prstGeom prst="rect">
            <a:avLst/>
          </a:prstGeom>
          <a:noFill/>
          <a:ln/>
        </p:spPr>
        <p:txBody>
          <a:bodyPr wrap="square" rtlCol="0" anchor="ctr"/>
          <a:lstStyle/>
          <a:p>
            <a:pPr indent="0" marL="0">
              <a:buNone/>
            </a:pPr>
            <a:r>
              <a:rPr lang="en-US" sz="650" dirty="0">
                <a:solidFill>
                  <a:srgbClr val="7A7D77"/>
                </a:solidFill>
                <a:latin typeface="Consolas" pitchFamily="34" charset="0"/>
                <a:ea typeface="Consolas" pitchFamily="34" charset="-122"/>
                <a:cs typeface="Consolas" pitchFamily="34" charset="-120"/>
              </a:rPr>
              <a:t>SOURCE: PHASE 5D SYNTHESIS OF METHODOLOGICAL LIMITATIONS (DOCUMENT 06)</a:t>
            </a:r>
            <a:endParaRPr lang="en-US" sz="650" dirty="0"/>
          </a:p>
        </p:txBody>
      </p:sp>
      <p:sp>
        <p:nvSpPr>
          <p:cNvPr id="24" name="Text 22"/>
          <p:cNvSpPr/>
          <p:nvPr/>
        </p:nvSpPr>
        <p:spPr>
          <a:xfrm>
            <a:off x="7498080" y="4809744"/>
            <a:ext cx="914400" cy="201168"/>
          </a:xfrm>
          <a:prstGeom prst="rect">
            <a:avLst/>
          </a:prstGeom>
          <a:noFill/>
          <a:ln/>
        </p:spPr>
        <p:txBody>
          <a:bodyPr wrap="square" rtlCol="0" anchor="ctr"/>
          <a:lstStyle/>
          <a:p>
            <a:pPr algn="r" indent="0" marL="0">
              <a:buNone/>
            </a:pPr>
            <a:r>
              <a:rPr lang="en-US" sz="750" b="1" dirty="0">
                <a:solidFill>
                  <a:srgbClr val="50534D"/>
                </a:solidFill>
                <a:latin typeface="Consolas" pitchFamily="34" charset="0"/>
                <a:ea typeface="Consolas" pitchFamily="34" charset="-122"/>
                <a:cs typeface="Consolas" pitchFamily="34" charset="-120"/>
              </a:rPr>
              <a:t>09 / 10</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EBDD"/>
        </a:solidFill>
      </p:bgPr>
    </p:bg>
    <p:spTree>
      <p:nvGrpSpPr>
        <p:cNvPr id="1" name=""/>
        <p:cNvGrpSpPr/>
        <p:nvPr/>
      </p:nvGrpSpPr>
      <p:grpSpPr>
        <a:xfrm>
          <a:off x="0" y="0"/>
          <a:ext cx="0" cy="0"/>
          <a:chOff x="0" y="0"/>
          <a:chExt cx="0" cy="0"/>
        </a:xfrm>
      </p:grpSpPr>
      <p:sp>
        <p:nvSpPr>
          <p:cNvPr id="2" name="Text 0"/>
          <p:cNvSpPr/>
          <p:nvPr/>
        </p:nvSpPr>
        <p:spPr>
          <a:xfrm>
            <a:off x="731520" y="320040"/>
            <a:ext cx="7680960" cy="228600"/>
          </a:xfrm>
          <a:prstGeom prst="rect">
            <a:avLst/>
          </a:prstGeom>
          <a:noFill/>
          <a:ln/>
        </p:spPr>
        <p:txBody>
          <a:bodyPr wrap="square" rtlCol="0" anchor="ctr"/>
          <a:lstStyle/>
          <a:p>
            <a:pPr indent="0" marL="0">
              <a:buNone/>
            </a:pPr>
            <a:r>
              <a:rPr lang="en-US" sz="750" b="1" spc="200" kern="0" dirty="0">
                <a:solidFill>
                  <a:srgbClr val="50534D"/>
                </a:solidFill>
                <a:latin typeface="Consolas" pitchFamily="34" charset="0"/>
                <a:ea typeface="Consolas" pitchFamily="34" charset="-122"/>
                <a:cs typeface="Consolas" pitchFamily="34" charset="-120"/>
              </a:rPr>
              <a:t>SYNTHESIS &amp; ACTIONABLE INSIGHTS // VIVA CONCLUSION</a:t>
            </a:r>
            <a:endParaRPr lang="en-US" sz="750" dirty="0"/>
          </a:p>
        </p:txBody>
      </p:sp>
      <p:sp>
        <p:nvSpPr>
          <p:cNvPr id="3" name="Text 1"/>
          <p:cNvSpPr/>
          <p:nvPr/>
        </p:nvSpPr>
        <p:spPr>
          <a:xfrm>
            <a:off x="731520" y="530352"/>
            <a:ext cx="7680960" cy="457200"/>
          </a:xfrm>
          <a:prstGeom prst="rect">
            <a:avLst/>
          </a:prstGeom>
          <a:noFill/>
          <a:ln/>
        </p:spPr>
        <p:txBody>
          <a:bodyPr wrap="square" rtlCol="0" anchor="ctr"/>
          <a:lstStyle/>
          <a:p>
            <a:pPr indent="0" marL="0">
              <a:lnSpc>
                <a:spcPct val="110000"/>
              </a:lnSpc>
              <a:buNone/>
            </a:pPr>
            <a:r>
              <a:rPr lang="en-US" sz="2000" b="1" dirty="0">
                <a:solidFill>
                  <a:srgbClr val="171A18"/>
                </a:solidFill>
                <a:latin typeface="Georgia" pitchFamily="34" charset="0"/>
                <a:ea typeface="Georgia" pitchFamily="34" charset="-122"/>
                <a:cs typeface="Georgia" pitchFamily="34" charset="-120"/>
              </a:rPr>
              <a:t>Core Empirical Conclusions &amp; Surveillance Action Windows</a:t>
            </a:r>
            <a:endParaRPr lang="en-US" sz="2000" dirty="0"/>
          </a:p>
        </p:txBody>
      </p:sp>
      <p:sp>
        <p:nvSpPr>
          <p:cNvPr id="4" name="Text 2"/>
          <p:cNvSpPr/>
          <p:nvPr/>
        </p:nvSpPr>
        <p:spPr>
          <a:xfrm>
            <a:off x="731520" y="987552"/>
            <a:ext cx="7680960" cy="274320"/>
          </a:xfrm>
          <a:prstGeom prst="rect">
            <a:avLst/>
          </a:prstGeom>
          <a:noFill/>
          <a:ln/>
        </p:spPr>
        <p:txBody>
          <a:bodyPr wrap="square" rtlCol="0" anchor="ctr"/>
          <a:lstStyle/>
          <a:p>
            <a:pPr indent="0" marL="0">
              <a:buNone/>
            </a:pPr>
            <a:r>
              <a:rPr lang="en-US" sz="1050" dirty="0">
                <a:solidFill>
                  <a:srgbClr val="50534D"/>
                </a:solidFill>
                <a:latin typeface="Calibri" pitchFamily="34" charset="0"/>
                <a:ea typeface="Calibri" pitchFamily="34" charset="-122"/>
                <a:cs typeface="Calibri" pitchFamily="34" charset="-120"/>
              </a:rPr>
              <a:t>Translating four years of secondary surveillance data science into proactive public health readiness.</a:t>
            </a:r>
            <a:endParaRPr lang="en-US" sz="1050" dirty="0"/>
          </a:p>
        </p:txBody>
      </p:sp>
      <p:sp>
        <p:nvSpPr>
          <p:cNvPr id="5" name="Shape 3"/>
          <p:cNvSpPr/>
          <p:nvPr/>
        </p:nvSpPr>
        <p:spPr>
          <a:xfrm>
            <a:off x="731520" y="1298448"/>
            <a:ext cx="7680960" cy="0"/>
          </a:xfrm>
          <a:prstGeom prst="line">
            <a:avLst/>
          </a:prstGeom>
          <a:noFill/>
          <a:ln w="9525">
            <a:solidFill>
              <a:srgbClr val="D8CFBC"/>
            </a:solidFill>
            <a:prstDash val="solid"/>
          </a:ln>
        </p:spPr>
      </p:sp>
      <p:sp>
        <p:nvSpPr>
          <p:cNvPr id="6" name="Shape 4"/>
          <p:cNvSpPr/>
          <p:nvPr/>
        </p:nvSpPr>
        <p:spPr>
          <a:xfrm>
            <a:off x="731520" y="1325880"/>
            <a:ext cx="3749040" cy="3063240"/>
          </a:xfrm>
          <a:prstGeom prst="rect">
            <a:avLst/>
          </a:prstGeom>
          <a:solidFill>
            <a:srgbClr val="E9E2D2"/>
          </a:solidFill>
          <a:ln w="9525">
            <a:solidFill>
              <a:srgbClr val="D8CFBC"/>
            </a:solidFill>
            <a:prstDash val="solid"/>
          </a:ln>
        </p:spPr>
      </p:sp>
      <p:sp>
        <p:nvSpPr>
          <p:cNvPr id="7" name="Text 5"/>
          <p:cNvSpPr/>
          <p:nvPr/>
        </p:nvSpPr>
        <p:spPr>
          <a:xfrm>
            <a:off x="914400" y="1463040"/>
            <a:ext cx="3383280" cy="201168"/>
          </a:xfrm>
          <a:prstGeom prst="rect">
            <a:avLst/>
          </a:prstGeom>
          <a:noFill/>
          <a:ln/>
        </p:spPr>
        <p:txBody>
          <a:bodyPr wrap="square" rtlCol="0" anchor="ctr"/>
          <a:lstStyle/>
          <a:p>
            <a:pPr indent="0" marL="0">
              <a:buNone/>
            </a:pPr>
            <a:r>
              <a:rPr lang="en-US" sz="750" b="1" dirty="0">
                <a:solidFill>
                  <a:srgbClr val="174A4A"/>
                </a:solidFill>
                <a:latin typeface="Consolas" pitchFamily="34" charset="0"/>
                <a:ea typeface="Consolas" pitchFamily="34" charset="-122"/>
                <a:cs typeface="Consolas" pitchFamily="34" charset="-120"/>
              </a:rPr>
              <a:t>FIVE CORE DATA SCIENCE FINDINGS</a:t>
            </a:r>
            <a:endParaRPr lang="en-US" sz="750" dirty="0"/>
          </a:p>
        </p:txBody>
      </p:sp>
      <p:sp>
        <p:nvSpPr>
          <p:cNvPr id="8" name="Text 6"/>
          <p:cNvSpPr/>
          <p:nvPr/>
        </p:nvSpPr>
        <p:spPr>
          <a:xfrm>
            <a:off x="914400" y="1673352"/>
            <a:ext cx="3383280" cy="256032"/>
          </a:xfrm>
          <a:prstGeom prst="rect">
            <a:avLst/>
          </a:prstGeom>
          <a:noFill/>
          <a:ln/>
        </p:spPr>
        <p:txBody>
          <a:bodyPr wrap="square" rtlCol="0" anchor="ctr"/>
          <a:lstStyle/>
          <a:p>
            <a:pPr indent="0" marL="0">
              <a:buNone/>
            </a:pPr>
            <a:r>
              <a:rPr lang="en-US" sz="1250" b="1" dirty="0">
                <a:solidFill>
                  <a:srgbClr val="171A18"/>
                </a:solidFill>
                <a:latin typeface="Georgia" pitchFamily="34" charset="0"/>
                <a:ea typeface="Georgia" pitchFamily="34" charset="-122"/>
                <a:cs typeface="Georgia" pitchFamily="34" charset="-120"/>
              </a:rPr>
              <a:t>What the 4-Year Evidence Proves</a:t>
            </a:r>
            <a:endParaRPr lang="en-US" sz="1250" dirty="0"/>
          </a:p>
        </p:txBody>
      </p:sp>
      <p:sp>
        <p:nvSpPr>
          <p:cNvPr id="9" name="Text 7"/>
          <p:cNvSpPr/>
          <p:nvPr/>
        </p:nvSpPr>
        <p:spPr>
          <a:xfrm>
            <a:off x="914400" y="1984248"/>
            <a:ext cx="3383280" cy="2240280"/>
          </a:xfrm>
          <a:prstGeom prst="rect">
            <a:avLst/>
          </a:prstGeom>
          <a:noFill/>
          <a:ln/>
        </p:spPr>
        <p:txBody>
          <a:bodyPr wrap="square" rtlCol="0" anchor="ctr"/>
          <a:lstStyle/>
          <a:p>
            <a:pPr indent="0" marL="0">
              <a:lnSpc>
                <a:spcPct val="115000"/>
              </a:lnSpc>
              <a:buNone/>
            </a:pPr>
            <a:r>
              <a:rPr lang="en-US" sz="780" dirty="0">
                <a:solidFill>
                  <a:srgbClr val="171A18"/>
                </a:solidFill>
                <a:latin typeface="Calibri" pitchFamily="34" charset="0"/>
                <a:ea typeface="Calibri" pitchFamily="34" charset="-122"/>
                <a:cs typeface="Calibri" pitchFamily="34" charset="-120"/>
              </a:rPr>
              <a:t>1. Asymmetrical Vector Timing: Malaria peaks early in June, while Dengue concentrates 82.8% of its outbreaks in June–October with an October peak.</a:t>
            </a:r>
            <a:endParaRPr lang="en-US" sz="780" dirty="0"/>
          </a:p>
          <a:p>
            <a:pPr indent="0" marL="0">
              <a:lnSpc>
                <a:spcPct val="115000"/>
              </a:lnSpc>
              <a:buNone/>
            </a:pPr>
            <a:endParaRPr lang="en-US" sz="780" dirty="0"/>
          </a:p>
          <a:p>
            <a:pPr indent="0" marL="0">
              <a:lnSpc>
                <a:spcPct val="115000"/>
              </a:lnSpc>
              <a:buNone/>
            </a:pPr>
            <a:r>
              <a:rPr lang="en-US" sz="780" dirty="0">
                <a:solidFill>
                  <a:srgbClr val="171A18"/>
                </a:solidFill>
                <a:latin typeface="Calibri" pitchFamily="34" charset="0"/>
                <a:ea typeface="Calibri" pitchFamily="34" charset="-122"/>
                <a:cs typeface="Calibri" pitchFamily="34" charset="-120"/>
              </a:rPr>
              <a:t>2. Inter-Annual Concordance: Only Acute Diarrheal Disease demonstrates statistically significant multi-year rank stability (Kendall's W = 0.530, p = 0.016).</a:t>
            </a:r>
            <a:endParaRPr lang="en-US" sz="780" dirty="0"/>
          </a:p>
          <a:p>
            <a:pPr indent="0" marL="0">
              <a:lnSpc>
                <a:spcPct val="115000"/>
              </a:lnSpc>
              <a:buNone/>
            </a:pPr>
            <a:endParaRPr lang="en-US" sz="780" dirty="0"/>
          </a:p>
          <a:p>
            <a:pPr indent="0" marL="0">
              <a:lnSpc>
                <a:spcPct val="115000"/>
              </a:lnSpc>
              <a:buNone/>
            </a:pPr>
            <a:r>
              <a:rPr lang="en-US" sz="780" dirty="0">
                <a:solidFill>
                  <a:srgbClr val="171A18"/>
                </a:solidFill>
                <a:latin typeface="Calibri" pitchFamily="34" charset="0"/>
                <a:ea typeface="Calibri" pitchFamily="34" charset="-122"/>
                <a:cs typeface="Calibri" pitchFamily="34" charset="-120"/>
              </a:rPr>
              <a:t>3. Event vs. Case Divergence: Outbreak frequency does not equate to case volume; a single event can contain hundreds of cases.</a:t>
            </a:r>
            <a:endParaRPr lang="en-US" sz="780" dirty="0"/>
          </a:p>
          <a:p>
            <a:pPr indent="0" marL="0">
              <a:lnSpc>
                <a:spcPct val="115000"/>
              </a:lnSpc>
              <a:buNone/>
            </a:pPr>
            <a:endParaRPr lang="en-US" sz="780" dirty="0"/>
          </a:p>
          <a:p>
            <a:pPr indent="0" marL="0">
              <a:lnSpc>
                <a:spcPct val="115000"/>
              </a:lnSpc>
              <a:buNone/>
            </a:pPr>
            <a:r>
              <a:rPr lang="en-US" sz="780" dirty="0">
                <a:solidFill>
                  <a:srgbClr val="171A18"/>
                </a:solidFill>
                <a:latin typeface="Calibri" pitchFamily="34" charset="0"/>
                <a:ea typeface="Calibri" pitchFamily="34" charset="-122"/>
                <a:cs typeface="Calibri" pitchFamily="34" charset="-120"/>
              </a:rPr>
              <a:t>4. Outlier Sensitivity: Just three Food Poisoning records generated 1,615 cases, driving 74.7% of all February cases in the four-year study.</a:t>
            </a:r>
            <a:endParaRPr lang="en-US" sz="780" dirty="0"/>
          </a:p>
          <a:p>
            <a:pPr indent="0" marL="0">
              <a:lnSpc>
                <a:spcPct val="115000"/>
              </a:lnSpc>
              <a:buNone/>
            </a:pPr>
            <a:endParaRPr lang="en-US" sz="780" dirty="0"/>
          </a:p>
          <a:p>
            <a:pPr indent="0" marL="0">
              <a:lnSpc>
                <a:spcPct val="115000"/>
              </a:lnSpc>
              <a:buNone/>
            </a:pPr>
            <a:r>
              <a:rPr lang="en-US" sz="780" dirty="0">
                <a:solidFill>
                  <a:srgbClr val="171A18"/>
                </a:solidFill>
                <a:latin typeface="Calibri" pitchFamily="34" charset="0"/>
                <a:ea typeface="Calibri" pitchFamily="34" charset="-122"/>
                <a:cs typeface="Calibri" pitchFamily="34" charset="-120"/>
              </a:rPr>
              <a:t>5. Out-of-Sample Integrity: 2026 data up to Week 32 confirms expected historical truncation, refuting premature claims of disease decline.</a:t>
            </a:r>
            <a:endParaRPr lang="en-US" sz="780" dirty="0"/>
          </a:p>
        </p:txBody>
      </p:sp>
      <p:sp>
        <p:nvSpPr>
          <p:cNvPr id="10" name="Shape 8"/>
          <p:cNvSpPr/>
          <p:nvPr/>
        </p:nvSpPr>
        <p:spPr>
          <a:xfrm>
            <a:off x="4754880" y="1325880"/>
            <a:ext cx="3657600" cy="3063240"/>
          </a:xfrm>
          <a:prstGeom prst="rect">
            <a:avLst/>
          </a:prstGeom>
          <a:solidFill>
            <a:srgbClr val="E9E2D2"/>
          </a:solidFill>
          <a:ln w="9525">
            <a:solidFill>
              <a:srgbClr val="D8CFBC"/>
            </a:solidFill>
            <a:prstDash val="solid"/>
          </a:ln>
        </p:spPr>
      </p:sp>
      <p:sp>
        <p:nvSpPr>
          <p:cNvPr id="11" name="Text 9"/>
          <p:cNvSpPr/>
          <p:nvPr/>
        </p:nvSpPr>
        <p:spPr>
          <a:xfrm>
            <a:off x="4937760" y="1463040"/>
            <a:ext cx="3291840" cy="201168"/>
          </a:xfrm>
          <a:prstGeom prst="rect">
            <a:avLst/>
          </a:prstGeom>
          <a:noFill/>
          <a:ln/>
        </p:spPr>
        <p:txBody>
          <a:bodyPr wrap="square" rtlCol="0" anchor="ctr"/>
          <a:lstStyle/>
          <a:p>
            <a:pPr indent="0" marL="0">
              <a:buNone/>
            </a:pPr>
            <a:r>
              <a:rPr lang="en-US" sz="750" b="1" dirty="0">
                <a:solidFill>
                  <a:srgbClr val="C84B2F"/>
                </a:solidFill>
                <a:latin typeface="Consolas" pitchFamily="34" charset="0"/>
                <a:ea typeface="Consolas" pitchFamily="34" charset="-122"/>
                <a:cs typeface="Consolas" pitchFamily="34" charset="-120"/>
              </a:rPr>
              <a:t>OPERATIONAL SURVEILLANCE RECOMMENDATION</a:t>
            </a:r>
            <a:endParaRPr lang="en-US" sz="750" dirty="0"/>
          </a:p>
        </p:txBody>
      </p:sp>
      <p:sp>
        <p:nvSpPr>
          <p:cNvPr id="12" name="Text 10"/>
          <p:cNvSpPr/>
          <p:nvPr/>
        </p:nvSpPr>
        <p:spPr>
          <a:xfrm>
            <a:off x="4937760" y="1673352"/>
            <a:ext cx="3291840" cy="256032"/>
          </a:xfrm>
          <a:prstGeom prst="rect">
            <a:avLst/>
          </a:prstGeom>
          <a:noFill/>
          <a:ln/>
        </p:spPr>
        <p:txBody>
          <a:bodyPr wrap="square" rtlCol="0" anchor="ctr"/>
          <a:lstStyle/>
          <a:p>
            <a:pPr indent="0" marL="0">
              <a:buNone/>
            </a:pPr>
            <a:r>
              <a:rPr lang="en-US" sz="1250" b="1" dirty="0">
                <a:solidFill>
                  <a:srgbClr val="171A18"/>
                </a:solidFill>
                <a:latin typeface="Georgia" pitchFamily="34" charset="0"/>
                <a:ea typeface="Georgia" pitchFamily="34" charset="-122"/>
                <a:cs typeface="Georgia" pitchFamily="34" charset="-120"/>
              </a:rPr>
              <a:t>Surveillance Pre-Positioning Windows</a:t>
            </a:r>
            <a:endParaRPr lang="en-US" sz="1250" dirty="0"/>
          </a:p>
        </p:txBody>
      </p:sp>
      <p:sp>
        <p:nvSpPr>
          <p:cNvPr id="13" name="Shape 11"/>
          <p:cNvSpPr/>
          <p:nvPr/>
        </p:nvSpPr>
        <p:spPr>
          <a:xfrm>
            <a:off x="4937760" y="1984248"/>
            <a:ext cx="3291840" cy="1371600"/>
          </a:xfrm>
          <a:prstGeom prst="rect">
            <a:avLst/>
          </a:prstGeom>
          <a:solidFill>
            <a:srgbClr val="F9F6EF"/>
          </a:solidFill>
          <a:ln w="9525">
            <a:solidFill>
              <a:srgbClr val="D8CFBC"/>
            </a:solidFill>
            <a:prstDash val="solid"/>
          </a:ln>
        </p:spPr>
      </p:sp>
      <p:sp>
        <p:nvSpPr>
          <p:cNvPr id="14" name="Text 12"/>
          <p:cNvSpPr/>
          <p:nvPr/>
        </p:nvSpPr>
        <p:spPr>
          <a:xfrm>
            <a:off x="5074920" y="2075688"/>
            <a:ext cx="3017520" cy="164592"/>
          </a:xfrm>
          <a:prstGeom prst="rect">
            <a:avLst/>
          </a:prstGeom>
          <a:noFill/>
          <a:ln/>
        </p:spPr>
        <p:txBody>
          <a:bodyPr wrap="square" rtlCol="0" anchor="ctr"/>
          <a:lstStyle/>
          <a:p>
            <a:pPr indent="0" marL="0">
              <a:buNone/>
            </a:pPr>
            <a:r>
              <a:rPr lang="en-US" sz="650" b="1" dirty="0">
                <a:solidFill>
                  <a:srgbClr val="174A4A"/>
                </a:solidFill>
                <a:latin typeface="Consolas" pitchFamily="34" charset="0"/>
                <a:ea typeface="Consolas" pitchFamily="34" charset="-122"/>
                <a:cs typeface="Consolas" pitchFamily="34" charset="-120"/>
              </a:rPr>
              <a:t>EMPIRICAL INTERVENTION ACTION CALENDAR</a:t>
            </a:r>
            <a:endParaRPr lang="en-US" sz="650" dirty="0"/>
          </a:p>
        </p:txBody>
      </p:sp>
      <p:sp>
        <p:nvSpPr>
          <p:cNvPr id="15" name="Text 13"/>
          <p:cNvSpPr/>
          <p:nvPr/>
        </p:nvSpPr>
        <p:spPr>
          <a:xfrm>
            <a:off x="5074920" y="2286000"/>
            <a:ext cx="3017520" cy="164592"/>
          </a:xfrm>
          <a:prstGeom prst="rect">
            <a:avLst/>
          </a:prstGeom>
          <a:noFill/>
          <a:ln/>
        </p:spPr>
        <p:txBody>
          <a:bodyPr wrap="square" rtlCol="0" anchor="ctr"/>
          <a:lstStyle/>
          <a:p>
            <a:pPr indent="0" marL="0">
              <a:buNone/>
            </a:pPr>
            <a:r>
              <a:rPr lang="en-US" sz="800" b="1" dirty="0">
                <a:solidFill>
                  <a:srgbClr val="171A18"/>
                </a:solidFill>
                <a:latin typeface="Calibri" pitchFamily="34" charset="0"/>
                <a:ea typeface="Calibri" pitchFamily="34" charset="-122"/>
                <a:cs typeface="Calibri" pitchFamily="34" charset="-120"/>
              </a:rPr>
              <a:t>• Malaria: Pre-position in Weeks 18–20 (Early May)</a:t>
            </a:r>
            <a:endParaRPr lang="en-US" sz="800" dirty="0"/>
          </a:p>
        </p:txBody>
      </p:sp>
      <p:sp>
        <p:nvSpPr>
          <p:cNvPr id="16" name="Text 14"/>
          <p:cNvSpPr/>
          <p:nvPr/>
        </p:nvSpPr>
        <p:spPr>
          <a:xfrm>
            <a:off x="5074920" y="2414016"/>
            <a:ext cx="3017520" cy="128016"/>
          </a:xfrm>
          <a:prstGeom prst="rect">
            <a:avLst/>
          </a:prstGeom>
          <a:noFill/>
          <a:ln/>
        </p:spPr>
        <p:txBody>
          <a:bodyPr wrap="square" rtlCol="0" anchor="ctr"/>
          <a:lstStyle/>
          <a:p>
            <a:pPr indent="0" marL="0">
              <a:buNone/>
            </a:pPr>
            <a:r>
              <a:rPr lang="en-US" sz="650" dirty="0">
                <a:solidFill>
                  <a:srgbClr val="50534D"/>
                </a:solidFill>
                <a:latin typeface="Consolas" pitchFamily="34" charset="0"/>
                <a:ea typeface="Consolas" pitchFamily="34" charset="-122"/>
                <a:cs typeface="Consolas" pitchFamily="34" charset="-120"/>
              </a:rPr>
              <a:t>  Early anti-larval abatement &amp; slide kits</a:t>
            </a:r>
            <a:endParaRPr lang="en-US" sz="650" dirty="0"/>
          </a:p>
        </p:txBody>
      </p:sp>
      <p:sp>
        <p:nvSpPr>
          <p:cNvPr id="17" name="Text 15"/>
          <p:cNvSpPr/>
          <p:nvPr/>
        </p:nvSpPr>
        <p:spPr>
          <a:xfrm>
            <a:off x="5074920" y="2542032"/>
            <a:ext cx="3017520" cy="164592"/>
          </a:xfrm>
          <a:prstGeom prst="rect">
            <a:avLst/>
          </a:prstGeom>
          <a:noFill/>
          <a:ln/>
        </p:spPr>
        <p:txBody>
          <a:bodyPr wrap="square" rtlCol="0" anchor="ctr"/>
          <a:lstStyle/>
          <a:p>
            <a:pPr indent="0" marL="0">
              <a:buNone/>
            </a:pPr>
            <a:r>
              <a:rPr lang="en-US" sz="800" b="1" dirty="0">
                <a:solidFill>
                  <a:srgbClr val="171A18"/>
                </a:solidFill>
                <a:latin typeface="Calibri" pitchFamily="34" charset="0"/>
                <a:ea typeface="Calibri" pitchFamily="34" charset="-122"/>
                <a:cs typeface="Calibri" pitchFamily="34" charset="-120"/>
              </a:rPr>
              <a:t>• ADD: Pre-position in Weeks 20–22 (Late May)</a:t>
            </a:r>
            <a:endParaRPr lang="en-US" sz="800" dirty="0"/>
          </a:p>
        </p:txBody>
      </p:sp>
      <p:sp>
        <p:nvSpPr>
          <p:cNvPr id="18" name="Text 16"/>
          <p:cNvSpPr/>
          <p:nvPr/>
        </p:nvSpPr>
        <p:spPr>
          <a:xfrm>
            <a:off x="5074920" y="2670048"/>
            <a:ext cx="3017520" cy="128016"/>
          </a:xfrm>
          <a:prstGeom prst="rect">
            <a:avLst/>
          </a:prstGeom>
          <a:noFill/>
          <a:ln/>
        </p:spPr>
        <p:txBody>
          <a:bodyPr wrap="square" rtlCol="0" anchor="ctr"/>
          <a:lstStyle/>
          <a:p>
            <a:pPr indent="0" marL="0">
              <a:buNone/>
            </a:pPr>
            <a:r>
              <a:rPr lang="en-US" sz="650" dirty="0">
                <a:solidFill>
                  <a:srgbClr val="50534D"/>
                </a:solidFill>
                <a:latin typeface="Consolas" pitchFamily="34" charset="0"/>
                <a:ea typeface="Consolas" pitchFamily="34" charset="-122"/>
                <a:cs typeface="Consolas" pitchFamily="34" charset="-120"/>
              </a:rPr>
              <a:t>  Pipeline chlorination &amp; ORS pre-stocking</a:t>
            </a:r>
            <a:endParaRPr lang="en-US" sz="650" dirty="0"/>
          </a:p>
        </p:txBody>
      </p:sp>
      <p:sp>
        <p:nvSpPr>
          <p:cNvPr id="19" name="Text 17"/>
          <p:cNvSpPr/>
          <p:nvPr/>
        </p:nvSpPr>
        <p:spPr>
          <a:xfrm>
            <a:off x="5074920" y="2798064"/>
            <a:ext cx="3017520" cy="164592"/>
          </a:xfrm>
          <a:prstGeom prst="rect">
            <a:avLst/>
          </a:prstGeom>
          <a:noFill/>
          <a:ln/>
        </p:spPr>
        <p:txBody>
          <a:bodyPr wrap="square" rtlCol="0" anchor="ctr"/>
          <a:lstStyle/>
          <a:p>
            <a:pPr indent="0" marL="0">
              <a:buNone/>
            </a:pPr>
            <a:r>
              <a:rPr lang="en-US" sz="800" b="1" dirty="0">
                <a:solidFill>
                  <a:srgbClr val="171A18"/>
                </a:solidFill>
                <a:latin typeface="Calibri" pitchFamily="34" charset="0"/>
                <a:ea typeface="Calibri" pitchFamily="34" charset="-122"/>
                <a:cs typeface="Calibri" pitchFamily="34" charset="-120"/>
              </a:rPr>
              <a:t>• Dengue: Pre-position in Weeks 22–24 (Early June)</a:t>
            </a:r>
            <a:endParaRPr lang="en-US" sz="800" dirty="0"/>
          </a:p>
        </p:txBody>
      </p:sp>
      <p:sp>
        <p:nvSpPr>
          <p:cNvPr id="20" name="Text 18"/>
          <p:cNvSpPr/>
          <p:nvPr/>
        </p:nvSpPr>
        <p:spPr>
          <a:xfrm>
            <a:off x="5074920" y="2926080"/>
            <a:ext cx="3017520" cy="128016"/>
          </a:xfrm>
          <a:prstGeom prst="rect">
            <a:avLst/>
          </a:prstGeom>
          <a:noFill/>
          <a:ln/>
        </p:spPr>
        <p:txBody>
          <a:bodyPr wrap="square" rtlCol="0" anchor="ctr"/>
          <a:lstStyle/>
          <a:p>
            <a:pPr indent="0" marL="0">
              <a:buNone/>
            </a:pPr>
            <a:r>
              <a:rPr lang="en-US" sz="650" dirty="0">
                <a:solidFill>
                  <a:srgbClr val="50534D"/>
                </a:solidFill>
                <a:latin typeface="Consolas" pitchFamily="34" charset="0"/>
                <a:ea typeface="Consolas" pitchFamily="34" charset="-122"/>
                <a:cs typeface="Consolas" pitchFamily="34" charset="-120"/>
              </a:rPr>
              <a:t>  Source reduction &amp; NS1 platelet monitoring</a:t>
            </a:r>
            <a:endParaRPr lang="en-US" sz="650" dirty="0"/>
          </a:p>
        </p:txBody>
      </p:sp>
      <p:sp>
        <p:nvSpPr>
          <p:cNvPr id="21" name="Text 19"/>
          <p:cNvSpPr/>
          <p:nvPr/>
        </p:nvSpPr>
        <p:spPr>
          <a:xfrm>
            <a:off x="5074920" y="3054096"/>
            <a:ext cx="3017520" cy="164592"/>
          </a:xfrm>
          <a:prstGeom prst="rect">
            <a:avLst/>
          </a:prstGeom>
          <a:noFill/>
          <a:ln/>
        </p:spPr>
        <p:txBody>
          <a:bodyPr wrap="square" rtlCol="0" anchor="ctr"/>
          <a:lstStyle/>
          <a:p>
            <a:pPr indent="0" marL="0">
              <a:buNone/>
            </a:pPr>
            <a:r>
              <a:rPr lang="en-US" sz="800" b="1" dirty="0">
                <a:solidFill>
                  <a:srgbClr val="171A18"/>
                </a:solidFill>
                <a:latin typeface="Calibri" pitchFamily="34" charset="0"/>
                <a:ea typeface="Calibri" pitchFamily="34" charset="-122"/>
                <a:cs typeface="Calibri" pitchFamily="34" charset="-120"/>
              </a:rPr>
              <a:t>• Food Poisoning: Pre-position in Feb &amp; Apr–May</a:t>
            </a:r>
            <a:endParaRPr lang="en-US" sz="800" dirty="0"/>
          </a:p>
        </p:txBody>
      </p:sp>
      <p:sp>
        <p:nvSpPr>
          <p:cNvPr id="22" name="Text 20"/>
          <p:cNvSpPr/>
          <p:nvPr/>
        </p:nvSpPr>
        <p:spPr>
          <a:xfrm>
            <a:off x="5074920" y="3182112"/>
            <a:ext cx="3017520" cy="128016"/>
          </a:xfrm>
          <a:prstGeom prst="rect">
            <a:avLst/>
          </a:prstGeom>
          <a:noFill/>
          <a:ln/>
        </p:spPr>
        <p:txBody>
          <a:bodyPr wrap="square" rtlCol="0" anchor="ctr"/>
          <a:lstStyle/>
          <a:p>
            <a:pPr indent="0" marL="0">
              <a:buNone/>
            </a:pPr>
            <a:r>
              <a:rPr lang="en-US" sz="650" dirty="0">
                <a:solidFill>
                  <a:srgbClr val="50534D"/>
                </a:solidFill>
                <a:latin typeface="Consolas" pitchFamily="34" charset="0"/>
                <a:ea typeface="Consolas" pitchFamily="34" charset="-122"/>
                <a:cs typeface="Consolas" pitchFamily="34" charset="-120"/>
              </a:rPr>
              <a:t>  Proactive inspection of mass dining &amp; messes</a:t>
            </a:r>
            <a:endParaRPr lang="en-US" sz="650" dirty="0"/>
          </a:p>
        </p:txBody>
      </p:sp>
      <p:sp>
        <p:nvSpPr>
          <p:cNvPr id="23" name="Shape 21"/>
          <p:cNvSpPr/>
          <p:nvPr/>
        </p:nvSpPr>
        <p:spPr>
          <a:xfrm>
            <a:off x="4937760" y="3447288"/>
            <a:ext cx="3291840" cy="777240"/>
          </a:xfrm>
          <a:prstGeom prst="rect">
            <a:avLst/>
          </a:prstGeom>
          <a:solidFill>
            <a:srgbClr val="F9F6EF"/>
          </a:solidFill>
          <a:ln w="9525">
            <a:solidFill>
              <a:srgbClr val="D8CFBC"/>
            </a:solidFill>
            <a:prstDash val="solid"/>
          </a:ln>
        </p:spPr>
      </p:sp>
      <p:sp>
        <p:nvSpPr>
          <p:cNvPr id="24" name="Text 22"/>
          <p:cNvSpPr/>
          <p:nvPr/>
        </p:nvSpPr>
        <p:spPr>
          <a:xfrm>
            <a:off x="5074920" y="3520440"/>
            <a:ext cx="3017520" cy="164592"/>
          </a:xfrm>
          <a:prstGeom prst="rect">
            <a:avLst/>
          </a:prstGeom>
          <a:noFill/>
          <a:ln/>
        </p:spPr>
        <p:txBody>
          <a:bodyPr wrap="square" rtlCol="0" anchor="ctr"/>
          <a:lstStyle/>
          <a:p>
            <a:pPr indent="0" marL="0">
              <a:buNone/>
            </a:pPr>
            <a:r>
              <a:rPr lang="en-US" sz="650" b="1" dirty="0">
                <a:solidFill>
                  <a:srgbClr val="174A4A"/>
                </a:solidFill>
                <a:latin typeface="Consolas" pitchFamily="34" charset="0"/>
                <a:ea typeface="Consolas" pitchFamily="34" charset="-122"/>
                <a:cs typeface="Consolas" pitchFamily="34" charset="-120"/>
              </a:rPr>
              <a:t>CANDIDATE'S INDEPENDENT CONTRIBUTION</a:t>
            </a:r>
            <a:endParaRPr lang="en-US" sz="650" dirty="0"/>
          </a:p>
        </p:txBody>
      </p:sp>
      <p:sp>
        <p:nvSpPr>
          <p:cNvPr id="25" name="Text 23"/>
          <p:cNvSpPr/>
          <p:nvPr/>
        </p:nvSpPr>
        <p:spPr>
          <a:xfrm>
            <a:off x="5074920" y="3685032"/>
            <a:ext cx="3017520" cy="457200"/>
          </a:xfrm>
          <a:prstGeom prst="rect">
            <a:avLst/>
          </a:prstGeom>
          <a:noFill/>
          <a:ln/>
        </p:spPr>
        <p:txBody>
          <a:bodyPr wrap="square" rtlCol="0" anchor="ctr"/>
          <a:lstStyle/>
          <a:p>
            <a:pPr indent="0" marL="0">
              <a:lnSpc>
                <a:spcPct val="115000"/>
              </a:lnSpc>
              <a:buNone/>
            </a:pPr>
            <a:r>
              <a:rPr lang="en-US" sz="750" dirty="0">
                <a:solidFill>
                  <a:srgbClr val="171A18"/>
                </a:solidFill>
                <a:latin typeface="Calibri" pitchFamily="34" charset="0"/>
                <a:ea typeface="Calibri" pitchFamily="34" charset="-122"/>
                <a:cs typeface="Calibri" pitchFamily="34" charset="-120"/>
              </a:rPr>
              <a:t>Constructed an end-to-end, reproducible data pipeline transforming unstandardized weekly PDF surveillance reports into an auditable evidence base for undergraduate viva defense.</a:t>
            </a:r>
            <a:endParaRPr lang="en-US" sz="750" dirty="0"/>
          </a:p>
        </p:txBody>
      </p:sp>
      <p:sp>
        <p:nvSpPr>
          <p:cNvPr id="26" name="Shape 24"/>
          <p:cNvSpPr/>
          <p:nvPr/>
        </p:nvSpPr>
        <p:spPr>
          <a:xfrm>
            <a:off x="731520" y="4736592"/>
            <a:ext cx="7680960" cy="0"/>
          </a:xfrm>
          <a:prstGeom prst="line">
            <a:avLst/>
          </a:prstGeom>
          <a:noFill/>
          <a:ln w="9525">
            <a:solidFill>
              <a:srgbClr val="D8CFBC"/>
            </a:solidFill>
            <a:prstDash val="solid"/>
          </a:ln>
        </p:spPr>
      </p:sp>
      <p:sp>
        <p:nvSpPr>
          <p:cNvPr id="27" name="Text 25"/>
          <p:cNvSpPr/>
          <p:nvPr/>
        </p:nvSpPr>
        <p:spPr>
          <a:xfrm>
            <a:off x="731520" y="4809744"/>
            <a:ext cx="6400800" cy="201168"/>
          </a:xfrm>
          <a:prstGeom prst="rect">
            <a:avLst/>
          </a:prstGeom>
          <a:noFill/>
          <a:ln/>
        </p:spPr>
        <p:txBody>
          <a:bodyPr wrap="square" rtlCol="0" anchor="ctr"/>
          <a:lstStyle/>
          <a:p>
            <a:pPr indent="0" marL="0">
              <a:buNone/>
            </a:pPr>
            <a:r>
              <a:rPr lang="en-US" sz="650" dirty="0">
                <a:solidFill>
                  <a:srgbClr val="7A7D77"/>
                </a:solidFill>
                <a:latin typeface="Consolas" pitchFamily="34" charset="0"/>
                <a:ea typeface="Consolas" pitchFamily="34" charset="-122"/>
                <a:cs typeface="Consolas" pitchFamily="34" charset="-120"/>
              </a:rPr>
              <a:t>SOURCE: PHASE 5E SLIDE SYNTHESIS &amp; RECOMMENDATION FRAMEWORK</a:t>
            </a:r>
            <a:endParaRPr lang="en-US" sz="650" dirty="0"/>
          </a:p>
        </p:txBody>
      </p:sp>
      <p:sp>
        <p:nvSpPr>
          <p:cNvPr id="28" name="Text 26"/>
          <p:cNvSpPr/>
          <p:nvPr/>
        </p:nvSpPr>
        <p:spPr>
          <a:xfrm>
            <a:off x="7498080" y="4809744"/>
            <a:ext cx="914400" cy="201168"/>
          </a:xfrm>
          <a:prstGeom prst="rect">
            <a:avLst/>
          </a:prstGeom>
          <a:noFill/>
          <a:ln/>
        </p:spPr>
        <p:txBody>
          <a:bodyPr wrap="square" rtlCol="0" anchor="ctr"/>
          <a:lstStyle/>
          <a:p>
            <a:pPr algn="r" indent="0" marL="0">
              <a:buNone/>
            </a:pPr>
            <a:r>
              <a:rPr lang="en-US" sz="750" b="1" dirty="0">
                <a:solidFill>
                  <a:srgbClr val="50534D"/>
                </a:solidFill>
                <a:latin typeface="Consolas" pitchFamily="34" charset="0"/>
                <a:ea typeface="Consolas" pitchFamily="34" charset="-122"/>
                <a:cs typeface="Consolas" pitchFamily="34" charset="-120"/>
              </a:rPr>
              <a:t>10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RP Institute, affiliated to University of Mumbai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Seasonal Disease Patterns Using Government Health Data</dc:title>
  <dc:subject>A Four-Year Epidemiological Outbreak Surveillance Study in Maharashtra (2022–2025)</dc:subject>
  <dc:creator>Khan Umar</dc:creator>
  <cp:lastModifiedBy>Khan Umar</cp:lastModifiedBy>
  <cp:revision>1.0</cp:revision>
  <dcterms:created xsi:type="dcterms:W3CDTF">2026-10-02T16:22:56Z</dcterms:created>
  <dcterms:modified xsi:type="dcterms:W3CDTF">2026-10-02T16:22:56Z</dcterms:modified>
</cp:coreProperties>
</file>