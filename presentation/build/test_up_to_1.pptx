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(30s):
Respected examiners, good morning. I am Khan Umar, presenting my B.Sc. Data Science Semester III Field Project at RP Institute, affiliated to the University of Mumbai.
Our research title is 'Analysis of Seasonal Disease Patterns Using Government Health Data'.
We analyze official weekly outbreak surveillance reports published by the National Centre for Disease Control (NCDC / IDSP) across Maharashtra, establishing a rigorous 4-year empirical baseline (2022–2025) and evaluating a partial-year comparison for 2026.
WHAT NOT TO OVERCLAIM: This is secondary analysis of official government outbreak bulletins — not clinical laboratory fieldwork or population incidence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420624"/>
            <a:ext cx="7680960" cy="0"/>
          </a:xfrm>
          <a:prstGeom prst="line">
            <a:avLst/>
          </a:prstGeom>
          <a:noFill/>
          <a:ln w="6350">
            <a:solidFill>
              <a:srgbClr val="997E30"/>
            </a:solidFill>
            <a:prstDash val="solid"/>
          </a:ln>
        </p:spPr>
      </p:sp>
      <p:sp>
        <p:nvSpPr>
          <p:cNvPr id="3" name="Shape 1"/>
          <p:cNvSpPr/>
          <p:nvPr/>
        </p:nvSpPr>
        <p:spPr>
          <a:xfrm>
            <a:off x="1033272" y="365760"/>
            <a:ext cx="36576" cy="54864"/>
          </a:xfrm>
          <a:prstGeom prst="rect">
            <a:avLst/>
          </a:prstGeom>
          <a:solidFill>
            <a:srgbClr val="64748B"/>
          </a:solidFill>
          <a:ln/>
        </p:spPr>
      </p:sp>
      <p:sp>
        <p:nvSpPr>
          <p:cNvPr id="4" name="Text 2"/>
          <p:cNvSpPr/>
          <p:nvPr/>
        </p:nvSpPr>
        <p:spPr>
          <a:xfrm>
            <a:off x="7315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J</a:t>
            </a:r>
            <a:endParaRPr lang="en-US" sz="650" dirty="0"/>
          </a:p>
        </p:txBody>
      </p:sp>
      <p:sp>
        <p:nvSpPr>
          <p:cNvPr id="5" name="Shape 3"/>
          <p:cNvSpPr/>
          <p:nvPr/>
        </p:nvSpPr>
        <p:spPr>
          <a:xfrm>
            <a:off x="1673352" y="329184"/>
            <a:ext cx="36576" cy="91440"/>
          </a:xfrm>
          <a:prstGeom prst="rect">
            <a:avLst/>
          </a:prstGeom>
          <a:solidFill>
            <a:srgbClr val="64748B"/>
          </a:solidFill>
          <a:ln/>
        </p:spPr>
      </p:sp>
      <p:sp>
        <p:nvSpPr>
          <p:cNvPr id="6" name="Text 4"/>
          <p:cNvSpPr/>
          <p:nvPr/>
        </p:nvSpPr>
        <p:spPr>
          <a:xfrm>
            <a:off x="13716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F</a:t>
            </a:r>
            <a:endParaRPr lang="en-US" sz="650" dirty="0"/>
          </a:p>
        </p:txBody>
      </p:sp>
      <p:sp>
        <p:nvSpPr>
          <p:cNvPr id="7" name="Shape 5"/>
          <p:cNvSpPr/>
          <p:nvPr/>
        </p:nvSpPr>
        <p:spPr>
          <a:xfrm>
            <a:off x="2313432" y="356616"/>
            <a:ext cx="36576" cy="64008"/>
          </a:xfrm>
          <a:prstGeom prst="rect">
            <a:avLst/>
          </a:prstGeom>
          <a:solidFill>
            <a:srgbClr val="64748B"/>
          </a:solidFill>
          <a:ln/>
        </p:spPr>
      </p:sp>
      <p:sp>
        <p:nvSpPr>
          <p:cNvPr id="8" name="Text 6"/>
          <p:cNvSpPr/>
          <p:nvPr/>
        </p:nvSpPr>
        <p:spPr>
          <a:xfrm>
            <a:off x="201168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9" name="Shape 7"/>
          <p:cNvSpPr/>
          <p:nvPr/>
        </p:nvSpPr>
        <p:spPr>
          <a:xfrm>
            <a:off x="2953512" y="347472"/>
            <a:ext cx="36576" cy="73152"/>
          </a:xfrm>
          <a:prstGeom prst="rect">
            <a:avLst/>
          </a:prstGeom>
          <a:solidFill>
            <a:srgbClr val="64748B"/>
          </a:solidFill>
          <a:ln/>
        </p:spPr>
      </p:sp>
      <p:sp>
        <p:nvSpPr>
          <p:cNvPr id="10" name="Text 8"/>
          <p:cNvSpPr/>
          <p:nvPr/>
        </p:nvSpPr>
        <p:spPr>
          <a:xfrm>
            <a:off x="265176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A</a:t>
            </a:r>
            <a:endParaRPr lang="en-US" sz="650" dirty="0"/>
          </a:p>
        </p:txBody>
      </p:sp>
      <p:sp>
        <p:nvSpPr>
          <p:cNvPr id="11" name="Shape 9"/>
          <p:cNvSpPr/>
          <p:nvPr/>
        </p:nvSpPr>
        <p:spPr>
          <a:xfrm>
            <a:off x="3593592" y="320040"/>
            <a:ext cx="36576" cy="100584"/>
          </a:xfrm>
          <a:prstGeom prst="rect">
            <a:avLst/>
          </a:prstGeom>
          <a:solidFill>
            <a:srgbClr val="64748B"/>
          </a:solidFill>
          <a:ln/>
        </p:spPr>
      </p:sp>
      <p:sp>
        <p:nvSpPr>
          <p:cNvPr id="12" name="Text 10"/>
          <p:cNvSpPr/>
          <p:nvPr/>
        </p:nvSpPr>
        <p:spPr>
          <a:xfrm>
            <a:off x="329184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13" name="Shape 11"/>
          <p:cNvSpPr/>
          <p:nvPr/>
        </p:nvSpPr>
        <p:spPr>
          <a:xfrm>
            <a:off x="4233672" y="274320"/>
            <a:ext cx="36576" cy="146304"/>
          </a:xfrm>
          <a:prstGeom prst="rect">
            <a:avLst/>
          </a:prstGeom>
          <a:solidFill>
            <a:srgbClr val="D4AF37"/>
          </a:solidFill>
          <a:ln/>
        </p:spPr>
      </p:sp>
      <p:sp>
        <p:nvSpPr>
          <p:cNvPr id="14" name="Text 12"/>
          <p:cNvSpPr/>
          <p:nvPr/>
        </p:nvSpPr>
        <p:spPr>
          <a:xfrm>
            <a:off x="393192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5" name="Shape 13"/>
          <p:cNvSpPr/>
          <p:nvPr/>
        </p:nvSpPr>
        <p:spPr>
          <a:xfrm>
            <a:off x="4873752" y="283464"/>
            <a:ext cx="36576" cy="137160"/>
          </a:xfrm>
          <a:prstGeom prst="rect">
            <a:avLst/>
          </a:prstGeom>
          <a:solidFill>
            <a:srgbClr val="D4AF37"/>
          </a:solidFill>
          <a:ln/>
        </p:spPr>
      </p:sp>
      <p:sp>
        <p:nvSpPr>
          <p:cNvPr id="16" name="Text 14"/>
          <p:cNvSpPr/>
          <p:nvPr/>
        </p:nvSpPr>
        <p:spPr>
          <a:xfrm>
            <a:off x="457200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7" name="Shape 15"/>
          <p:cNvSpPr/>
          <p:nvPr/>
        </p:nvSpPr>
        <p:spPr>
          <a:xfrm>
            <a:off x="5513832" y="301752"/>
            <a:ext cx="36576" cy="118872"/>
          </a:xfrm>
          <a:prstGeom prst="rect">
            <a:avLst/>
          </a:prstGeom>
          <a:solidFill>
            <a:srgbClr val="D4AF37"/>
          </a:solidFill>
          <a:ln/>
        </p:spPr>
      </p:sp>
      <p:sp>
        <p:nvSpPr>
          <p:cNvPr id="18" name="Text 16"/>
          <p:cNvSpPr/>
          <p:nvPr/>
        </p:nvSpPr>
        <p:spPr>
          <a:xfrm>
            <a:off x="521208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A</a:t>
            </a:r>
            <a:endParaRPr lang="en-US" sz="650" dirty="0"/>
          </a:p>
        </p:txBody>
      </p:sp>
      <p:sp>
        <p:nvSpPr>
          <p:cNvPr id="19" name="Shape 17"/>
          <p:cNvSpPr/>
          <p:nvPr/>
        </p:nvSpPr>
        <p:spPr>
          <a:xfrm>
            <a:off x="6153912" y="256032"/>
            <a:ext cx="36576" cy="164592"/>
          </a:xfrm>
          <a:prstGeom prst="rect">
            <a:avLst/>
          </a:prstGeom>
          <a:solidFill>
            <a:srgbClr val="D4AF37"/>
          </a:solidFill>
          <a:ln/>
        </p:spPr>
      </p:sp>
      <p:sp>
        <p:nvSpPr>
          <p:cNvPr id="20" name="Text 18"/>
          <p:cNvSpPr/>
          <p:nvPr/>
        </p:nvSpPr>
        <p:spPr>
          <a:xfrm>
            <a:off x="585216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S</a:t>
            </a:r>
            <a:endParaRPr lang="en-US" sz="650" dirty="0"/>
          </a:p>
        </p:txBody>
      </p:sp>
      <p:sp>
        <p:nvSpPr>
          <p:cNvPr id="21" name="Shape 19"/>
          <p:cNvSpPr/>
          <p:nvPr/>
        </p:nvSpPr>
        <p:spPr>
          <a:xfrm>
            <a:off x="6793992" y="246888"/>
            <a:ext cx="36576" cy="173736"/>
          </a:xfrm>
          <a:prstGeom prst="rect">
            <a:avLst/>
          </a:prstGeom>
          <a:solidFill>
            <a:srgbClr val="D4AF37"/>
          </a:solidFill>
          <a:ln/>
        </p:spPr>
      </p:sp>
      <p:sp>
        <p:nvSpPr>
          <p:cNvPr id="22" name="Text 20"/>
          <p:cNvSpPr/>
          <p:nvPr/>
        </p:nvSpPr>
        <p:spPr>
          <a:xfrm>
            <a:off x="649224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O</a:t>
            </a:r>
            <a:endParaRPr lang="en-US" sz="650" dirty="0"/>
          </a:p>
        </p:txBody>
      </p:sp>
      <p:sp>
        <p:nvSpPr>
          <p:cNvPr id="23" name="Shape 21"/>
          <p:cNvSpPr/>
          <p:nvPr/>
        </p:nvSpPr>
        <p:spPr>
          <a:xfrm>
            <a:off x="7434072" y="329184"/>
            <a:ext cx="36576" cy="91440"/>
          </a:xfrm>
          <a:prstGeom prst="rect">
            <a:avLst/>
          </a:prstGeom>
          <a:solidFill>
            <a:srgbClr val="64748B"/>
          </a:solidFill>
          <a:ln/>
        </p:spPr>
      </p:sp>
      <p:sp>
        <p:nvSpPr>
          <p:cNvPr id="24" name="Text 22"/>
          <p:cNvSpPr/>
          <p:nvPr/>
        </p:nvSpPr>
        <p:spPr>
          <a:xfrm>
            <a:off x="71323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N</a:t>
            </a:r>
            <a:endParaRPr lang="en-US" sz="650" dirty="0"/>
          </a:p>
        </p:txBody>
      </p:sp>
      <p:sp>
        <p:nvSpPr>
          <p:cNvPr id="25" name="Shape 23"/>
          <p:cNvSpPr/>
          <p:nvPr/>
        </p:nvSpPr>
        <p:spPr>
          <a:xfrm>
            <a:off x="8074152" y="374904"/>
            <a:ext cx="36576" cy="45720"/>
          </a:xfrm>
          <a:prstGeom prst="rect">
            <a:avLst/>
          </a:prstGeom>
          <a:solidFill>
            <a:srgbClr val="64748B"/>
          </a:solidFill>
          <a:ln/>
        </p:spPr>
      </p:sp>
      <p:sp>
        <p:nvSpPr>
          <p:cNvPr id="26" name="Text 24"/>
          <p:cNvSpPr/>
          <p:nvPr/>
        </p:nvSpPr>
        <p:spPr>
          <a:xfrm>
            <a:off x="77724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D</a:t>
            </a:r>
            <a:endParaRPr lang="en-US" sz="650" dirty="0"/>
          </a:p>
        </p:txBody>
      </p:sp>
      <p:sp>
        <p:nvSpPr>
          <p:cNvPr id="27" name="Text 25"/>
          <p:cNvSpPr/>
          <p:nvPr/>
        </p:nvSpPr>
        <p:spPr>
          <a:xfrm>
            <a:off x="731520" y="56692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RP INSTITUTE  ·  UNIVERSITY OF MUMBAI  ·  B.SC. DATA SCIENCE — SEMESTER III</a:t>
            </a:r>
            <a:endParaRPr lang="en-US" sz="750" dirty="0"/>
          </a:p>
        </p:txBody>
      </p:sp>
      <p:sp>
        <p:nvSpPr>
          <p:cNvPr id="28" name="Text 26"/>
          <p:cNvSpPr/>
          <p:nvPr/>
        </p:nvSpPr>
        <p:spPr>
          <a:xfrm>
            <a:off x="731520" y="841248"/>
            <a:ext cx="7680960" cy="169164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Analysis of Seasonal</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Disease Patterns</a:t>
            </a:r>
            <a:endParaRPr lang="en-US" sz="4400" dirty="0"/>
          </a:p>
        </p:txBody>
      </p:sp>
      <p:sp>
        <p:nvSpPr>
          <p:cNvPr id="29" name="Text 27"/>
          <p:cNvSpPr/>
          <p:nvPr/>
        </p:nvSpPr>
        <p:spPr>
          <a:xfrm>
            <a:off x="731520" y="2578608"/>
            <a:ext cx="7680960" cy="411480"/>
          </a:xfrm>
          <a:prstGeom prst="rect">
            <a:avLst/>
          </a:prstGeom>
          <a:noFill/>
          <a:ln/>
        </p:spPr>
        <p:txBody>
          <a:bodyPr wrap="square" rtlCol="0" anchor="ctr"/>
          <a:lstStyle/>
          <a:p>
            <a:pPr indent="0" marL="0">
              <a:lnSpc>
                <a:spcPct val="110000"/>
              </a:lnSpc>
              <a:buNone/>
            </a:pPr>
            <a:r>
              <a:rPr lang="en-US" sz="1800" i="1" dirty="0">
                <a:solidFill>
                  <a:srgbClr val="F3E5AB"/>
                </a:solidFill>
                <a:latin typeface="Georgia" pitchFamily="34" charset="0"/>
                <a:ea typeface="Georgia" pitchFamily="34" charset="-122"/>
                <a:cs typeface="Georgia" pitchFamily="34" charset="-120"/>
              </a:rPr>
              <a:t>Using Government Health Data: An Epidemiological Surveillance Study in Maharashtra</a:t>
            </a:r>
            <a:endParaRPr lang="en-US" sz="1800" dirty="0"/>
          </a:p>
        </p:txBody>
      </p:sp>
      <p:sp>
        <p:nvSpPr>
          <p:cNvPr id="30" name="Shape 28"/>
          <p:cNvSpPr/>
          <p:nvPr/>
        </p:nvSpPr>
        <p:spPr>
          <a:xfrm>
            <a:off x="731520" y="3127248"/>
            <a:ext cx="7680960" cy="0"/>
          </a:xfrm>
          <a:prstGeom prst="line">
            <a:avLst/>
          </a:prstGeom>
          <a:noFill/>
          <a:ln w="9525">
            <a:solidFill>
              <a:srgbClr val="D4AF37"/>
            </a:solidFill>
            <a:prstDash val="solid"/>
          </a:ln>
        </p:spPr>
      </p:sp>
      <p:sp>
        <p:nvSpPr>
          <p:cNvPr id="31" name="Shape 29"/>
          <p:cNvSpPr/>
          <p:nvPr/>
        </p:nvSpPr>
        <p:spPr>
          <a:xfrm>
            <a:off x="731520" y="3310128"/>
            <a:ext cx="2414016" cy="1234440"/>
          </a:xfrm>
          <a:prstGeom prst="rect">
            <a:avLst/>
          </a:prstGeom>
          <a:solidFill>
            <a:srgbClr val="101C38"/>
          </a:solidFill>
          <a:ln w="9525">
            <a:solidFill>
              <a:srgbClr val="1E335E"/>
            </a:solidFill>
            <a:prstDash val="solid"/>
          </a:ln>
        </p:spPr>
      </p:sp>
      <p:sp>
        <p:nvSpPr>
          <p:cNvPr id="32" name="Shape 30"/>
          <p:cNvSpPr/>
          <p:nvPr/>
        </p:nvSpPr>
        <p:spPr>
          <a:xfrm>
            <a:off x="731520" y="3310128"/>
            <a:ext cx="2414016" cy="0"/>
          </a:xfrm>
          <a:prstGeom prst="line">
            <a:avLst/>
          </a:prstGeom>
          <a:noFill/>
          <a:ln w="19050">
            <a:solidFill>
              <a:srgbClr val="D4AF37"/>
            </a:solidFill>
            <a:prstDash val="solid"/>
          </a:ln>
        </p:spPr>
      </p:sp>
      <p:sp>
        <p:nvSpPr>
          <p:cNvPr id="33" name="Text 31"/>
          <p:cNvSpPr/>
          <p:nvPr/>
        </p:nvSpPr>
        <p:spPr>
          <a:xfrm>
            <a:off x="868680"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CANDIDATE &amp; PROGRAMME</a:t>
            </a:r>
            <a:endParaRPr lang="en-US" sz="650" dirty="0"/>
          </a:p>
        </p:txBody>
      </p:sp>
      <p:sp>
        <p:nvSpPr>
          <p:cNvPr id="34" name="Text 32"/>
          <p:cNvSpPr/>
          <p:nvPr/>
        </p:nvSpPr>
        <p:spPr>
          <a:xfrm>
            <a:off x="868680"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Khan Umar</a:t>
            </a:r>
            <a:endParaRPr lang="en-US" sz="1100" dirty="0"/>
          </a:p>
        </p:txBody>
      </p:sp>
      <p:sp>
        <p:nvSpPr>
          <p:cNvPr id="35" name="Text 33"/>
          <p:cNvSpPr/>
          <p:nvPr/>
        </p:nvSpPr>
        <p:spPr>
          <a:xfrm>
            <a:off x="868680"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B.Sc. Data Science · Sem III</a:t>
            </a:r>
            <a:endParaRPr lang="en-US" sz="850" dirty="0"/>
          </a:p>
        </p:txBody>
      </p:sp>
      <p:sp>
        <p:nvSpPr>
          <p:cNvPr id="36" name="Shape 34"/>
          <p:cNvSpPr/>
          <p:nvPr/>
        </p:nvSpPr>
        <p:spPr>
          <a:xfrm>
            <a:off x="3364992" y="3310128"/>
            <a:ext cx="2414016" cy="1234440"/>
          </a:xfrm>
          <a:prstGeom prst="rect">
            <a:avLst/>
          </a:prstGeom>
          <a:solidFill>
            <a:srgbClr val="101C38"/>
          </a:solidFill>
          <a:ln w="9525">
            <a:solidFill>
              <a:srgbClr val="1E335E"/>
            </a:solidFill>
            <a:prstDash val="solid"/>
          </a:ln>
        </p:spPr>
      </p:sp>
      <p:sp>
        <p:nvSpPr>
          <p:cNvPr id="37" name="Shape 35"/>
          <p:cNvSpPr/>
          <p:nvPr/>
        </p:nvSpPr>
        <p:spPr>
          <a:xfrm>
            <a:off x="3364992" y="3310128"/>
            <a:ext cx="2414016" cy="0"/>
          </a:xfrm>
          <a:prstGeom prst="line">
            <a:avLst/>
          </a:prstGeom>
          <a:noFill/>
          <a:ln w="19050">
            <a:solidFill>
              <a:srgbClr val="D4AF37"/>
            </a:solidFill>
            <a:prstDash val="solid"/>
          </a:ln>
        </p:spPr>
      </p:sp>
      <p:sp>
        <p:nvSpPr>
          <p:cNvPr id="38" name="Text 36"/>
          <p:cNvSpPr/>
          <p:nvPr/>
        </p:nvSpPr>
        <p:spPr>
          <a:xfrm>
            <a:off x="3502152"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PRIMARY SURVEILLANCE SOURCE</a:t>
            </a:r>
            <a:endParaRPr lang="en-US" sz="650" dirty="0"/>
          </a:p>
        </p:txBody>
      </p:sp>
      <p:sp>
        <p:nvSpPr>
          <p:cNvPr id="39" name="Text 37"/>
          <p:cNvSpPr/>
          <p:nvPr/>
        </p:nvSpPr>
        <p:spPr>
          <a:xfrm>
            <a:off x="3502152"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NCDC / IDSP Weekly Outbreak Bulletins</a:t>
            </a:r>
            <a:endParaRPr lang="en-US" sz="1100" dirty="0"/>
          </a:p>
        </p:txBody>
      </p:sp>
      <p:sp>
        <p:nvSpPr>
          <p:cNvPr id="40" name="Text 38"/>
          <p:cNvSpPr/>
          <p:nvPr/>
        </p:nvSpPr>
        <p:spPr>
          <a:xfrm>
            <a:off x="3502152"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Government of India Health Portals</a:t>
            </a:r>
            <a:endParaRPr lang="en-US" sz="850" dirty="0"/>
          </a:p>
        </p:txBody>
      </p:sp>
      <p:sp>
        <p:nvSpPr>
          <p:cNvPr id="41" name="Shape 39"/>
          <p:cNvSpPr/>
          <p:nvPr/>
        </p:nvSpPr>
        <p:spPr>
          <a:xfrm>
            <a:off x="5998464" y="3310128"/>
            <a:ext cx="2414016" cy="1234440"/>
          </a:xfrm>
          <a:prstGeom prst="rect">
            <a:avLst/>
          </a:prstGeom>
          <a:solidFill>
            <a:srgbClr val="101C38"/>
          </a:solidFill>
          <a:ln w="9525">
            <a:solidFill>
              <a:srgbClr val="1E335E"/>
            </a:solidFill>
            <a:prstDash val="solid"/>
          </a:ln>
        </p:spPr>
      </p:sp>
      <p:sp>
        <p:nvSpPr>
          <p:cNvPr id="42" name="Shape 40"/>
          <p:cNvSpPr/>
          <p:nvPr/>
        </p:nvSpPr>
        <p:spPr>
          <a:xfrm>
            <a:off x="5998464" y="3310128"/>
            <a:ext cx="2414016" cy="0"/>
          </a:xfrm>
          <a:prstGeom prst="line">
            <a:avLst/>
          </a:prstGeom>
          <a:noFill/>
          <a:ln w="19050">
            <a:solidFill>
              <a:srgbClr val="D4AF37"/>
            </a:solidFill>
            <a:prstDash val="solid"/>
          </a:ln>
        </p:spPr>
      </p:sp>
      <p:sp>
        <p:nvSpPr>
          <p:cNvPr id="43" name="Text 41"/>
          <p:cNvSpPr/>
          <p:nvPr/>
        </p:nvSpPr>
        <p:spPr>
          <a:xfrm>
            <a:off x="6135624"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EMPIRICAL SURVEILLANCE SCOPE</a:t>
            </a:r>
            <a:endParaRPr lang="en-US" sz="650" dirty="0"/>
          </a:p>
        </p:txBody>
      </p:sp>
      <p:sp>
        <p:nvSpPr>
          <p:cNvPr id="44" name="Text 42"/>
          <p:cNvSpPr/>
          <p:nvPr/>
        </p:nvSpPr>
        <p:spPr>
          <a:xfrm>
            <a:off x="6135624"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Maharashtra (36 Districts)</a:t>
            </a:r>
            <a:endParaRPr lang="en-US" sz="1100" dirty="0"/>
          </a:p>
        </p:txBody>
      </p:sp>
      <p:sp>
        <p:nvSpPr>
          <p:cNvPr id="45" name="Text 43"/>
          <p:cNvSpPr/>
          <p:nvPr/>
        </p:nvSpPr>
        <p:spPr>
          <a:xfrm>
            <a:off x="6135624"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2022–2025 Baseline + 2026 W01–W32</a:t>
            </a:r>
            <a:endParaRPr lang="en-US" sz="850" dirty="0"/>
          </a:p>
        </p:txBody>
      </p:sp>
      <p:sp>
        <p:nvSpPr>
          <p:cNvPr id="46" name="Text 44"/>
          <p:cNvSpPr/>
          <p:nvPr/>
        </p:nvSpPr>
        <p:spPr>
          <a:xfrm>
            <a:off x="7772400" y="4773168"/>
            <a:ext cx="73152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01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2026-10-02T17:47:55Z</dcterms:created>
  <dcterms:modified xsi:type="dcterms:W3CDTF">2026-10-02T17:47:55Z</dcterms:modified>
</cp:coreProperties>
</file>