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VIVA SCRIPT (30s):
Respected examiners, good morning. I am Khan Umar, presenting my B.Sc. Data Science Semester III Field Project at RP Institute, affiliated to the University of Mumbai.
Our research title is 'Analysis of Seasonal Disease Patterns Using Government Health Data'.
We analyze official weekly outbreak surveillance reports published by the National Centre for Disease Control (NCDC / IDSP) across Maharashtra, establishing a rigorous 4-year empirical baseline (2022–2025) and evaluating a partial-year comparison for 2026.
WHAT NOT TO OVERCLAIM: This is secondary analysis of official government outbreak bulletins — not clinical laboratory fieldwork or population incidence estimation.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VIVA SCRIPT (35s):
Our research addresses one precise scientific inquiry: What seasonal patterns are evident in selected disease outbreak reports in Maharashtra?
To answer this with data-scientific rigor, we evaluate three analytical lenses:
1. Temporal concentration — calculating exact calendar-month clustering via 3-month concentration ratios (CR3).
2. Inter-annual stability — determining whether seasonal profiles repeat across years using Kendall's W concordance.
3. Event frequency versus case volume divergence — isolating how single mass-case events can distort monthly totals.
DEFENSE NOTE: This is framed as an administrative surveillance study. We do not hypothesize or claim biological causality.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VIVA SCRIPT (35s):
A foundational contribution of this project is our reproducible data harmonization pipeline.
We processed 237 weekly government PDF bulletins from the NCDC, extracting 809 raw outbreak rows for Maharashtra.
Because official reports lack standardized spelling, we encountered 116 unique disease strings. We harmonized these into 56 clean labels and 30 syndromic families, selecting five primary families that account for 93.9% of all baseline outbreak records.
CRITICAL VIVA POINT: Every transformation is additive. The original disease_raw string was never overwritten, and each record maintains forensic provenance back to its specific source PDF and page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VIVA SCRIPT (35s):
Across the four completed calendar years 2022 to 2025, our primary analytical cohort comprises exactly 539 outbreak records, 21,955 reported cases, and 266 reported deaths.
A key observation is the divergence between event frequency and case enumeration:
- Dengue leads in event frequency with 204 records, but resulted in 3,144 cases.
- Acute Diarrheal Disease had 153 events but generated 9,050 cases.
- Food Poisoning caused 5,927 cases from just 69 events.
WHAT NOT TO OVERCLAIM: Do not refer to 21,955 as 'disease incidence'. These are patients enumerated within investigated outbreak clusters.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VIVA SCRIPT (40s):
This is our core empirical visualization: five disease families exhibit five fundamentally distinct temporal signatures across Maharashtra.
As shown in the official analytical chart on the right:
1. Dengue concentrates heavily in late monsoon and post-monsoon (August to October), peaking in October with 40 recorded events. 82.8% of all Dengue events fall between June and October.
2. Acute Diarrheal Disease maintains sustained elevation across June to August (18–20 events monthly) with an October secondary peak.
3. Malaria concentrates earlier, in May to July.
4. Food Poisoning exhibits a bimodal profile in non-monsoon months (Jan–Feb and Apr–May).
5. Chikungunya is dispersed at low event counts throughout the year.
ONE SENTENCE YOU MUST NOT SAY: Do not say 'Monsoon rainfall caused the Dengue outbreak.' Meteorological data was not co-modeled. We report observed calendar clustering.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VIVA SCRIPT (35s):
This slide presents the results of our non-parametric Kendall's W concordance test across the four baseline years.
The critical empirical finding:
Only Acute Diarrheal Disease demonstrates statistically significant inter-annual concordance (W = 0.530, p = 0.016). This means ADD's monthly ranking is the most reliably repeated year after year.
Dengue (W = 0.405, p = 0.086), Malaria (W = 0.319, p = 0.229), and Food Poisoning (W = 0.260, p = 0.380) did not meet the α = 0.05 significance threshold.
DEFENSE POINT: Why did Dengue not achieve statistical significance despite high seasonal concentration? Because its exact peak month oscillates between September and October in different years.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128"/>
        </a:solidFill>
      </p:bgPr>
    </p:bg>
    <p:spTree>
      <p:nvGrpSpPr>
        <p:cNvPr id="1" name=""/>
        <p:cNvGrpSpPr/>
        <p:nvPr/>
      </p:nvGrpSpPr>
      <p:grpSpPr>
        <a:xfrm>
          <a:off x="0" y="0"/>
          <a:ext cx="0" cy="0"/>
          <a:chOff x="0" y="0"/>
          <a:chExt cx="0" cy="0"/>
        </a:xfrm>
      </p:grpSpPr>
      <p:sp>
        <p:nvSpPr>
          <p:cNvPr id="2" name="Shape 0"/>
          <p:cNvSpPr/>
          <p:nvPr/>
        </p:nvSpPr>
        <p:spPr>
          <a:xfrm>
            <a:off x="731520" y="420624"/>
            <a:ext cx="7680960" cy="0"/>
          </a:xfrm>
          <a:prstGeom prst="line">
            <a:avLst/>
          </a:prstGeom>
          <a:noFill/>
          <a:ln w="6350">
            <a:solidFill>
              <a:srgbClr val="997E30"/>
            </a:solidFill>
            <a:prstDash val="solid"/>
          </a:ln>
        </p:spPr>
      </p:sp>
      <p:sp>
        <p:nvSpPr>
          <p:cNvPr id="3" name="Shape 1"/>
          <p:cNvSpPr/>
          <p:nvPr/>
        </p:nvSpPr>
        <p:spPr>
          <a:xfrm>
            <a:off x="1033272" y="365760"/>
            <a:ext cx="36576" cy="54864"/>
          </a:xfrm>
          <a:prstGeom prst="rect">
            <a:avLst/>
          </a:prstGeom>
          <a:solidFill>
            <a:srgbClr val="64748B"/>
          </a:solidFill>
          <a:ln/>
        </p:spPr>
      </p:sp>
      <p:sp>
        <p:nvSpPr>
          <p:cNvPr id="4" name="Text 2"/>
          <p:cNvSpPr/>
          <p:nvPr/>
        </p:nvSpPr>
        <p:spPr>
          <a:xfrm>
            <a:off x="731520" y="256032"/>
            <a:ext cx="640080" cy="146304"/>
          </a:xfrm>
          <a:prstGeom prst="rect">
            <a:avLst/>
          </a:prstGeom>
          <a:noFill/>
          <a:ln/>
        </p:spPr>
        <p:txBody>
          <a:bodyPr wrap="square" rtlCol="0" anchor="ctr"/>
          <a:lstStyle/>
          <a:p>
            <a:pPr algn="ctr" indent="0" marL="0">
              <a:buNone/>
            </a:pPr>
            <a:r>
              <a:rPr lang="en-US" sz="650" dirty="0">
                <a:solidFill>
                  <a:srgbClr val="94A3B8"/>
                </a:solidFill>
                <a:latin typeface="Consolas" pitchFamily="34" charset="0"/>
                <a:ea typeface="Consolas" pitchFamily="34" charset="-122"/>
                <a:cs typeface="Consolas" pitchFamily="34" charset="-120"/>
              </a:rPr>
              <a:t>J</a:t>
            </a:r>
            <a:endParaRPr lang="en-US" sz="650" dirty="0"/>
          </a:p>
        </p:txBody>
      </p:sp>
      <p:sp>
        <p:nvSpPr>
          <p:cNvPr id="5" name="Shape 3"/>
          <p:cNvSpPr/>
          <p:nvPr/>
        </p:nvSpPr>
        <p:spPr>
          <a:xfrm>
            <a:off x="1673352" y="329184"/>
            <a:ext cx="36576" cy="91440"/>
          </a:xfrm>
          <a:prstGeom prst="rect">
            <a:avLst/>
          </a:prstGeom>
          <a:solidFill>
            <a:srgbClr val="64748B"/>
          </a:solidFill>
          <a:ln/>
        </p:spPr>
      </p:sp>
      <p:sp>
        <p:nvSpPr>
          <p:cNvPr id="6" name="Text 4"/>
          <p:cNvSpPr/>
          <p:nvPr/>
        </p:nvSpPr>
        <p:spPr>
          <a:xfrm>
            <a:off x="1371600" y="256032"/>
            <a:ext cx="640080" cy="146304"/>
          </a:xfrm>
          <a:prstGeom prst="rect">
            <a:avLst/>
          </a:prstGeom>
          <a:noFill/>
          <a:ln/>
        </p:spPr>
        <p:txBody>
          <a:bodyPr wrap="square" rtlCol="0" anchor="ctr"/>
          <a:lstStyle/>
          <a:p>
            <a:pPr algn="ctr" indent="0" marL="0">
              <a:buNone/>
            </a:pPr>
            <a:r>
              <a:rPr lang="en-US" sz="650" dirty="0">
                <a:solidFill>
                  <a:srgbClr val="94A3B8"/>
                </a:solidFill>
                <a:latin typeface="Consolas" pitchFamily="34" charset="0"/>
                <a:ea typeface="Consolas" pitchFamily="34" charset="-122"/>
                <a:cs typeface="Consolas" pitchFamily="34" charset="-120"/>
              </a:rPr>
              <a:t>F</a:t>
            </a:r>
            <a:endParaRPr lang="en-US" sz="650" dirty="0"/>
          </a:p>
        </p:txBody>
      </p:sp>
      <p:sp>
        <p:nvSpPr>
          <p:cNvPr id="7" name="Shape 5"/>
          <p:cNvSpPr/>
          <p:nvPr/>
        </p:nvSpPr>
        <p:spPr>
          <a:xfrm>
            <a:off x="2313432" y="356616"/>
            <a:ext cx="36576" cy="64008"/>
          </a:xfrm>
          <a:prstGeom prst="rect">
            <a:avLst/>
          </a:prstGeom>
          <a:solidFill>
            <a:srgbClr val="64748B"/>
          </a:solidFill>
          <a:ln/>
        </p:spPr>
      </p:sp>
      <p:sp>
        <p:nvSpPr>
          <p:cNvPr id="8" name="Text 6"/>
          <p:cNvSpPr/>
          <p:nvPr/>
        </p:nvSpPr>
        <p:spPr>
          <a:xfrm>
            <a:off x="2011680" y="256032"/>
            <a:ext cx="640080" cy="146304"/>
          </a:xfrm>
          <a:prstGeom prst="rect">
            <a:avLst/>
          </a:prstGeom>
          <a:noFill/>
          <a:ln/>
        </p:spPr>
        <p:txBody>
          <a:bodyPr wrap="square" rtlCol="0" anchor="ctr"/>
          <a:lstStyle/>
          <a:p>
            <a:pPr algn="ctr" indent="0" marL="0">
              <a:buNone/>
            </a:pPr>
            <a:r>
              <a:rPr lang="en-US" sz="650" dirty="0">
                <a:solidFill>
                  <a:srgbClr val="94A3B8"/>
                </a:solidFill>
                <a:latin typeface="Consolas" pitchFamily="34" charset="0"/>
                <a:ea typeface="Consolas" pitchFamily="34" charset="-122"/>
                <a:cs typeface="Consolas" pitchFamily="34" charset="-120"/>
              </a:rPr>
              <a:t>M</a:t>
            </a:r>
            <a:endParaRPr lang="en-US" sz="650" dirty="0"/>
          </a:p>
        </p:txBody>
      </p:sp>
      <p:sp>
        <p:nvSpPr>
          <p:cNvPr id="9" name="Shape 7"/>
          <p:cNvSpPr/>
          <p:nvPr/>
        </p:nvSpPr>
        <p:spPr>
          <a:xfrm>
            <a:off x="2953512" y="347472"/>
            <a:ext cx="36576" cy="73152"/>
          </a:xfrm>
          <a:prstGeom prst="rect">
            <a:avLst/>
          </a:prstGeom>
          <a:solidFill>
            <a:srgbClr val="64748B"/>
          </a:solidFill>
          <a:ln/>
        </p:spPr>
      </p:sp>
      <p:sp>
        <p:nvSpPr>
          <p:cNvPr id="10" name="Text 8"/>
          <p:cNvSpPr/>
          <p:nvPr/>
        </p:nvSpPr>
        <p:spPr>
          <a:xfrm>
            <a:off x="2651760" y="256032"/>
            <a:ext cx="640080" cy="146304"/>
          </a:xfrm>
          <a:prstGeom prst="rect">
            <a:avLst/>
          </a:prstGeom>
          <a:noFill/>
          <a:ln/>
        </p:spPr>
        <p:txBody>
          <a:bodyPr wrap="square" rtlCol="0" anchor="ctr"/>
          <a:lstStyle/>
          <a:p>
            <a:pPr algn="ctr" indent="0" marL="0">
              <a:buNone/>
            </a:pPr>
            <a:r>
              <a:rPr lang="en-US" sz="650" dirty="0">
                <a:solidFill>
                  <a:srgbClr val="94A3B8"/>
                </a:solidFill>
                <a:latin typeface="Consolas" pitchFamily="34" charset="0"/>
                <a:ea typeface="Consolas" pitchFamily="34" charset="-122"/>
                <a:cs typeface="Consolas" pitchFamily="34" charset="-120"/>
              </a:rPr>
              <a:t>A</a:t>
            </a:r>
            <a:endParaRPr lang="en-US" sz="650" dirty="0"/>
          </a:p>
        </p:txBody>
      </p:sp>
      <p:sp>
        <p:nvSpPr>
          <p:cNvPr id="11" name="Shape 9"/>
          <p:cNvSpPr/>
          <p:nvPr/>
        </p:nvSpPr>
        <p:spPr>
          <a:xfrm>
            <a:off x="3593592" y="320040"/>
            <a:ext cx="36576" cy="100584"/>
          </a:xfrm>
          <a:prstGeom prst="rect">
            <a:avLst/>
          </a:prstGeom>
          <a:solidFill>
            <a:srgbClr val="64748B"/>
          </a:solidFill>
          <a:ln/>
        </p:spPr>
      </p:sp>
      <p:sp>
        <p:nvSpPr>
          <p:cNvPr id="12" name="Text 10"/>
          <p:cNvSpPr/>
          <p:nvPr/>
        </p:nvSpPr>
        <p:spPr>
          <a:xfrm>
            <a:off x="3291840" y="256032"/>
            <a:ext cx="640080" cy="146304"/>
          </a:xfrm>
          <a:prstGeom prst="rect">
            <a:avLst/>
          </a:prstGeom>
          <a:noFill/>
          <a:ln/>
        </p:spPr>
        <p:txBody>
          <a:bodyPr wrap="square" rtlCol="0" anchor="ctr"/>
          <a:lstStyle/>
          <a:p>
            <a:pPr algn="ctr" indent="0" marL="0">
              <a:buNone/>
            </a:pPr>
            <a:r>
              <a:rPr lang="en-US" sz="650" dirty="0">
                <a:solidFill>
                  <a:srgbClr val="94A3B8"/>
                </a:solidFill>
                <a:latin typeface="Consolas" pitchFamily="34" charset="0"/>
                <a:ea typeface="Consolas" pitchFamily="34" charset="-122"/>
                <a:cs typeface="Consolas" pitchFamily="34" charset="-120"/>
              </a:rPr>
              <a:t>M</a:t>
            </a:r>
            <a:endParaRPr lang="en-US" sz="650" dirty="0"/>
          </a:p>
        </p:txBody>
      </p:sp>
      <p:sp>
        <p:nvSpPr>
          <p:cNvPr id="13" name="Shape 11"/>
          <p:cNvSpPr/>
          <p:nvPr/>
        </p:nvSpPr>
        <p:spPr>
          <a:xfrm>
            <a:off x="4233672" y="274320"/>
            <a:ext cx="36576" cy="146304"/>
          </a:xfrm>
          <a:prstGeom prst="rect">
            <a:avLst/>
          </a:prstGeom>
          <a:solidFill>
            <a:srgbClr val="D4AF37"/>
          </a:solidFill>
          <a:ln/>
        </p:spPr>
      </p:sp>
      <p:sp>
        <p:nvSpPr>
          <p:cNvPr id="14" name="Text 12"/>
          <p:cNvSpPr/>
          <p:nvPr/>
        </p:nvSpPr>
        <p:spPr>
          <a:xfrm>
            <a:off x="3931920" y="256032"/>
            <a:ext cx="640080" cy="146304"/>
          </a:xfrm>
          <a:prstGeom prst="rect">
            <a:avLst/>
          </a:prstGeom>
          <a:noFill/>
          <a:ln/>
        </p:spPr>
        <p:txBody>
          <a:bodyPr wrap="square" rtlCol="0" anchor="ctr"/>
          <a:lstStyle/>
          <a:p>
            <a:pPr algn="ctr" indent="0" marL="0">
              <a:buNone/>
            </a:pPr>
            <a:r>
              <a:rPr lang="en-US" sz="650" b="1" dirty="0">
                <a:solidFill>
                  <a:srgbClr val="F3E5AB"/>
                </a:solidFill>
                <a:latin typeface="Consolas" pitchFamily="34" charset="0"/>
                <a:ea typeface="Consolas" pitchFamily="34" charset="-122"/>
                <a:cs typeface="Consolas" pitchFamily="34" charset="-120"/>
              </a:rPr>
              <a:t>J</a:t>
            </a:r>
            <a:endParaRPr lang="en-US" sz="650" dirty="0"/>
          </a:p>
        </p:txBody>
      </p:sp>
      <p:sp>
        <p:nvSpPr>
          <p:cNvPr id="15" name="Shape 13"/>
          <p:cNvSpPr/>
          <p:nvPr/>
        </p:nvSpPr>
        <p:spPr>
          <a:xfrm>
            <a:off x="4873752" y="283464"/>
            <a:ext cx="36576" cy="137160"/>
          </a:xfrm>
          <a:prstGeom prst="rect">
            <a:avLst/>
          </a:prstGeom>
          <a:solidFill>
            <a:srgbClr val="D4AF37"/>
          </a:solidFill>
          <a:ln/>
        </p:spPr>
      </p:sp>
      <p:sp>
        <p:nvSpPr>
          <p:cNvPr id="16" name="Text 14"/>
          <p:cNvSpPr/>
          <p:nvPr/>
        </p:nvSpPr>
        <p:spPr>
          <a:xfrm>
            <a:off x="4572000" y="256032"/>
            <a:ext cx="640080" cy="146304"/>
          </a:xfrm>
          <a:prstGeom prst="rect">
            <a:avLst/>
          </a:prstGeom>
          <a:noFill/>
          <a:ln/>
        </p:spPr>
        <p:txBody>
          <a:bodyPr wrap="square" rtlCol="0" anchor="ctr"/>
          <a:lstStyle/>
          <a:p>
            <a:pPr algn="ctr" indent="0" marL="0">
              <a:buNone/>
            </a:pPr>
            <a:r>
              <a:rPr lang="en-US" sz="650" b="1" dirty="0">
                <a:solidFill>
                  <a:srgbClr val="F3E5AB"/>
                </a:solidFill>
                <a:latin typeface="Consolas" pitchFamily="34" charset="0"/>
                <a:ea typeface="Consolas" pitchFamily="34" charset="-122"/>
                <a:cs typeface="Consolas" pitchFamily="34" charset="-120"/>
              </a:rPr>
              <a:t>J</a:t>
            </a:r>
            <a:endParaRPr lang="en-US" sz="650" dirty="0"/>
          </a:p>
        </p:txBody>
      </p:sp>
      <p:sp>
        <p:nvSpPr>
          <p:cNvPr id="17" name="Shape 15"/>
          <p:cNvSpPr/>
          <p:nvPr/>
        </p:nvSpPr>
        <p:spPr>
          <a:xfrm>
            <a:off x="5513832" y="301752"/>
            <a:ext cx="36576" cy="118872"/>
          </a:xfrm>
          <a:prstGeom prst="rect">
            <a:avLst/>
          </a:prstGeom>
          <a:solidFill>
            <a:srgbClr val="D4AF37"/>
          </a:solidFill>
          <a:ln/>
        </p:spPr>
      </p:sp>
      <p:sp>
        <p:nvSpPr>
          <p:cNvPr id="18" name="Text 16"/>
          <p:cNvSpPr/>
          <p:nvPr/>
        </p:nvSpPr>
        <p:spPr>
          <a:xfrm>
            <a:off x="5212080" y="256032"/>
            <a:ext cx="640080" cy="146304"/>
          </a:xfrm>
          <a:prstGeom prst="rect">
            <a:avLst/>
          </a:prstGeom>
          <a:noFill/>
          <a:ln/>
        </p:spPr>
        <p:txBody>
          <a:bodyPr wrap="square" rtlCol="0" anchor="ctr"/>
          <a:lstStyle/>
          <a:p>
            <a:pPr algn="ctr" indent="0" marL="0">
              <a:buNone/>
            </a:pPr>
            <a:r>
              <a:rPr lang="en-US" sz="650" b="1" dirty="0">
                <a:solidFill>
                  <a:srgbClr val="F3E5AB"/>
                </a:solidFill>
                <a:latin typeface="Consolas" pitchFamily="34" charset="0"/>
                <a:ea typeface="Consolas" pitchFamily="34" charset="-122"/>
                <a:cs typeface="Consolas" pitchFamily="34" charset="-120"/>
              </a:rPr>
              <a:t>A</a:t>
            </a:r>
            <a:endParaRPr lang="en-US" sz="650" dirty="0"/>
          </a:p>
        </p:txBody>
      </p:sp>
      <p:sp>
        <p:nvSpPr>
          <p:cNvPr id="19" name="Shape 17"/>
          <p:cNvSpPr/>
          <p:nvPr/>
        </p:nvSpPr>
        <p:spPr>
          <a:xfrm>
            <a:off x="6153912" y="256032"/>
            <a:ext cx="36576" cy="164592"/>
          </a:xfrm>
          <a:prstGeom prst="rect">
            <a:avLst/>
          </a:prstGeom>
          <a:solidFill>
            <a:srgbClr val="D4AF37"/>
          </a:solidFill>
          <a:ln/>
        </p:spPr>
      </p:sp>
      <p:sp>
        <p:nvSpPr>
          <p:cNvPr id="20" name="Text 18"/>
          <p:cNvSpPr/>
          <p:nvPr/>
        </p:nvSpPr>
        <p:spPr>
          <a:xfrm>
            <a:off x="5852160" y="256032"/>
            <a:ext cx="640080" cy="146304"/>
          </a:xfrm>
          <a:prstGeom prst="rect">
            <a:avLst/>
          </a:prstGeom>
          <a:noFill/>
          <a:ln/>
        </p:spPr>
        <p:txBody>
          <a:bodyPr wrap="square" rtlCol="0" anchor="ctr"/>
          <a:lstStyle/>
          <a:p>
            <a:pPr algn="ctr" indent="0" marL="0">
              <a:buNone/>
            </a:pPr>
            <a:r>
              <a:rPr lang="en-US" sz="650" b="1" dirty="0">
                <a:solidFill>
                  <a:srgbClr val="F3E5AB"/>
                </a:solidFill>
                <a:latin typeface="Consolas" pitchFamily="34" charset="0"/>
                <a:ea typeface="Consolas" pitchFamily="34" charset="-122"/>
                <a:cs typeface="Consolas" pitchFamily="34" charset="-120"/>
              </a:rPr>
              <a:t>S</a:t>
            </a:r>
            <a:endParaRPr lang="en-US" sz="650" dirty="0"/>
          </a:p>
        </p:txBody>
      </p:sp>
      <p:sp>
        <p:nvSpPr>
          <p:cNvPr id="21" name="Shape 19"/>
          <p:cNvSpPr/>
          <p:nvPr/>
        </p:nvSpPr>
        <p:spPr>
          <a:xfrm>
            <a:off x="6793992" y="246888"/>
            <a:ext cx="36576" cy="173736"/>
          </a:xfrm>
          <a:prstGeom prst="rect">
            <a:avLst/>
          </a:prstGeom>
          <a:solidFill>
            <a:srgbClr val="D4AF37"/>
          </a:solidFill>
          <a:ln/>
        </p:spPr>
      </p:sp>
      <p:sp>
        <p:nvSpPr>
          <p:cNvPr id="22" name="Text 20"/>
          <p:cNvSpPr/>
          <p:nvPr/>
        </p:nvSpPr>
        <p:spPr>
          <a:xfrm>
            <a:off x="6492240" y="256032"/>
            <a:ext cx="640080" cy="146304"/>
          </a:xfrm>
          <a:prstGeom prst="rect">
            <a:avLst/>
          </a:prstGeom>
          <a:noFill/>
          <a:ln/>
        </p:spPr>
        <p:txBody>
          <a:bodyPr wrap="square" rtlCol="0" anchor="ctr"/>
          <a:lstStyle/>
          <a:p>
            <a:pPr algn="ctr" indent="0" marL="0">
              <a:buNone/>
            </a:pPr>
            <a:r>
              <a:rPr lang="en-US" sz="650" b="1" dirty="0">
                <a:solidFill>
                  <a:srgbClr val="F3E5AB"/>
                </a:solidFill>
                <a:latin typeface="Consolas" pitchFamily="34" charset="0"/>
                <a:ea typeface="Consolas" pitchFamily="34" charset="-122"/>
                <a:cs typeface="Consolas" pitchFamily="34" charset="-120"/>
              </a:rPr>
              <a:t>O</a:t>
            </a:r>
            <a:endParaRPr lang="en-US" sz="650" dirty="0"/>
          </a:p>
        </p:txBody>
      </p:sp>
      <p:sp>
        <p:nvSpPr>
          <p:cNvPr id="23" name="Shape 21"/>
          <p:cNvSpPr/>
          <p:nvPr/>
        </p:nvSpPr>
        <p:spPr>
          <a:xfrm>
            <a:off x="7434072" y="329184"/>
            <a:ext cx="36576" cy="91440"/>
          </a:xfrm>
          <a:prstGeom prst="rect">
            <a:avLst/>
          </a:prstGeom>
          <a:solidFill>
            <a:srgbClr val="64748B"/>
          </a:solidFill>
          <a:ln/>
        </p:spPr>
      </p:sp>
      <p:sp>
        <p:nvSpPr>
          <p:cNvPr id="24" name="Text 22"/>
          <p:cNvSpPr/>
          <p:nvPr/>
        </p:nvSpPr>
        <p:spPr>
          <a:xfrm>
            <a:off x="7132320" y="256032"/>
            <a:ext cx="640080" cy="146304"/>
          </a:xfrm>
          <a:prstGeom prst="rect">
            <a:avLst/>
          </a:prstGeom>
          <a:noFill/>
          <a:ln/>
        </p:spPr>
        <p:txBody>
          <a:bodyPr wrap="square" rtlCol="0" anchor="ctr"/>
          <a:lstStyle/>
          <a:p>
            <a:pPr algn="ctr" indent="0" marL="0">
              <a:buNone/>
            </a:pPr>
            <a:r>
              <a:rPr lang="en-US" sz="650" dirty="0">
                <a:solidFill>
                  <a:srgbClr val="94A3B8"/>
                </a:solidFill>
                <a:latin typeface="Consolas" pitchFamily="34" charset="0"/>
                <a:ea typeface="Consolas" pitchFamily="34" charset="-122"/>
                <a:cs typeface="Consolas" pitchFamily="34" charset="-120"/>
              </a:rPr>
              <a:t>N</a:t>
            </a:r>
            <a:endParaRPr lang="en-US" sz="650" dirty="0"/>
          </a:p>
        </p:txBody>
      </p:sp>
      <p:sp>
        <p:nvSpPr>
          <p:cNvPr id="25" name="Shape 23"/>
          <p:cNvSpPr/>
          <p:nvPr/>
        </p:nvSpPr>
        <p:spPr>
          <a:xfrm>
            <a:off x="8074152" y="374904"/>
            <a:ext cx="36576" cy="45720"/>
          </a:xfrm>
          <a:prstGeom prst="rect">
            <a:avLst/>
          </a:prstGeom>
          <a:solidFill>
            <a:srgbClr val="64748B"/>
          </a:solidFill>
          <a:ln/>
        </p:spPr>
      </p:sp>
      <p:sp>
        <p:nvSpPr>
          <p:cNvPr id="26" name="Text 24"/>
          <p:cNvSpPr/>
          <p:nvPr/>
        </p:nvSpPr>
        <p:spPr>
          <a:xfrm>
            <a:off x="7772400" y="256032"/>
            <a:ext cx="640080" cy="146304"/>
          </a:xfrm>
          <a:prstGeom prst="rect">
            <a:avLst/>
          </a:prstGeom>
          <a:noFill/>
          <a:ln/>
        </p:spPr>
        <p:txBody>
          <a:bodyPr wrap="square" rtlCol="0" anchor="ctr"/>
          <a:lstStyle/>
          <a:p>
            <a:pPr algn="ctr" indent="0" marL="0">
              <a:buNone/>
            </a:pPr>
            <a:r>
              <a:rPr lang="en-US" sz="650" dirty="0">
                <a:solidFill>
                  <a:srgbClr val="94A3B8"/>
                </a:solidFill>
                <a:latin typeface="Consolas" pitchFamily="34" charset="0"/>
                <a:ea typeface="Consolas" pitchFamily="34" charset="-122"/>
                <a:cs typeface="Consolas" pitchFamily="34" charset="-120"/>
              </a:rPr>
              <a:t>D</a:t>
            </a:r>
            <a:endParaRPr lang="en-US" sz="650" dirty="0"/>
          </a:p>
        </p:txBody>
      </p:sp>
      <p:sp>
        <p:nvSpPr>
          <p:cNvPr id="27" name="Text 25"/>
          <p:cNvSpPr/>
          <p:nvPr/>
        </p:nvSpPr>
        <p:spPr>
          <a:xfrm>
            <a:off x="731520" y="566928"/>
            <a:ext cx="7680960" cy="201168"/>
          </a:xfrm>
          <a:prstGeom prst="rect">
            <a:avLst/>
          </a:prstGeom>
          <a:noFill/>
          <a:ln/>
        </p:spPr>
        <p:txBody>
          <a:bodyPr wrap="square" rtlCol="0" anchor="ctr"/>
          <a:lstStyle/>
          <a:p>
            <a:pPr indent="0" marL="0">
              <a:buNone/>
            </a:pPr>
            <a:r>
              <a:rPr lang="en-US" sz="750" b="1" spc="200" kern="0" dirty="0">
                <a:solidFill>
                  <a:srgbClr val="D4AF37"/>
                </a:solidFill>
                <a:latin typeface="Consolas" pitchFamily="34" charset="0"/>
                <a:ea typeface="Consolas" pitchFamily="34" charset="-122"/>
                <a:cs typeface="Consolas" pitchFamily="34" charset="-120"/>
              </a:rPr>
              <a:t>RP INSTITUTE  ·  UNIVERSITY OF MUMBAI  ·  B.SC. DATA SCIENCE — SEMESTER III</a:t>
            </a:r>
            <a:endParaRPr lang="en-US" sz="750" dirty="0"/>
          </a:p>
        </p:txBody>
      </p:sp>
      <p:sp>
        <p:nvSpPr>
          <p:cNvPr id="28" name="Text 26"/>
          <p:cNvSpPr/>
          <p:nvPr/>
        </p:nvSpPr>
        <p:spPr>
          <a:xfrm>
            <a:off x="731520" y="841248"/>
            <a:ext cx="7680960" cy="1691640"/>
          </a:xfrm>
          <a:prstGeom prst="rect">
            <a:avLst/>
          </a:prstGeom>
          <a:noFill/>
          <a:ln/>
        </p:spPr>
        <p:txBody>
          <a:bodyPr wrap="square" rtlCol="0" anchor="ctr"/>
          <a:lstStyle/>
          <a:p>
            <a:pPr indent="0" marL="0">
              <a:lnSpc>
                <a:spcPct val="105000"/>
              </a:lnSpc>
              <a:buNone/>
            </a:pPr>
            <a:r>
              <a:rPr lang="en-US" sz="4400" b="1" dirty="0">
                <a:solidFill>
                  <a:srgbClr val="FFFFFF"/>
                </a:solidFill>
                <a:latin typeface="Georgia" pitchFamily="34" charset="0"/>
                <a:ea typeface="Georgia" pitchFamily="34" charset="-122"/>
                <a:cs typeface="Georgia" pitchFamily="34" charset="-120"/>
              </a:rPr>
              <a:t>Analysis of Seasonal</a:t>
            </a:r>
            <a:endParaRPr lang="en-US" sz="4400" dirty="0"/>
          </a:p>
          <a:p>
            <a:pPr indent="0" marL="0">
              <a:lnSpc>
                <a:spcPct val="105000"/>
              </a:lnSpc>
              <a:buNone/>
            </a:pPr>
            <a:r>
              <a:rPr lang="en-US" sz="4400" b="1" dirty="0">
                <a:solidFill>
                  <a:srgbClr val="FFFFFF"/>
                </a:solidFill>
                <a:latin typeface="Georgia" pitchFamily="34" charset="0"/>
                <a:ea typeface="Georgia" pitchFamily="34" charset="-122"/>
                <a:cs typeface="Georgia" pitchFamily="34" charset="-120"/>
              </a:rPr>
              <a:t>Disease Patterns</a:t>
            </a:r>
            <a:endParaRPr lang="en-US" sz="4400" dirty="0"/>
          </a:p>
        </p:txBody>
      </p:sp>
      <p:sp>
        <p:nvSpPr>
          <p:cNvPr id="29" name="Text 27"/>
          <p:cNvSpPr/>
          <p:nvPr/>
        </p:nvSpPr>
        <p:spPr>
          <a:xfrm>
            <a:off x="731520" y="2578608"/>
            <a:ext cx="7680960" cy="411480"/>
          </a:xfrm>
          <a:prstGeom prst="rect">
            <a:avLst/>
          </a:prstGeom>
          <a:noFill/>
          <a:ln/>
        </p:spPr>
        <p:txBody>
          <a:bodyPr wrap="square" rtlCol="0" anchor="ctr"/>
          <a:lstStyle/>
          <a:p>
            <a:pPr indent="0" marL="0">
              <a:lnSpc>
                <a:spcPct val="110000"/>
              </a:lnSpc>
              <a:buNone/>
            </a:pPr>
            <a:r>
              <a:rPr lang="en-US" sz="1800" i="1" dirty="0">
                <a:solidFill>
                  <a:srgbClr val="F3E5AB"/>
                </a:solidFill>
                <a:latin typeface="Georgia" pitchFamily="34" charset="0"/>
                <a:ea typeface="Georgia" pitchFamily="34" charset="-122"/>
                <a:cs typeface="Georgia" pitchFamily="34" charset="-120"/>
              </a:rPr>
              <a:t>Using Government Health Data: An Epidemiological Surveillance Study in Maharashtra</a:t>
            </a:r>
            <a:endParaRPr lang="en-US" sz="1800" dirty="0"/>
          </a:p>
        </p:txBody>
      </p:sp>
      <p:sp>
        <p:nvSpPr>
          <p:cNvPr id="30" name="Shape 28"/>
          <p:cNvSpPr/>
          <p:nvPr/>
        </p:nvSpPr>
        <p:spPr>
          <a:xfrm>
            <a:off x="731520" y="3127248"/>
            <a:ext cx="7680960" cy="0"/>
          </a:xfrm>
          <a:prstGeom prst="line">
            <a:avLst/>
          </a:prstGeom>
          <a:noFill/>
          <a:ln w="9525">
            <a:solidFill>
              <a:srgbClr val="D4AF37"/>
            </a:solidFill>
            <a:prstDash val="solid"/>
          </a:ln>
        </p:spPr>
      </p:sp>
      <p:sp>
        <p:nvSpPr>
          <p:cNvPr id="31" name="Shape 29"/>
          <p:cNvSpPr/>
          <p:nvPr/>
        </p:nvSpPr>
        <p:spPr>
          <a:xfrm>
            <a:off x="731520" y="3310128"/>
            <a:ext cx="2414016" cy="1234440"/>
          </a:xfrm>
          <a:prstGeom prst="rect">
            <a:avLst/>
          </a:prstGeom>
          <a:solidFill>
            <a:srgbClr val="101C38"/>
          </a:solidFill>
          <a:ln w="9525">
            <a:solidFill>
              <a:srgbClr val="1E335E"/>
            </a:solidFill>
            <a:prstDash val="solid"/>
          </a:ln>
        </p:spPr>
      </p:sp>
      <p:sp>
        <p:nvSpPr>
          <p:cNvPr id="32" name="Shape 30"/>
          <p:cNvSpPr/>
          <p:nvPr/>
        </p:nvSpPr>
        <p:spPr>
          <a:xfrm>
            <a:off x="731520" y="3310128"/>
            <a:ext cx="2414016" cy="0"/>
          </a:xfrm>
          <a:prstGeom prst="line">
            <a:avLst/>
          </a:prstGeom>
          <a:noFill/>
          <a:ln w="19050">
            <a:solidFill>
              <a:srgbClr val="D4AF37"/>
            </a:solidFill>
            <a:prstDash val="solid"/>
          </a:ln>
        </p:spPr>
      </p:sp>
      <p:sp>
        <p:nvSpPr>
          <p:cNvPr id="33" name="Text 31"/>
          <p:cNvSpPr/>
          <p:nvPr/>
        </p:nvSpPr>
        <p:spPr>
          <a:xfrm>
            <a:off x="868680" y="3419856"/>
            <a:ext cx="2139696" cy="182880"/>
          </a:xfrm>
          <a:prstGeom prst="rect">
            <a:avLst/>
          </a:prstGeom>
          <a:noFill/>
          <a:ln/>
        </p:spPr>
        <p:txBody>
          <a:bodyPr wrap="square" rtlCol="0" anchor="ctr"/>
          <a:lstStyle/>
          <a:p>
            <a:pPr indent="0" marL="0">
              <a:buNone/>
            </a:pPr>
            <a:r>
              <a:rPr lang="en-US" sz="650" b="1" spc="100" kern="0" dirty="0">
                <a:solidFill>
                  <a:srgbClr val="D4AF37"/>
                </a:solidFill>
                <a:latin typeface="Consolas" pitchFamily="34" charset="0"/>
                <a:ea typeface="Consolas" pitchFamily="34" charset="-122"/>
                <a:cs typeface="Consolas" pitchFamily="34" charset="-120"/>
              </a:rPr>
              <a:t>CANDIDATE &amp; PROGRAMME</a:t>
            </a:r>
            <a:endParaRPr lang="en-US" sz="650" dirty="0"/>
          </a:p>
        </p:txBody>
      </p:sp>
      <p:sp>
        <p:nvSpPr>
          <p:cNvPr id="34" name="Text 32"/>
          <p:cNvSpPr/>
          <p:nvPr/>
        </p:nvSpPr>
        <p:spPr>
          <a:xfrm>
            <a:off x="868680" y="3639312"/>
            <a:ext cx="2139696" cy="411480"/>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Khan Umar</a:t>
            </a:r>
            <a:endParaRPr lang="en-US" sz="1100" dirty="0"/>
          </a:p>
        </p:txBody>
      </p:sp>
      <p:sp>
        <p:nvSpPr>
          <p:cNvPr id="35" name="Text 33"/>
          <p:cNvSpPr/>
          <p:nvPr/>
        </p:nvSpPr>
        <p:spPr>
          <a:xfrm>
            <a:off x="868680" y="4059936"/>
            <a:ext cx="2139696" cy="320040"/>
          </a:xfrm>
          <a:prstGeom prst="rect">
            <a:avLst/>
          </a:prstGeom>
          <a:noFill/>
          <a:ln/>
        </p:spPr>
        <p:txBody>
          <a:bodyPr wrap="square" rtlCol="0" anchor="ctr"/>
          <a:lstStyle/>
          <a:p>
            <a:pPr indent="0" marL="0">
              <a:buNone/>
            </a:pPr>
            <a:r>
              <a:rPr lang="en-US" sz="850" dirty="0">
                <a:solidFill>
                  <a:srgbClr val="94A3B8"/>
                </a:solidFill>
                <a:latin typeface="Calibri" pitchFamily="34" charset="0"/>
                <a:ea typeface="Calibri" pitchFamily="34" charset="-122"/>
                <a:cs typeface="Calibri" pitchFamily="34" charset="-120"/>
              </a:rPr>
              <a:t>B.Sc. Data Science · Sem III</a:t>
            </a:r>
            <a:endParaRPr lang="en-US" sz="850" dirty="0"/>
          </a:p>
        </p:txBody>
      </p:sp>
      <p:sp>
        <p:nvSpPr>
          <p:cNvPr id="36" name="Shape 34"/>
          <p:cNvSpPr/>
          <p:nvPr/>
        </p:nvSpPr>
        <p:spPr>
          <a:xfrm>
            <a:off x="3364992" y="3310128"/>
            <a:ext cx="2414016" cy="1234440"/>
          </a:xfrm>
          <a:prstGeom prst="rect">
            <a:avLst/>
          </a:prstGeom>
          <a:solidFill>
            <a:srgbClr val="101C38"/>
          </a:solidFill>
          <a:ln w="9525">
            <a:solidFill>
              <a:srgbClr val="1E335E"/>
            </a:solidFill>
            <a:prstDash val="solid"/>
          </a:ln>
        </p:spPr>
      </p:sp>
      <p:sp>
        <p:nvSpPr>
          <p:cNvPr id="37" name="Shape 35"/>
          <p:cNvSpPr/>
          <p:nvPr/>
        </p:nvSpPr>
        <p:spPr>
          <a:xfrm>
            <a:off x="3364992" y="3310128"/>
            <a:ext cx="2414016" cy="0"/>
          </a:xfrm>
          <a:prstGeom prst="line">
            <a:avLst/>
          </a:prstGeom>
          <a:noFill/>
          <a:ln w="19050">
            <a:solidFill>
              <a:srgbClr val="D4AF37"/>
            </a:solidFill>
            <a:prstDash val="solid"/>
          </a:ln>
        </p:spPr>
      </p:sp>
      <p:sp>
        <p:nvSpPr>
          <p:cNvPr id="38" name="Text 36"/>
          <p:cNvSpPr/>
          <p:nvPr/>
        </p:nvSpPr>
        <p:spPr>
          <a:xfrm>
            <a:off x="3502152" y="3419856"/>
            <a:ext cx="2139696" cy="182880"/>
          </a:xfrm>
          <a:prstGeom prst="rect">
            <a:avLst/>
          </a:prstGeom>
          <a:noFill/>
          <a:ln/>
        </p:spPr>
        <p:txBody>
          <a:bodyPr wrap="square" rtlCol="0" anchor="ctr"/>
          <a:lstStyle/>
          <a:p>
            <a:pPr indent="0" marL="0">
              <a:buNone/>
            </a:pPr>
            <a:r>
              <a:rPr lang="en-US" sz="650" b="1" spc="100" kern="0" dirty="0">
                <a:solidFill>
                  <a:srgbClr val="D4AF37"/>
                </a:solidFill>
                <a:latin typeface="Consolas" pitchFamily="34" charset="0"/>
                <a:ea typeface="Consolas" pitchFamily="34" charset="-122"/>
                <a:cs typeface="Consolas" pitchFamily="34" charset="-120"/>
              </a:rPr>
              <a:t>PRIMARY SURVEILLANCE SOURCE</a:t>
            </a:r>
            <a:endParaRPr lang="en-US" sz="650" dirty="0"/>
          </a:p>
        </p:txBody>
      </p:sp>
      <p:sp>
        <p:nvSpPr>
          <p:cNvPr id="39" name="Text 37"/>
          <p:cNvSpPr/>
          <p:nvPr/>
        </p:nvSpPr>
        <p:spPr>
          <a:xfrm>
            <a:off x="3502152" y="3639312"/>
            <a:ext cx="2139696" cy="411480"/>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NCDC / IDSP Weekly Outbreak Bulletins</a:t>
            </a:r>
            <a:endParaRPr lang="en-US" sz="1100" dirty="0"/>
          </a:p>
        </p:txBody>
      </p:sp>
      <p:sp>
        <p:nvSpPr>
          <p:cNvPr id="40" name="Text 38"/>
          <p:cNvSpPr/>
          <p:nvPr/>
        </p:nvSpPr>
        <p:spPr>
          <a:xfrm>
            <a:off x="3502152" y="4059936"/>
            <a:ext cx="2139696" cy="320040"/>
          </a:xfrm>
          <a:prstGeom prst="rect">
            <a:avLst/>
          </a:prstGeom>
          <a:noFill/>
          <a:ln/>
        </p:spPr>
        <p:txBody>
          <a:bodyPr wrap="square" rtlCol="0" anchor="ctr"/>
          <a:lstStyle/>
          <a:p>
            <a:pPr indent="0" marL="0">
              <a:buNone/>
            </a:pPr>
            <a:r>
              <a:rPr lang="en-US" sz="850" dirty="0">
                <a:solidFill>
                  <a:srgbClr val="94A3B8"/>
                </a:solidFill>
                <a:latin typeface="Calibri" pitchFamily="34" charset="0"/>
                <a:ea typeface="Calibri" pitchFamily="34" charset="-122"/>
                <a:cs typeface="Calibri" pitchFamily="34" charset="-120"/>
              </a:rPr>
              <a:t>Government of India Health Portals</a:t>
            </a:r>
            <a:endParaRPr lang="en-US" sz="850" dirty="0"/>
          </a:p>
        </p:txBody>
      </p:sp>
      <p:sp>
        <p:nvSpPr>
          <p:cNvPr id="41" name="Shape 39"/>
          <p:cNvSpPr/>
          <p:nvPr/>
        </p:nvSpPr>
        <p:spPr>
          <a:xfrm>
            <a:off x="5998464" y="3310128"/>
            <a:ext cx="2414016" cy="1234440"/>
          </a:xfrm>
          <a:prstGeom prst="rect">
            <a:avLst/>
          </a:prstGeom>
          <a:solidFill>
            <a:srgbClr val="101C38"/>
          </a:solidFill>
          <a:ln w="9525">
            <a:solidFill>
              <a:srgbClr val="1E335E"/>
            </a:solidFill>
            <a:prstDash val="solid"/>
          </a:ln>
        </p:spPr>
      </p:sp>
      <p:sp>
        <p:nvSpPr>
          <p:cNvPr id="42" name="Shape 40"/>
          <p:cNvSpPr/>
          <p:nvPr/>
        </p:nvSpPr>
        <p:spPr>
          <a:xfrm>
            <a:off x="5998464" y="3310128"/>
            <a:ext cx="2414016" cy="0"/>
          </a:xfrm>
          <a:prstGeom prst="line">
            <a:avLst/>
          </a:prstGeom>
          <a:noFill/>
          <a:ln w="19050">
            <a:solidFill>
              <a:srgbClr val="D4AF37"/>
            </a:solidFill>
            <a:prstDash val="solid"/>
          </a:ln>
        </p:spPr>
      </p:sp>
      <p:sp>
        <p:nvSpPr>
          <p:cNvPr id="43" name="Text 41"/>
          <p:cNvSpPr/>
          <p:nvPr/>
        </p:nvSpPr>
        <p:spPr>
          <a:xfrm>
            <a:off x="6135624" y="3419856"/>
            <a:ext cx="2139696" cy="182880"/>
          </a:xfrm>
          <a:prstGeom prst="rect">
            <a:avLst/>
          </a:prstGeom>
          <a:noFill/>
          <a:ln/>
        </p:spPr>
        <p:txBody>
          <a:bodyPr wrap="square" rtlCol="0" anchor="ctr"/>
          <a:lstStyle/>
          <a:p>
            <a:pPr indent="0" marL="0">
              <a:buNone/>
            </a:pPr>
            <a:r>
              <a:rPr lang="en-US" sz="650" b="1" spc="100" kern="0" dirty="0">
                <a:solidFill>
                  <a:srgbClr val="D4AF37"/>
                </a:solidFill>
                <a:latin typeface="Consolas" pitchFamily="34" charset="0"/>
                <a:ea typeface="Consolas" pitchFamily="34" charset="-122"/>
                <a:cs typeface="Consolas" pitchFamily="34" charset="-120"/>
              </a:rPr>
              <a:t>EMPIRICAL SURVEILLANCE SCOPE</a:t>
            </a:r>
            <a:endParaRPr lang="en-US" sz="650" dirty="0"/>
          </a:p>
        </p:txBody>
      </p:sp>
      <p:sp>
        <p:nvSpPr>
          <p:cNvPr id="44" name="Text 42"/>
          <p:cNvSpPr/>
          <p:nvPr/>
        </p:nvSpPr>
        <p:spPr>
          <a:xfrm>
            <a:off x="6135624" y="3639312"/>
            <a:ext cx="2139696" cy="411480"/>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Maharashtra (36 Districts)</a:t>
            </a:r>
            <a:endParaRPr lang="en-US" sz="1100" dirty="0"/>
          </a:p>
        </p:txBody>
      </p:sp>
      <p:sp>
        <p:nvSpPr>
          <p:cNvPr id="45" name="Text 43"/>
          <p:cNvSpPr/>
          <p:nvPr/>
        </p:nvSpPr>
        <p:spPr>
          <a:xfrm>
            <a:off x="6135624" y="4059936"/>
            <a:ext cx="2139696" cy="320040"/>
          </a:xfrm>
          <a:prstGeom prst="rect">
            <a:avLst/>
          </a:prstGeom>
          <a:noFill/>
          <a:ln/>
        </p:spPr>
        <p:txBody>
          <a:bodyPr wrap="square" rtlCol="0" anchor="ctr"/>
          <a:lstStyle/>
          <a:p>
            <a:pPr indent="0" marL="0">
              <a:buNone/>
            </a:pPr>
            <a:r>
              <a:rPr lang="en-US" sz="850" dirty="0">
                <a:solidFill>
                  <a:srgbClr val="94A3B8"/>
                </a:solidFill>
                <a:latin typeface="Calibri" pitchFamily="34" charset="0"/>
                <a:ea typeface="Calibri" pitchFamily="34" charset="-122"/>
                <a:cs typeface="Calibri" pitchFamily="34" charset="-120"/>
              </a:rPr>
              <a:t>2022–2025 Baseline + 2026 W01–W32</a:t>
            </a:r>
            <a:endParaRPr lang="en-US" sz="850" dirty="0"/>
          </a:p>
        </p:txBody>
      </p:sp>
      <p:sp>
        <p:nvSpPr>
          <p:cNvPr id="46" name="Text 44"/>
          <p:cNvSpPr/>
          <p:nvPr/>
        </p:nvSpPr>
        <p:spPr>
          <a:xfrm>
            <a:off x="7772400" y="4773168"/>
            <a:ext cx="731520" cy="201168"/>
          </a:xfrm>
          <a:prstGeom prst="rect">
            <a:avLst/>
          </a:prstGeom>
          <a:noFill/>
          <a:ln/>
        </p:spPr>
        <p:txBody>
          <a:bodyPr wrap="square" rtlCol="0" anchor="ctr"/>
          <a:lstStyle/>
          <a:p>
            <a:pPr algn="r" indent="0" marL="0">
              <a:buNone/>
            </a:pPr>
            <a:r>
              <a:rPr lang="en-US" sz="750" b="1" dirty="0">
                <a:solidFill>
                  <a:srgbClr val="D4AF37"/>
                </a:solidFill>
                <a:latin typeface="Consolas" pitchFamily="34" charset="0"/>
                <a:ea typeface="Consolas" pitchFamily="34" charset="-122"/>
                <a:cs typeface="Consolas" pitchFamily="34" charset="-120"/>
              </a:rPr>
              <a:t>01 / 10</a:t>
            </a:r>
            <a:endParaRPr lang="en-US" sz="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1128"/>
        </a:solidFill>
      </p:bgPr>
    </p:bg>
    <p:spTree>
      <p:nvGrpSpPr>
        <p:cNvPr id="1" name=""/>
        <p:cNvGrpSpPr/>
        <p:nvPr/>
      </p:nvGrpSpPr>
      <p:grpSpPr>
        <a:xfrm>
          <a:off x="0" y="0"/>
          <a:ext cx="0" cy="0"/>
          <a:chOff x="0" y="0"/>
          <a:chExt cx="0" cy="0"/>
        </a:xfrm>
      </p:grpSpPr>
      <p:sp>
        <p:nvSpPr>
          <p:cNvPr id="2" name="Text 0"/>
          <p:cNvSpPr/>
          <p:nvPr/>
        </p:nvSpPr>
        <p:spPr>
          <a:xfrm>
            <a:off x="731520" y="292608"/>
            <a:ext cx="7680960" cy="201168"/>
          </a:xfrm>
          <a:prstGeom prst="rect">
            <a:avLst/>
          </a:prstGeom>
          <a:noFill/>
          <a:ln/>
        </p:spPr>
        <p:txBody>
          <a:bodyPr wrap="square" rtlCol="0" anchor="ctr"/>
          <a:lstStyle/>
          <a:p>
            <a:pPr indent="0" marL="0">
              <a:buNone/>
            </a:pPr>
            <a:r>
              <a:rPr lang="en-US" sz="750" b="1" spc="200" kern="0" dirty="0">
                <a:solidFill>
                  <a:srgbClr val="D4AF37"/>
                </a:solidFill>
                <a:latin typeface="Consolas" pitchFamily="34" charset="0"/>
                <a:ea typeface="Consolas" pitchFamily="34" charset="-122"/>
                <a:cs typeface="Consolas" pitchFamily="34" charset="-120"/>
              </a:rPr>
              <a:t>CENTRAL RESEARCH QUESTION  //  ANALYTICAL FRAMEWORK</a:t>
            </a:r>
            <a:endParaRPr lang="en-US" sz="750" dirty="0"/>
          </a:p>
        </p:txBody>
      </p:sp>
      <p:sp>
        <p:nvSpPr>
          <p:cNvPr id="3" name="Text 1"/>
          <p:cNvSpPr/>
          <p:nvPr/>
        </p:nvSpPr>
        <p:spPr>
          <a:xfrm>
            <a:off x="731520" y="493776"/>
            <a:ext cx="7680960" cy="438912"/>
          </a:xfrm>
          <a:prstGeom prst="rect">
            <a:avLst/>
          </a:prstGeom>
          <a:noFill/>
          <a:ln/>
        </p:spPr>
        <p:txBody>
          <a:bodyPr wrap="square" rtlCol="0" anchor="ctr"/>
          <a:lstStyle/>
          <a:p>
            <a:pPr indent="0" marL="0">
              <a:lnSpc>
                <a:spcPct val="110000"/>
              </a:lnSpc>
              <a:buNone/>
            </a:pPr>
            <a:r>
              <a:rPr lang="en-US" sz="2100" b="1" dirty="0">
                <a:solidFill>
                  <a:srgbClr val="FFFFFF"/>
                </a:solidFill>
                <a:latin typeface="Georgia" pitchFamily="34" charset="0"/>
                <a:ea typeface="Georgia" pitchFamily="34" charset="-122"/>
                <a:cs typeface="Georgia" pitchFamily="34" charset="-120"/>
              </a:rPr>
              <a:t>Investigating Outbreak Seasonality in Maharashtra</a:t>
            </a:r>
            <a:endParaRPr lang="en-US" sz="2100" dirty="0"/>
          </a:p>
        </p:txBody>
      </p:sp>
      <p:sp>
        <p:nvSpPr>
          <p:cNvPr id="4" name="Shape 2"/>
          <p:cNvSpPr/>
          <p:nvPr/>
        </p:nvSpPr>
        <p:spPr>
          <a:xfrm>
            <a:off x="731520" y="987552"/>
            <a:ext cx="7680960" cy="0"/>
          </a:xfrm>
          <a:prstGeom prst="line">
            <a:avLst/>
          </a:prstGeom>
          <a:noFill/>
          <a:ln w="9525">
            <a:solidFill>
              <a:srgbClr val="D4AF37"/>
            </a:solidFill>
            <a:prstDash val="solid"/>
          </a:ln>
        </p:spPr>
      </p:sp>
      <p:sp>
        <p:nvSpPr>
          <p:cNvPr id="5" name="Shape 3"/>
          <p:cNvSpPr/>
          <p:nvPr/>
        </p:nvSpPr>
        <p:spPr>
          <a:xfrm>
            <a:off x="731520" y="1143000"/>
            <a:ext cx="7680960" cy="1783080"/>
          </a:xfrm>
          <a:prstGeom prst="rect">
            <a:avLst/>
          </a:prstGeom>
          <a:solidFill>
            <a:srgbClr val="16274D"/>
          </a:solidFill>
          <a:ln w="12700">
            <a:solidFill>
              <a:srgbClr val="D4AF37"/>
            </a:solidFill>
            <a:prstDash val="solid"/>
          </a:ln>
        </p:spPr>
      </p:sp>
      <p:sp>
        <p:nvSpPr>
          <p:cNvPr id="6" name="Text 4"/>
          <p:cNvSpPr/>
          <p:nvPr/>
        </p:nvSpPr>
        <p:spPr>
          <a:xfrm>
            <a:off x="1005840" y="1289304"/>
            <a:ext cx="7132320" cy="201168"/>
          </a:xfrm>
          <a:prstGeom prst="rect">
            <a:avLst/>
          </a:prstGeom>
          <a:noFill/>
          <a:ln/>
        </p:spPr>
        <p:txBody>
          <a:bodyPr wrap="square" rtlCol="0" anchor="ctr"/>
          <a:lstStyle/>
          <a:p>
            <a:pPr indent="0" marL="0">
              <a:buNone/>
            </a:pPr>
            <a:r>
              <a:rPr lang="en-US" sz="750" b="1" spc="150" kern="0" dirty="0">
                <a:solidFill>
                  <a:srgbClr val="D4AF37"/>
                </a:solidFill>
                <a:latin typeface="Consolas" pitchFamily="34" charset="0"/>
                <a:ea typeface="Consolas" pitchFamily="34" charset="-122"/>
                <a:cs typeface="Consolas" pitchFamily="34" charset="-120"/>
              </a:rPr>
              <a:t>PRIMARY RESEARCH INQUIRY</a:t>
            </a:r>
            <a:endParaRPr lang="en-US" sz="750" dirty="0"/>
          </a:p>
        </p:txBody>
      </p:sp>
      <p:sp>
        <p:nvSpPr>
          <p:cNvPr id="7" name="Text 5"/>
          <p:cNvSpPr/>
          <p:nvPr/>
        </p:nvSpPr>
        <p:spPr>
          <a:xfrm>
            <a:off x="1005840" y="1527048"/>
            <a:ext cx="7132320" cy="1234440"/>
          </a:xfrm>
          <a:prstGeom prst="rect">
            <a:avLst/>
          </a:prstGeom>
          <a:noFill/>
          <a:ln/>
        </p:spPr>
        <p:txBody>
          <a:bodyPr wrap="square" rtlCol="0" anchor="ctr"/>
          <a:lstStyle/>
          <a:p>
            <a:pPr indent="0" marL="0">
              <a:lnSpc>
                <a:spcPct val="125000"/>
              </a:lnSpc>
              <a:buNone/>
            </a:pPr>
            <a:r>
              <a:rPr lang="en-US" sz="2200" i="1" dirty="0">
                <a:solidFill>
                  <a:srgbClr val="FFFFFF"/>
                </a:solidFill>
                <a:latin typeface="Georgia" pitchFamily="34" charset="0"/>
                <a:ea typeface="Georgia" pitchFamily="34" charset="-122"/>
                <a:cs typeface="Georgia" pitchFamily="34" charset="-120"/>
              </a:rPr>
              <a:t>“What seasonal patterns are evident in selected disease outbreak reports in Maharashtra, and how do these patterns vary across diseases and seasons?”</a:t>
            </a:r>
            <a:endParaRPr lang="en-US" sz="2200" dirty="0"/>
          </a:p>
        </p:txBody>
      </p:sp>
      <p:sp>
        <p:nvSpPr>
          <p:cNvPr id="8" name="Shape 6"/>
          <p:cNvSpPr/>
          <p:nvPr/>
        </p:nvSpPr>
        <p:spPr>
          <a:xfrm>
            <a:off x="731520" y="3090672"/>
            <a:ext cx="2450592" cy="1481328"/>
          </a:xfrm>
          <a:prstGeom prst="rect">
            <a:avLst/>
          </a:prstGeom>
          <a:solidFill>
            <a:srgbClr val="101C38"/>
          </a:solidFill>
          <a:ln w="9525">
            <a:solidFill>
              <a:srgbClr val="1E335E"/>
            </a:solidFill>
            <a:prstDash val="solid"/>
          </a:ln>
        </p:spPr>
      </p:sp>
      <p:sp>
        <p:nvSpPr>
          <p:cNvPr id="9" name="Shape 7"/>
          <p:cNvSpPr/>
          <p:nvPr/>
        </p:nvSpPr>
        <p:spPr>
          <a:xfrm>
            <a:off x="731520" y="3090672"/>
            <a:ext cx="2450592" cy="0"/>
          </a:xfrm>
          <a:prstGeom prst="line">
            <a:avLst/>
          </a:prstGeom>
          <a:noFill/>
          <a:ln w="19050">
            <a:solidFill>
              <a:srgbClr val="D4AF37"/>
            </a:solidFill>
            <a:prstDash val="solid"/>
          </a:ln>
        </p:spPr>
      </p:sp>
      <p:sp>
        <p:nvSpPr>
          <p:cNvPr id="10" name="Text 8"/>
          <p:cNvSpPr/>
          <p:nvPr/>
        </p:nvSpPr>
        <p:spPr>
          <a:xfrm>
            <a:off x="868680" y="3200400"/>
            <a:ext cx="502920" cy="384048"/>
          </a:xfrm>
          <a:prstGeom prst="rect">
            <a:avLst/>
          </a:prstGeom>
          <a:noFill/>
          <a:ln/>
        </p:spPr>
        <p:txBody>
          <a:bodyPr wrap="square" rtlCol="0" anchor="ctr"/>
          <a:lstStyle/>
          <a:p>
            <a:pPr indent="0" marL="0">
              <a:buNone/>
            </a:pPr>
            <a:r>
              <a:rPr lang="en-US" sz="2400" b="1" dirty="0">
                <a:solidFill>
                  <a:srgbClr val="D4AF37"/>
                </a:solidFill>
                <a:latin typeface="Georgia" pitchFamily="34" charset="0"/>
                <a:ea typeface="Georgia" pitchFamily="34" charset="-122"/>
                <a:cs typeface="Georgia" pitchFamily="34" charset="-120"/>
              </a:rPr>
              <a:t>01</a:t>
            </a:r>
            <a:endParaRPr lang="en-US" sz="2400" dirty="0"/>
          </a:p>
        </p:txBody>
      </p:sp>
      <p:sp>
        <p:nvSpPr>
          <p:cNvPr id="11" name="Text 9"/>
          <p:cNvSpPr/>
          <p:nvPr/>
        </p:nvSpPr>
        <p:spPr>
          <a:xfrm>
            <a:off x="1417320" y="3218688"/>
            <a:ext cx="1627632" cy="201168"/>
          </a:xfrm>
          <a:prstGeom prst="rect">
            <a:avLst/>
          </a:prstGeom>
          <a:noFill/>
          <a:ln/>
        </p:spPr>
        <p:txBody>
          <a:bodyPr wrap="square" rtlCol="0" anchor="ctr"/>
          <a:lstStyle/>
          <a:p>
            <a:pPr indent="0" marL="0">
              <a:buNone/>
            </a:pPr>
            <a:r>
              <a:rPr lang="en-US" sz="750" b="1" spc="50" kern="0" dirty="0">
                <a:solidFill>
                  <a:srgbClr val="FFFFFF"/>
                </a:solidFill>
                <a:latin typeface="Consolas" pitchFamily="34" charset="0"/>
                <a:ea typeface="Consolas" pitchFamily="34" charset="-122"/>
                <a:cs typeface="Consolas" pitchFamily="34" charset="-120"/>
              </a:rPr>
              <a:t>TEMPORAL CONCENTRATION</a:t>
            </a:r>
            <a:endParaRPr lang="en-US" sz="750" dirty="0"/>
          </a:p>
        </p:txBody>
      </p:sp>
      <p:sp>
        <p:nvSpPr>
          <p:cNvPr id="12" name="Text 10"/>
          <p:cNvSpPr/>
          <p:nvPr/>
        </p:nvSpPr>
        <p:spPr>
          <a:xfrm>
            <a:off x="1417320" y="3419856"/>
            <a:ext cx="1627632" cy="182880"/>
          </a:xfrm>
          <a:prstGeom prst="rect">
            <a:avLst/>
          </a:prstGeom>
          <a:noFill/>
          <a:ln/>
        </p:spPr>
        <p:txBody>
          <a:bodyPr wrap="square" rtlCol="0" anchor="ctr"/>
          <a:lstStyle/>
          <a:p>
            <a:pPr indent="0" marL="0">
              <a:buNone/>
            </a:pPr>
            <a:r>
              <a:rPr lang="en-US" sz="750" i="1" dirty="0">
                <a:solidFill>
                  <a:srgbClr val="F3E5AB"/>
                </a:solidFill>
                <a:latin typeface="Calibri" pitchFamily="34" charset="0"/>
                <a:ea typeface="Calibri" pitchFamily="34" charset="-122"/>
                <a:cs typeface="Calibri" pitchFamily="34" charset="-120"/>
              </a:rPr>
              <a:t>3-Month Concentration Ratio (CR3)</a:t>
            </a:r>
            <a:endParaRPr lang="en-US" sz="750" dirty="0"/>
          </a:p>
        </p:txBody>
      </p:sp>
      <p:sp>
        <p:nvSpPr>
          <p:cNvPr id="13" name="Shape 11"/>
          <p:cNvSpPr/>
          <p:nvPr/>
        </p:nvSpPr>
        <p:spPr>
          <a:xfrm>
            <a:off x="868680" y="3657600"/>
            <a:ext cx="2176272" cy="0"/>
          </a:xfrm>
          <a:prstGeom prst="line">
            <a:avLst/>
          </a:prstGeom>
          <a:noFill/>
          <a:ln w="6350">
            <a:solidFill>
              <a:srgbClr val="1E2D4A"/>
            </a:solidFill>
            <a:prstDash val="solid"/>
          </a:ln>
        </p:spPr>
      </p:sp>
      <p:sp>
        <p:nvSpPr>
          <p:cNvPr id="14" name="Text 12"/>
          <p:cNvSpPr/>
          <p:nvPr/>
        </p:nvSpPr>
        <p:spPr>
          <a:xfrm>
            <a:off x="868680" y="3730752"/>
            <a:ext cx="2176272" cy="749808"/>
          </a:xfrm>
          <a:prstGeom prst="rect">
            <a:avLst/>
          </a:prstGeom>
          <a:noFill/>
          <a:ln/>
        </p:spPr>
        <p:txBody>
          <a:bodyPr wrap="square" rtlCol="0" anchor="ctr"/>
          <a:lstStyle/>
          <a:p>
            <a:pPr indent="0" marL="0">
              <a:lnSpc>
                <a:spcPct val="115000"/>
              </a:lnSpc>
              <a:buNone/>
            </a:pPr>
            <a:r>
              <a:rPr lang="en-US" sz="850" dirty="0">
                <a:solidFill>
                  <a:srgbClr val="E2E8F0"/>
                </a:solidFill>
                <a:latin typeface="Calibri" pitchFamily="34" charset="0"/>
                <a:ea typeface="Calibri" pitchFamily="34" charset="-122"/>
                <a:cs typeface="Calibri" pitchFamily="34" charset="-120"/>
              </a:rPr>
              <a:t>Determines whether outbreak events cluster within specific calendar months or disperse uniformly across the surveillance year.</a:t>
            </a:r>
            <a:endParaRPr lang="en-US" sz="850" dirty="0"/>
          </a:p>
        </p:txBody>
      </p:sp>
      <p:sp>
        <p:nvSpPr>
          <p:cNvPr id="15" name="Shape 13"/>
          <p:cNvSpPr/>
          <p:nvPr/>
        </p:nvSpPr>
        <p:spPr>
          <a:xfrm>
            <a:off x="3346704" y="3090672"/>
            <a:ext cx="2450592" cy="1481328"/>
          </a:xfrm>
          <a:prstGeom prst="rect">
            <a:avLst/>
          </a:prstGeom>
          <a:solidFill>
            <a:srgbClr val="101C38"/>
          </a:solidFill>
          <a:ln w="9525">
            <a:solidFill>
              <a:srgbClr val="1E335E"/>
            </a:solidFill>
            <a:prstDash val="solid"/>
          </a:ln>
        </p:spPr>
      </p:sp>
      <p:sp>
        <p:nvSpPr>
          <p:cNvPr id="16" name="Shape 14"/>
          <p:cNvSpPr/>
          <p:nvPr/>
        </p:nvSpPr>
        <p:spPr>
          <a:xfrm>
            <a:off x="3346704" y="3090672"/>
            <a:ext cx="2450592" cy="0"/>
          </a:xfrm>
          <a:prstGeom prst="line">
            <a:avLst/>
          </a:prstGeom>
          <a:noFill/>
          <a:ln w="19050">
            <a:solidFill>
              <a:srgbClr val="D4AF37"/>
            </a:solidFill>
            <a:prstDash val="solid"/>
          </a:ln>
        </p:spPr>
      </p:sp>
      <p:sp>
        <p:nvSpPr>
          <p:cNvPr id="17" name="Text 15"/>
          <p:cNvSpPr/>
          <p:nvPr/>
        </p:nvSpPr>
        <p:spPr>
          <a:xfrm>
            <a:off x="3483864" y="3200400"/>
            <a:ext cx="502920" cy="384048"/>
          </a:xfrm>
          <a:prstGeom prst="rect">
            <a:avLst/>
          </a:prstGeom>
          <a:noFill/>
          <a:ln/>
        </p:spPr>
        <p:txBody>
          <a:bodyPr wrap="square" rtlCol="0" anchor="ctr"/>
          <a:lstStyle/>
          <a:p>
            <a:pPr indent="0" marL="0">
              <a:buNone/>
            </a:pPr>
            <a:r>
              <a:rPr lang="en-US" sz="2400" b="1" dirty="0">
                <a:solidFill>
                  <a:srgbClr val="D4AF37"/>
                </a:solidFill>
                <a:latin typeface="Georgia" pitchFamily="34" charset="0"/>
                <a:ea typeface="Georgia" pitchFamily="34" charset="-122"/>
                <a:cs typeface="Georgia" pitchFamily="34" charset="-120"/>
              </a:rPr>
              <a:t>02</a:t>
            </a:r>
            <a:endParaRPr lang="en-US" sz="2400" dirty="0"/>
          </a:p>
        </p:txBody>
      </p:sp>
      <p:sp>
        <p:nvSpPr>
          <p:cNvPr id="18" name="Text 16"/>
          <p:cNvSpPr/>
          <p:nvPr/>
        </p:nvSpPr>
        <p:spPr>
          <a:xfrm>
            <a:off x="4032504" y="3218688"/>
            <a:ext cx="1627632" cy="201168"/>
          </a:xfrm>
          <a:prstGeom prst="rect">
            <a:avLst/>
          </a:prstGeom>
          <a:noFill/>
          <a:ln/>
        </p:spPr>
        <p:txBody>
          <a:bodyPr wrap="square" rtlCol="0" anchor="ctr"/>
          <a:lstStyle/>
          <a:p>
            <a:pPr indent="0" marL="0">
              <a:buNone/>
            </a:pPr>
            <a:r>
              <a:rPr lang="en-US" sz="750" b="1" spc="50" kern="0" dirty="0">
                <a:solidFill>
                  <a:srgbClr val="FFFFFF"/>
                </a:solidFill>
                <a:latin typeface="Consolas" pitchFamily="34" charset="0"/>
                <a:ea typeface="Consolas" pitchFamily="34" charset="-122"/>
                <a:cs typeface="Consolas" pitchFamily="34" charset="-120"/>
              </a:rPr>
              <a:t>INTER-ANNUAL STABILITY</a:t>
            </a:r>
            <a:endParaRPr lang="en-US" sz="750" dirty="0"/>
          </a:p>
        </p:txBody>
      </p:sp>
      <p:sp>
        <p:nvSpPr>
          <p:cNvPr id="19" name="Text 17"/>
          <p:cNvSpPr/>
          <p:nvPr/>
        </p:nvSpPr>
        <p:spPr>
          <a:xfrm>
            <a:off x="4032504" y="3419856"/>
            <a:ext cx="1627632" cy="182880"/>
          </a:xfrm>
          <a:prstGeom prst="rect">
            <a:avLst/>
          </a:prstGeom>
          <a:noFill/>
          <a:ln/>
        </p:spPr>
        <p:txBody>
          <a:bodyPr wrap="square" rtlCol="0" anchor="ctr"/>
          <a:lstStyle/>
          <a:p>
            <a:pPr indent="0" marL="0">
              <a:buNone/>
            </a:pPr>
            <a:r>
              <a:rPr lang="en-US" sz="750" i="1" dirty="0">
                <a:solidFill>
                  <a:srgbClr val="F3E5AB"/>
                </a:solidFill>
                <a:latin typeface="Calibri" pitchFamily="34" charset="0"/>
                <a:ea typeface="Calibri" pitchFamily="34" charset="-122"/>
                <a:cs typeface="Calibri" pitchFamily="34" charset="-120"/>
              </a:rPr>
              <a:t>Kendall’s W Coefficient of Concordance</a:t>
            </a:r>
            <a:endParaRPr lang="en-US" sz="750" dirty="0"/>
          </a:p>
        </p:txBody>
      </p:sp>
      <p:sp>
        <p:nvSpPr>
          <p:cNvPr id="20" name="Shape 18"/>
          <p:cNvSpPr/>
          <p:nvPr/>
        </p:nvSpPr>
        <p:spPr>
          <a:xfrm>
            <a:off x="3483864" y="3657600"/>
            <a:ext cx="2176272" cy="0"/>
          </a:xfrm>
          <a:prstGeom prst="line">
            <a:avLst/>
          </a:prstGeom>
          <a:noFill/>
          <a:ln w="6350">
            <a:solidFill>
              <a:srgbClr val="1E2D4A"/>
            </a:solidFill>
            <a:prstDash val="solid"/>
          </a:ln>
        </p:spPr>
      </p:sp>
      <p:sp>
        <p:nvSpPr>
          <p:cNvPr id="21" name="Text 19"/>
          <p:cNvSpPr/>
          <p:nvPr/>
        </p:nvSpPr>
        <p:spPr>
          <a:xfrm>
            <a:off x="3483864" y="3730752"/>
            <a:ext cx="2176272" cy="749808"/>
          </a:xfrm>
          <a:prstGeom prst="rect">
            <a:avLst/>
          </a:prstGeom>
          <a:noFill/>
          <a:ln/>
        </p:spPr>
        <p:txBody>
          <a:bodyPr wrap="square" rtlCol="0" anchor="ctr"/>
          <a:lstStyle/>
          <a:p>
            <a:pPr indent="0" marL="0">
              <a:lnSpc>
                <a:spcPct val="115000"/>
              </a:lnSpc>
              <a:buNone/>
            </a:pPr>
            <a:r>
              <a:rPr lang="en-US" sz="850" dirty="0">
                <a:solidFill>
                  <a:srgbClr val="E2E8F0"/>
                </a:solidFill>
                <a:latin typeface="Calibri" pitchFamily="34" charset="0"/>
                <a:ea typeface="Calibri" pitchFamily="34" charset="-122"/>
                <a:cs typeface="Calibri" pitchFamily="34" charset="-120"/>
              </a:rPr>
              <a:t>Tests whether monthly disease ranking repeats reliably across four completed years (2022–2025) or exhibits volatile, random shifts.</a:t>
            </a:r>
            <a:endParaRPr lang="en-US" sz="850" dirty="0"/>
          </a:p>
        </p:txBody>
      </p:sp>
      <p:sp>
        <p:nvSpPr>
          <p:cNvPr id="22" name="Shape 20"/>
          <p:cNvSpPr/>
          <p:nvPr/>
        </p:nvSpPr>
        <p:spPr>
          <a:xfrm>
            <a:off x="5961888" y="3090672"/>
            <a:ext cx="2450592" cy="1481328"/>
          </a:xfrm>
          <a:prstGeom prst="rect">
            <a:avLst/>
          </a:prstGeom>
          <a:solidFill>
            <a:srgbClr val="101C38"/>
          </a:solidFill>
          <a:ln w="9525">
            <a:solidFill>
              <a:srgbClr val="1E335E"/>
            </a:solidFill>
            <a:prstDash val="solid"/>
          </a:ln>
        </p:spPr>
      </p:sp>
      <p:sp>
        <p:nvSpPr>
          <p:cNvPr id="23" name="Shape 21"/>
          <p:cNvSpPr/>
          <p:nvPr/>
        </p:nvSpPr>
        <p:spPr>
          <a:xfrm>
            <a:off x="5961888" y="3090672"/>
            <a:ext cx="2450592" cy="0"/>
          </a:xfrm>
          <a:prstGeom prst="line">
            <a:avLst/>
          </a:prstGeom>
          <a:noFill/>
          <a:ln w="19050">
            <a:solidFill>
              <a:srgbClr val="D4AF37"/>
            </a:solidFill>
            <a:prstDash val="solid"/>
          </a:ln>
        </p:spPr>
      </p:sp>
      <p:sp>
        <p:nvSpPr>
          <p:cNvPr id="24" name="Text 22"/>
          <p:cNvSpPr/>
          <p:nvPr/>
        </p:nvSpPr>
        <p:spPr>
          <a:xfrm>
            <a:off x="6099048" y="3200400"/>
            <a:ext cx="502920" cy="384048"/>
          </a:xfrm>
          <a:prstGeom prst="rect">
            <a:avLst/>
          </a:prstGeom>
          <a:noFill/>
          <a:ln/>
        </p:spPr>
        <p:txBody>
          <a:bodyPr wrap="square" rtlCol="0" anchor="ctr"/>
          <a:lstStyle/>
          <a:p>
            <a:pPr indent="0" marL="0">
              <a:buNone/>
            </a:pPr>
            <a:r>
              <a:rPr lang="en-US" sz="2400" b="1" dirty="0">
                <a:solidFill>
                  <a:srgbClr val="D4AF37"/>
                </a:solidFill>
                <a:latin typeface="Georgia" pitchFamily="34" charset="0"/>
                <a:ea typeface="Georgia" pitchFamily="34" charset="-122"/>
                <a:cs typeface="Georgia" pitchFamily="34" charset="-120"/>
              </a:rPr>
              <a:t>03</a:t>
            </a:r>
            <a:endParaRPr lang="en-US" sz="2400" dirty="0"/>
          </a:p>
        </p:txBody>
      </p:sp>
      <p:sp>
        <p:nvSpPr>
          <p:cNvPr id="25" name="Text 23"/>
          <p:cNvSpPr/>
          <p:nvPr/>
        </p:nvSpPr>
        <p:spPr>
          <a:xfrm>
            <a:off x="6647688" y="3218688"/>
            <a:ext cx="1627632" cy="201168"/>
          </a:xfrm>
          <a:prstGeom prst="rect">
            <a:avLst/>
          </a:prstGeom>
          <a:noFill/>
          <a:ln/>
        </p:spPr>
        <p:txBody>
          <a:bodyPr wrap="square" rtlCol="0" anchor="ctr"/>
          <a:lstStyle/>
          <a:p>
            <a:pPr indent="0" marL="0">
              <a:buNone/>
            </a:pPr>
            <a:r>
              <a:rPr lang="en-US" sz="750" b="1" spc="50" kern="0" dirty="0">
                <a:solidFill>
                  <a:srgbClr val="FFFFFF"/>
                </a:solidFill>
                <a:latin typeface="Consolas" pitchFamily="34" charset="0"/>
                <a:ea typeface="Consolas" pitchFamily="34" charset="-122"/>
                <a:cs typeface="Consolas" pitchFamily="34" charset="-120"/>
              </a:rPr>
              <a:t>EVENT / VOLUME DIVERGENCE</a:t>
            </a:r>
            <a:endParaRPr lang="en-US" sz="750" dirty="0"/>
          </a:p>
        </p:txBody>
      </p:sp>
      <p:sp>
        <p:nvSpPr>
          <p:cNvPr id="26" name="Text 24"/>
          <p:cNvSpPr/>
          <p:nvPr/>
        </p:nvSpPr>
        <p:spPr>
          <a:xfrm>
            <a:off x="6647688" y="3419856"/>
            <a:ext cx="1627632" cy="182880"/>
          </a:xfrm>
          <a:prstGeom prst="rect">
            <a:avLst/>
          </a:prstGeom>
          <a:noFill/>
          <a:ln/>
        </p:spPr>
        <p:txBody>
          <a:bodyPr wrap="square" rtlCol="0" anchor="ctr"/>
          <a:lstStyle/>
          <a:p>
            <a:pPr indent="0" marL="0">
              <a:buNone/>
            </a:pPr>
            <a:r>
              <a:rPr lang="en-US" sz="750" i="1" dirty="0">
                <a:solidFill>
                  <a:srgbClr val="F3E5AB"/>
                </a:solidFill>
                <a:latin typeface="Calibri" pitchFamily="34" charset="0"/>
                <a:ea typeface="Calibri" pitchFamily="34" charset="-122"/>
                <a:cs typeface="Calibri" pitchFamily="34" charset="-120"/>
              </a:rPr>
              <a:t>Sensitivity &amp; Outlier Decomposition</a:t>
            </a:r>
            <a:endParaRPr lang="en-US" sz="750" dirty="0"/>
          </a:p>
        </p:txBody>
      </p:sp>
      <p:sp>
        <p:nvSpPr>
          <p:cNvPr id="27" name="Shape 25"/>
          <p:cNvSpPr/>
          <p:nvPr/>
        </p:nvSpPr>
        <p:spPr>
          <a:xfrm>
            <a:off x="6099048" y="3657600"/>
            <a:ext cx="2176272" cy="0"/>
          </a:xfrm>
          <a:prstGeom prst="line">
            <a:avLst/>
          </a:prstGeom>
          <a:noFill/>
          <a:ln w="6350">
            <a:solidFill>
              <a:srgbClr val="1E2D4A"/>
            </a:solidFill>
            <a:prstDash val="solid"/>
          </a:ln>
        </p:spPr>
      </p:sp>
      <p:sp>
        <p:nvSpPr>
          <p:cNvPr id="28" name="Text 26"/>
          <p:cNvSpPr/>
          <p:nvPr/>
        </p:nvSpPr>
        <p:spPr>
          <a:xfrm>
            <a:off x="6099048" y="3730752"/>
            <a:ext cx="2176272" cy="749808"/>
          </a:xfrm>
          <a:prstGeom prst="rect">
            <a:avLst/>
          </a:prstGeom>
          <a:noFill/>
          <a:ln/>
        </p:spPr>
        <p:txBody>
          <a:bodyPr wrap="square" rtlCol="0" anchor="ctr"/>
          <a:lstStyle/>
          <a:p>
            <a:pPr indent="0" marL="0">
              <a:lnSpc>
                <a:spcPct val="115000"/>
              </a:lnSpc>
              <a:buNone/>
            </a:pPr>
            <a:r>
              <a:rPr lang="en-US" sz="850" dirty="0">
                <a:solidFill>
                  <a:srgbClr val="E2E8F0"/>
                </a:solidFill>
                <a:latin typeface="Calibri" pitchFamily="34" charset="0"/>
                <a:ea typeface="Calibri" pitchFamily="34" charset="-122"/>
                <a:cs typeface="Calibri" pitchFamily="34" charset="-120"/>
              </a:rPr>
              <a:t>Evaluates how isolated mass-exposure outbreaks distort aggregate case volumes without altering underlying event frequency distributions.</a:t>
            </a:r>
            <a:endParaRPr lang="en-US" sz="850" dirty="0"/>
          </a:p>
        </p:txBody>
      </p:sp>
      <p:sp>
        <p:nvSpPr>
          <p:cNvPr id="29" name="Shape 27"/>
          <p:cNvSpPr/>
          <p:nvPr/>
        </p:nvSpPr>
        <p:spPr>
          <a:xfrm>
            <a:off x="731520" y="4773168"/>
            <a:ext cx="7680960" cy="0"/>
          </a:xfrm>
          <a:prstGeom prst="line">
            <a:avLst/>
          </a:prstGeom>
          <a:noFill/>
          <a:ln w="9525">
            <a:solidFill>
              <a:srgbClr val="1E2D4A"/>
            </a:solidFill>
            <a:prstDash val="solid"/>
          </a:ln>
        </p:spPr>
      </p:sp>
      <p:sp>
        <p:nvSpPr>
          <p:cNvPr id="30" name="Text 28"/>
          <p:cNvSpPr/>
          <p:nvPr/>
        </p:nvSpPr>
        <p:spPr>
          <a:xfrm>
            <a:off x="731520" y="4846320"/>
            <a:ext cx="6583680" cy="201168"/>
          </a:xfrm>
          <a:prstGeom prst="rect">
            <a:avLst/>
          </a:prstGeom>
          <a:noFill/>
          <a:ln/>
        </p:spPr>
        <p:txBody>
          <a:bodyPr wrap="square" rtlCol="0" anchor="ctr"/>
          <a:lstStyle/>
          <a:p>
            <a:pPr indent="0" marL="0">
              <a:buNone/>
            </a:pPr>
            <a:r>
              <a:rPr lang="en-US" sz="650" dirty="0">
                <a:solidFill>
                  <a:srgbClr val="94A3B8"/>
                </a:solidFill>
                <a:latin typeface="Consolas" pitchFamily="34" charset="0"/>
                <a:ea typeface="Consolas" pitchFamily="34" charset="-122"/>
                <a:cs typeface="Consolas" pitchFamily="34" charset="-120"/>
              </a:rPr>
              <a:t>RESEARCH METHODOLOGY // RP INSTITUTE // B.SC. DATA SCIENCE VIVA DEFENSE</a:t>
            </a:r>
            <a:endParaRPr lang="en-US" sz="650" dirty="0"/>
          </a:p>
        </p:txBody>
      </p:sp>
      <p:sp>
        <p:nvSpPr>
          <p:cNvPr id="31" name="Text 29"/>
          <p:cNvSpPr/>
          <p:nvPr/>
        </p:nvSpPr>
        <p:spPr>
          <a:xfrm>
            <a:off x="7498080" y="4846320"/>
            <a:ext cx="914400" cy="201168"/>
          </a:xfrm>
          <a:prstGeom prst="rect">
            <a:avLst/>
          </a:prstGeom>
          <a:noFill/>
          <a:ln/>
        </p:spPr>
        <p:txBody>
          <a:bodyPr wrap="square" rtlCol="0" anchor="ctr"/>
          <a:lstStyle/>
          <a:p>
            <a:pPr algn="r" indent="0" marL="0">
              <a:buNone/>
            </a:pPr>
            <a:r>
              <a:rPr lang="en-US" sz="750" b="1" dirty="0">
                <a:solidFill>
                  <a:srgbClr val="D4AF37"/>
                </a:solidFill>
                <a:latin typeface="Consolas" pitchFamily="34" charset="0"/>
                <a:ea typeface="Consolas" pitchFamily="34" charset="-122"/>
                <a:cs typeface="Consolas" pitchFamily="34" charset="-120"/>
              </a:rPr>
              <a:t>02 / 10</a:t>
            </a:r>
            <a:endParaRPr lang="en-US" sz="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1128"/>
        </a:solidFill>
      </p:bgPr>
    </p:bg>
    <p:spTree>
      <p:nvGrpSpPr>
        <p:cNvPr id="1" name=""/>
        <p:cNvGrpSpPr/>
        <p:nvPr/>
      </p:nvGrpSpPr>
      <p:grpSpPr>
        <a:xfrm>
          <a:off x="0" y="0"/>
          <a:ext cx="0" cy="0"/>
          <a:chOff x="0" y="0"/>
          <a:chExt cx="0" cy="0"/>
        </a:xfrm>
      </p:grpSpPr>
      <p:sp>
        <p:nvSpPr>
          <p:cNvPr id="2" name="Text 0"/>
          <p:cNvSpPr/>
          <p:nvPr/>
        </p:nvSpPr>
        <p:spPr>
          <a:xfrm>
            <a:off x="731520" y="292608"/>
            <a:ext cx="7680960" cy="201168"/>
          </a:xfrm>
          <a:prstGeom prst="rect">
            <a:avLst/>
          </a:prstGeom>
          <a:noFill/>
          <a:ln/>
        </p:spPr>
        <p:txBody>
          <a:bodyPr wrap="square" rtlCol="0" anchor="ctr"/>
          <a:lstStyle/>
          <a:p>
            <a:pPr indent="0" marL="0">
              <a:buNone/>
            </a:pPr>
            <a:r>
              <a:rPr lang="en-US" sz="750" b="1" spc="200" kern="0" dirty="0">
                <a:solidFill>
                  <a:srgbClr val="D4AF37"/>
                </a:solidFill>
                <a:latin typeface="Consolas" pitchFamily="34" charset="0"/>
                <a:ea typeface="Consolas" pitchFamily="34" charset="-122"/>
                <a:cs typeface="Consolas" pitchFamily="34" charset="-120"/>
              </a:rPr>
              <a:t>DATA ENGINEERING PIPELINE  //  PROVENANCE &amp; HARMONIZATION</a:t>
            </a:r>
            <a:endParaRPr lang="en-US" sz="750" dirty="0"/>
          </a:p>
        </p:txBody>
      </p:sp>
      <p:sp>
        <p:nvSpPr>
          <p:cNvPr id="3" name="Text 1"/>
          <p:cNvSpPr/>
          <p:nvPr/>
        </p:nvSpPr>
        <p:spPr>
          <a:xfrm>
            <a:off x="731520" y="493776"/>
            <a:ext cx="7680960" cy="438912"/>
          </a:xfrm>
          <a:prstGeom prst="rect">
            <a:avLst/>
          </a:prstGeom>
          <a:noFill/>
          <a:ln/>
        </p:spPr>
        <p:txBody>
          <a:bodyPr wrap="square" rtlCol="0" anchor="ctr"/>
          <a:lstStyle/>
          <a:p>
            <a:pPr indent="0" marL="0">
              <a:lnSpc>
                <a:spcPct val="110000"/>
              </a:lnSpc>
              <a:buNone/>
            </a:pPr>
            <a:r>
              <a:rPr lang="en-US" sz="2100" b="1" dirty="0">
                <a:solidFill>
                  <a:srgbClr val="FFFFFF"/>
                </a:solidFill>
                <a:latin typeface="Georgia" pitchFamily="34" charset="0"/>
                <a:ea typeface="Georgia" pitchFamily="34" charset="-122"/>
                <a:cs typeface="Georgia" pitchFamily="34" charset="-120"/>
              </a:rPr>
              <a:t>From Weekly Government Reports to Structured Data</a:t>
            </a:r>
            <a:endParaRPr lang="en-US" sz="2100" dirty="0"/>
          </a:p>
        </p:txBody>
      </p:sp>
      <p:sp>
        <p:nvSpPr>
          <p:cNvPr id="4" name="Shape 2"/>
          <p:cNvSpPr/>
          <p:nvPr/>
        </p:nvSpPr>
        <p:spPr>
          <a:xfrm>
            <a:off x="731520" y="987552"/>
            <a:ext cx="7680960" cy="0"/>
          </a:xfrm>
          <a:prstGeom prst="line">
            <a:avLst/>
          </a:prstGeom>
          <a:noFill/>
          <a:ln w="9525">
            <a:solidFill>
              <a:srgbClr val="D4AF37"/>
            </a:solidFill>
            <a:prstDash val="solid"/>
          </a:ln>
        </p:spPr>
      </p:sp>
      <p:sp>
        <p:nvSpPr>
          <p:cNvPr id="5" name="Shape 3"/>
          <p:cNvSpPr/>
          <p:nvPr/>
        </p:nvSpPr>
        <p:spPr>
          <a:xfrm>
            <a:off x="731520" y="1207008"/>
            <a:ext cx="1170432" cy="1664208"/>
          </a:xfrm>
          <a:prstGeom prst="rect">
            <a:avLst/>
          </a:prstGeom>
          <a:solidFill>
            <a:srgbClr val="101C38"/>
          </a:solidFill>
          <a:ln w="9525">
            <a:solidFill>
              <a:srgbClr val="1E335E"/>
            </a:solidFill>
            <a:prstDash val="solid"/>
          </a:ln>
        </p:spPr>
      </p:sp>
      <p:sp>
        <p:nvSpPr>
          <p:cNvPr id="6" name="Shape 4"/>
          <p:cNvSpPr/>
          <p:nvPr/>
        </p:nvSpPr>
        <p:spPr>
          <a:xfrm>
            <a:off x="731520" y="1207008"/>
            <a:ext cx="1170432" cy="0"/>
          </a:xfrm>
          <a:prstGeom prst="line">
            <a:avLst/>
          </a:prstGeom>
          <a:noFill/>
          <a:ln w="12700">
            <a:solidFill>
              <a:srgbClr val="38BDF8"/>
            </a:solidFill>
            <a:prstDash val="solid"/>
          </a:ln>
        </p:spPr>
      </p:sp>
      <p:sp>
        <p:nvSpPr>
          <p:cNvPr id="7" name="Text 5"/>
          <p:cNvSpPr/>
          <p:nvPr/>
        </p:nvSpPr>
        <p:spPr>
          <a:xfrm>
            <a:off x="777240" y="1316736"/>
            <a:ext cx="1078992" cy="566928"/>
          </a:xfrm>
          <a:prstGeom prst="rect">
            <a:avLst/>
          </a:prstGeom>
          <a:noFill/>
          <a:ln/>
        </p:spPr>
        <p:txBody>
          <a:bodyPr wrap="square" rtlCol="0" anchor="ctr"/>
          <a:lstStyle/>
          <a:p>
            <a:pPr algn="ctr" indent="0" marL="0">
              <a:buNone/>
            </a:pPr>
            <a:r>
              <a:rPr lang="en-US" sz="2800" b="1" dirty="0">
                <a:solidFill>
                  <a:srgbClr val="FFFFFF"/>
                </a:solidFill>
                <a:latin typeface="Georgia" pitchFamily="34" charset="0"/>
                <a:ea typeface="Georgia" pitchFamily="34" charset="-122"/>
                <a:cs typeface="Georgia" pitchFamily="34" charset="-120"/>
              </a:rPr>
              <a:t>237</a:t>
            </a:r>
            <a:endParaRPr lang="en-US" sz="2800" dirty="0"/>
          </a:p>
        </p:txBody>
      </p:sp>
      <p:sp>
        <p:nvSpPr>
          <p:cNvPr id="8" name="Text 6"/>
          <p:cNvSpPr/>
          <p:nvPr/>
        </p:nvSpPr>
        <p:spPr>
          <a:xfrm>
            <a:off x="777240" y="1883664"/>
            <a:ext cx="1078992" cy="256032"/>
          </a:xfrm>
          <a:prstGeom prst="rect">
            <a:avLst/>
          </a:prstGeom>
          <a:noFill/>
          <a:ln/>
        </p:spPr>
        <p:txBody>
          <a:bodyPr wrap="square" rtlCol="0" anchor="ctr"/>
          <a:lstStyle/>
          <a:p>
            <a:pPr algn="ctr" indent="0" marL="0">
              <a:buNone/>
            </a:pPr>
            <a:r>
              <a:rPr lang="en-US" sz="650" b="1" spc="50" kern="0" dirty="0">
                <a:solidFill>
                  <a:srgbClr val="38BDF8"/>
                </a:solidFill>
                <a:latin typeface="Consolas" pitchFamily="34" charset="0"/>
                <a:ea typeface="Consolas" pitchFamily="34" charset="-122"/>
                <a:cs typeface="Consolas" pitchFamily="34" charset="-120"/>
              </a:rPr>
              <a:t>PDF BULLETINS</a:t>
            </a:r>
            <a:endParaRPr lang="en-US" sz="650" dirty="0"/>
          </a:p>
        </p:txBody>
      </p:sp>
      <p:sp>
        <p:nvSpPr>
          <p:cNvPr id="9" name="Shape 7"/>
          <p:cNvSpPr/>
          <p:nvPr/>
        </p:nvSpPr>
        <p:spPr>
          <a:xfrm>
            <a:off x="841248" y="2157984"/>
            <a:ext cx="950976" cy="0"/>
          </a:xfrm>
          <a:prstGeom prst="line">
            <a:avLst/>
          </a:prstGeom>
          <a:noFill/>
          <a:ln w="6350">
            <a:solidFill>
              <a:srgbClr val="1E2D4A"/>
            </a:solidFill>
            <a:prstDash val="solid"/>
          </a:ln>
        </p:spPr>
      </p:sp>
      <p:sp>
        <p:nvSpPr>
          <p:cNvPr id="10" name="Text 8"/>
          <p:cNvSpPr/>
          <p:nvPr/>
        </p:nvSpPr>
        <p:spPr>
          <a:xfrm>
            <a:off x="786384" y="2212848"/>
            <a:ext cx="1060704" cy="594360"/>
          </a:xfrm>
          <a:prstGeom prst="rect">
            <a:avLst/>
          </a:prstGeom>
          <a:noFill/>
          <a:ln/>
        </p:spPr>
        <p:txBody>
          <a:bodyPr wrap="square" rtlCol="0" anchor="ctr"/>
          <a:lstStyle/>
          <a:p>
            <a:pPr algn="ctr" indent="0" marL="0">
              <a:lnSpc>
                <a:spcPct val="115000"/>
              </a:lnSpc>
              <a:buNone/>
            </a:pPr>
            <a:r>
              <a:rPr lang="en-US" sz="750" dirty="0">
                <a:solidFill>
                  <a:srgbClr val="94A3B8"/>
                </a:solidFill>
                <a:latin typeface="Calibri" pitchFamily="34" charset="0"/>
                <a:ea typeface="Calibri" pitchFamily="34" charset="-122"/>
                <a:cs typeface="Calibri" pitchFamily="34" charset="-120"/>
              </a:rPr>
              <a:t>NCDC weekly surveillance archives</a:t>
            </a:r>
            <a:endParaRPr lang="en-US" sz="750" dirty="0"/>
          </a:p>
        </p:txBody>
      </p:sp>
      <p:sp>
        <p:nvSpPr>
          <p:cNvPr id="11" name="Text 9"/>
          <p:cNvSpPr/>
          <p:nvPr/>
        </p:nvSpPr>
        <p:spPr>
          <a:xfrm>
            <a:off x="1901952" y="1847088"/>
            <a:ext cx="131674" cy="320040"/>
          </a:xfrm>
          <a:prstGeom prst="rect">
            <a:avLst/>
          </a:prstGeom>
          <a:noFill/>
          <a:ln/>
        </p:spPr>
        <p:txBody>
          <a:bodyPr wrap="square"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a:t>
            </a:r>
            <a:endParaRPr lang="en-US" sz="1200" dirty="0"/>
          </a:p>
        </p:txBody>
      </p:sp>
      <p:sp>
        <p:nvSpPr>
          <p:cNvPr id="12" name="Shape 10"/>
          <p:cNvSpPr/>
          <p:nvPr/>
        </p:nvSpPr>
        <p:spPr>
          <a:xfrm>
            <a:off x="2033626" y="1207008"/>
            <a:ext cx="1170432" cy="1664208"/>
          </a:xfrm>
          <a:prstGeom prst="rect">
            <a:avLst/>
          </a:prstGeom>
          <a:solidFill>
            <a:srgbClr val="101C38"/>
          </a:solidFill>
          <a:ln w="9525">
            <a:solidFill>
              <a:srgbClr val="1E335E"/>
            </a:solidFill>
            <a:prstDash val="solid"/>
          </a:ln>
        </p:spPr>
      </p:sp>
      <p:sp>
        <p:nvSpPr>
          <p:cNvPr id="13" name="Shape 11"/>
          <p:cNvSpPr/>
          <p:nvPr/>
        </p:nvSpPr>
        <p:spPr>
          <a:xfrm>
            <a:off x="2033626" y="1207008"/>
            <a:ext cx="1170432" cy="0"/>
          </a:xfrm>
          <a:prstGeom prst="line">
            <a:avLst/>
          </a:prstGeom>
          <a:noFill/>
          <a:ln w="12700">
            <a:solidFill>
              <a:srgbClr val="38BDF8"/>
            </a:solidFill>
            <a:prstDash val="solid"/>
          </a:ln>
        </p:spPr>
      </p:sp>
      <p:sp>
        <p:nvSpPr>
          <p:cNvPr id="14" name="Text 12"/>
          <p:cNvSpPr/>
          <p:nvPr/>
        </p:nvSpPr>
        <p:spPr>
          <a:xfrm>
            <a:off x="2079346" y="1316736"/>
            <a:ext cx="1078992" cy="566928"/>
          </a:xfrm>
          <a:prstGeom prst="rect">
            <a:avLst/>
          </a:prstGeom>
          <a:noFill/>
          <a:ln/>
        </p:spPr>
        <p:txBody>
          <a:bodyPr wrap="square" rtlCol="0" anchor="ctr"/>
          <a:lstStyle/>
          <a:p>
            <a:pPr algn="ctr" indent="0" marL="0">
              <a:buNone/>
            </a:pPr>
            <a:r>
              <a:rPr lang="en-US" sz="2800" b="1" dirty="0">
                <a:solidFill>
                  <a:srgbClr val="FFFFFF"/>
                </a:solidFill>
                <a:latin typeface="Georgia" pitchFamily="34" charset="0"/>
                <a:ea typeface="Georgia" pitchFamily="34" charset="-122"/>
                <a:cs typeface="Georgia" pitchFamily="34" charset="-120"/>
              </a:rPr>
              <a:t>809</a:t>
            </a:r>
            <a:endParaRPr lang="en-US" sz="2800" dirty="0"/>
          </a:p>
        </p:txBody>
      </p:sp>
      <p:sp>
        <p:nvSpPr>
          <p:cNvPr id="15" name="Text 13"/>
          <p:cNvSpPr/>
          <p:nvPr/>
        </p:nvSpPr>
        <p:spPr>
          <a:xfrm>
            <a:off x="2079346" y="1883664"/>
            <a:ext cx="1078992" cy="256032"/>
          </a:xfrm>
          <a:prstGeom prst="rect">
            <a:avLst/>
          </a:prstGeom>
          <a:noFill/>
          <a:ln/>
        </p:spPr>
        <p:txBody>
          <a:bodyPr wrap="square" rtlCol="0" anchor="ctr"/>
          <a:lstStyle/>
          <a:p>
            <a:pPr algn="ctr" indent="0" marL="0">
              <a:buNone/>
            </a:pPr>
            <a:r>
              <a:rPr lang="en-US" sz="650" b="1" spc="50" kern="0" dirty="0">
                <a:solidFill>
                  <a:srgbClr val="38BDF8"/>
                </a:solidFill>
                <a:latin typeface="Consolas" pitchFamily="34" charset="0"/>
                <a:ea typeface="Consolas" pitchFamily="34" charset="-122"/>
                <a:cs typeface="Consolas" pitchFamily="34" charset="-120"/>
              </a:rPr>
              <a:t>RAW RECORDS</a:t>
            </a:r>
            <a:endParaRPr lang="en-US" sz="650" dirty="0"/>
          </a:p>
        </p:txBody>
      </p:sp>
      <p:sp>
        <p:nvSpPr>
          <p:cNvPr id="16" name="Shape 14"/>
          <p:cNvSpPr/>
          <p:nvPr/>
        </p:nvSpPr>
        <p:spPr>
          <a:xfrm>
            <a:off x="2143354" y="2157984"/>
            <a:ext cx="950976" cy="0"/>
          </a:xfrm>
          <a:prstGeom prst="line">
            <a:avLst/>
          </a:prstGeom>
          <a:noFill/>
          <a:ln w="6350">
            <a:solidFill>
              <a:srgbClr val="1E2D4A"/>
            </a:solidFill>
            <a:prstDash val="solid"/>
          </a:ln>
        </p:spPr>
      </p:sp>
      <p:sp>
        <p:nvSpPr>
          <p:cNvPr id="17" name="Text 15"/>
          <p:cNvSpPr/>
          <p:nvPr/>
        </p:nvSpPr>
        <p:spPr>
          <a:xfrm>
            <a:off x="2088490" y="2212848"/>
            <a:ext cx="1060704" cy="594360"/>
          </a:xfrm>
          <a:prstGeom prst="rect">
            <a:avLst/>
          </a:prstGeom>
          <a:noFill/>
          <a:ln/>
        </p:spPr>
        <p:txBody>
          <a:bodyPr wrap="square" rtlCol="0" anchor="ctr"/>
          <a:lstStyle/>
          <a:p>
            <a:pPr algn="ctr" indent="0" marL="0">
              <a:lnSpc>
                <a:spcPct val="115000"/>
              </a:lnSpc>
              <a:buNone/>
            </a:pPr>
            <a:r>
              <a:rPr lang="en-US" sz="750" dirty="0">
                <a:solidFill>
                  <a:srgbClr val="94A3B8"/>
                </a:solidFill>
                <a:latin typeface="Calibri" pitchFamily="34" charset="0"/>
                <a:ea typeface="Calibri" pitchFamily="34" charset="-122"/>
                <a:cs typeface="Calibri" pitchFamily="34" charset="-120"/>
              </a:rPr>
              <a:t>Maharashtra outbreak rows extracted</a:t>
            </a:r>
            <a:endParaRPr lang="en-US" sz="750" dirty="0"/>
          </a:p>
        </p:txBody>
      </p:sp>
      <p:sp>
        <p:nvSpPr>
          <p:cNvPr id="18" name="Text 16"/>
          <p:cNvSpPr/>
          <p:nvPr/>
        </p:nvSpPr>
        <p:spPr>
          <a:xfrm>
            <a:off x="3204058" y="1847088"/>
            <a:ext cx="131674" cy="320040"/>
          </a:xfrm>
          <a:prstGeom prst="rect">
            <a:avLst/>
          </a:prstGeom>
          <a:noFill/>
          <a:ln/>
        </p:spPr>
        <p:txBody>
          <a:bodyPr wrap="square"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a:t>
            </a:r>
            <a:endParaRPr lang="en-US" sz="1200" dirty="0"/>
          </a:p>
        </p:txBody>
      </p:sp>
      <p:sp>
        <p:nvSpPr>
          <p:cNvPr id="19" name="Shape 17"/>
          <p:cNvSpPr/>
          <p:nvPr/>
        </p:nvSpPr>
        <p:spPr>
          <a:xfrm>
            <a:off x="3335731" y="1207008"/>
            <a:ext cx="1170432" cy="1664208"/>
          </a:xfrm>
          <a:prstGeom prst="rect">
            <a:avLst/>
          </a:prstGeom>
          <a:solidFill>
            <a:srgbClr val="101C38"/>
          </a:solidFill>
          <a:ln w="9525">
            <a:solidFill>
              <a:srgbClr val="1E335E"/>
            </a:solidFill>
            <a:prstDash val="solid"/>
          </a:ln>
        </p:spPr>
      </p:sp>
      <p:sp>
        <p:nvSpPr>
          <p:cNvPr id="20" name="Shape 18"/>
          <p:cNvSpPr/>
          <p:nvPr/>
        </p:nvSpPr>
        <p:spPr>
          <a:xfrm>
            <a:off x="3335731" y="1207008"/>
            <a:ext cx="1170432" cy="0"/>
          </a:xfrm>
          <a:prstGeom prst="line">
            <a:avLst/>
          </a:prstGeom>
          <a:noFill/>
          <a:ln w="12700">
            <a:solidFill>
              <a:srgbClr val="38BDF8"/>
            </a:solidFill>
            <a:prstDash val="solid"/>
          </a:ln>
        </p:spPr>
      </p:sp>
      <p:sp>
        <p:nvSpPr>
          <p:cNvPr id="21" name="Text 19"/>
          <p:cNvSpPr/>
          <p:nvPr/>
        </p:nvSpPr>
        <p:spPr>
          <a:xfrm>
            <a:off x="3381451" y="1316736"/>
            <a:ext cx="1078992" cy="566928"/>
          </a:xfrm>
          <a:prstGeom prst="rect">
            <a:avLst/>
          </a:prstGeom>
          <a:noFill/>
          <a:ln/>
        </p:spPr>
        <p:txBody>
          <a:bodyPr wrap="square" rtlCol="0" anchor="ctr"/>
          <a:lstStyle/>
          <a:p>
            <a:pPr algn="ctr" indent="0" marL="0">
              <a:buNone/>
            </a:pPr>
            <a:r>
              <a:rPr lang="en-US" sz="2800" b="1" dirty="0">
                <a:solidFill>
                  <a:srgbClr val="FFFFFF"/>
                </a:solidFill>
                <a:latin typeface="Georgia" pitchFamily="34" charset="0"/>
                <a:ea typeface="Georgia" pitchFamily="34" charset="-122"/>
                <a:cs typeface="Georgia" pitchFamily="34" charset="-120"/>
              </a:rPr>
              <a:t>116</a:t>
            </a:r>
            <a:endParaRPr lang="en-US" sz="2800" dirty="0"/>
          </a:p>
        </p:txBody>
      </p:sp>
      <p:sp>
        <p:nvSpPr>
          <p:cNvPr id="22" name="Text 20"/>
          <p:cNvSpPr/>
          <p:nvPr/>
        </p:nvSpPr>
        <p:spPr>
          <a:xfrm>
            <a:off x="3381451" y="1883664"/>
            <a:ext cx="1078992" cy="256032"/>
          </a:xfrm>
          <a:prstGeom prst="rect">
            <a:avLst/>
          </a:prstGeom>
          <a:noFill/>
          <a:ln/>
        </p:spPr>
        <p:txBody>
          <a:bodyPr wrap="square" rtlCol="0" anchor="ctr"/>
          <a:lstStyle/>
          <a:p>
            <a:pPr algn="ctr" indent="0" marL="0">
              <a:buNone/>
            </a:pPr>
            <a:r>
              <a:rPr lang="en-US" sz="650" b="1" spc="50" kern="0" dirty="0">
                <a:solidFill>
                  <a:srgbClr val="38BDF8"/>
                </a:solidFill>
                <a:latin typeface="Consolas" pitchFamily="34" charset="0"/>
                <a:ea typeface="Consolas" pitchFamily="34" charset="-122"/>
                <a:cs typeface="Consolas" pitchFamily="34" charset="-120"/>
              </a:rPr>
              <a:t>DISEASE STRINGS</a:t>
            </a:r>
            <a:endParaRPr lang="en-US" sz="650" dirty="0"/>
          </a:p>
        </p:txBody>
      </p:sp>
      <p:sp>
        <p:nvSpPr>
          <p:cNvPr id="23" name="Shape 21"/>
          <p:cNvSpPr/>
          <p:nvPr/>
        </p:nvSpPr>
        <p:spPr>
          <a:xfrm>
            <a:off x="3445459" y="2157984"/>
            <a:ext cx="950976" cy="0"/>
          </a:xfrm>
          <a:prstGeom prst="line">
            <a:avLst/>
          </a:prstGeom>
          <a:noFill/>
          <a:ln w="6350">
            <a:solidFill>
              <a:srgbClr val="1E2D4A"/>
            </a:solidFill>
            <a:prstDash val="solid"/>
          </a:ln>
        </p:spPr>
      </p:sp>
      <p:sp>
        <p:nvSpPr>
          <p:cNvPr id="24" name="Text 22"/>
          <p:cNvSpPr/>
          <p:nvPr/>
        </p:nvSpPr>
        <p:spPr>
          <a:xfrm>
            <a:off x="3390595" y="2212848"/>
            <a:ext cx="1060704" cy="594360"/>
          </a:xfrm>
          <a:prstGeom prst="rect">
            <a:avLst/>
          </a:prstGeom>
          <a:noFill/>
          <a:ln/>
        </p:spPr>
        <p:txBody>
          <a:bodyPr wrap="square" rtlCol="0" anchor="ctr"/>
          <a:lstStyle/>
          <a:p>
            <a:pPr algn="ctr" indent="0" marL="0">
              <a:lnSpc>
                <a:spcPct val="115000"/>
              </a:lnSpc>
              <a:buNone/>
            </a:pPr>
            <a:r>
              <a:rPr lang="en-US" sz="750" dirty="0">
                <a:solidFill>
                  <a:srgbClr val="94A3B8"/>
                </a:solidFill>
                <a:latin typeface="Calibri" pitchFamily="34" charset="0"/>
                <a:ea typeface="Calibri" pitchFamily="34" charset="-122"/>
                <a:cs typeface="Calibri" pitchFamily="34" charset="-120"/>
              </a:rPr>
              <a:t>Spelling &amp; formatting variants</a:t>
            </a:r>
            <a:endParaRPr lang="en-US" sz="750" dirty="0"/>
          </a:p>
        </p:txBody>
      </p:sp>
      <p:sp>
        <p:nvSpPr>
          <p:cNvPr id="25" name="Text 23"/>
          <p:cNvSpPr/>
          <p:nvPr/>
        </p:nvSpPr>
        <p:spPr>
          <a:xfrm>
            <a:off x="4506163" y="1847088"/>
            <a:ext cx="131674" cy="320040"/>
          </a:xfrm>
          <a:prstGeom prst="rect">
            <a:avLst/>
          </a:prstGeom>
          <a:noFill/>
          <a:ln/>
        </p:spPr>
        <p:txBody>
          <a:bodyPr wrap="square"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a:t>
            </a:r>
            <a:endParaRPr lang="en-US" sz="1200" dirty="0"/>
          </a:p>
        </p:txBody>
      </p:sp>
      <p:sp>
        <p:nvSpPr>
          <p:cNvPr id="26" name="Shape 24"/>
          <p:cNvSpPr/>
          <p:nvPr/>
        </p:nvSpPr>
        <p:spPr>
          <a:xfrm>
            <a:off x="4637837" y="1207008"/>
            <a:ext cx="1170432" cy="1664208"/>
          </a:xfrm>
          <a:prstGeom prst="rect">
            <a:avLst/>
          </a:prstGeom>
          <a:solidFill>
            <a:srgbClr val="101C38"/>
          </a:solidFill>
          <a:ln w="9525">
            <a:solidFill>
              <a:srgbClr val="1E335E"/>
            </a:solidFill>
            <a:prstDash val="solid"/>
          </a:ln>
        </p:spPr>
      </p:sp>
      <p:sp>
        <p:nvSpPr>
          <p:cNvPr id="27" name="Shape 25"/>
          <p:cNvSpPr/>
          <p:nvPr/>
        </p:nvSpPr>
        <p:spPr>
          <a:xfrm>
            <a:off x="4637837" y="1207008"/>
            <a:ext cx="1170432" cy="0"/>
          </a:xfrm>
          <a:prstGeom prst="line">
            <a:avLst/>
          </a:prstGeom>
          <a:noFill/>
          <a:ln w="12700">
            <a:solidFill>
              <a:srgbClr val="38BDF8"/>
            </a:solidFill>
            <a:prstDash val="solid"/>
          </a:ln>
        </p:spPr>
      </p:sp>
      <p:sp>
        <p:nvSpPr>
          <p:cNvPr id="28" name="Text 26"/>
          <p:cNvSpPr/>
          <p:nvPr/>
        </p:nvSpPr>
        <p:spPr>
          <a:xfrm>
            <a:off x="4683557" y="1316736"/>
            <a:ext cx="1078992" cy="566928"/>
          </a:xfrm>
          <a:prstGeom prst="rect">
            <a:avLst/>
          </a:prstGeom>
          <a:noFill/>
          <a:ln/>
        </p:spPr>
        <p:txBody>
          <a:bodyPr wrap="square" rtlCol="0" anchor="ctr"/>
          <a:lstStyle/>
          <a:p>
            <a:pPr algn="ctr" indent="0" marL="0">
              <a:buNone/>
            </a:pPr>
            <a:r>
              <a:rPr lang="en-US" sz="2800" b="1" dirty="0">
                <a:solidFill>
                  <a:srgbClr val="FFFFFF"/>
                </a:solidFill>
                <a:latin typeface="Georgia" pitchFamily="34" charset="0"/>
                <a:ea typeface="Georgia" pitchFamily="34" charset="-122"/>
                <a:cs typeface="Georgia" pitchFamily="34" charset="-120"/>
              </a:rPr>
              <a:t>56</a:t>
            </a:r>
            <a:endParaRPr lang="en-US" sz="2800" dirty="0"/>
          </a:p>
        </p:txBody>
      </p:sp>
      <p:sp>
        <p:nvSpPr>
          <p:cNvPr id="29" name="Text 27"/>
          <p:cNvSpPr/>
          <p:nvPr/>
        </p:nvSpPr>
        <p:spPr>
          <a:xfrm>
            <a:off x="4683557" y="1883664"/>
            <a:ext cx="1078992" cy="256032"/>
          </a:xfrm>
          <a:prstGeom prst="rect">
            <a:avLst/>
          </a:prstGeom>
          <a:noFill/>
          <a:ln/>
        </p:spPr>
        <p:txBody>
          <a:bodyPr wrap="square" rtlCol="0" anchor="ctr"/>
          <a:lstStyle/>
          <a:p>
            <a:pPr algn="ctr" indent="0" marL="0">
              <a:buNone/>
            </a:pPr>
            <a:r>
              <a:rPr lang="en-US" sz="650" b="1" spc="50" kern="0" dirty="0">
                <a:solidFill>
                  <a:srgbClr val="38BDF8"/>
                </a:solidFill>
                <a:latin typeface="Consolas" pitchFamily="34" charset="0"/>
                <a:ea typeface="Consolas" pitchFamily="34" charset="-122"/>
                <a:cs typeface="Consolas" pitchFamily="34" charset="-120"/>
              </a:rPr>
              <a:t>CLEAN LABELS</a:t>
            </a:r>
            <a:endParaRPr lang="en-US" sz="650" dirty="0"/>
          </a:p>
        </p:txBody>
      </p:sp>
      <p:sp>
        <p:nvSpPr>
          <p:cNvPr id="30" name="Shape 28"/>
          <p:cNvSpPr/>
          <p:nvPr/>
        </p:nvSpPr>
        <p:spPr>
          <a:xfrm>
            <a:off x="4747565" y="2157984"/>
            <a:ext cx="950976" cy="0"/>
          </a:xfrm>
          <a:prstGeom prst="line">
            <a:avLst/>
          </a:prstGeom>
          <a:noFill/>
          <a:ln w="6350">
            <a:solidFill>
              <a:srgbClr val="1E2D4A"/>
            </a:solidFill>
            <a:prstDash val="solid"/>
          </a:ln>
        </p:spPr>
      </p:sp>
      <p:sp>
        <p:nvSpPr>
          <p:cNvPr id="31" name="Text 29"/>
          <p:cNvSpPr/>
          <p:nvPr/>
        </p:nvSpPr>
        <p:spPr>
          <a:xfrm>
            <a:off x="4692701" y="2212848"/>
            <a:ext cx="1060704" cy="594360"/>
          </a:xfrm>
          <a:prstGeom prst="rect">
            <a:avLst/>
          </a:prstGeom>
          <a:noFill/>
          <a:ln/>
        </p:spPr>
        <p:txBody>
          <a:bodyPr wrap="square" rtlCol="0" anchor="ctr"/>
          <a:lstStyle/>
          <a:p>
            <a:pPr algn="ctr" indent="0" marL="0">
              <a:lnSpc>
                <a:spcPct val="115000"/>
              </a:lnSpc>
              <a:buNone/>
            </a:pPr>
            <a:r>
              <a:rPr lang="en-US" sz="750" dirty="0">
                <a:solidFill>
                  <a:srgbClr val="94A3B8"/>
                </a:solidFill>
                <a:latin typeface="Calibri" pitchFamily="34" charset="0"/>
                <a:ea typeface="Calibri" pitchFamily="34" charset="-122"/>
                <a:cs typeface="Calibri" pitchFamily="34" charset="-120"/>
              </a:rPr>
              <a:t>Normalized nomenclature</a:t>
            </a:r>
            <a:endParaRPr lang="en-US" sz="750" dirty="0"/>
          </a:p>
        </p:txBody>
      </p:sp>
      <p:sp>
        <p:nvSpPr>
          <p:cNvPr id="32" name="Text 30"/>
          <p:cNvSpPr/>
          <p:nvPr/>
        </p:nvSpPr>
        <p:spPr>
          <a:xfrm>
            <a:off x="5808269" y="1847088"/>
            <a:ext cx="131674" cy="320040"/>
          </a:xfrm>
          <a:prstGeom prst="rect">
            <a:avLst/>
          </a:prstGeom>
          <a:noFill/>
          <a:ln/>
        </p:spPr>
        <p:txBody>
          <a:bodyPr wrap="square"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a:t>
            </a:r>
            <a:endParaRPr lang="en-US" sz="1200" dirty="0"/>
          </a:p>
        </p:txBody>
      </p:sp>
      <p:sp>
        <p:nvSpPr>
          <p:cNvPr id="33" name="Shape 31"/>
          <p:cNvSpPr/>
          <p:nvPr/>
        </p:nvSpPr>
        <p:spPr>
          <a:xfrm>
            <a:off x="5939942" y="1207008"/>
            <a:ext cx="1170432" cy="1664208"/>
          </a:xfrm>
          <a:prstGeom prst="rect">
            <a:avLst/>
          </a:prstGeom>
          <a:solidFill>
            <a:srgbClr val="101C38"/>
          </a:solidFill>
          <a:ln w="9525">
            <a:solidFill>
              <a:srgbClr val="1E335E"/>
            </a:solidFill>
            <a:prstDash val="solid"/>
          </a:ln>
        </p:spPr>
      </p:sp>
      <p:sp>
        <p:nvSpPr>
          <p:cNvPr id="34" name="Shape 32"/>
          <p:cNvSpPr/>
          <p:nvPr/>
        </p:nvSpPr>
        <p:spPr>
          <a:xfrm>
            <a:off x="5939942" y="1207008"/>
            <a:ext cx="1170432" cy="0"/>
          </a:xfrm>
          <a:prstGeom prst="line">
            <a:avLst/>
          </a:prstGeom>
          <a:noFill/>
          <a:ln w="12700">
            <a:solidFill>
              <a:srgbClr val="38BDF8"/>
            </a:solidFill>
            <a:prstDash val="solid"/>
          </a:ln>
        </p:spPr>
      </p:sp>
      <p:sp>
        <p:nvSpPr>
          <p:cNvPr id="35" name="Text 33"/>
          <p:cNvSpPr/>
          <p:nvPr/>
        </p:nvSpPr>
        <p:spPr>
          <a:xfrm>
            <a:off x="5985662" y="1316736"/>
            <a:ext cx="1078992" cy="566928"/>
          </a:xfrm>
          <a:prstGeom prst="rect">
            <a:avLst/>
          </a:prstGeom>
          <a:noFill/>
          <a:ln/>
        </p:spPr>
        <p:txBody>
          <a:bodyPr wrap="square" rtlCol="0" anchor="ctr"/>
          <a:lstStyle/>
          <a:p>
            <a:pPr algn="ctr" indent="0" marL="0">
              <a:buNone/>
            </a:pPr>
            <a:r>
              <a:rPr lang="en-US" sz="2800" b="1" dirty="0">
                <a:solidFill>
                  <a:srgbClr val="FFFFFF"/>
                </a:solidFill>
                <a:latin typeface="Georgia" pitchFamily="34" charset="0"/>
                <a:ea typeface="Georgia" pitchFamily="34" charset="-122"/>
                <a:cs typeface="Georgia" pitchFamily="34" charset="-120"/>
              </a:rPr>
              <a:t>30</a:t>
            </a:r>
            <a:endParaRPr lang="en-US" sz="2800" dirty="0"/>
          </a:p>
        </p:txBody>
      </p:sp>
      <p:sp>
        <p:nvSpPr>
          <p:cNvPr id="36" name="Text 34"/>
          <p:cNvSpPr/>
          <p:nvPr/>
        </p:nvSpPr>
        <p:spPr>
          <a:xfrm>
            <a:off x="5985662" y="1883664"/>
            <a:ext cx="1078992" cy="256032"/>
          </a:xfrm>
          <a:prstGeom prst="rect">
            <a:avLst/>
          </a:prstGeom>
          <a:noFill/>
          <a:ln/>
        </p:spPr>
        <p:txBody>
          <a:bodyPr wrap="square" rtlCol="0" anchor="ctr"/>
          <a:lstStyle/>
          <a:p>
            <a:pPr algn="ctr" indent="0" marL="0">
              <a:buNone/>
            </a:pPr>
            <a:r>
              <a:rPr lang="en-US" sz="650" b="1" spc="50" kern="0" dirty="0">
                <a:solidFill>
                  <a:srgbClr val="38BDF8"/>
                </a:solidFill>
                <a:latin typeface="Consolas" pitchFamily="34" charset="0"/>
                <a:ea typeface="Consolas" pitchFamily="34" charset="-122"/>
                <a:cs typeface="Consolas" pitchFamily="34" charset="-120"/>
              </a:rPr>
              <a:t>SYNDROMIC FAMILIES</a:t>
            </a:r>
            <a:endParaRPr lang="en-US" sz="650" dirty="0"/>
          </a:p>
        </p:txBody>
      </p:sp>
      <p:sp>
        <p:nvSpPr>
          <p:cNvPr id="37" name="Shape 35"/>
          <p:cNvSpPr/>
          <p:nvPr/>
        </p:nvSpPr>
        <p:spPr>
          <a:xfrm>
            <a:off x="6049670" y="2157984"/>
            <a:ext cx="950976" cy="0"/>
          </a:xfrm>
          <a:prstGeom prst="line">
            <a:avLst/>
          </a:prstGeom>
          <a:noFill/>
          <a:ln w="6350">
            <a:solidFill>
              <a:srgbClr val="1E2D4A"/>
            </a:solidFill>
            <a:prstDash val="solid"/>
          </a:ln>
        </p:spPr>
      </p:sp>
      <p:sp>
        <p:nvSpPr>
          <p:cNvPr id="38" name="Text 36"/>
          <p:cNvSpPr/>
          <p:nvPr/>
        </p:nvSpPr>
        <p:spPr>
          <a:xfrm>
            <a:off x="5994806" y="2212848"/>
            <a:ext cx="1060704" cy="594360"/>
          </a:xfrm>
          <a:prstGeom prst="rect">
            <a:avLst/>
          </a:prstGeom>
          <a:noFill/>
          <a:ln/>
        </p:spPr>
        <p:txBody>
          <a:bodyPr wrap="square" rtlCol="0" anchor="ctr"/>
          <a:lstStyle/>
          <a:p>
            <a:pPr algn="ctr" indent="0" marL="0">
              <a:lnSpc>
                <a:spcPct val="115000"/>
              </a:lnSpc>
              <a:buNone/>
            </a:pPr>
            <a:r>
              <a:rPr lang="en-US" sz="750" dirty="0">
                <a:solidFill>
                  <a:srgbClr val="94A3B8"/>
                </a:solidFill>
                <a:latin typeface="Calibri" pitchFamily="34" charset="0"/>
                <a:ea typeface="Calibri" pitchFamily="34" charset="-122"/>
                <a:cs typeface="Calibri" pitchFamily="34" charset="-120"/>
              </a:rPr>
              <a:t>Consolidated disease groups</a:t>
            </a:r>
            <a:endParaRPr lang="en-US" sz="750" dirty="0"/>
          </a:p>
        </p:txBody>
      </p:sp>
      <p:sp>
        <p:nvSpPr>
          <p:cNvPr id="39" name="Text 37"/>
          <p:cNvSpPr/>
          <p:nvPr/>
        </p:nvSpPr>
        <p:spPr>
          <a:xfrm>
            <a:off x="7110374" y="1847088"/>
            <a:ext cx="131674" cy="320040"/>
          </a:xfrm>
          <a:prstGeom prst="rect">
            <a:avLst/>
          </a:prstGeom>
          <a:noFill/>
          <a:ln/>
        </p:spPr>
        <p:txBody>
          <a:bodyPr wrap="square"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a:t>
            </a:r>
            <a:endParaRPr lang="en-US" sz="1200" dirty="0"/>
          </a:p>
        </p:txBody>
      </p:sp>
      <p:sp>
        <p:nvSpPr>
          <p:cNvPr id="40" name="Shape 38"/>
          <p:cNvSpPr/>
          <p:nvPr/>
        </p:nvSpPr>
        <p:spPr>
          <a:xfrm>
            <a:off x="7242048" y="1207008"/>
            <a:ext cx="1170432" cy="1664208"/>
          </a:xfrm>
          <a:prstGeom prst="rect">
            <a:avLst/>
          </a:prstGeom>
          <a:solidFill>
            <a:srgbClr val="16274D"/>
          </a:solidFill>
          <a:ln w="15875">
            <a:solidFill>
              <a:srgbClr val="D4AF37"/>
            </a:solidFill>
            <a:prstDash val="solid"/>
          </a:ln>
        </p:spPr>
      </p:sp>
      <p:sp>
        <p:nvSpPr>
          <p:cNvPr id="41" name="Shape 39"/>
          <p:cNvSpPr/>
          <p:nvPr/>
        </p:nvSpPr>
        <p:spPr>
          <a:xfrm>
            <a:off x="7242048" y="1207008"/>
            <a:ext cx="1170432" cy="0"/>
          </a:xfrm>
          <a:prstGeom prst="line">
            <a:avLst/>
          </a:prstGeom>
          <a:noFill/>
          <a:ln w="25400">
            <a:solidFill>
              <a:srgbClr val="D4AF37"/>
            </a:solidFill>
            <a:prstDash val="solid"/>
          </a:ln>
        </p:spPr>
      </p:sp>
      <p:sp>
        <p:nvSpPr>
          <p:cNvPr id="42" name="Text 40"/>
          <p:cNvSpPr/>
          <p:nvPr/>
        </p:nvSpPr>
        <p:spPr>
          <a:xfrm>
            <a:off x="7287768" y="1316736"/>
            <a:ext cx="1078992" cy="566928"/>
          </a:xfrm>
          <a:prstGeom prst="rect">
            <a:avLst/>
          </a:prstGeom>
          <a:noFill/>
          <a:ln/>
        </p:spPr>
        <p:txBody>
          <a:bodyPr wrap="square" rtlCol="0" anchor="ctr"/>
          <a:lstStyle/>
          <a:p>
            <a:pPr algn="ctr" indent="0" marL="0">
              <a:buNone/>
            </a:pPr>
            <a:r>
              <a:rPr lang="en-US" sz="2800" b="1" dirty="0">
                <a:solidFill>
                  <a:srgbClr val="D4AF37"/>
                </a:solidFill>
                <a:latin typeface="Georgia" pitchFamily="34" charset="0"/>
                <a:ea typeface="Georgia" pitchFamily="34" charset="-122"/>
                <a:cs typeface="Georgia" pitchFamily="34" charset="-120"/>
              </a:rPr>
              <a:t>5</a:t>
            </a:r>
            <a:endParaRPr lang="en-US" sz="2800" dirty="0"/>
          </a:p>
        </p:txBody>
      </p:sp>
      <p:sp>
        <p:nvSpPr>
          <p:cNvPr id="43" name="Text 41"/>
          <p:cNvSpPr/>
          <p:nvPr/>
        </p:nvSpPr>
        <p:spPr>
          <a:xfrm>
            <a:off x="7287768" y="1883664"/>
            <a:ext cx="1078992" cy="256032"/>
          </a:xfrm>
          <a:prstGeom prst="rect">
            <a:avLst/>
          </a:prstGeom>
          <a:noFill/>
          <a:ln/>
        </p:spPr>
        <p:txBody>
          <a:bodyPr wrap="square" rtlCol="0" anchor="ctr"/>
          <a:lstStyle/>
          <a:p>
            <a:pPr algn="ctr" indent="0" marL="0">
              <a:buNone/>
            </a:pPr>
            <a:r>
              <a:rPr lang="en-US" sz="650" b="1" spc="50" kern="0" dirty="0">
                <a:solidFill>
                  <a:srgbClr val="F3E5AB"/>
                </a:solidFill>
                <a:latin typeface="Consolas" pitchFamily="34" charset="0"/>
                <a:ea typeface="Consolas" pitchFamily="34" charset="-122"/>
                <a:cs typeface="Consolas" pitchFamily="34" charset="-120"/>
              </a:rPr>
              <a:t>PRIMARY COHORT</a:t>
            </a:r>
            <a:endParaRPr lang="en-US" sz="650" dirty="0"/>
          </a:p>
        </p:txBody>
      </p:sp>
      <p:sp>
        <p:nvSpPr>
          <p:cNvPr id="44" name="Shape 42"/>
          <p:cNvSpPr/>
          <p:nvPr/>
        </p:nvSpPr>
        <p:spPr>
          <a:xfrm>
            <a:off x="7351776" y="2157984"/>
            <a:ext cx="950976" cy="0"/>
          </a:xfrm>
          <a:prstGeom prst="line">
            <a:avLst/>
          </a:prstGeom>
          <a:noFill/>
          <a:ln w="6350">
            <a:solidFill>
              <a:srgbClr val="1E2D4A"/>
            </a:solidFill>
            <a:prstDash val="solid"/>
          </a:ln>
        </p:spPr>
      </p:sp>
      <p:sp>
        <p:nvSpPr>
          <p:cNvPr id="45" name="Text 43"/>
          <p:cNvSpPr/>
          <p:nvPr/>
        </p:nvSpPr>
        <p:spPr>
          <a:xfrm>
            <a:off x="7296912" y="2212848"/>
            <a:ext cx="1060704" cy="594360"/>
          </a:xfrm>
          <a:prstGeom prst="rect">
            <a:avLst/>
          </a:prstGeom>
          <a:noFill/>
          <a:ln/>
        </p:spPr>
        <p:txBody>
          <a:bodyPr wrap="square" rtlCol="0" anchor="ctr"/>
          <a:lstStyle/>
          <a:p>
            <a:pPr algn="ctr" indent="0" marL="0">
              <a:lnSpc>
                <a:spcPct val="115000"/>
              </a:lnSpc>
              <a:buNone/>
            </a:pPr>
            <a:r>
              <a:rPr lang="en-US" sz="750" dirty="0">
                <a:solidFill>
                  <a:srgbClr val="94A3B8"/>
                </a:solidFill>
                <a:latin typeface="Calibri" pitchFamily="34" charset="0"/>
                <a:ea typeface="Calibri" pitchFamily="34" charset="-122"/>
                <a:cs typeface="Calibri" pitchFamily="34" charset="-120"/>
              </a:rPr>
              <a:t>93.9% of all baseline records</a:t>
            </a:r>
            <a:endParaRPr lang="en-US" sz="750" dirty="0"/>
          </a:p>
        </p:txBody>
      </p:sp>
      <p:sp>
        <p:nvSpPr>
          <p:cNvPr id="46" name="Shape 44"/>
          <p:cNvSpPr/>
          <p:nvPr/>
        </p:nvSpPr>
        <p:spPr>
          <a:xfrm>
            <a:off x="731520" y="3090672"/>
            <a:ext cx="3730752" cy="1481328"/>
          </a:xfrm>
          <a:prstGeom prst="rect">
            <a:avLst/>
          </a:prstGeom>
          <a:solidFill>
            <a:srgbClr val="101C38"/>
          </a:solidFill>
          <a:ln w="9525">
            <a:solidFill>
              <a:srgbClr val="1E335E"/>
            </a:solidFill>
            <a:prstDash val="solid"/>
          </a:ln>
        </p:spPr>
      </p:sp>
      <p:sp>
        <p:nvSpPr>
          <p:cNvPr id="47" name="Shape 45"/>
          <p:cNvSpPr/>
          <p:nvPr/>
        </p:nvSpPr>
        <p:spPr>
          <a:xfrm>
            <a:off x="731520" y="3090672"/>
            <a:ext cx="3730752" cy="0"/>
          </a:xfrm>
          <a:prstGeom prst="line">
            <a:avLst/>
          </a:prstGeom>
          <a:noFill/>
          <a:ln w="19050">
            <a:solidFill>
              <a:srgbClr val="D4AF37"/>
            </a:solidFill>
            <a:prstDash val="solid"/>
          </a:ln>
        </p:spPr>
      </p:sp>
      <p:sp>
        <p:nvSpPr>
          <p:cNvPr id="48" name="Text 46"/>
          <p:cNvSpPr/>
          <p:nvPr/>
        </p:nvSpPr>
        <p:spPr>
          <a:xfrm>
            <a:off x="896112" y="3200400"/>
            <a:ext cx="3401568" cy="182880"/>
          </a:xfrm>
          <a:prstGeom prst="rect">
            <a:avLst/>
          </a:prstGeom>
          <a:noFill/>
          <a:ln/>
        </p:spPr>
        <p:txBody>
          <a:bodyPr wrap="square" rtlCol="0" anchor="ctr"/>
          <a:lstStyle/>
          <a:p>
            <a:pPr indent="0" marL="0">
              <a:buNone/>
            </a:pPr>
            <a:r>
              <a:rPr lang="en-US" sz="700" b="1" spc="80" kern="0" dirty="0">
                <a:solidFill>
                  <a:srgbClr val="D4AF37"/>
                </a:solidFill>
                <a:latin typeface="Consolas" pitchFamily="34" charset="0"/>
                <a:ea typeface="Consolas" pitchFamily="34" charset="-122"/>
                <a:cs typeface="Consolas" pitchFamily="34" charset="-120"/>
              </a:rPr>
              <a:t>ADDITIVE NORMALIZATION // RAW STRINGS PRESERVED</a:t>
            </a:r>
            <a:endParaRPr lang="en-US" sz="700" dirty="0"/>
          </a:p>
        </p:txBody>
      </p:sp>
      <p:sp>
        <p:nvSpPr>
          <p:cNvPr id="49" name="Text 47"/>
          <p:cNvSpPr/>
          <p:nvPr/>
        </p:nvSpPr>
        <p:spPr>
          <a:xfrm>
            <a:off x="896112" y="3383280"/>
            <a:ext cx="3401568" cy="201168"/>
          </a:xfrm>
          <a:prstGeom prst="rect">
            <a:avLst/>
          </a:prstGeom>
          <a:noFill/>
          <a:ln/>
        </p:spPr>
        <p:txBody>
          <a:bodyPr wrap="square" rtlCol="0" anchor="ctr"/>
          <a:lstStyle/>
          <a:p>
            <a:pPr indent="0" marL="0">
              <a:buNone/>
            </a:pPr>
            <a:r>
              <a:rPr lang="en-US" sz="850" i="1" dirty="0">
                <a:solidFill>
                  <a:srgbClr val="E2E8F0"/>
                </a:solidFill>
                <a:latin typeface="Calibri" pitchFamily="34" charset="0"/>
                <a:ea typeface="Calibri" pitchFamily="34" charset="-122"/>
                <a:cs typeface="Calibri" pitchFamily="34" charset="-120"/>
              </a:rPr>
              <a:t>Source Disease Nomenclature Never Overwritten</a:t>
            </a:r>
            <a:endParaRPr lang="en-US" sz="850" dirty="0"/>
          </a:p>
        </p:txBody>
      </p:sp>
      <p:sp>
        <p:nvSpPr>
          <p:cNvPr id="50" name="Shape 48"/>
          <p:cNvSpPr/>
          <p:nvPr/>
        </p:nvSpPr>
        <p:spPr>
          <a:xfrm>
            <a:off x="896112" y="3602736"/>
            <a:ext cx="3401568" cy="0"/>
          </a:xfrm>
          <a:prstGeom prst="line">
            <a:avLst/>
          </a:prstGeom>
          <a:noFill/>
          <a:ln w="6350">
            <a:solidFill>
              <a:srgbClr val="1E2D4A"/>
            </a:solidFill>
            <a:prstDash val="solid"/>
          </a:ln>
        </p:spPr>
      </p:sp>
      <p:sp>
        <p:nvSpPr>
          <p:cNvPr id="51" name="Text 49"/>
          <p:cNvSpPr/>
          <p:nvPr/>
        </p:nvSpPr>
        <p:spPr>
          <a:xfrm>
            <a:off x="896112" y="3657600"/>
            <a:ext cx="3401568" cy="256032"/>
          </a:xfrm>
          <a:prstGeom prst="rect">
            <a:avLst/>
          </a:prstGeom>
          <a:noFill/>
          <a:ln/>
        </p:spPr>
        <p:txBody>
          <a:bodyPr wrap="square" rtlCol="0" anchor="ctr"/>
          <a:lstStyle/>
          <a:p>
            <a:pPr indent="0" marL="0">
              <a:lnSpc>
                <a:spcPct val="112000"/>
              </a:lnSpc>
              <a:buNone/>
            </a:pPr>
            <a:r>
              <a:rPr lang="en-US" sz="800" dirty="0">
                <a:solidFill>
                  <a:srgbClr val="94A3B8"/>
                </a:solidFill>
                <a:latin typeface="Calibri" pitchFamily="34" charset="0"/>
                <a:ea typeface="Calibri" pitchFamily="34" charset="-122"/>
                <a:cs typeface="Calibri" pitchFamily="34" charset="-120"/>
              </a:rPr>
              <a:t>•  116 unique raw strings (e.g. 'Dengue?', 'Dengue fever', 'Dengue Shock') mapped to canonical labels.</a:t>
            </a:r>
            <a:endParaRPr lang="en-US" sz="800" dirty="0"/>
          </a:p>
        </p:txBody>
      </p:sp>
      <p:sp>
        <p:nvSpPr>
          <p:cNvPr id="52" name="Text 50"/>
          <p:cNvSpPr/>
          <p:nvPr/>
        </p:nvSpPr>
        <p:spPr>
          <a:xfrm>
            <a:off x="896112" y="3931920"/>
            <a:ext cx="3401568" cy="256032"/>
          </a:xfrm>
          <a:prstGeom prst="rect">
            <a:avLst/>
          </a:prstGeom>
          <a:noFill/>
          <a:ln/>
        </p:spPr>
        <p:txBody>
          <a:bodyPr wrap="square" rtlCol="0" anchor="ctr"/>
          <a:lstStyle/>
          <a:p>
            <a:pPr indent="0" marL="0">
              <a:lnSpc>
                <a:spcPct val="112000"/>
              </a:lnSpc>
              <a:buNone/>
            </a:pPr>
            <a:r>
              <a:rPr lang="en-US" sz="800" dirty="0">
                <a:solidFill>
                  <a:srgbClr val="94A3B8"/>
                </a:solidFill>
                <a:latin typeface="Calibri" pitchFamily="34" charset="0"/>
                <a:ea typeface="Calibri" pitchFamily="34" charset="-122"/>
                <a:cs typeface="Calibri" pitchFamily="34" charset="-120"/>
              </a:rPr>
              <a:t>•  Original source string preserved in every record under 'disease_raw' for total reproducibility.</a:t>
            </a:r>
            <a:endParaRPr lang="en-US" sz="800" dirty="0"/>
          </a:p>
        </p:txBody>
      </p:sp>
      <p:sp>
        <p:nvSpPr>
          <p:cNvPr id="53" name="Text 51"/>
          <p:cNvSpPr/>
          <p:nvPr/>
        </p:nvSpPr>
        <p:spPr>
          <a:xfrm>
            <a:off x="896112" y="4206240"/>
            <a:ext cx="3401568" cy="256032"/>
          </a:xfrm>
          <a:prstGeom prst="rect">
            <a:avLst/>
          </a:prstGeom>
          <a:noFill/>
          <a:ln/>
        </p:spPr>
        <p:txBody>
          <a:bodyPr wrap="square" rtlCol="0" anchor="ctr"/>
          <a:lstStyle/>
          <a:p>
            <a:pPr indent="0" marL="0">
              <a:lnSpc>
                <a:spcPct val="112000"/>
              </a:lnSpc>
              <a:buNone/>
            </a:pPr>
            <a:r>
              <a:rPr lang="en-US" sz="800" dirty="0">
                <a:solidFill>
                  <a:srgbClr val="94A3B8"/>
                </a:solidFill>
                <a:latin typeface="Calibri" pitchFamily="34" charset="0"/>
                <a:ea typeface="Calibri" pitchFamily="34" charset="-122"/>
                <a:cs typeface="Calibri" pitchFamily="34" charset="-120"/>
              </a:rPr>
              <a:t>•  Zero arbitrary alterations: ambiguous labels retained with full transformation audit rules.</a:t>
            </a:r>
            <a:endParaRPr lang="en-US" sz="800" dirty="0"/>
          </a:p>
        </p:txBody>
      </p:sp>
      <p:sp>
        <p:nvSpPr>
          <p:cNvPr id="54" name="Shape 52"/>
          <p:cNvSpPr/>
          <p:nvPr/>
        </p:nvSpPr>
        <p:spPr>
          <a:xfrm>
            <a:off x="4681728" y="3090672"/>
            <a:ext cx="3730752" cy="1481328"/>
          </a:xfrm>
          <a:prstGeom prst="rect">
            <a:avLst/>
          </a:prstGeom>
          <a:solidFill>
            <a:srgbClr val="101C38"/>
          </a:solidFill>
          <a:ln w="9525">
            <a:solidFill>
              <a:srgbClr val="1E335E"/>
            </a:solidFill>
            <a:prstDash val="solid"/>
          </a:ln>
        </p:spPr>
      </p:sp>
      <p:sp>
        <p:nvSpPr>
          <p:cNvPr id="55" name="Shape 53"/>
          <p:cNvSpPr/>
          <p:nvPr/>
        </p:nvSpPr>
        <p:spPr>
          <a:xfrm>
            <a:off x="4681728" y="3090672"/>
            <a:ext cx="3730752" cy="0"/>
          </a:xfrm>
          <a:prstGeom prst="line">
            <a:avLst/>
          </a:prstGeom>
          <a:noFill/>
          <a:ln w="19050">
            <a:solidFill>
              <a:srgbClr val="D4AF37"/>
            </a:solidFill>
            <a:prstDash val="solid"/>
          </a:ln>
        </p:spPr>
      </p:sp>
      <p:sp>
        <p:nvSpPr>
          <p:cNvPr id="56" name="Text 54"/>
          <p:cNvSpPr/>
          <p:nvPr/>
        </p:nvSpPr>
        <p:spPr>
          <a:xfrm>
            <a:off x="4846320" y="3200400"/>
            <a:ext cx="3401568" cy="182880"/>
          </a:xfrm>
          <a:prstGeom prst="rect">
            <a:avLst/>
          </a:prstGeom>
          <a:noFill/>
          <a:ln/>
        </p:spPr>
        <p:txBody>
          <a:bodyPr wrap="square" rtlCol="0" anchor="ctr"/>
          <a:lstStyle/>
          <a:p>
            <a:pPr indent="0" marL="0">
              <a:buNone/>
            </a:pPr>
            <a:r>
              <a:rPr lang="en-US" sz="700" b="1" spc="80" kern="0" dirty="0">
                <a:solidFill>
                  <a:srgbClr val="D4AF37"/>
                </a:solidFill>
                <a:latin typeface="Consolas" pitchFamily="34" charset="0"/>
                <a:ea typeface="Consolas" pitchFamily="34" charset="-122"/>
                <a:cs typeface="Consolas" pitchFamily="34" charset="-120"/>
              </a:rPr>
              <a:t>FORENSIC AUDITABILITY // PDF PROVENANCE RETAINED</a:t>
            </a:r>
            <a:endParaRPr lang="en-US" sz="700" dirty="0"/>
          </a:p>
        </p:txBody>
      </p:sp>
      <p:sp>
        <p:nvSpPr>
          <p:cNvPr id="57" name="Text 55"/>
          <p:cNvSpPr/>
          <p:nvPr/>
        </p:nvSpPr>
        <p:spPr>
          <a:xfrm>
            <a:off x="4846320" y="3383280"/>
            <a:ext cx="3401568" cy="201168"/>
          </a:xfrm>
          <a:prstGeom prst="rect">
            <a:avLst/>
          </a:prstGeom>
          <a:noFill/>
          <a:ln/>
        </p:spPr>
        <p:txBody>
          <a:bodyPr wrap="square" rtlCol="0" anchor="ctr"/>
          <a:lstStyle/>
          <a:p>
            <a:pPr indent="0" marL="0">
              <a:buNone/>
            </a:pPr>
            <a:r>
              <a:rPr lang="en-US" sz="850" i="1" dirty="0">
                <a:solidFill>
                  <a:srgbClr val="E2E8F0"/>
                </a:solidFill>
                <a:latin typeface="Calibri" pitchFamily="34" charset="0"/>
                <a:ea typeface="Calibri" pitchFamily="34" charset="-122"/>
                <a:cs typeface="Calibri" pitchFamily="34" charset="-120"/>
              </a:rPr>
              <a:t>Every Tabular Record Linked to Source Bulletin</a:t>
            </a:r>
            <a:endParaRPr lang="en-US" sz="850" dirty="0"/>
          </a:p>
        </p:txBody>
      </p:sp>
      <p:sp>
        <p:nvSpPr>
          <p:cNvPr id="58" name="Shape 56"/>
          <p:cNvSpPr/>
          <p:nvPr/>
        </p:nvSpPr>
        <p:spPr>
          <a:xfrm>
            <a:off x="4846320" y="3602736"/>
            <a:ext cx="3401568" cy="0"/>
          </a:xfrm>
          <a:prstGeom prst="line">
            <a:avLst/>
          </a:prstGeom>
          <a:noFill/>
          <a:ln w="6350">
            <a:solidFill>
              <a:srgbClr val="1E2D4A"/>
            </a:solidFill>
            <a:prstDash val="solid"/>
          </a:ln>
        </p:spPr>
      </p:sp>
      <p:sp>
        <p:nvSpPr>
          <p:cNvPr id="59" name="Text 57"/>
          <p:cNvSpPr/>
          <p:nvPr/>
        </p:nvSpPr>
        <p:spPr>
          <a:xfrm>
            <a:off x="4846320" y="3657600"/>
            <a:ext cx="3401568" cy="256032"/>
          </a:xfrm>
          <a:prstGeom prst="rect">
            <a:avLst/>
          </a:prstGeom>
          <a:noFill/>
          <a:ln/>
        </p:spPr>
        <p:txBody>
          <a:bodyPr wrap="square" rtlCol="0" anchor="ctr"/>
          <a:lstStyle/>
          <a:p>
            <a:pPr indent="0" marL="0">
              <a:lnSpc>
                <a:spcPct val="112000"/>
              </a:lnSpc>
              <a:buNone/>
            </a:pPr>
            <a:r>
              <a:rPr lang="en-US" sz="800" dirty="0">
                <a:solidFill>
                  <a:srgbClr val="94A3B8"/>
                </a:solidFill>
                <a:latin typeface="Calibri" pitchFamily="34" charset="0"/>
                <a:ea typeface="Calibri" pitchFamily="34" charset="-122"/>
                <a:cs typeface="Calibri" pitchFamily="34" charset="-120"/>
              </a:rPr>
              <a:t>•  Direct hyperlinkage to specific NCDC PDF filename and publication week number.</a:t>
            </a:r>
            <a:endParaRPr lang="en-US" sz="800" dirty="0"/>
          </a:p>
        </p:txBody>
      </p:sp>
      <p:sp>
        <p:nvSpPr>
          <p:cNvPr id="60" name="Text 58"/>
          <p:cNvSpPr/>
          <p:nvPr/>
        </p:nvSpPr>
        <p:spPr>
          <a:xfrm>
            <a:off x="4846320" y="3931920"/>
            <a:ext cx="3401568" cy="256032"/>
          </a:xfrm>
          <a:prstGeom prst="rect">
            <a:avLst/>
          </a:prstGeom>
          <a:noFill/>
          <a:ln/>
        </p:spPr>
        <p:txBody>
          <a:bodyPr wrap="square" rtlCol="0" anchor="ctr"/>
          <a:lstStyle/>
          <a:p>
            <a:pPr indent="0" marL="0">
              <a:lnSpc>
                <a:spcPct val="112000"/>
              </a:lnSpc>
              <a:buNone/>
            </a:pPr>
            <a:r>
              <a:rPr lang="en-US" sz="800" dirty="0">
                <a:solidFill>
                  <a:srgbClr val="94A3B8"/>
                </a:solidFill>
                <a:latin typeface="Calibri" pitchFamily="34" charset="0"/>
                <a:ea typeface="Calibri" pitchFamily="34" charset="-122"/>
                <a:cs typeface="Calibri" pitchFamily="34" charset="-120"/>
              </a:rPr>
              <a:t>•  Table page number and reporting district cross-verified against official archives.</a:t>
            </a:r>
            <a:endParaRPr lang="en-US" sz="800" dirty="0"/>
          </a:p>
        </p:txBody>
      </p:sp>
      <p:sp>
        <p:nvSpPr>
          <p:cNvPr id="61" name="Text 59"/>
          <p:cNvSpPr/>
          <p:nvPr/>
        </p:nvSpPr>
        <p:spPr>
          <a:xfrm>
            <a:off x="4846320" y="4206240"/>
            <a:ext cx="3401568" cy="256032"/>
          </a:xfrm>
          <a:prstGeom prst="rect">
            <a:avLst/>
          </a:prstGeom>
          <a:noFill/>
          <a:ln/>
        </p:spPr>
        <p:txBody>
          <a:bodyPr wrap="square" rtlCol="0" anchor="ctr"/>
          <a:lstStyle/>
          <a:p>
            <a:pPr indent="0" marL="0">
              <a:lnSpc>
                <a:spcPct val="112000"/>
              </a:lnSpc>
              <a:buNone/>
            </a:pPr>
            <a:r>
              <a:rPr lang="en-US" sz="800" dirty="0">
                <a:solidFill>
                  <a:srgbClr val="94A3B8"/>
                </a:solidFill>
                <a:latin typeface="Calibri" pitchFamily="34" charset="0"/>
                <a:ea typeface="Calibri" pitchFamily="34" charset="-122"/>
                <a:cs typeface="Calibri" pitchFamily="34" charset="-120"/>
              </a:rPr>
              <a:t>•  Automated integrity checks flag missing weeks, non-standard tables, and reporting anomalies.</a:t>
            </a:r>
            <a:endParaRPr lang="en-US" sz="800" dirty="0"/>
          </a:p>
        </p:txBody>
      </p:sp>
      <p:sp>
        <p:nvSpPr>
          <p:cNvPr id="62" name="Shape 60"/>
          <p:cNvSpPr/>
          <p:nvPr/>
        </p:nvSpPr>
        <p:spPr>
          <a:xfrm>
            <a:off x="731520" y="4773168"/>
            <a:ext cx="7680960" cy="0"/>
          </a:xfrm>
          <a:prstGeom prst="line">
            <a:avLst/>
          </a:prstGeom>
          <a:noFill/>
          <a:ln w="9525">
            <a:solidFill>
              <a:srgbClr val="1E2D4A"/>
            </a:solidFill>
            <a:prstDash val="solid"/>
          </a:ln>
        </p:spPr>
      </p:sp>
      <p:sp>
        <p:nvSpPr>
          <p:cNvPr id="63" name="Text 61"/>
          <p:cNvSpPr/>
          <p:nvPr/>
        </p:nvSpPr>
        <p:spPr>
          <a:xfrm>
            <a:off x="731520" y="4846320"/>
            <a:ext cx="6583680" cy="201168"/>
          </a:xfrm>
          <a:prstGeom prst="rect">
            <a:avLst/>
          </a:prstGeom>
          <a:noFill/>
          <a:ln/>
        </p:spPr>
        <p:txBody>
          <a:bodyPr wrap="square" rtlCol="0" anchor="ctr"/>
          <a:lstStyle/>
          <a:p>
            <a:pPr indent="0" marL="0">
              <a:buNone/>
            </a:pPr>
            <a:r>
              <a:rPr lang="en-US" sz="650" dirty="0">
                <a:solidFill>
                  <a:srgbClr val="94A3B8"/>
                </a:solidFill>
                <a:latin typeface="Consolas" pitchFamily="34" charset="0"/>
                <a:ea typeface="Consolas" pitchFamily="34" charset="-122"/>
                <a:cs typeface="Consolas" pitchFamily="34" charset="-120"/>
              </a:rPr>
              <a:t>DATA PIPELINE PROVENANCE // PHASE 5A DISEASE AUDIT &amp; HARMONIZATION</a:t>
            </a:r>
            <a:endParaRPr lang="en-US" sz="650" dirty="0"/>
          </a:p>
        </p:txBody>
      </p:sp>
      <p:sp>
        <p:nvSpPr>
          <p:cNvPr id="64" name="Text 62"/>
          <p:cNvSpPr/>
          <p:nvPr/>
        </p:nvSpPr>
        <p:spPr>
          <a:xfrm>
            <a:off x="7498080" y="4846320"/>
            <a:ext cx="914400" cy="201168"/>
          </a:xfrm>
          <a:prstGeom prst="rect">
            <a:avLst/>
          </a:prstGeom>
          <a:noFill/>
          <a:ln/>
        </p:spPr>
        <p:txBody>
          <a:bodyPr wrap="square" rtlCol="0" anchor="ctr"/>
          <a:lstStyle/>
          <a:p>
            <a:pPr algn="r" indent="0" marL="0">
              <a:buNone/>
            </a:pPr>
            <a:r>
              <a:rPr lang="en-US" sz="750" b="1" dirty="0">
                <a:solidFill>
                  <a:srgbClr val="D4AF37"/>
                </a:solidFill>
                <a:latin typeface="Consolas" pitchFamily="34" charset="0"/>
                <a:ea typeface="Consolas" pitchFamily="34" charset="-122"/>
                <a:cs typeface="Consolas" pitchFamily="34" charset="-120"/>
              </a:rPr>
              <a:t>03 / 10</a:t>
            </a:r>
            <a:endParaRPr lang="en-US" sz="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128"/>
        </a:solidFill>
      </p:bgPr>
    </p:bg>
    <p:spTree>
      <p:nvGrpSpPr>
        <p:cNvPr id="1" name=""/>
        <p:cNvGrpSpPr/>
        <p:nvPr/>
      </p:nvGrpSpPr>
      <p:grpSpPr>
        <a:xfrm>
          <a:off x="0" y="0"/>
          <a:ext cx="0" cy="0"/>
          <a:chOff x="0" y="0"/>
          <a:chExt cx="0" cy="0"/>
        </a:xfrm>
      </p:grpSpPr>
      <p:sp>
        <p:nvSpPr>
          <p:cNvPr id="2" name="Text 0"/>
          <p:cNvSpPr/>
          <p:nvPr/>
        </p:nvSpPr>
        <p:spPr>
          <a:xfrm>
            <a:off x="731520" y="292608"/>
            <a:ext cx="7680960" cy="201168"/>
          </a:xfrm>
          <a:prstGeom prst="rect">
            <a:avLst/>
          </a:prstGeom>
          <a:noFill/>
          <a:ln/>
        </p:spPr>
        <p:txBody>
          <a:bodyPr wrap="square" rtlCol="0" anchor="ctr"/>
          <a:lstStyle/>
          <a:p>
            <a:pPr indent="0" marL="0">
              <a:buNone/>
            </a:pPr>
            <a:r>
              <a:rPr lang="en-US" sz="750" b="1" spc="200" kern="0" dirty="0">
                <a:solidFill>
                  <a:srgbClr val="D4AF37"/>
                </a:solidFill>
                <a:latin typeface="Consolas" pitchFamily="34" charset="0"/>
                <a:ea typeface="Consolas" pitchFamily="34" charset="-122"/>
                <a:cs typeface="Consolas" pitchFamily="34" charset="-120"/>
              </a:rPr>
              <a:t>EMPIRICAL BASELINE  //  2022–2025 COMPLETED YEARS</a:t>
            </a:r>
            <a:endParaRPr lang="en-US" sz="750" dirty="0"/>
          </a:p>
        </p:txBody>
      </p:sp>
      <p:sp>
        <p:nvSpPr>
          <p:cNvPr id="3" name="Text 1"/>
          <p:cNvSpPr/>
          <p:nvPr/>
        </p:nvSpPr>
        <p:spPr>
          <a:xfrm>
            <a:off x="731520" y="493776"/>
            <a:ext cx="7680960" cy="438912"/>
          </a:xfrm>
          <a:prstGeom prst="rect">
            <a:avLst/>
          </a:prstGeom>
          <a:noFill/>
          <a:ln/>
        </p:spPr>
        <p:txBody>
          <a:bodyPr wrap="square" rtlCol="0" anchor="ctr"/>
          <a:lstStyle/>
          <a:p>
            <a:pPr indent="0" marL="0">
              <a:lnSpc>
                <a:spcPct val="110000"/>
              </a:lnSpc>
              <a:buNone/>
            </a:pPr>
            <a:r>
              <a:rPr lang="en-US" sz="2100" b="1" dirty="0">
                <a:solidFill>
                  <a:srgbClr val="FFFFFF"/>
                </a:solidFill>
                <a:latin typeface="Georgia" pitchFamily="34" charset="0"/>
                <a:ea typeface="Georgia" pitchFamily="34" charset="-122"/>
                <a:cs typeface="Georgia" pitchFamily="34" charset="-120"/>
              </a:rPr>
              <a:t>Four-Year Outbreak Surveillance Baseline (Maharashtra)</a:t>
            </a:r>
            <a:endParaRPr lang="en-US" sz="2100" dirty="0"/>
          </a:p>
        </p:txBody>
      </p:sp>
      <p:sp>
        <p:nvSpPr>
          <p:cNvPr id="4" name="Shape 2"/>
          <p:cNvSpPr/>
          <p:nvPr/>
        </p:nvSpPr>
        <p:spPr>
          <a:xfrm>
            <a:off x="731520" y="987552"/>
            <a:ext cx="7680960" cy="0"/>
          </a:xfrm>
          <a:prstGeom prst="line">
            <a:avLst/>
          </a:prstGeom>
          <a:noFill/>
          <a:ln w="9525">
            <a:solidFill>
              <a:srgbClr val="D4AF37"/>
            </a:solidFill>
            <a:prstDash val="solid"/>
          </a:ln>
        </p:spPr>
      </p:sp>
      <p:sp>
        <p:nvSpPr>
          <p:cNvPr id="5" name="Shape 3"/>
          <p:cNvSpPr/>
          <p:nvPr/>
        </p:nvSpPr>
        <p:spPr>
          <a:xfrm>
            <a:off x="731520" y="1207008"/>
            <a:ext cx="2450592" cy="1572768"/>
          </a:xfrm>
          <a:prstGeom prst="rect">
            <a:avLst/>
          </a:prstGeom>
          <a:solidFill>
            <a:srgbClr val="101C38"/>
          </a:solidFill>
          <a:ln w="9525">
            <a:solidFill>
              <a:srgbClr val="1E335E"/>
            </a:solidFill>
            <a:prstDash val="solid"/>
          </a:ln>
        </p:spPr>
      </p:sp>
      <p:sp>
        <p:nvSpPr>
          <p:cNvPr id="6" name="Shape 4"/>
          <p:cNvSpPr/>
          <p:nvPr/>
        </p:nvSpPr>
        <p:spPr>
          <a:xfrm>
            <a:off x="731520" y="1207008"/>
            <a:ext cx="2450592" cy="0"/>
          </a:xfrm>
          <a:prstGeom prst="line">
            <a:avLst/>
          </a:prstGeom>
          <a:noFill/>
          <a:ln w="12700">
            <a:solidFill>
              <a:srgbClr val="38BDF8"/>
            </a:solidFill>
            <a:prstDash val="solid"/>
          </a:ln>
        </p:spPr>
      </p:sp>
      <p:sp>
        <p:nvSpPr>
          <p:cNvPr id="7" name="Text 5"/>
          <p:cNvSpPr/>
          <p:nvPr/>
        </p:nvSpPr>
        <p:spPr>
          <a:xfrm>
            <a:off x="868680" y="1298448"/>
            <a:ext cx="2176272" cy="640080"/>
          </a:xfrm>
          <a:prstGeom prst="rect">
            <a:avLst/>
          </a:prstGeom>
          <a:noFill/>
          <a:ln/>
        </p:spPr>
        <p:txBody>
          <a:bodyPr wrap="square" rtlCol="0" anchor="ctr"/>
          <a:lstStyle/>
          <a:p>
            <a:pPr indent="0" marL="0">
              <a:buNone/>
            </a:pPr>
            <a:r>
              <a:rPr lang="en-US" sz="3200" b="1" dirty="0">
                <a:solidFill>
                  <a:srgbClr val="38BDF8"/>
                </a:solidFill>
                <a:latin typeface="Georgia" pitchFamily="34" charset="0"/>
                <a:ea typeface="Georgia" pitchFamily="34" charset="-122"/>
                <a:cs typeface="Georgia" pitchFamily="34" charset="-120"/>
              </a:rPr>
              <a:t>539</a:t>
            </a:r>
            <a:endParaRPr lang="en-US" sz="3200" dirty="0"/>
          </a:p>
        </p:txBody>
      </p:sp>
      <p:sp>
        <p:nvSpPr>
          <p:cNvPr id="8" name="Text 6"/>
          <p:cNvSpPr/>
          <p:nvPr/>
        </p:nvSpPr>
        <p:spPr>
          <a:xfrm>
            <a:off x="868680" y="1938528"/>
            <a:ext cx="2176272" cy="201168"/>
          </a:xfrm>
          <a:prstGeom prst="rect">
            <a:avLst/>
          </a:prstGeom>
          <a:noFill/>
          <a:ln/>
        </p:spPr>
        <p:txBody>
          <a:bodyPr wrap="square" rtlCol="0" anchor="ctr"/>
          <a:lstStyle/>
          <a:p>
            <a:pPr indent="0" marL="0">
              <a:buNone/>
            </a:pPr>
            <a:r>
              <a:rPr lang="en-US" sz="750" b="1" spc="100" kern="0" dirty="0">
                <a:solidFill>
                  <a:srgbClr val="38BDF8"/>
                </a:solidFill>
                <a:latin typeface="Consolas" pitchFamily="34" charset="0"/>
                <a:ea typeface="Consolas" pitchFamily="34" charset="-122"/>
                <a:cs typeface="Consolas" pitchFamily="34" charset="-120"/>
              </a:rPr>
              <a:t>OUTBREAK RECORDS</a:t>
            </a:r>
            <a:endParaRPr lang="en-US" sz="750" dirty="0"/>
          </a:p>
        </p:txBody>
      </p:sp>
      <p:sp>
        <p:nvSpPr>
          <p:cNvPr id="9" name="Text 7"/>
          <p:cNvSpPr/>
          <p:nvPr/>
        </p:nvSpPr>
        <p:spPr>
          <a:xfrm>
            <a:off x="868680" y="2157984"/>
            <a:ext cx="2176272" cy="219456"/>
          </a:xfrm>
          <a:prstGeom prst="rect">
            <a:avLst/>
          </a:prstGeom>
          <a:noFill/>
          <a:ln/>
        </p:spPr>
        <p:txBody>
          <a:bodyPr wrap="square"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Investigated Clusters (2022–2025)</a:t>
            </a:r>
            <a:endParaRPr lang="en-US" sz="900" dirty="0"/>
          </a:p>
        </p:txBody>
      </p:sp>
      <p:sp>
        <p:nvSpPr>
          <p:cNvPr id="10" name="Text 8"/>
          <p:cNvSpPr/>
          <p:nvPr/>
        </p:nvSpPr>
        <p:spPr>
          <a:xfrm>
            <a:off x="868680" y="2377440"/>
            <a:ext cx="2176272" cy="329184"/>
          </a:xfrm>
          <a:prstGeom prst="rect">
            <a:avLst/>
          </a:prstGeom>
          <a:noFill/>
          <a:ln/>
        </p:spPr>
        <p:txBody>
          <a:bodyPr wrap="square" rtlCol="0" anchor="ctr"/>
          <a:lstStyle/>
          <a:p>
            <a:pPr indent="0" marL="0">
              <a:lnSpc>
                <a:spcPct val="110000"/>
              </a:lnSpc>
              <a:buNone/>
            </a:pPr>
            <a:r>
              <a:rPr lang="en-US" sz="800" dirty="0">
                <a:solidFill>
                  <a:srgbClr val="94A3B8"/>
                </a:solidFill>
                <a:latin typeface="Calibri" pitchFamily="34" charset="0"/>
                <a:ea typeface="Calibri" pitchFamily="34" charset="-122"/>
                <a:cs typeface="Calibri" pitchFamily="34" charset="-120"/>
              </a:rPr>
              <a:t>District surveillance investigations across Maharashtra</a:t>
            </a:r>
            <a:endParaRPr lang="en-US" sz="800" dirty="0"/>
          </a:p>
        </p:txBody>
      </p:sp>
      <p:sp>
        <p:nvSpPr>
          <p:cNvPr id="11" name="Shape 9"/>
          <p:cNvSpPr/>
          <p:nvPr/>
        </p:nvSpPr>
        <p:spPr>
          <a:xfrm>
            <a:off x="3346704" y="1207008"/>
            <a:ext cx="2450592" cy="1572768"/>
          </a:xfrm>
          <a:prstGeom prst="rect">
            <a:avLst/>
          </a:prstGeom>
          <a:solidFill>
            <a:srgbClr val="16274D"/>
          </a:solidFill>
          <a:ln w="15875">
            <a:solidFill>
              <a:srgbClr val="D4AF37"/>
            </a:solidFill>
            <a:prstDash val="solid"/>
          </a:ln>
        </p:spPr>
      </p:sp>
      <p:sp>
        <p:nvSpPr>
          <p:cNvPr id="12" name="Shape 10"/>
          <p:cNvSpPr/>
          <p:nvPr/>
        </p:nvSpPr>
        <p:spPr>
          <a:xfrm>
            <a:off x="3346704" y="1207008"/>
            <a:ext cx="2450592" cy="0"/>
          </a:xfrm>
          <a:prstGeom prst="line">
            <a:avLst/>
          </a:prstGeom>
          <a:noFill/>
          <a:ln w="25400">
            <a:solidFill>
              <a:srgbClr val="D4AF37"/>
            </a:solidFill>
            <a:prstDash val="solid"/>
          </a:ln>
        </p:spPr>
      </p:sp>
      <p:sp>
        <p:nvSpPr>
          <p:cNvPr id="13" name="Text 11"/>
          <p:cNvSpPr/>
          <p:nvPr/>
        </p:nvSpPr>
        <p:spPr>
          <a:xfrm>
            <a:off x="3483864" y="1298448"/>
            <a:ext cx="2176272" cy="640080"/>
          </a:xfrm>
          <a:prstGeom prst="rect">
            <a:avLst/>
          </a:prstGeom>
          <a:noFill/>
          <a:ln/>
        </p:spPr>
        <p:txBody>
          <a:bodyPr wrap="square" rtlCol="0" anchor="ctr"/>
          <a:lstStyle/>
          <a:p>
            <a:pPr indent="0" marL="0">
              <a:buNone/>
            </a:pPr>
            <a:r>
              <a:rPr lang="en-US" sz="3600" b="1" dirty="0">
                <a:solidFill>
                  <a:srgbClr val="D4AF37"/>
                </a:solidFill>
                <a:latin typeface="Georgia" pitchFamily="34" charset="0"/>
                <a:ea typeface="Georgia" pitchFamily="34" charset="-122"/>
                <a:cs typeface="Georgia" pitchFamily="34" charset="-120"/>
              </a:rPr>
              <a:t>21,955</a:t>
            </a:r>
            <a:endParaRPr lang="en-US" sz="3600" dirty="0"/>
          </a:p>
        </p:txBody>
      </p:sp>
      <p:sp>
        <p:nvSpPr>
          <p:cNvPr id="14" name="Text 12"/>
          <p:cNvSpPr/>
          <p:nvPr/>
        </p:nvSpPr>
        <p:spPr>
          <a:xfrm>
            <a:off x="3483864" y="1938528"/>
            <a:ext cx="2176272" cy="201168"/>
          </a:xfrm>
          <a:prstGeom prst="rect">
            <a:avLst/>
          </a:prstGeom>
          <a:noFill/>
          <a:ln/>
        </p:spPr>
        <p:txBody>
          <a:bodyPr wrap="square" rtlCol="0" anchor="ctr"/>
          <a:lstStyle/>
          <a:p>
            <a:pPr indent="0" marL="0">
              <a:buNone/>
            </a:pPr>
            <a:r>
              <a:rPr lang="en-US" sz="750" b="1" spc="100" kern="0" dirty="0">
                <a:solidFill>
                  <a:srgbClr val="F3E5AB"/>
                </a:solidFill>
                <a:latin typeface="Consolas" pitchFamily="34" charset="0"/>
                <a:ea typeface="Consolas" pitchFamily="34" charset="-122"/>
                <a:cs typeface="Consolas" pitchFamily="34" charset="-120"/>
              </a:rPr>
              <a:t>REPORTED CASES</a:t>
            </a:r>
            <a:endParaRPr lang="en-US" sz="750" dirty="0"/>
          </a:p>
        </p:txBody>
      </p:sp>
      <p:sp>
        <p:nvSpPr>
          <p:cNvPr id="15" name="Text 13"/>
          <p:cNvSpPr/>
          <p:nvPr/>
        </p:nvSpPr>
        <p:spPr>
          <a:xfrm>
            <a:off x="3483864" y="2157984"/>
            <a:ext cx="2176272" cy="219456"/>
          </a:xfrm>
          <a:prstGeom prst="rect">
            <a:avLst/>
          </a:prstGeom>
          <a:noFill/>
          <a:ln/>
        </p:spPr>
        <p:txBody>
          <a:bodyPr wrap="square"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Enumerated Outbreak Patients</a:t>
            </a:r>
            <a:endParaRPr lang="en-US" sz="900" dirty="0"/>
          </a:p>
        </p:txBody>
      </p:sp>
      <p:sp>
        <p:nvSpPr>
          <p:cNvPr id="16" name="Text 14"/>
          <p:cNvSpPr/>
          <p:nvPr/>
        </p:nvSpPr>
        <p:spPr>
          <a:xfrm>
            <a:off x="3483864" y="2377440"/>
            <a:ext cx="2176272" cy="329184"/>
          </a:xfrm>
          <a:prstGeom prst="rect">
            <a:avLst/>
          </a:prstGeom>
          <a:noFill/>
          <a:ln/>
        </p:spPr>
        <p:txBody>
          <a:bodyPr wrap="square" rtlCol="0" anchor="ctr"/>
          <a:lstStyle/>
          <a:p>
            <a:pPr indent="0" marL="0">
              <a:lnSpc>
                <a:spcPct val="110000"/>
              </a:lnSpc>
              <a:buNone/>
            </a:pPr>
            <a:r>
              <a:rPr lang="en-US" sz="800" dirty="0">
                <a:solidFill>
                  <a:srgbClr val="94A3B8"/>
                </a:solidFill>
                <a:latin typeface="Calibri" pitchFamily="34" charset="0"/>
                <a:ea typeface="Calibri" pitchFamily="34" charset="-122"/>
                <a:cs typeface="Calibri" pitchFamily="34" charset="-120"/>
              </a:rPr>
              <a:t>Aggregated across official cluster reports (5 primary families)</a:t>
            </a:r>
            <a:endParaRPr lang="en-US" sz="800" dirty="0"/>
          </a:p>
        </p:txBody>
      </p:sp>
      <p:sp>
        <p:nvSpPr>
          <p:cNvPr id="17" name="Shape 15"/>
          <p:cNvSpPr/>
          <p:nvPr/>
        </p:nvSpPr>
        <p:spPr>
          <a:xfrm>
            <a:off x="5961888" y="1207008"/>
            <a:ext cx="2450592" cy="1572768"/>
          </a:xfrm>
          <a:prstGeom prst="rect">
            <a:avLst/>
          </a:prstGeom>
          <a:solidFill>
            <a:srgbClr val="101C38"/>
          </a:solidFill>
          <a:ln w="9525">
            <a:solidFill>
              <a:srgbClr val="1E335E"/>
            </a:solidFill>
            <a:prstDash val="solid"/>
          </a:ln>
        </p:spPr>
      </p:sp>
      <p:sp>
        <p:nvSpPr>
          <p:cNvPr id="18" name="Shape 16"/>
          <p:cNvSpPr/>
          <p:nvPr/>
        </p:nvSpPr>
        <p:spPr>
          <a:xfrm>
            <a:off x="5961888" y="1207008"/>
            <a:ext cx="2450592" cy="0"/>
          </a:xfrm>
          <a:prstGeom prst="line">
            <a:avLst/>
          </a:prstGeom>
          <a:noFill/>
          <a:ln w="12700">
            <a:solidFill>
              <a:srgbClr val="F87171"/>
            </a:solidFill>
            <a:prstDash val="solid"/>
          </a:ln>
        </p:spPr>
      </p:sp>
      <p:sp>
        <p:nvSpPr>
          <p:cNvPr id="19" name="Text 17"/>
          <p:cNvSpPr/>
          <p:nvPr/>
        </p:nvSpPr>
        <p:spPr>
          <a:xfrm>
            <a:off x="6099048" y="1298448"/>
            <a:ext cx="2176272" cy="640080"/>
          </a:xfrm>
          <a:prstGeom prst="rect">
            <a:avLst/>
          </a:prstGeom>
          <a:noFill/>
          <a:ln/>
        </p:spPr>
        <p:txBody>
          <a:bodyPr wrap="square" rtlCol="0" anchor="ctr"/>
          <a:lstStyle/>
          <a:p>
            <a:pPr indent="0" marL="0">
              <a:buNone/>
            </a:pPr>
            <a:r>
              <a:rPr lang="en-US" sz="3200" b="1" dirty="0">
                <a:solidFill>
                  <a:srgbClr val="F87171"/>
                </a:solidFill>
                <a:latin typeface="Georgia" pitchFamily="34" charset="0"/>
                <a:ea typeface="Georgia" pitchFamily="34" charset="-122"/>
                <a:cs typeface="Georgia" pitchFamily="34" charset="-120"/>
              </a:rPr>
              <a:t>266</a:t>
            </a:r>
            <a:endParaRPr lang="en-US" sz="3200" dirty="0"/>
          </a:p>
        </p:txBody>
      </p:sp>
      <p:sp>
        <p:nvSpPr>
          <p:cNvPr id="20" name="Text 18"/>
          <p:cNvSpPr/>
          <p:nvPr/>
        </p:nvSpPr>
        <p:spPr>
          <a:xfrm>
            <a:off x="6099048" y="1938528"/>
            <a:ext cx="2176272" cy="201168"/>
          </a:xfrm>
          <a:prstGeom prst="rect">
            <a:avLst/>
          </a:prstGeom>
          <a:noFill/>
          <a:ln/>
        </p:spPr>
        <p:txBody>
          <a:bodyPr wrap="square" rtlCol="0" anchor="ctr"/>
          <a:lstStyle/>
          <a:p>
            <a:pPr indent="0" marL="0">
              <a:buNone/>
            </a:pPr>
            <a:r>
              <a:rPr lang="en-US" sz="750" b="1" spc="100" kern="0" dirty="0">
                <a:solidFill>
                  <a:srgbClr val="38BDF8"/>
                </a:solidFill>
                <a:latin typeface="Consolas" pitchFamily="34" charset="0"/>
                <a:ea typeface="Consolas" pitchFamily="34" charset="-122"/>
                <a:cs typeface="Consolas" pitchFamily="34" charset="-120"/>
              </a:rPr>
              <a:t>REPORTED FATALITIES</a:t>
            </a:r>
            <a:endParaRPr lang="en-US" sz="750" dirty="0"/>
          </a:p>
        </p:txBody>
      </p:sp>
      <p:sp>
        <p:nvSpPr>
          <p:cNvPr id="21" name="Text 19"/>
          <p:cNvSpPr/>
          <p:nvPr/>
        </p:nvSpPr>
        <p:spPr>
          <a:xfrm>
            <a:off x="6099048" y="2157984"/>
            <a:ext cx="2176272" cy="219456"/>
          </a:xfrm>
          <a:prstGeom prst="rect">
            <a:avLst/>
          </a:prstGeom>
          <a:noFill/>
          <a:ln/>
        </p:spPr>
        <p:txBody>
          <a:bodyPr wrap="square"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Surveillance Outbreak Deaths</a:t>
            </a:r>
            <a:endParaRPr lang="en-US" sz="900" dirty="0"/>
          </a:p>
        </p:txBody>
      </p:sp>
      <p:sp>
        <p:nvSpPr>
          <p:cNvPr id="22" name="Text 20"/>
          <p:cNvSpPr/>
          <p:nvPr/>
        </p:nvSpPr>
        <p:spPr>
          <a:xfrm>
            <a:off x="6099048" y="2377440"/>
            <a:ext cx="2176272" cy="329184"/>
          </a:xfrm>
          <a:prstGeom prst="rect">
            <a:avLst/>
          </a:prstGeom>
          <a:noFill/>
          <a:ln/>
        </p:spPr>
        <p:txBody>
          <a:bodyPr wrap="square" rtlCol="0" anchor="ctr"/>
          <a:lstStyle/>
          <a:p>
            <a:pPr indent="0" marL="0">
              <a:lnSpc>
                <a:spcPct val="110000"/>
              </a:lnSpc>
              <a:buNone/>
            </a:pPr>
            <a:r>
              <a:rPr lang="en-US" sz="800" dirty="0">
                <a:solidFill>
                  <a:srgbClr val="94A3B8"/>
                </a:solidFill>
                <a:latin typeface="Calibri" pitchFamily="34" charset="0"/>
                <a:ea typeface="Calibri" pitchFamily="34" charset="-122"/>
                <a:cs typeface="Calibri" pitchFamily="34" charset="-120"/>
              </a:rPr>
              <a:t>Case fatality ratio: 1.21% across primary cohort</a:t>
            </a:r>
            <a:endParaRPr lang="en-US" sz="800" dirty="0"/>
          </a:p>
        </p:txBody>
      </p:sp>
      <p:sp>
        <p:nvSpPr>
          <p:cNvPr id="23" name="Shape 21"/>
          <p:cNvSpPr/>
          <p:nvPr/>
        </p:nvSpPr>
        <p:spPr>
          <a:xfrm>
            <a:off x="731520" y="2962656"/>
            <a:ext cx="1481328" cy="1353312"/>
          </a:xfrm>
          <a:prstGeom prst="rect">
            <a:avLst/>
          </a:prstGeom>
          <a:solidFill>
            <a:srgbClr val="101C38"/>
          </a:solidFill>
          <a:ln w="9525">
            <a:solidFill>
              <a:srgbClr val="1E335E"/>
            </a:solidFill>
            <a:prstDash val="solid"/>
          </a:ln>
        </p:spPr>
      </p:sp>
      <p:sp>
        <p:nvSpPr>
          <p:cNvPr id="24" name="Shape 22"/>
          <p:cNvSpPr/>
          <p:nvPr/>
        </p:nvSpPr>
        <p:spPr>
          <a:xfrm>
            <a:off x="731520" y="2962656"/>
            <a:ext cx="1481328" cy="0"/>
          </a:xfrm>
          <a:prstGeom prst="line">
            <a:avLst/>
          </a:prstGeom>
          <a:noFill/>
          <a:ln w="19050">
            <a:solidFill>
              <a:srgbClr val="38BDF8"/>
            </a:solidFill>
            <a:prstDash val="solid"/>
          </a:ln>
        </p:spPr>
      </p:sp>
      <p:sp>
        <p:nvSpPr>
          <p:cNvPr id="25" name="Text 23"/>
          <p:cNvSpPr/>
          <p:nvPr/>
        </p:nvSpPr>
        <p:spPr>
          <a:xfrm>
            <a:off x="804672" y="3054096"/>
            <a:ext cx="1335024" cy="201168"/>
          </a:xfrm>
          <a:prstGeom prst="rect">
            <a:avLst/>
          </a:prstGeom>
          <a:noFill/>
          <a:ln/>
        </p:spPr>
        <p:txBody>
          <a:bodyPr wrap="square" rtlCol="0" anchor="ctr"/>
          <a:lstStyle/>
          <a:p>
            <a:pPr indent="0" marL="0">
              <a:buNone/>
            </a:pPr>
            <a:r>
              <a:rPr lang="en-US" sz="650" b="1" spc="50" kern="0" dirty="0">
                <a:solidFill>
                  <a:srgbClr val="38BDF8"/>
                </a:solidFill>
                <a:latin typeface="Consolas" pitchFamily="34" charset="0"/>
                <a:ea typeface="Consolas" pitchFamily="34" charset="-122"/>
                <a:cs typeface="Consolas" pitchFamily="34" charset="-120"/>
              </a:rPr>
              <a:t>DENGUE</a:t>
            </a:r>
            <a:endParaRPr lang="en-US" sz="650" dirty="0"/>
          </a:p>
        </p:txBody>
      </p:sp>
      <p:sp>
        <p:nvSpPr>
          <p:cNvPr id="26" name="Text 24"/>
          <p:cNvSpPr/>
          <p:nvPr/>
        </p:nvSpPr>
        <p:spPr>
          <a:xfrm>
            <a:off x="804672" y="3255264"/>
            <a:ext cx="1335024" cy="219456"/>
          </a:xfrm>
          <a:prstGeom prst="rect">
            <a:avLst/>
          </a:prstGeom>
          <a:noFill/>
          <a:ln/>
        </p:spPr>
        <p:txBody>
          <a:bodyPr wrap="square" rtlCol="0" anchor="ctr"/>
          <a:lstStyle/>
          <a:p>
            <a:pPr indent="0" marL="0">
              <a:buNone/>
            </a:pPr>
            <a:r>
              <a:rPr lang="en-US" sz="1200" b="1" dirty="0">
                <a:solidFill>
                  <a:srgbClr val="FFFFFF"/>
                </a:solidFill>
                <a:latin typeface="Georgia" pitchFamily="34" charset="0"/>
                <a:ea typeface="Georgia" pitchFamily="34" charset="-122"/>
                <a:cs typeface="Georgia" pitchFamily="34" charset="-120"/>
              </a:rPr>
              <a:t>204 records</a:t>
            </a:r>
            <a:endParaRPr lang="en-US" sz="1200" dirty="0"/>
          </a:p>
        </p:txBody>
      </p:sp>
      <p:sp>
        <p:nvSpPr>
          <p:cNvPr id="27" name="Text 25"/>
          <p:cNvSpPr/>
          <p:nvPr/>
        </p:nvSpPr>
        <p:spPr>
          <a:xfrm>
            <a:off x="804672" y="3493008"/>
            <a:ext cx="1335024" cy="201168"/>
          </a:xfrm>
          <a:prstGeom prst="rect">
            <a:avLst/>
          </a:prstGeom>
          <a:noFill/>
          <a:ln/>
        </p:spPr>
        <p:txBody>
          <a:bodyPr wrap="square" rtlCol="0" anchor="ctr"/>
          <a:lstStyle/>
          <a:p>
            <a:pPr indent="0" marL="0">
              <a:buNone/>
            </a:pPr>
            <a:r>
              <a:rPr lang="en-US" sz="700" dirty="0">
                <a:solidFill>
                  <a:srgbClr val="E2E8F0"/>
                </a:solidFill>
                <a:latin typeface="Consolas" pitchFamily="34" charset="0"/>
                <a:ea typeface="Consolas" pitchFamily="34" charset="-122"/>
                <a:cs typeface="Consolas" pitchFamily="34" charset="-120"/>
              </a:rPr>
              <a:t>3,144 cases  ·  93 deaths</a:t>
            </a:r>
            <a:endParaRPr lang="en-US" sz="700" dirty="0"/>
          </a:p>
        </p:txBody>
      </p:sp>
      <p:sp>
        <p:nvSpPr>
          <p:cNvPr id="28" name="Shape 26"/>
          <p:cNvSpPr/>
          <p:nvPr/>
        </p:nvSpPr>
        <p:spPr>
          <a:xfrm>
            <a:off x="804672" y="3730752"/>
            <a:ext cx="1335024" cy="0"/>
          </a:xfrm>
          <a:prstGeom prst="line">
            <a:avLst/>
          </a:prstGeom>
          <a:noFill/>
          <a:ln w="6350">
            <a:solidFill>
              <a:srgbClr val="1E2D4A"/>
            </a:solidFill>
            <a:prstDash val="solid"/>
          </a:ln>
        </p:spPr>
      </p:sp>
      <p:sp>
        <p:nvSpPr>
          <p:cNvPr id="29" name="Text 27"/>
          <p:cNvSpPr/>
          <p:nvPr/>
        </p:nvSpPr>
        <p:spPr>
          <a:xfrm>
            <a:off x="804672" y="3785616"/>
            <a:ext cx="1335024" cy="457200"/>
          </a:xfrm>
          <a:prstGeom prst="rect">
            <a:avLst/>
          </a:prstGeom>
          <a:noFill/>
          <a:ln/>
        </p:spPr>
        <p:txBody>
          <a:bodyPr wrap="square" rtlCol="0" anchor="ctr"/>
          <a:lstStyle/>
          <a:p>
            <a:pPr indent="0" marL="0">
              <a:lnSpc>
                <a:spcPct val="115000"/>
              </a:lnSpc>
              <a:buNone/>
            </a:pPr>
            <a:r>
              <a:rPr lang="en-US" sz="750" dirty="0">
                <a:solidFill>
                  <a:srgbClr val="94A3B8"/>
                </a:solidFill>
                <a:latin typeface="Calibri" pitchFamily="34" charset="0"/>
                <a:ea typeface="Calibri" pitchFamily="34" charset="-122"/>
                <a:cs typeface="Calibri" pitchFamily="34" charset="-120"/>
              </a:rPr>
              <a:t>Peak: Oct (Aug–Oct CR3 50.5%)</a:t>
            </a:r>
            <a:endParaRPr lang="en-US" sz="750" dirty="0"/>
          </a:p>
        </p:txBody>
      </p:sp>
      <p:sp>
        <p:nvSpPr>
          <p:cNvPr id="30" name="Shape 28"/>
          <p:cNvSpPr/>
          <p:nvPr/>
        </p:nvSpPr>
        <p:spPr>
          <a:xfrm>
            <a:off x="2281428" y="2962656"/>
            <a:ext cx="1481328" cy="1353312"/>
          </a:xfrm>
          <a:prstGeom prst="rect">
            <a:avLst/>
          </a:prstGeom>
          <a:solidFill>
            <a:srgbClr val="101C38"/>
          </a:solidFill>
          <a:ln w="9525">
            <a:solidFill>
              <a:srgbClr val="1E335E"/>
            </a:solidFill>
            <a:prstDash val="solid"/>
          </a:ln>
        </p:spPr>
      </p:sp>
      <p:sp>
        <p:nvSpPr>
          <p:cNvPr id="31" name="Shape 29"/>
          <p:cNvSpPr/>
          <p:nvPr/>
        </p:nvSpPr>
        <p:spPr>
          <a:xfrm>
            <a:off x="2281428" y="2962656"/>
            <a:ext cx="1481328" cy="0"/>
          </a:xfrm>
          <a:prstGeom prst="line">
            <a:avLst/>
          </a:prstGeom>
          <a:noFill/>
          <a:ln w="19050">
            <a:solidFill>
              <a:srgbClr val="10B981"/>
            </a:solidFill>
            <a:prstDash val="solid"/>
          </a:ln>
        </p:spPr>
      </p:sp>
      <p:sp>
        <p:nvSpPr>
          <p:cNvPr id="32" name="Text 30"/>
          <p:cNvSpPr/>
          <p:nvPr/>
        </p:nvSpPr>
        <p:spPr>
          <a:xfrm>
            <a:off x="2354580" y="3054096"/>
            <a:ext cx="1335024" cy="201168"/>
          </a:xfrm>
          <a:prstGeom prst="rect">
            <a:avLst/>
          </a:prstGeom>
          <a:noFill/>
          <a:ln/>
        </p:spPr>
        <p:txBody>
          <a:bodyPr wrap="square" rtlCol="0" anchor="ctr"/>
          <a:lstStyle/>
          <a:p>
            <a:pPr indent="0" marL="0">
              <a:buNone/>
            </a:pPr>
            <a:r>
              <a:rPr lang="en-US" sz="650" b="1" spc="50" kern="0" dirty="0">
                <a:solidFill>
                  <a:srgbClr val="10B981"/>
                </a:solidFill>
                <a:latin typeface="Consolas" pitchFamily="34" charset="0"/>
                <a:ea typeface="Consolas" pitchFamily="34" charset="-122"/>
                <a:cs typeface="Consolas" pitchFamily="34" charset="-120"/>
              </a:rPr>
              <a:t>ACUTE DIARRHEAL DISEASE</a:t>
            </a:r>
            <a:endParaRPr lang="en-US" sz="650" dirty="0"/>
          </a:p>
        </p:txBody>
      </p:sp>
      <p:sp>
        <p:nvSpPr>
          <p:cNvPr id="33" name="Text 31"/>
          <p:cNvSpPr/>
          <p:nvPr/>
        </p:nvSpPr>
        <p:spPr>
          <a:xfrm>
            <a:off x="2354580" y="3255264"/>
            <a:ext cx="1335024" cy="219456"/>
          </a:xfrm>
          <a:prstGeom prst="rect">
            <a:avLst/>
          </a:prstGeom>
          <a:noFill/>
          <a:ln/>
        </p:spPr>
        <p:txBody>
          <a:bodyPr wrap="square" rtlCol="0" anchor="ctr"/>
          <a:lstStyle/>
          <a:p>
            <a:pPr indent="0" marL="0">
              <a:buNone/>
            </a:pPr>
            <a:r>
              <a:rPr lang="en-US" sz="1200" b="1" dirty="0">
                <a:solidFill>
                  <a:srgbClr val="FFFFFF"/>
                </a:solidFill>
                <a:latin typeface="Georgia" pitchFamily="34" charset="0"/>
                <a:ea typeface="Georgia" pitchFamily="34" charset="-122"/>
                <a:cs typeface="Georgia" pitchFamily="34" charset="-120"/>
              </a:rPr>
              <a:t>153 records</a:t>
            </a:r>
            <a:endParaRPr lang="en-US" sz="1200" dirty="0"/>
          </a:p>
        </p:txBody>
      </p:sp>
      <p:sp>
        <p:nvSpPr>
          <p:cNvPr id="34" name="Text 32"/>
          <p:cNvSpPr/>
          <p:nvPr/>
        </p:nvSpPr>
        <p:spPr>
          <a:xfrm>
            <a:off x="2354580" y="3493008"/>
            <a:ext cx="1335024" cy="201168"/>
          </a:xfrm>
          <a:prstGeom prst="rect">
            <a:avLst/>
          </a:prstGeom>
          <a:noFill/>
          <a:ln/>
        </p:spPr>
        <p:txBody>
          <a:bodyPr wrap="square" rtlCol="0" anchor="ctr"/>
          <a:lstStyle/>
          <a:p>
            <a:pPr indent="0" marL="0">
              <a:buNone/>
            </a:pPr>
            <a:r>
              <a:rPr lang="en-US" sz="700" dirty="0">
                <a:solidFill>
                  <a:srgbClr val="E2E8F0"/>
                </a:solidFill>
                <a:latin typeface="Consolas" pitchFamily="34" charset="0"/>
                <a:ea typeface="Consolas" pitchFamily="34" charset="-122"/>
                <a:cs typeface="Consolas" pitchFamily="34" charset="-120"/>
              </a:rPr>
              <a:t>9,050 cases  ·  93 deaths</a:t>
            </a:r>
            <a:endParaRPr lang="en-US" sz="700" dirty="0"/>
          </a:p>
        </p:txBody>
      </p:sp>
      <p:sp>
        <p:nvSpPr>
          <p:cNvPr id="35" name="Shape 33"/>
          <p:cNvSpPr/>
          <p:nvPr/>
        </p:nvSpPr>
        <p:spPr>
          <a:xfrm>
            <a:off x="2354580" y="3730752"/>
            <a:ext cx="1335024" cy="0"/>
          </a:xfrm>
          <a:prstGeom prst="line">
            <a:avLst/>
          </a:prstGeom>
          <a:noFill/>
          <a:ln w="6350">
            <a:solidFill>
              <a:srgbClr val="1E2D4A"/>
            </a:solidFill>
            <a:prstDash val="solid"/>
          </a:ln>
        </p:spPr>
      </p:sp>
      <p:sp>
        <p:nvSpPr>
          <p:cNvPr id="36" name="Text 34"/>
          <p:cNvSpPr/>
          <p:nvPr/>
        </p:nvSpPr>
        <p:spPr>
          <a:xfrm>
            <a:off x="2354580" y="3785616"/>
            <a:ext cx="1335024" cy="457200"/>
          </a:xfrm>
          <a:prstGeom prst="rect">
            <a:avLst/>
          </a:prstGeom>
          <a:noFill/>
          <a:ln/>
        </p:spPr>
        <p:txBody>
          <a:bodyPr wrap="square" rtlCol="0" anchor="ctr"/>
          <a:lstStyle/>
          <a:p>
            <a:pPr indent="0" marL="0">
              <a:lnSpc>
                <a:spcPct val="115000"/>
              </a:lnSpc>
              <a:buNone/>
            </a:pPr>
            <a:r>
              <a:rPr lang="en-US" sz="750" dirty="0">
                <a:solidFill>
                  <a:srgbClr val="94A3B8"/>
                </a:solidFill>
                <a:latin typeface="Calibri" pitchFamily="34" charset="0"/>
                <a:ea typeface="Calibri" pitchFamily="34" charset="-122"/>
                <a:cs typeface="Calibri" pitchFamily="34" charset="-120"/>
              </a:rPr>
              <a:t>Peak: Jun–Aug (CR3 43.1%)</a:t>
            </a:r>
            <a:endParaRPr lang="en-US" sz="750" dirty="0"/>
          </a:p>
        </p:txBody>
      </p:sp>
      <p:sp>
        <p:nvSpPr>
          <p:cNvPr id="37" name="Shape 35"/>
          <p:cNvSpPr/>
          <p:nvPr/>
        </p:nvSpPr>
        <p:spPr>
          <a:xfrm>
            <a:off x="3831336" y="2962656"/>
            <a:ext cx="1481328" cy="1353312"/>
          </a:xfrm>
          <a:prstGeom prst="rect">
            <a:avLst/>
          </a:prstGeom>
          <a:solidFill>
            <a:srgbClr val="101C38"/>
          </a:solidFill>
          <a:ln w="9525">
            <a:solidFill>
              <a:srgbClr val="1E335E"/>
            </a:solidFill>
            <a:prstDash val="solid"/>
          </a:ln>
        </p:spPr>
      </p:sp>
      <p:sp>
        <p:nvSpPr>
          <p:cNvPr id="38" name="Shape 36"/>
          <p:cNvSpPr/>
          <p:nvPr/>
        </p:nvSpPr>
        <p:spPr>
          <a:xfrm>
            <a:off x="3831336" y="2962656"/>
            <a:ext cx="1481328" cy="0"/>
          </a:xfrm>
          <a:prstGeom prst="line">
            <a:avLst/>
          </a:prstGeom>
          <a:noFill/>
          <a:ln w="19050">
            <a:solidFill>
              <a:srgbClr val="38BDF8"/>
            </a:solidFill>
            <a:prstDash val="solid"/>
          </a:ln>
        </p:spPr>
      </p:sp>
      <p:sp>
        <p:nvSpPr>
          <p:cNvPr id="39" name="Text 37"/>
          <p:cNvSpPr/>
          <p:nvPr/>
        </p:nvSpPr>
        <p:spPr>
          <a:xfrm>
            <a:off x="3904488" y="3054096"/>
            <a:ext cx="1335024" cy="201168"/>
          </a:xfrm>
          <a:prstGeom prst="rect">
            <a:avLst/>
          </a:prstGeom>
          <a:noFill/>
          <a:ln/>
        </p:spPr>
        <p:txBody>
          <a:bodyPr wrap="square" rtlCol="0" anchor="ctr"/>
          <a:lstStyle/>
          <a:p>
            <a:pPr indent="0" marL="0">
              <a:buNone/>
            </a:pPr>
            <a:r>
              <a:rPr lang="en-US" sz="650" b="1" spc="50" kern="0" dirty="0">
                <a:solidFill>
                  <a:srgbClr val="38BDF8"/>
                </a:solidFill>
                <a:latin typeface="Consolas" pitchFamily="34" charset="0"/>
                <a:ea typeface="Consolas" pitchFamily="34" charset="-122"/>
                <a:cs typeface="Consolas" pitchFamily="34" charset="-120"/>
              </a:rPr>
              <a:t>MALARIA</a:t>
            </a:r>
            <a:endParaRPr lang="en-US" sz="650" dirty="0"/>
          </a:p>
        </p:txBody>
      </p:sp>
      <p:sp>
        <p:nvSpPr>
          <p:cNvPr id="40" name="Text 38"/>
          <p:cNvSpPr/>
          <p:nvPr/>
        </p:nvSpPr>
        <p:spPr>
          <a:xfrm>
            <a:off x="3904488" y="3255264"/>
            <a:ext cx="1335024" cy="219456"/>
          </a:xfrm>
          <a:prstGeom prst="rect">
            <a:avLst/>
          </a:prstGeom>
          <a:noFill/>
          <a:ln/>
        </p:spPr>
        <p:txBody>
          <a:bodyPr wrap="square" rtlCol="0" anchor="ctr"/>
          <a:lstStyle/>
          <a:p>
            <a:pPr indent="0" marL="0">
              <a:buNone/>
            </a:pPr>
            <a:r>
              <a:rPr lang="en-US" sz="1200" b="1" dirty="0">
                <a:solidFill>
                  <a:srgbClr val="FFFFFF"/>
                </a:solidFill>
                <a:latin typeface="Georgia" pitchFamily="34" charset="0"/>
                <a:ea typeface="Georgia" pitchFamily="34" charset="-122"/>
                <a:cs typeface="Georgia" pitchFamily="34" charset="-120"/>
              </a:rPr>
              <a:t>70 records</a:t>
            </a:r>
            <a:endParaRPr lang="en-US" sz="1200" dirty="0"/>
          </a:p>
        </p:txBody>
      </p:sp>
      <p:sp>
        <p:nvSpPr>
          <p:cNvPr id="41" name="Text 39"/>
          <p:cNvSpPr/>
          <p:nvPr/>
        </p:nvSpPr>
        <p:spPr>
          <a:xfrm>
            <a:off x="3904488" y="3493008"/>
            <a:ext cx="1335024" cy="201168"/>
          </a:xfrm>
          <a:prstGeom prst="rect">
            <a:avLst/>
          </a:prstGeom>
          <a:noFill/>
          <a:ln/>
        </p:spPr>
        <p:txBody>
          <a:bodyPr wrap="square" rtlCol="0" anchor="ctr"/>
          <a:lstStyle/>
          <a:p>
            <a:pPr indent="0" marL="0">
              <a:buNone/>
            </a:pPr>
            <a:r>
              <a:rPr lang="en-US" sz="700" dirty="0">
                <a:solidFill>
                  <a:srgbClr val="E2E8F0"/>
                </a:solidFill>
                <a:latin typeface="Consolas" pitchFamily="34" charset="0"/>
                <a:ea typeface="Consolas" pitchFamily="34" charset="-122"/>
                <a:cs typeface="Consolas" pitchFamily="34" charset="-120"/>
              </a:rPr>
              <a:t>2,133 cases  ·  51 deaths</a:t>
            </a:r>
            <a:endParaRPr lang="en-US" sz="700" dirty="0"/>
          </a:p>
        </p:txBody>
      </p:sp>
      <p:sp>
        <p:nvSpPr>
          <p:cNvPr id="42" name="Shape 40"/>
          <p:cNvSpPr/>
          <p:nvPr/>
        </p:nvSpPr>
        <p:spPr>
          <a:xfrm>
            <a:off x="3904488" y="3730752"/>
            <a:ext cx="1335024" cy="0"/>
          </a:xfrm>
          <a:prstGeom prst="line">
            <a:avLst/>
          </a:prstGeom>
          <a:noFill/>
          <a:ln w="6350">
            <a:solidFill>
              <a:srgbClr val="1E2D4A"/>
            </a:solidFill>
            <a:prstDash val="solid"/>
          </a:ln>
        </p:spPr>
      </p:sp>
      <p:sp>
        <p:nvSpPr>
          <p:cNvPr id="43" name="Text 41"/>
          <p:cNvSpPr/>
          <p:nvPr/>
        </p:nvSpPr>
        <p:spPr>
          <a:xfrm>
            <a:off x="3904488" y="3785616"/>
            <a:ext cx="1335024" cy="457200"/>
          </a:xfrm>
          <a:prstGeom prst="rect">
            <a:avLst/>
          </a:prstGeom>
          <a:noFill/>
          <a:ln/>
        </p:spPr>
        <p:txBody>
          <a:bodyPr wrap="square" rtlCol="0" anchor="ctr"/>
          <a:lstStyle/>
          <a:p>
            <a:pPr indent="0" marL="0">
              <a:lnSpc>
                <a:spcPct val="115000"/>
              </a:lnSpc>
              <a:buNone/>
            </a:pPr>
            <a:r>
              <a:rPr lang="en-US" sz="750" dirty="0">
                <a:solidFill>
                  <a:srgbClr val="94A3B8"/>
                </a:solidFill>
                <a:latin typeface="Calibri" pitchFamily="34" charset="0"/>
                <a:ea typeface="Calibri" pitchFamily="34" charset="-122"/>
                <a:cs typeface="Calibri" pitchFamily="34" charset="-120"/>
              </a:rPr>
              <a:t>Peak: May–Jul (CR3 51.4%)</a:t>
            </a:r>
            <a:endParaRPr lang="en-US" sz="750" dirty="0"/>
          </a:p>
        </p:txBody>
      </p:sp>
      <p:sp>
        <p:nvSpPr>
          <p:cNvPr id="44" name="Shape 42"/>
          <p:cNvSpPr/>
          <p:nvPr/>
        </p:nvSpPr>
        <p:spPr>
          <a:xfrm>
            <a:off x="5381244" y="2962656"/>
            <a:ext cx="1481328" cy="1353312"/>
          </a:xfrm>
          <a:prstGeom prst="rect">
            <a:avLst/>
          </a:prstGeom>
          <a:solidFill>
            <a:srgbClr val="101C38"/>
          </a:solidFill>
          <a:ln w="9525">
            <a:solidFill>
              <a:srgbClr val="1E335E"/>
            </a:solidFill>
            <a:prstDash val="solid"/>
          </a:ln>
        </p:spPr>
      </p:sp>
      <p:sp>
        <p:nvSpPr>
          <p:cNvPr id="45" name="Shape 43"/>
          <p:cNvSpPr/>
          <p:nvPr/>
        </p:nvSpPr>
        <p:spPr>
          <a:xfrm>
            <a:off x="5381244" y="2962656"/>
            <a:ext cx="1481328" cy="0"/>
          </a:xfrm>
          <a:prstGeom prst="line">
            <a:avLst/>
          </a:prstGeom>
          <a:noFill/>
          <a:ln w="19050">
            <a:solidFill>
              <a:srgbClr val="D4AF37"/>
            </a:solidFill>
            <a:prstDash val="solid"/>
          </a:ln>
        </p:spPr>
      </p:sp>
      <p:sp>
        <p:nvSpPr>
          <p:cNvPr id="46" name="Text 44"/>
          <p:cNvSpPr/>
          <p:nvPr/>
        </p:nvSpPr>
        <p:spPr>
          <a:xfrm>
            <a:off x="5454396" y="3054096"/>
            <a:ext cx="1335024" cy="201168"/>
          </a:xfrm>
          <a:prstGeom prst="rect">
            <a:avLst/>
          </a:prstGeom>
          <a:noFill/>
          <a:ln/>
        </p:spPr>
        <p:txBody>
          <a:bodyPr wrap="square" rtlCol="0" anchor="ctr"/>
          <a:lstStyle/>
          <a:p>
            <a:pPr indent="0" marL="0">
              <a:buNone/>
            </a:pPr>
            <a:r>
              <a:rPr lang="en-US" sz="650" b="1" spc="50" kern="0" dirty="0">
                <a:solidFill>
                  <a:srgbClr val="D4AF37"/>
                </a:solidFill>
                <a:latin typeface="Consolas" pitchFamily="34" charset="0"/>
                <a:ea typeface="Consolas" pitchFamily="34" charset="-122"/>
                <a:cs typeface="Consolas" pitchFamily="34" charset="-120"/>
              </a:rPr>
              <a:t>FOOD POISONING</a:t>
            </a:r>
            <a:endParaRPr lang="en-US" sz="650" dirty="0"/>
          </a:p>
        </p:txBody>
      </p:sp>
      <p:sp>
        <p:nvSpPr>
          <p:cNvPr id="47" name="Text 45"/>
          <p:cNvSpPr/>
          <p:nvPr/>
        </p:nvSpPr>
        <p:spPr>
          <a:xfrm>
            <a:off x="5454396" y="3255264"/>
            <a:ext cx="1335024" cy="219456"/>
          </a:xfrm>
          <a:prstGeom prst="rect">
            <a:avLst/>
          </a:prstGeom>
          <a:noFill/>
          <a:ln/>
        </p:spPr>
        <p:txBody>
          <a:bodyPr wrap="square" rtlCol="0" anchor="ctr"/>
          <a:lstStyle/>
          <a:p>
            <a:pPr indent="0" marL="0">
              <a:buNone/>
            </a:pPr>
            <a:r>
              <a:rPr lang="en-US" sz="1200" b="1" dirty="0">
                <a:solidFill>
                  <a:srgbClr val="FFFFFF"/>
                </a:solidFill>
                <a:latin typeface="Georgia" pitchFamily="34" charset="0"/>
                <a:ea typeface="Georgia" pitchFamily="34" charset="-122"/>
                <a:cs typeface="Georgia" pitchFamily="34" charset="-120"/>
              </a:rPr>
              <a:t>69 records</a:t>
            </a:r>
            <a:endParaRPr lang="en-US" sz="1200" dirty="0"/>
          </a:p>
        </p:txBody>
      </p:sp>
      <p:sp>
        <p:nvSpPr>
          <p:cNvPr id="48" name="Text 46"/>
          <p:cNvSpPr/>
          <p:nvPr/>
        </p:nvSpPr>
        <p:spPr>
          <a:xfrm>
            <a:off x="5454396" y="3493008"/>
            <a:ext cx="1335024" cy="201168"/>
          </a:xfrm>
          <a:prstGeom prst="rect">
            <a:avLst/>
          </a:prstGeom>
          <a:noFill/>
          <a:ln/>
        </p:spPr>
        <p:txBody>
          <a:bodyPr wrap="square" rtlCol="0" anchor="ctr"/>
          <a:lstStyle/>
          <a:p>
            <a:pPr indent="0" marL="0">
              <a:buNone/>
            </a:pPr>
            <a:r>
              <a:rPr lang="en-US" sz="700" dirty="0">
                <a:solidFill>
                  <a:srgbClr val="E2E8F0"/>
                </a:solidFill>
                <a:latin typeface="Consolas" pitchFamily="34" charset="0"/>
                <a:ea typeface="Consolas" pitchFamily="34" charset="-122"/>
                <a:cs typeface="Consolas" pitchFamily="34" charset="-120"/>
              </a:rPr>
              <a:t>5,927 cases  ·  29 deaths</a:t>
            </a:r>
            <a:endParaRPr lang="en-US" sz="700" dirty="0"/>
          </a:p>
        </p:txBody>
      </p:sp>
      <p:sp>
        <p:nvSpPr>
          <p:cNvPr id="49" name="Shape 47"/>
          <p:cNvSpPr/>
          <p:nvPr/>
        </p:nvSpPr>
        <p:spPr>
          <a:xfrm>
            <a:off x="5454396" y="3730752"/>
            <a:ext cx="1335024" cy="0"/>
          </a:xfrm>
          <a:prstGeom prst="line">
            <a:avLst/>
          </a:prstGeom>
          <a:noFill/>
          <a:ln w="6350">
            <a:solidFill>
              <a:srgbClr val="1E2D4A"/>
            </a:solidFill>
            <a:prstDash val="solid"/>
          </a:ln>
        </p:spPr>
      </p:sp>
      <p:sp>
        <p:nvSpPr>
          <p:cNvPr id="50" name="Text 48"/>
          <p:cNvSpPr/>
          <p:nvPr/>
        </p:nvSpPr>
        <p:spPr>
          <a:xfrm>
            <a:off x="5454396" y="3785616"/>
            <a:ext cx="1335024" cy="457200"/>
          </a:xfrm>
          <a:prstGeom prst="rect">
            <a:avLst/>
          </a:prstGeom>
          <a:noFill/>
          <a:ln/>
        </p:spPr>
        <p:txBody>
          <a:bodyPr wrap="square" rtlCol="0" anchor="ctr"/>
          <a:lstStyle/>
          <a:p>
            <a:pPr indent="0" marL="0">
              <a:lnSpc>
                <a:spcPct val="115000"/>
              </a:lnSpc>
              <a:buNone/>
            </a:pPr>
            <a:r>
              <a:rPr lang="en-US" sz="750" dirty="0">
                <a:solidFill>
                  <a:srgbClr val="94A3B8"/>
                </a:solidFill>
                <a:latin typeface="Calibri" pitchFamily="34" charset="0"/>
                <a:ea typeface="Calibri" pitchFamily="34" charset="-122"/>
                <a:cs typeface="Calibri" pitchFamily="34" charset="-120"/>
              </a:rPr>
              <a:t>Bimodal: Jan–Feb &amp; Apr–May</a:t>
            </a:r>
            <a:endParaRPr lang="en-US" sz="750" dirty="0"/>
          </a:p>
        </p:txBody>
      </p:sp>
      <p:sp>
        <p:nvSpPr>
          <p:cNvPr id="51" name="Shape 49"/>
          <p:cNvSpPr/>
          <p:nvPr/>
        </p:nvSpPr>
        <p:spPr>
          <a:xfrm>
            <a:off x="6931152" y="2962656"/>
            <a:ext cx="1481328" cy="1353312"/>
          </a:xfrm>
          <a:prstGeom prst="rect">
            <a:avLst/>
          </a:prstGeom>
          <a:solidFill>
            <a:srgbClr val="101C38"/>
          </a:solidFill>
          <a:ln w="9525">
            <a:solidFill>
              <a:srgbClr val="1E335E"/>
            </a:solidFill>
            <a:prstDash val="solid"/>
          </a:ln>
        </p:spPr>
      </p:sp>
      <p:sp>
        <p:nvSpPr>
          <p:cNvPr id="52" name="Shape 50"/>
          <p:cNvSpPr/>
          <p:nvPr/>
        </p:nvSpPr>
        <p:spPr>
          <a:xfrm>
            <a:off x="6931152" y="2962656"/>
            <a:ext cx="1481328" cy="0"/>
          </a:xfrm>
          <a:prstGeom prst="line">
            <a:avLst/>
          </a:prstGeom>
          <a:noFill/>
          <a:ln w="19050">
            <a:solidFill>
              <a:srgbClr val="F87171"/>
            </a:solidFill>
            <a:prstDash val="solid"/>
          </a:ln>
        </p:spPr>
      </p:sp>
      <p:sp>
        <p:nvSpPr>
          <p:cNvPr id="53" name="Text 51"/>
          <p:cNvSpPr/>
          <p:nvPr/>
        </p:nvSpPr>
        <p:spPr>
          <a:xfrm>
            <a:off x="7004304" y="3054096"/>
            <a:ext cx="1335024" cy="201168"/>
          </a:xfrm>
          <a:prstGeom prst="rect">
            <a:avLst/>
          </a:prstGeom>
          <a:noFill/>
          <a:ln/>
        </p:spPr>
        <p:txBody>
          <a:bodyPr wrap="square" rtlCol="0" anchor="ctr"/>
          <a:lstStyle/>
          <a:p>
            <a:pPr indent="0" marL="0">
              <a:buNone/>
            </a:pPr>
            <a:r>
              <a:rPr lang="en-US" sz="650" b="1" spc="50" kern="0" dirty="0">
                <a:solidFill>
                  <a:srgbClr val="F87171"/>
                </a:solidFill>
                <a:latin typeface="Consolas" pitchFamily="34" charset="0"/>
                <a:ea typeface="Consolas" pitchFamily="34" charset="-122"/>
                <a:cs typeface="Consolas" pitchFamily="34" charset="-120"/>
              </a:rPr>
              <a:t>CHIKUNGUNYA</a:t>
            </a:r>
            <a:endParaRPr lang="en-US" sz="650" dirty="0"/>
          </a:p>
        </p:txBody>
      </p:sp>
      <p:sp>
        <p:nvSpPr>
          <p:cNvPr id="54" name="Text 52"/>
          <p:cNvSpPr/>
          <p:nvPr/>
        </p:nvSpPr>
        <p:spPr>
          <a:xfrm>
            <a:off x="7004304" y="3255264"/>
            <a:ext cx="1335024" cy="219456"/>
          </a:xfrm>
          <a:prstGeom prst="rect">
            <a:avLst/>
          </a:prstGeom>
          <a:noFill/>
          <a:ln/>
        </p:spPr>
        <p:txBody>
          <a:bodyPr wrap="square" rtlCol="0" anchor="ctr"/>
          <a:lstStyle/>
          <a:p>
            <a:pPr indent="0" marL="0">
              <a:buNone/>
            </a:pPr>
            <a:r>
              <a:rPr lang="en-US" sz="1200" b="1" dirty="0">
                <a:solidFill>
                  <a:srgbClr val="FFFFFF"/>
                </a:solidFill>
                <a:latin typeface="Georgia" pitchFamily="34" charset="0"/>
                <a:ea typeface="Georgia" pitchFamily="34" charset="-122"/>
                <a:cs typeface="Georgia" pitchFamily="34" charset="-120"/>
              </a:rPr>
              <a:t>43 records</a:t>
            </a:r>
            <a:endParaRPr lang="en-US" sz="1200" dirty="0"/>
          </a:p>
        </p:txBody>
      </p:sp>
      <p:sp>
        <p:nvSpPr>
          <p:cNvPr id="55" name="Text 53"/>
          <p:cNvSpPr/>
          <p:nvPr/>
        </p:nvSpPr>
        <p:spPr>
          <a:xfrm>
            <a:off x="7004304" y="3493008"/>
            <a:ext cx="1335024" cy="201168"/>
          </a:xfrm>
          <a:prstGeom prst="rect">
            <a:avLst/>
          </a:prstGeom>
          <a:noFill/>
          <a:ln/>
        </p:spPr>
        <p:txBody>
          <a:bodyPr wrap="square" rtlCol="0" anchor="ctr"/>
          <a:lstStyle/>
          <a:p>
            <a:pPr indent="0" marL="0">
              <a:buNone/>
            </a:pPr>
            <a:r>
              <a:rPr lang="en-US" sz="700" dirty="0">
                <a:solidFill>
                  <a:srgbClr val="E2E8F0"/>
                </a:solidFill>
                <a:latin typeface="Consolas" pitchFamily="34" charset="0"/>
                <a:ea typeface="Consolas" pitchFamily="34" charset="-122"/>
                <a:cs typeface="Consolas" pitchFamily="34" charset="-120"/>
              </a:rPr>
              <a:t>701 cases  ·  0 deaths</a:t>
            </a:r>
            <a:endParaRPr lang="en-US" sz="700" dirty="0"/>
          </a:p>
        </p:txBody>
      </p:sp>
      <p:sp>
        <p:nvSpPr>
          <p:cNvPr id="56" name="Shape 54"/>
          <p:cNvSpPr/>
          <p:nvPr/>
        </p:nvSpPr>
        <p:spPr>
          <a:xfrm>
            <a:off x="7004304" y="3730752"/>
            <a:ext cx="1335024" cy="0"/>
          </a:xfrm>
          <a:prstGeom prst="line">
            <a:avLst/>
          </a:prstGeom>
          <a:noFill/>
          <a:ln w="6350">
            <a:solidFill>
              <a:srgbClr val="1E2D4A"/>
            </a:solidFill>
            <a:prstDash val="solid"/>
          </a:ln>
        </p:spPr>
      </p:sp>
      <p:sp>
        <p:nvSpPr>
          <p:cNvPr id="57" name="Text 55"/>
          <p:cNvSpPr/>
          <p:nvPr/>
        </p:nvSpPr>
        <p:spPr>
          <a:xfrm>
            <a:off x="7004304" y="3785616"/>
            <a:ext cx="1335024" cy="457200"/>
          </a:xfrm>
          <a:prstGeom prst="rect">
            <a:avLst/>
          </a:prstGeom>
          <a:noFill/>
          <a:ln/>
        </p:spPr>
        <p:txBody>
          <a:bodyPr wrap="square" rtlCol="0" anchor="ctr"/>
          <a:lstStyle/>
          <a:p>
            <a:pPr indent="0" marL="0">
              <a:lnSpc>
                <a:spcPct val="115000"/>
              </a:lnSpc>
              <a:buNone/>
            </a:pPr>
            <a:r>
              <a:rPr lang="en-US" sz="750" dirty="0">
                <a:solidFill>
                  <a:srgbClr val="94A3B8"/>
                </a:solidFill>
                <a:latin typeface="Calibri" pitchFamily="34" charset="0"/>
                <a:ea typeface="Calibri" pitchFamily="34" charset="-122"/>
                <a:cs typeface="Calibri" pitchFamily="34" charset="-120"/>
              </a:rPr>
              <a:t>Dispersed: May, Jun, Sep</a:t>
            </a:r>
            <a:endParaRPr lang="en-US" sz="750" dirty="0"/>
          </a:p>
        </p:txBody>
      </p:sp>
      <p:sp>
        <p:nvSpPr>
          <p:cNvPr id="58" name="Text 56"/>
          <p:cNvSpPr/>
          <p:nvPr/>
        </p:nvSpPr>
        <p:spPr>
          <a:xfrm>
            <a:off x="731520" y="4462272"/>
            <a:ext cx="7680960" cy="219456"/>
          </a:xfrm>
          <a:prstGeom prst="rect">
            <a:avLst/>
          </a:prstGeom>
          <a:noFill/>
          <a:ln/>
        </p:spPr>
        <p:txBody>
          <a:bodyPr wrap="square" rtlCol="0" anchor="ctr"/>
          <a:lstStyle/>
          <a:p>
            <a:pPr indent="0" marL="0">
              <a:buNone/>
            </a:pPr>
            <a:r>
              <a:rPr lang="en-US" sz="750" i="1" dirty="0">
                <a:solidFill>
                  <a:srgbClr val="F3E5AB"/>
                </a:solidFill>
                <a:latin typeface="Calibri" pitchFamily="34" charset="0"/>
                <a:ea typeface="Calibri" pitchFamily="34" charset="-122"/>
                <a:cs typeface="Calibri" pitchFamily="34" charset="-120"/>
              </a:rPr>
              <a:t>NOTE: Reported cases represent patients in investigated outbreak clusters. These figures do not measure population disease incidence or community prevalence.</a:t>
            </a:r>
            <a:endParaRPr lang="en-US" sz="750" dirty="0"/>
          </a:p>
        </p:txBody>
      </p:sp>
      <p:sp>
        <p:nvSpPr>
          <p:cNvPr id="59" name="Shape 57"/>
          <p:cNvSpPr/>
          <p:nvPr/>
        </p:nvSpPr>
        <p:spPr>
          <a:xfrm>
            <a:off x="731520" y="4773168"/>
            <a:ext cx="7680960" cy="0"/>
          </a:xfrm>
          <a:prstGeom prst="line">
            <a:avLst/>
          </a:prstGeom>
          <a:noFill/>
          <a:ln w="9525">
            <a:solidFill>
              <a:srgbClr val="1E2D4A"/>
            </a:solidFill>
            <a:prstDash val="solid"/>
          </a:ln>
        </p:spPr>
      </p:sp>
      <p:sp>
        <p:nvSpPr>
          <p:cNvPr id="60" name="Text 58"/>
          <p:cNvSpPr/>
          <p:nvPr/>
        </p:nvSpPr>
        <p:spPr>
          <a:xfrm>
            <a:off x="731520" y="4846320"/>
            <a:ext cx="6583680" cy="201168"/>
          </a:xfrm>
          <a:prstGeom prst="rect">
            <a:avLst/>
          </a:prstGeom>
          <a:noFill/>
          <a:ln/>
        </p:spPr>
        <p:txBody>
          <a:bodyPr wrap="square" rtlCol="0" anchor="ctr"/>
          <a:lstStyle/>
          <a:p>
            <a:pPr indent="0" marL="0">
              <a:buNone/>
            </a:pPr>
            <a:r>
              <a:rPr lang="en-US" sz="650" dirty="0">
                <a:solidFill>
                  <a:srgbClr val="94A3B8"/>
                </a:solidFill>
                <a:latin typeface="Consolas" pitchFamily="34" charset="0"/>
                <a:ea typeface="Consolas" pitchFamily="34" charset="-122"/>
                <a:cs typeface="Consolas" pitchFamily="34" charset="-120"/>
              </a:rPr>
              <a:t>SOURCE: NCDC / IDSP WEEKLY OUTBREAK REPORTS (2022–2025 ANALYTICAL BASELINE)</a:t>
            </a:r>
            <a:endParaRPr lang="en-US" sz="650" dirty="0"/>
          </a:p>
        </p:txBody>
      </p:sp>
      <p:sp>
        <p:nvSpPr>
          <p:cNvPr id="61" name="Text 59"/>
          <p:cNvSpPr/>
          <p:nvPr/>
        </p:nvSpPr>
        <p:spPr>
          <a:xfrm>
            <a:off x="7498080" y="4846320"/>
            <a:ext cx="914400" cy="201168"/>
          </a:xfrm>
          <a:prstGeom prst="rect">
            <a:avLst/>
          </a:prstGeom>
          <a:noFill/>
          <a:ln/>
        </p:spPr>
        <p:txBody>
          <a:bodyPr wrap="square" rtlCol="0" anchor="ctr"/>
          <a:lstStyle/>
          <a:p>
            <a:pPr algn="r" indent="0" marL="0">
              <a:buNone/>
            </a:pPr>
            <a:r>
              <a:rPr lang="en-US" sz="750" b="1" dirty="0">
                <a:solidFill>
                  <a:srgbClr val="D4AF37"/>
                </a:solidFill>
                <a:latin typeface="Consolas" pitchFamily="34" charset="0"/>
                <a:ea typeface="Consolas" pitchFamily="34" charset="-122"/>
                <a:cs typeface="Consolas" pitchFamily="34" charset="-120"/>
              </a:rPr>
              <a:t>04 / 10</a:t>
            </a:r>
            <a:endParaRPr lang="en-US" sz="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1128"/>
        </a:solidFill>
      </p:bgPr>
    </p:bg>
    <p:spTree>
      <p:nvGrpSpPr>
        <p:cNvPr id="1" name=""/>
        <p:cNvGrpSpPr/>
        <p:nvPr/>
      </p:nvGrpSpPr>
      <p:grpSpPr>
        <a:xfrm>
          <a:off x="0" y="0"/>
          <a:ext cx="0" cy="0"/>
          <a:chOff x="0" y="0"/>
          <a:chExt cx="0" cy="0"/>
        </a:xfrm>
      </p:grpSpPr>
      <p:sp>
        <p:nvSpPr>
          <p:cNvPr id="2" name="Text 0"/>
          <p:cNvSpPr/>
          <p:nvPr/>
        </p:nvSpPr>
        <p:spPr>
          <a:xfrm>
            <a:off x="731520" y="292608"/>
            <a:ext cx="7680960" cy="201168"/>
          </a:xfrm>
          <a:prstGeom prst="rect">
            <a:avLst/>
          </a:prstGeom>
          <a:noFill/>
          <a:ln/>
        </p:spPr>
        <p:txBody>
          <a:bodyPr wrap="square" rtlCol="0" anchor="ctr"/>
          <a:lstStyle/>
          <a:p>
            <a:pPr indent="0" marL="0">
              <a:buNone/>
            </a:pPr>
            <a:r>
              <a:rPr lang="en-US" sz="750" b="1" spc="200" kern="0" dirty="0">
                <a:solidFill>
                  <a:srgbClr val="D4AF37"/>
                </a:solidFill>
                <a:latin typeface="Consolas" pitchFamily="34" charset="0"/>
                <a:ea typeface="Consolas" pitchFamily="34" charset="-122"/>
                <a:cs typeface="Consolas" pitchFamily="34" charset="-120"/>
              </a:rPr>
              <a:t>SEASONAL PATTERN ANALYSIS  //  EMPIRICAL BASELINE 2022–2025</a:t>
            </a:r>
            <a:endParaRPr lang="en-US" sz="750" dirty="0"/>
          </a:p>
        </p:txBody>
      </p:sp>
      <p:sp>
        <p:nvSpPr>
          <p:cNvPr id="3" name="Text 1"/>
          <p:cNvSpPr/>
          <p:nvPr/>
        </p:nvSpPr>
        <p:spPr>
          <a:xfrm>
            <a:off x="731520" y="493776"/>
            <a:ext cx="7680960" cy="438912"/>
          </a:xfrm>
          <a:prstGeom prst="rect">
            <a:avLst/>
          </a:prstGeom>
          <a:noFill/>
          <a:ln/>
        </p:spPr>
        <p:txBody>
          <a:bodyPr wrap="square" rtlCol="0" anchor="ctr"/>
          <a:lstStyle/>
          <a:p>
            <a:pPr indent="0" marL="0">
              <a:lnSpc>
                <a:spcPct val="110000"/>
              </a:lnSpc>
              <a:buNone/>
            </a:pPr>
            <a:r>
              <a:rPr lang="en-US" sz="2100" b="1" dirty="0">
                <a:solidFill>
                  <a:srgbClr val="FFFFFF"/>
                </a:solidFill>
                <a:latin typeface="Georgia" pitchFamily="34" charset="0"/>
                <a:ea typeface="Georgia" pitchFamily="34" charset="-122"/>
                <a:cs typeface="Georgia" pitchFamily="34" charset="-120"/>
              </a:rPr>
              <a:t>Five Diseases.  Five Distinct Temporal Signatures.</a:t>
            </a:r>
            <a:endParaRPr lang="en-US" sz="2100" dirty="0"/>
          </a:p>
        </p:txBody>
      </p:sp>
      <p:sp>
        <p:nvSpPr>
          <p:cNvPr id="4" name="Text 2"/>
          <p:cNvSpPr/>
          <p:nvPr/>
        </p:nvSpPr>
        <p:spPr>
          <a:xfrm>
            <a:off x="731520" y="932688"/>
            <a:ext cx="7680960" cy="256032"/>
          </a:xfrm>
          <a:prstGeom prst="rect">
            <a:avLst/>
          </a:prstGeom>
          <a:noFill/>
          <a:ln/>
        </p:spPr>
        <p:txBody>
          <a:bodyPr wrap="square" rtlCol="0" anchor="ctr"/>
          <a:lstStyle/>
          <a:p>
            <a:pPr indent="0" marL="0">
              <a:buNone/>
            </a:pPr>
            <a:r>
              <a:rPr lang="en-US" sz="1000" dirty="0">
                <a:solidFill>
                  <a:srgbClr val="F3E5AB"/>
                </a:solidFill>
                <a:latin typeface="Calibri" pitchFamily="34" charset="0"/>
                <a:ea typeface="Calibri" pitchFamily="34" charset="-122"/>
                <a:cs typeface="Calibri" pitchFamily="34" charset="-120"/>
              </a:rPr>
              <a:t>Calendar-month concentration curves derived from 539 investigated outbreak events</a:t>
            </a:r>
            <a:endParaRPr lang="en-US" sz="1000" dirty="0"/>
          </a:p>
        </p:txBody>
      </p:sp>
      <p:sp>
        <p:nvSpPr>
          <p:cNvPr id="5" name="Shape 3"/>
          <p:cNvSpPr/>
          <p:nvPr/>
        </p:nvSpPr>
        <p:spPr>
          <a:xfrm>
            <a:off x="731520" y="1225296"/>
            <a:ext cx="7680960" cy="0"/>
          </a:xfrm>
          <a:prstGeom prst="line">
            <a:avLst/>
          </a:prstGeom>
          <a:noFill/>
          <a:ln w="9525">
            <a:solidFill>
              <a:srgbClr val="D4AF37"/>
            </a:solidFill>
            <a:prstDash val="solid"/>
          </a:ln>
        </p:spPr>
      </p:sp>
      <p:sp>
        <p:nvSpPr>
          <p:cNvPr id="6" name="Shape 4"/>
          <p:cNvSpPr/>
          <p:nvPr/>
        </p:nvSpPr>
        <p:spPr>
          <a:xfrm>
            <a:off x="731520" y="1353312"/>
            <a:ext cx="3383280" cy="3218688"/>
          </a:xfrm>
          <a:prstGeom prst="rect">
            <a:avLst/>
          </a:prstGeom>
          <a:solidFill>
            <a:srgbClr val="101C38"/>
          </a:solidFill>
          <a:ln w="9525">
            <a:solidFill>
              <a:srgbClr val="1E335E"/>
            </a:solidFill>
            <a:prstDash val="solid"/>
          </a:ln>
        </p:spPr>
      </p:sp>
      <p:sp>
        <p:nvSpPr>
          <p:cNvPr id="7" name="Shape 5"/>
          <p:cNvSpPr/>
          <p:nvPr/>
        </p:nvSpPr>
        <p:spPr>
          <a:xfrm>
            <a:off x="731520" y="1353312"/>
            <a:ext cx="3383280" cy="0"/>
          </a:xfrm>
          <a:prstGeom prst="line">
            <a:avLst/>
          </a:prstGeom>
          <a:noFill/>
          <a:ln w="19050">
            <a:solidFill>
              <a:srgbClr val="D4AF37"/>
            </a:solidFill>
            <a:prstDash val="solid"/>
          </a:ln>
        </p:spPr>
      </p:sp>
      <p:sp>
        <p:nvSpPr>
          <p:cNvPr id="8" name="Text 6"/>
          <p:cNvSpPr/>
          <p:nvPr/>
        </p:nvSpPr>
        <p:spPr>
          <a:xfrm>
            <a:off x="877824" y="1463040"/>
            <a:ext cx="3090672" cy="182880"/>
          </a:xfrm>
          <a:prstGeom prst="rect">
            <a:avLst/>
          </a:prstGeom>
          <a:noFill/>
          <a:ln/>
        </p:spPr>
        <p:txBody>
          <a:bodyPr wrap="square" rtlCol="0" anchor="ctr"/>
          <a:lstStyle/>
          <a:p>
            <a:pPr indent="0" marL="0">
              <a:buNone/>
            </a:pPr>
            <a:r>
              <a:rPr lang="en-US" sz="700" b="1" spc="100" kern="0" dirty="0">
                <a:solidFill>
                  <a:srgbClr val="D4AF37"/>
                </a:solidFill>
                <a:latin typeface="Consolas" pitchFamily="34" charset="0"/>
                <a:ea typeface="Consolas" pitchFamily="34" charset="-122"/>
                <a:cs typeface="Consolas" pitchFamily="34" charset="-120"/>
              </a:rPr>
              <a:t>OBSERVED TEMPORAL CONCENTRATIONS</a:t>
            </a:r>
            <a:endParaRPr lang="en-US" sz="700" dirty="0"/>
          </a:p>
        </p:txBody>
      </p:sp>
      <p:sp>
        <p:nvSpPr>
          <p:cNvPr id="9" name="Text 7"/>
          <p:cNvSpPr/>
          <p:nvPr/>
        </p:nvSpPr>
        <p:spPr>
          <a:xfrm>
            <a:off x="877824" y="1664208"/>
            <a:ext cx="1371600" cy="164592"/>
          </a:xfrm>
          <a:prstGeom prst="rect">
            <a:avLst/>
          </a:prstGeom>
          <a:noFill/>
          <a:ln/>
        </p:spPr>
        <p:txBody>
          <a:bodyPr wrap="square" rtlCol="0" anchor="ctr"/>
          <a:lstStyle/>
          <a:p>
            <a:pPr indent="0" marL="0">
              <a:buNone/>
            </a:pPr>
            <a:r>
              <a:rPr lang="en-US" sz="750" b="1" dirty="0">
                <a:solidFill>
                  <a:srgbClr val="38BDF8"/>
                </a:solidFill>
                <a:latin typeface="Consolas" pitchFamily="34" charset="0"/>
                <a:ea typeface="Consolas" pitchFamily="34" charset="-122"/>
                <a:cs typeface="Consolas" pitchFamily="34" charset="-120"/>
              </a:rPr>
              <a:t>1. DENGUE</a:t>
            </a:r>
            <a:endParaRPr lang="en-US" sz="750" dirty="0"/>
          </a:p>
        </p:txBody>
      </p:sp>
      <p:sp>
        <p:nvSpPr>
          <p:cNvPr id="10" name="Text 8"/>
          <p:cNvSpPr/>
          <p:nvPr/>
        </p:nvSpPr>
        <p:spPr>
          <a:xfrm>
            <a:off x="2148840" y="1664208"/>
            <a:ext cx="1819656" cy="164592"/>
          </a:xfrm>
          <a:prstGeom prst="rect">
            <a:avLst/>
          </a:prstGeom>
          <a:noFill/>
          <a:ln/>
        </p:spPr>
        <p:txBody>
          <a:bodyPr wrap="square" rtlCol="0" anchor="ctr"/>
          <a:lstStyle/>
          <a:p>
            <a:pPr algn="r" indent="0" marL="0">
              <a:buNone/>
            </a:pPr>
            <a:r>
              <a:rPr lang="en-US" sz="700" i="1" dirty="0">
                <a:solidFill>
                  <a:srgbClr val="F3E5AB"/>
                </a:solidFill>
                <a:latin typeface="Calibri" pitchFamily="34" charset="0"/>
                <a:ea typeface="Calibri" pitchFamily="34" charset="-122"/>
                <a:cs typeface="Calibri" pitchFamily="34" charset="-120"/>
              </a:rPr>
              <a:t>Late-Monsoon / Post-Monsoon Peak</a:t>
            </a:r>
            <a:endParaRPr lang="en-US" sz="700" dirty="0"/>
          </a:p>
        </p:txBody>
      </p:sp>
      <p:sp>
        <p:nvSpPr>
          <p:cNvPr id="11" name="Text 9"/>
          <p:cNvSpPr/>
          <p:nvPr/>
        </p:nvSpPr>
        <p:spPr>
          <a:xfrm>
            <a:off x="877824" y="1828800"/>
            <a:ext cx="3090672" cy="310896"/>
          </a:xfrm>
          <a:prstGeom prst="rect">
            <a:avLst/>
          </a:prstGeom>
          <a:noFill/>
          <a:ln/>
        </p:spPr>
        <p:txBody>
          <a:bodyPr wrap="square" rtlCol="0" anchor="ctr"/>
          <a:lstStyle/>
          <a:p>
            <a:pPr indent="0" marL="0">
              <a:lnSpc>
                <a:spcPct val="110000"/>
              </a:lnSpc>
              <a:buNone/>
            </a:pPr>
            <a:r>
              <a:rPr lang="en-US" sz="750" dirty="0">
                <a:solidFill>
                  <a:srgbClr val="E2E8F0"/>
                </a:solidFill>
                <a:latin typeface="Calibri" pitchFamily="34" charset="0"/>
                <a:ea typeface="Calibri" pitchFamily="34" charset="-122"/>
                <a:cs typeface="Calibri" pitchFamily="34" charset="-120"/>
              </a:rPr>
              <a:t>October peak (40 events). 82.8% of all events occur Jun–Oct. Aug–Oct CR3 = 50.5%.</a:t>
            </a:r>
            <a:endParaRPr lang="en-US" sz="750" dirty="0"/>
          </a:p>
        </p:txBody>
      </p:sp>
      <p:sp>
        <p:nvSpPr>
          <p:cNvPr id="12" name="Text 10"/>
          <p:cNvSpPr/>
          <p:nvPr/>
        </p:nvSpPr>
        <p:spPr>
          <a:xfrm>
            <a:off x="877824" y="2157984"/>
            <a:ext cx="1371600" cy="164592"/>
          </a:xfrm>
          <a:prstGeom prst="rect">
            <a:avLst/>
          </a:prstGeom>
          <a:noFill/>
          <a:ln/>
        </p:spPr>
        <p:txBody>
          <a:bodyPr wrap="square" rtlCol="0" anchor="ctr"/>
          <a:lstStyle/>
          <a:p>
            <a:pPr indent="0" marL="0">
              <a:buNone/>
            </a:pPr>
            <a:r>
              <a:rPr lang="en-US" sz="750" b="1" dirty="0">
                <a:solidFill>
                  <a:srgbClr val="10B981"/>
                </a:solidFill>
                <a:latin typeface="Consolas" pitchFamily="34" charset="0"/>
                <a:ea typeface="Consolas" pitchFamily="34" charset="-122"/>
                <a:cs typeface="Consolas" pitchFamily="34" charset="-120"/>
              </a:rPr>
              <a:t>2. ACUTE DIARRHEAL DISEASE</a:t>
            </a:r>
            <a:endParaRPr lang="en-US" sz="750" dirty="0"/>
          </a:p>
        </p:txBody>
      </p:sp>
      <p:sp>
        <p:nvSpPr>
          <p:cNvPr id="13" name="Text 11"/>
          <p:cNvSpPr/>
          <p:nvPr/>
        </p:nvSpPr>
        <p:spPr>
          <a:xfrm>
            <a:off x="2148840" y="2157984"/>
            <a:ext cx="1819656" cy="164592"/>
          </a:xfrm>
          <a:prstGeom prst="rect">
            <a:avLst/>
          </a:prstGeom>
          <a:noFill/>
          <a:ln/>
        </p:spPr>
        <p:txBody>
          <a:bodyPr wrap="square" rtlCol="0" anchor="ctr"/>
          <a:lstStyle/>
          <a:p>
            <a:pPr algn="r" indent="0" marL="0">
              <a:buNone/>
            </a:pPr>
            <a:r>
              <a:rPr lang="en-US" sz="700" i="1" dirty="0">
                <a:solidFill>
                  <a:srgbClr val="F3E5AB"/>
                </a:solidFill>
                <a:latin typeface="Calibri" pitchFamily="34" charset="0"/>
                <a:ea typeface="Calibri" pitchFamily="34" charset="-122"/>
                <a:cs typeface="Calibri" pitchFamily="34" charset="-120"/>
              </a:rPr>
              <a:t>Early Monsoon Plateau + Oct Rise</a:t>
            </a:r>
            <a:endParaRPr lang="en-US" sz="700" dirty="0"/>
          </a:p>
        </p:txBody>
      </p:sp>
      <p:sp>
        <p:nvSpPr>
          <p:cNvPr id="14" name="Text 12"/>
          <p:cNvSpPr/>
          <p:nvPr/>
        </p:nvSpPr>
        <p:spPr>
          <a:xfrm>
            <a:off x="877824" y="2322576"/>
            <a:ext cx="3090672" cy="310896"/>
          </a:xfrm>
          <a:prstGeom prst="rect">
            <a:avLst/>
          </a:prstGeom>
          <a:noFill/>
          <a:ln/>
        </p:spPr>
        <p:txBody>
          <a:bodyPr wrap="square" rtlCol="0" anchor="ctr"/>
          <a:lstStyle/>
          <a:p>
            <a:pPr indent="0" marL="0">
              <a:lnSpc>
                <a:spcPct val="110000"/>
              </a:lnSpc>
              <a:buNone/>
            </a:pPr>
            <a:r>
              <a:rPr lang="en-US" sz="750" dirty="0">
                <a:solidFill>
                  <a:srgbClr val="E2E8F0"/>
                </a:solidFill>
                <a:latin typeface="Calibri" pitchFamily="34" charset="0"/>
                <a:ea typeface="Calibri" pitchFamily="34" charset="-122"/>
                <a:cs typeface="Calibri" pitchFamily="34" charset="-120"/>
              </a:rPr>
              <a:t>Sustained elevation Jun–Aug (18-20 events/mo) with secondary Oct rise. CR3 = 43.1%.</a:t>
            </a:r>
            <a:endParaRPr lang="en-US" sz="750" dirty="0"/>
          </a:p>
        </p:txBody>
      </p:sp>
      <p:sp>
        <p:nvSpPr>
          <p:cNvPr id="15" name="Text 13"/>
          <p:cNvSpPr/>
          <p:nvPr/>
        </p:nvSpPr>
        <p:spPr>
          <a:xfrm>
            <a:off x="877824" y="2651760"/>
            <a:ext cx="1371600" cy="164592"/>
          </a:xfrm>
          <a:prstGeom prst="rect">
            <a:avLst/>
          </a:prstGeom>
          <a:noFill/>
          <a:ln/>
        </p:spPr>
        <p:txBody>
          <a:bodyPr wrap="square" rtlCol="0" anchor="ctr"/>
          <a:lstStyle/>
          <a:p>
            <a:pPr indent="0" marL="0">
              <a:buNone/>
            </a:pPr>
            <a:r>
              <a:rPr lang="en-US" sz="750" b="1" dirty="0">
                <a:solidFill>
                  <a:srgbClr val="38BDF8"/>
                </a:solidFill>
                <a:latin typeface="Consolas" pitchFamily="34" charset="0"/>
                <a:ea typeface="Consolas" pitchFamily="34" charset="-122"/>
                <a:cs typeface="Consolas" pitchFamily="34" charset="-120"/>
              </a:rPr>
              <a:t>3. MALARIA</a:t>
            </a:r>
            <a:endParaRPr lang="en-US" sz="750" dirty="0"/>
          </a:p>
        </p:txBody>
      </p:sp>
      <p:sp>
        <p:nvSpPr>
          <p:cNvPr id="16" name="Text 14"/>
          <p:cNvSpPr/>
          <p:nvPr/>
        </p:nvSpPr>
        <p:spPr>
          <a:xfrm>
            <a:off x="2148840" y="2651760"/>
            <a:ext cx="1819656" cy="164592"/>
          </a:xfrm>
          <a:prstGeom prst="rect">
            <a:avLst/>
          </a:prstGeom>
          <a:noFill/>
          <a:ln/>
        </p:spPr>
        <p:txBody>
          <a:bodyPr wrap="square" rtlCol="0" anchor="ctr"/>
          <a:lstStyle/>
          <a:p>
            <a:pPr algn="r" indent="0" marL="0">
              <a:buNone/>
            </a:pPr>
            <a:r>
              <a:rPr lang="en-US" sz="700" i="1" dirty="0">
                <a:solidFill>
                  <a:srgbClr val="F3E5AB"/>
                </a:solidFill>
                <a:latin typeface="Calibri" pitchFamily="34" charset="0"/>
                <a:ea typeface="Calibri" pitchFamily="34" charset="-122"/>
                <a:cs typeface="Calibri" pitchFamily="34" charset="-120"/>
              </a:rPr>
              <a:t>Pre-Monsoon &amp; Early Monsoon</a:t>
            </a:r>
            <a:endParaRPr lang="en-US" sz="700" dirty="0"/>
          </a:p>
        </p:txBody>
      </p:sp>
      <p:sp>
        <p:nvSpPr>
          <p:cNvPr id="17" name="Text 15"/>
          <p:cNvSpPr/>
          <p:nvPr/>
        </p:nvSpPr>
        <p:spPr>
          <a:xfrm>
            <a:off x="877824" y="2816352"/>
            <a:ext cx="3090672" cy="310896"/>
          </a:xfrm>
          <a:prstGeom prst="rect">
            <a:avLst/>
          </a:prstGeom>
          <a:noFill/>
          <a:ln/>
        </p:spPr>
        <p:txBody>
          <a:bodyPr wrap="square" rtlCol="0" anchor="ctr"/>
          <a:lstStyle/>
          <a:p>
            <a:pPr indent="0" marL="0">
              <a:lnSpc>
                <a:spcPct val="110000"/>
              </a:lnSpc>
              <a:buNone/>
            </a:pPr>
            <a:r>
              <a:rPr lang="en-US" sz="750" dirty="0">
                <a:solidFill>
                  <a:srgbClr val="E2E8F0"/>
                </a:solidFill>
                <a:latin typeface="Calibri" pitchFamily="34" charset="0"/>
                <a:ea typeface="Calibri" pitchFamily="34" charset="-122"/>
                <a:cs typeface="Calibri" pitchFamily="34" charset="-120"/>
              </a:rPr>
              <a:t>Concentrates earlier in May–July (12–14 events/mo). May–Jul CR3 = 51.4%.</a:t>
            </a:r>
            <a:endParaRPr lang="en-US" sz="750" dirty="0"/>
          </a:p>
        </p:txBody>
      </p:sp>
      <p:sp>
        <p:nvSpPr>
          <p:cNvPr id="18" name="Text 16"/>
          <p:cNvSpPr/>
          <p:nvPr/>
        </p:nvSpPr>
        <p:spPr>
          <a:xfrm>
            <a:off x="877824" y="3145536"/>
            <a:ext cx="1371600" cy="164592"/>
          </a:xfrm>
          <a:prstGeom prst="rect">
            <a:avLst/>
          </a:prstGeom>
          <a:noFill/>
          <a:ln/>
        </p:spPr>
        <p:txBody>
          <a:bodyPr wrap="square" rtlCol="0" anchor="ctr"/>
          <a:lstStyle/>
          <a:p>
            <a:pPr indent="0" marL="0">
              <a:buNone/>
            </a:pPr>
            <a:r>
              <a:rPr lang="en-US" sz="750" b="1" dirty="0">
                <a:solidFill>
                  <a:srgbClr val="D4AF37"/>
                </a:solidFill>
                <a:latin typeface="Consolas" pitchFamily="34" charset="0"/>
                <a:ea typeface="Consolas" pitchFamily="34" charset="-122"/>
                <a:cs typeface="Consolas" pitchFamily="34" charset="-120"/>
              </a:rPr>
              <a:t>4. FOOD POISONING</a:t>
            </a:r>
            <a:endParaRPr lang="en-US" sz="750" dirty="0"/>
          </a:p>
        </p:txBody>
      </p:sp>
      <p:sp>
        <p:nvSpPr>
          <p:cNvPr id="19" name="Text 17"/>
          <p:cNvSpPr/>
          <p:nvPr/>
        </p:nvSpPr>
        <p:spPr>
          <a:xfrm>
            <a:off x="2148840" y="3145536"/>
            <a:ext cx="1819656" cy="164592"/>
          </a:xfrm>
          <a:prstGeom prst="rect">
            <a:avLst/>
          </a:prstGeom>
          <a:noFill/>
          <a:ln/>
        </p:spPr>
        <p:txBody>
          <a:bodyPr wrap="square" rtlCol="0" anchor="ctr"/>
          <a:lstStyle/>
          <a:p>
            <a:pPr algn="r" indent="0" marL="0">
              <a:buNone/>
            </a:pPr>
            <a:r>
              <a:rPr lang="en-US" sz="700" i="1" dirty="0">
                <a:solidFill>
                  <a:srgbClr val="F3E5AB"/>
                </a:solidFill>
                <a:latin typeface="Calibri" pitchFamily="34" charset="0"/>
                <a:ea typeface="Calibri" pitchFamily="34" charset="-122"/>
                <a:cs typeface="Calibri" pitchFamily="34" charset="-120"/>
              </a:rPr>
              <a:t>Bimodal Non-Monsoon Windows</a:t>
            </a:r>
            <a:endParaRPr lang="en-US" sz="700" dirty="0"/>
          </a:p>
        </p:txBody>
      </p:sp>
      <p:sp>
        <p:nvSpPr>
          <p:cNvPr id="20" name="Text 18"/>
          <p:cNvSpPr/>
          <p:nvPr/>
        </p:nvSpPr>
        <p:spPr>
          <a:xfrm>
            <a:off x="877824" y="3310128"/>
            <a:ext cx="3090672" cy="310896"/>
          </a:xfrm>
          <a:prstGeom prst="rect">
            <a:avLst/>
          </a:prstGeom>
          <a:noFill/>
          <a:ln/>
        </p:spPr>
        <p:txBody>
          <a:bodyPr wrap="square" rtlCol="0" anchor="ctr"/>
          <a:lstStyle/>
          <a:p>
            <a:pPr indent="0" marL="0">
              <a:lnSpc>
                <a:spcPct val="110000"/>
              </a:lnSpc>
              <a:buNone/>
            </a:pPr>
            <a:r>
              <a:rPr lang="en-US" sz="750" dirty="0">
                <a:solidFill>
                  <a:srgbClr val="E2E8F0"/>
                </a:solidFill>
                <a:latin typeface="Calibri" pitchFamily="34" charset="0"/>
                <a:ea typeface="Calibri" pitchFamily="34" charset="-122"/>
                <a:cs typeface="Calibri" pitchFamily="34" charset="-120"/>
              </a:rPr>
              <a:t>Two distinct peaks: Jan–Feb and Apr–May. Demonstrates no monsoon concentration.</a:t>
            </a:r>
            <a:endParaRPr lang="en-US" sz="750" dirty="0"/>
          </a:p>
        </p:txBody>
      </p:sp>
      <p:sp>
        <p:nvSpPr>
          <p:cNvPr id="21" name="Text 19"/>
          <p:cNvSpPr/>
          <p:nvPr/>
        </p:nvSpPr>
        <p:spPr>
          <a:xfrm>
            <a:off x="877824" y="3639312"/>
            <a:ext cx="1371600" cy="164592"/>
          </a:xfrm>
          <a:prstGeom prst="rect">
            <a:avLst/>
          </a:prstGeom>
          <a:noFill/>
          <a:ln/>
        </p:spPr>
        <p:txBody>
          <a:bodyPr wrap="square" rtlCol="0" anchor="ctr"/>
          <a:lstStyle/>
          <a:p>
            <a:pPr indent="0" marL="0">
              <a:buNone/>
            </a:pPr>
            <a:r>
              <a:rPr lang="en-US" sz="750" b="1" dirty="0">
                <a:solidFill>
                  <a:srgbClr val="F87171"/>
                </a:solidFill>
                <a:latin typeface="Consolas" pitchFamily="34" charset="0"/>
                <a:ea typeface="Consolas" pitchFamily="34" charset="-122"/>
                <a:cs typeface="Consolas" pitchFamily="34" charset="-120"/>
              </a:rPr>
              <a:t>5. CHIKUNGUNYA</a:t>
            </a:r>
            <a:endParaRPr lang="en-US" sz="750" dirty="0"/>
          </a:p>
        </p:txBody>
      </p:sp>
      <p:sp>
        <p:nvSpPr>
          <p:cNvPr id="22" name="Text 20"/>
          <p:cNvSpPr/>
          <p:nvPr/>
        </p:nvSpPr>
        <p:spPr>
          <a:xfrm>
            <a:off x="2148840" y="3639312"/>
            <a:ext cx="1819656" cy="164592"/>
          </a:xfrm>
          <a:prstGeom prst="rect">
            <a:avLst/>
          </a:prstGeom>
          <a:noFill/>
          <a:ln/>
        </p:spPr>
        <p:txBody>
          <a:bodyPr wrap="square" rtlCol="0" anchor="ctr"/>
          <a:lstStyle/>
          <a:p>
            <a:pPr algn="r" indent="0" marL="0">
              <a:buNone/>
            </a:pPr>
            <a:r>
              <a:rPr lang="en-US" sz="700" i="1" dirty="0">
                <a:solidFill>
                  <a:srgbClr val="F3E5AB"/>
                </a:solidFill>
                <a:latin typeface="Calibri" pitchFamily="34" charset="0"/>
                <a:ea typeface="Calibri" pitchFamily="34" charset="-122"/>
                <a:cs typeface="Calibri" pitchFamily="34" charset="-120"/>
              </a:rPr>
              <a:t>Low-Count Dispersed Distribution</a:t>
            </a:r>
            <a:endParaRPr lang="en-US" sz="700" dirty="0"/>
          </a:p>
        </p:txBody>
      </p:sp>
      <p:sp>
        <p:nvSpPr>
          <p:cNvPr id="23" name="Text 21"/>
          <p:cNvSpPr/>
          <p:nvPr/>
        </p:nvSpPr>
        <p:spPr>
          <a:xfrm>
            <a:off x="877824" y="3803904"/>
            <a:ext cx="3090672" cy="310896"/>
          </a:xfrm>
          <a:prstGeom prst="rect">
            <a:avLst/>
          </a:prstGeom>
          <a:noFill/>
          <a:ln/>
        </p:spPr>
        <p:txBody>
          <a:bodyPr wrap="square" rtlCol="0" anchor="ctr"/>
          <a:lstStyle/>
          <a:p>
            <a:pPr indent="0" marL="0">
              <a:lnSpc>
                <a:spcPct val="110000"/>
              </a:lnSpc>
              <a:buNone/>
            </a:pPr>
            <a:r>
              <a:rPr lang="en-US" sz="750" dirty="0">
                <a:solidFill>
                  <a:srgbClr val="E2E8F0"/>
                </a:solidFill>
                <a:latin typeface="Calibri" pitchFamily="34" charset="0"/>
                <a:ea typeface="Calibri" pitchFamily="34" charset="-122"/>
                <a:cs typeface="Calibri" pitchFamily="34" charset="-120"/>
              </a:rPr>
              <a:t>Low baseline frequency without a single dominant month (CR3 = 41.9%).</a:t>
            </a:r>
            <a:endParaRPr lang="en-US" sz="750" dirty="0"/>
          </a:p>
        </p:txBody>
      </p:sp>
      <p:sp>
        <p:nvSpPr>
          <p:cNvPr id="24" name="Shape 22"/>
          <p:cNvSpPr/>
          <p:nvPr/>
        </p:nvSpPr>
        <p:spPr>
          <a:xfrm>
            <a:off x="877824" y="4096512"/>
            <a:ext cx="3090672" cy="0"/>
          </a:xfrm>
          <a:prstGeom prst="line">
            <a:avLst/>
          </a:prstGeom>
          <a:noFill/>
          <a:ln w="6350">
            <a:solidFill>
              <a:srgbClr val="1E2D4A"/>
            </a:solidFill>
            <a:prstDash val="solid"/>
          </a:ln>
        </p:spPr>
      </p:sp>
      <p:sp>
        <p:nvSpPr>
          <p:cNvPr id="25" name="Text 23"/>
          <p:cNvSpPr/>
          <p:nvPr/>
        </p:nvSpPr>
        <p:spPr>
          <a:xfrm>
            <a:off x="877824" y="4151376"/>
            <a:ext cx="3090672" cy="365760"/>
          </a:xfrm>
          <a:prstGeom prst="rect">
            <a:avLst/>
          </a:prstGeom>
          <a:noFill/>
          <a:ln/>
        </p:spPr>
        <p:txBody>
          <a:bodyPr wrap="square" rtlCol="0" anchor="ctr"/>
          <a:lstStyle/>
          <a:p>
            <a:pPr indent="0" marL="0">
              <a:lnSpc>
                <a:spcPct val="110000"/>
              </a:lnSpc>
              <a:buNone/>
            </a:pPr>
            <a:r>
              <a:rPr lang="en-US" sz="700" i="1" dirty="0">
                <a:solidFill>
                  <a:srgbClr val="94A3B8"/>
                </a:solidFill>
                <a:latin typeface="Calibri" pitchFamily="34" charset="0"/>
                <a:ea typeface="Calibri" pitchFamily="34" charset="-122"/>
                <a:cs typeface="Calibri" pitchFamily="34" charset="-120"/>
              </a:rPr>
              <a:t>BOUNDARY: Calendar concentrations reflect surveillance reporting; no climate/rainfall causality is inferred.</a:t>
            </a:r>
            <a:endParaRPr lang="en-US" sz="700" dirty="0"/>
          </a:p>
        </p:txBody>
      </p:sp>
      <p:sp>
        <p:nvSpPr>
          <p:cNvPr id="26" name="Shape 24"/>
          <p:cNvSpPr/>
          <p:nvPr/>
        </p:nvSpPr>
        <p:spPr>
          <a:xfrm>
            <a:off x="4251960" y="1353312"/>
            <a:ext cx="4160520" cy="3218688"/>
          </a:xfrm>
          <a:prstGeom prst="rect">
            <a:avLst/>
          </a:prstGeom>
          <a:solidFill>
            <a:srgbClr val="0C162E"/>
          </a:solidFill>
          <a:ln w="9525">
            <a:solidFill>
              <a:srgbClr val="D4AF37"/>
            </a:solidFill>
            <a:prstDash val="solid"/>
          </a:ln>
        </p:spPr>
      </p:sp>
      <p:sp>
        <p:nvSpPr>
          <p:cNvPr id="27" name="Text 25"/>
          <p:cNvSpPr/>
          <p:nvPr/>
        </p:nvSpPr>
        <p:spPr>
          <a:xfrm>
            <a:off x="4389120" y="1426464"/>
            <a:ext cx="3886200" cy="201168"/>
          </a:xfrm>
          <a:prstGeom prst="rect">
            <a:avLst/>
          </a:prstGeom>
          <a:noFill/>
          <a:ln/>
        </p:spPr>
        <p:txBody>
          <a:bodyPr wrap="square" rtlCol="0" anchor="ctr"/>
          <a:lstStyle/>
          <a:p>
            <a:pPr indent="0" marL="0">
              <a:buNone/>
            </a:pPr>
            <a:r>
              <a:rPr lang="en-US" sz="700" b="1" spc="100" kern="0" dirty="0">
                <a:solidFill>
                  <a:srgbClr val="D4AF37"/>
                </a:solidFill>
                <a:latin typeface="Consolas" pitchFamily="34" charset="0"/>
                <a:ea typeface="Consolas" pitchFamily="34" charset="-122"/>
                <a:cs typeface="Consolas" pitchFamily="34" charset="-120"/>
              </a:rPr>
              <a:t>EXHIBIT: 4-YEAR MONTHLY EVENT DISTRIBUTIONS</a:t>
            </a:r>
            <a:endParaRPr lang="en-US" sz="700" dirty="0"/>
          </a:p>
        </p:txBody>
      </p:sp>
      <p:sp>
        <p:nvSpPr>
          <p:cNvPr id="28" name="Shape 26"/>
          <p:cNvSpPr/>
          <p:nvPr/>
        </p:nvSpPr>
        <p:spPr>
          <a:xfrm>
            <a:off x="4389120" y="1645920"/>
            <a:ext cx="3886200" cy="2542032"/>
          </a:xfrm>
          <a:prstGeom prst="rect">
            <a:avLst/>
          </a:prstGeom>
          <a:solidFill>
            <a:srgbClr val="FFFFFF"/>
          </a:solidFill>
          <a:ln w="6350">
            <a:solidFill>
              <a:srgbClr val="1E2D4A"/>
            </a:solidFill>
            <a:prstDash val="solid"/>
          </a:ln>
        </p:spPr>
      </p:sp>
      <p:pic>
        <p:nvPicPr>
          <p:cNvPr id="29" name="Image 0" descr="C:\Users\ADMIN\OneDrive\Desktop\Field Project\data_pipeline\phase5B_seasonal_analysis\chart_monthly_outbreak_events.png">    </p:cNvPr>
          <p:cNvPicPr>
            <a:picLocks noChangeAspect="1"/>
          </p:cNvPicPr>
          <p:nvPr/>
        </p:nvPicPr>
        <p:blipFill>
          <a:blip r:embed="rId1"/>
          <a:stretch>
            <a:fillRect/>
          </a:stretch>
        </p:blipFill>
        <p:spPr>
          <a:xfrm>
            <a:off x="4416552" y="1682496"/>
            <a:ext cx="3831336" cy="2468880"/>
          </a:xfrm>
          <a:prstGeom prst="rect">
            <a:avLst/>
          </a:prstGeom>
        </p:spPr>
      </p:pic>
      <p:sp>
        <p:nvSpPr>
          <p:cNvPr id="30" name="Text 27"/>
          <p:cNvSpPr/>
          <p:nvPr/>
        </p:nvSpPr>
        <p:spPr>
          <a:xfrm>
            <a:off x="4389120" y="4242816"/>
            <a:ext cx="3886200" cy="292608"/>
          </a:xfrm>
          <a:prstGeom prst="rect">
            <a:avLst/>
          </a:prstGeom>
          <a:noFill/>
          <a:ln/>
        </p:spPr>
        <p:txBody>
          <a:bodyPr wrap="square" rtlCol="0" anchor="ctr"/>
          <a:lstStyle/>
          <a:p>
            <a:pPr indent="0" marL="0">
              <a:buNone/>
            </a:pPr>
            <a:r>
              <a:rPr lang="en-US" sz="750" i="1" dirty="0">
                <a:solidFill>
                  <a:srgbClr val="94A3B8"/>
                </a:solidFill>
                <a:latin typeface="Calibri" pitchFamily="34" charset="0"/>
                <a:ea typeface="Calibri" pitchFamily="34" charset="-122"/>
                <a:cs typeface="Calibri" pitchFamily="34" charset="-120"/>
              </a:rPr>
              <a:t>Figure: Monthly outbreak event counts aggregated across 2022–2025 (Phase 5B Analysis).</a:t>
            </a:r>
            <a:endParaRPr lang="en-US" sz="750" dirty="0"/>
          </a:p>
        </p:txBody>
      </p:sp>
      <p:sp>
        <p:nvSpPr>
          <p:cNvPr id="31" name="Shape 28"/>
          <p:cNvSpPr/>
          <p:nvPr/>
        </p:nvSpPr>
        <p:spPr>
          <a:xfrm>
            <a:off x="731520" y="4773168"/>
            <a:ext cx="7680960" cy="0"/>
          </a:xfrm>
          <a:prstGeom prst="line">
            <a:avLst/>
          </a:prstGeom>
          <a:noFill/>
          <a:ln w="9525">
            <a:solidFill>
              <a:srgbClr val="1E2D4A"/>
            </a:solidFill>
            <a:prstDash val="solid"/>
          </a:ln>
        </p:spPr>
      </p:sp>
      <p:sp>
        <p:nvSpPr>
          <p:cNvPr id="32" name="Text 29"/>
          <p:cNvSpPr/>
          <p:nvPr/>
        </p:nvSpPr>
        <p:spPr>
          <a:xfrm>
            <a:off x="731520" y="4846320"/>
            <a:ext cx="6583680" cy="201168"/>
          </a:xfrm>
          <a:prstGeom prst="rect">
            <a:avLst/>
          </a:prstGeom>
          <a:noFill/>
          <a:ln/>
        </p:spPr>
        <p:txBody>
          <a:bodyPr wrap="square" rtlCol="0" anchor="ctr"/>
          <a:lstStyle/>
          <a:p>
            <a:pPr indent="0" marL="0">
              <a:buNone/>
            </a:pPr>
            <a:r>
              <a:rPr lang="en-US" sz="650" dirty="0">
                <a:solidFill>
                  <a:srgbClr val="94A3B8"/>
                </a:solidFill>
                <a:latin typeface="Consolas" pitchFamily="34" charset="0"/>
                <a:ea typeface="Consolas" pitchFamily="34" charset="-122"/>
                <a:cs typeface="Consolas" pitchFamily="34" charset="-120"/>
              </a:rPr>
              <a:t>SOURCE: PHASE 5B MONTHLY AGGREGATION MATRIX | NCDC OUTBREAK RECORDS</a:t>
            </a:r>
            <a:endParaRPr lang="en-US" sz="650" dirty="0"/>
          </a:p>
        </p:txBody>
      </p:sp>
      <p:sp>
        <p:nvSpPr>
          <p:cNvPr id="33" name="Text 30"/>
          <p:cNvSpPr/>
          <p:nvPr/>
        </p:nvSpPr>
        <p:spPr>
          <a:xfrm>
            <a:off x="7498080" y="4846320"/>
            <a:ext cx="914400" cy="201168"/>
          </a:xfrm>
          <a:prstGeom prst="rect">
            <a:avLst/>
          </a:prstGeom>
          <a:noFill/>
          <a:ln/>
        </p:spPr>
        <p:txBody>
          <a:bodyPr wrap="square" rtlCol="0" anchor="ctr"/>
          <a:lstStyle/>
          <a:p>
            <a:pPr algn="r" indent="0" marL="0">
              <a:buNone/>
            </a:pPr>
            <a:r>
              <a:rPr lang="en-US" sz="750" b="1" dirty="0">
                <a:solidFill>
                  <a:srgbClr val="D4AF37"/>
                </a:solidFill>
                <a:latin typeface="Consolas" pitchFamily="34" charset="0"/>
                <a:ea typeface="Consolas" pitchFamily="34" charset="-122"/>
                <a:cs typeface="Consolas" pitchFamily="34" charset="-120"/>
              </a:rPr>
              <a:t>05 / 10</a:t>
            </a:r>
            <a:endParaRPr lang="en-US" sz="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1128"/>
        </a:solidFill>
      </p:bgPr>
    </p:bg>
    <p:spTree>
      <p:nvGrpSpPr>
        <p:cNvPr id="1" name=""/>
        <p:cNvGrpSpPr/>
        <p:nvPr/>
      </p:nvGrpSpPr>
      <p:grpSpPr>
        <a:xfrm>
          <a:off x="0" y="0"/>
          <a:ext cx="0" cy="0"/>
          <a:chOff x="0" y="0"/>
          <a:chExt cx="0" cy="0"/>
        </a:xfrm>
      </p:grpSpPr>
      <p:sp>
        <p:nvSpPr>
          <p:cNvPr id="2" name="Text 0"/>
          <p:cNvSpPr/>
          <p:nvPr/>
        </p:nvSpPr>
        <p:spPr>
          <a:xfrm>
            <a:off x="731520" y="292608"/>
            <a:ext cx="7680960" cy="201168"/>
          </a:xfrm>
          <a:prstGeom prst="rect">
            <a:avLst/>
          </a:prstGeom>
          <a:noFill/>
          <a:ln/>
        </p:spPr>
        <p:txBody>
          <a:bodyPr wrap="square" rtlCol="0" anchor="ctr"/>
          <a:lstStyle/>
          <a:p>
            <a:pPr indent="0" marL="0">
              <a:buNone/>
            </a:pPr>
            <a:r>
              <a:rPr lang="en-US" sz="750" b="1" spc="200" kern="0" dirty="0">
                <a:solidFill>
                  <a:srgbClr val="D4AF37"/>
                </a:solidFill>
                <a:latin typeface="Consolas" pitchFamily="34" charset="0"/>
                <a:ea typeface="Consolas" pitchFamily="34" charset="-122"/>
                <a:cs typeface="Consolas" pitchFamily="34" charset="-120"/>
              </a:rPr>
              <a:t>COMPARATIVE PROFILES  //  INTER-ANNUAL CONCORDANCE</a:t>
            </a:r>
            <a:endParaRPr lang="en-US" sz="750" dirty="0"/>
          </a:p>
        </p:txBody>
      </p:sp>
      <p:sp>
        <p:nvSpPr>
          <p:cNvPr id="3" name="Text 1"/>
          <p:cNvSpPr/>
          <p:nvPr/>
        </p:nvSpPr>
        <p:spPr>
          <a:xfrm>
            <a:off x="731520" y="493776"/>
            <a:ext cx="7680960" cy="438912"/>
          </a:xfrm>
          <a:prstGeom prst="rect">
            <a:avLst/>
          </a:prstGeom>
          <a:noFill/>
          <a:ln/>
        </p:spPr>
        <p:txBody>
          <a:bodyPr wrap="square" rtlCol="0" anchor="ctr"/>
          <a:lstStyle/>
          <a:p>
            <a:pPr indent="0" marL="0">
              <a:lnSpc>
                <a:spcPct val="110000"/>
              </a:lnSpc>
              <a:buNone/>
            </a:pPr>
            <a:r>
              <a:rPr lang="en-US" sz="2100" b="1" dirty="0">
                <a:solidFill>
                  <a:srgbClr val="FFFFFF"/>
                </a:solidFill>
                <a:latin typeface="Georgia" pitchFamily="34" charset="0"/>
                <a:ea typeface="Georgia" pitchFamily="34" charset="-122"/>
                <a:cs typeface="Georgia" pitchFamily="34" charset="-120"/>
              </a:rPr>
              <a:t>Observed Calendar Concentration &amp; Kendall’s W Stability</a:t>
            </a:r>
            <a:endParaRPr lang="en-US" sz="2100" dirty="0"/>
          </a:p>
        </p:txBody>
      </p:sp>
      <p:sp>
        <p:nvSpPr>
          <p:cNvPr id="4" name="Text 2"/>
          <p:cNvSpPr/>
          <p:nvPr/>
        </p:nvSpPr>
        <p:spPr>
          <a:xfrm>
            <a:off x="731520" y="932688"/>
            <a:ext cx="7680960" cy="256032"/>
          </a:xfrm>
          <a:prstGeom prst="rect">
            <a:avLst/>
          </a:prstGeom>
          <a:noFill/>
          <a:ln/>
        </p:spPr>
        <p:txBody>
          <a:bodyPr wrap="square" rtlCol="0" anchor="ctr"/>
          <a:lstStyle/>
          <a:p>
            <a:pPr indent="0" marL="0">
              <a:buNone/>
            </a:pPr>
            <a:r>
              <a:rPr lang="en-US" sz="1000" dirty="0">
                <a:solidFill>
                  <a:srgbClr val="F3E5AB"/>
                </a:solidFill>
                <a:latin typeface="Calibri" pitchFamily="34" charset="0"/>
                <a:ea typeface="Calibri" pitchFamily="34" charset="-122"/>
                <a:cs typeface="Calibri" pitchFamily="34" charset="-120"/>
              </a:rPr>
              <a:t>Measuring four-year monthly ranking consistency across 2022–2025 (tested at α = 0.05)</a:t>
            </a:r>
            <a:endParaRPr lang="en-US" sz="1000" dirty="0"/>
          </a:p>
        </p:txBody>
      </p:sp>
      <p:sp>
        <p:nvSpPr>
          <p:cNvPr id="5" name="Shape 3"/>
          <p:cNvSpPr/>
          <p:nvPr/>
        </p:nvSpPr>
        <p:spPr>
          <a:xfrm>
            <a:off x="731520" y="1225296"/>
            <a:ext cx="7680960" cy="0"/>
          </a:xfrm>
          <a:prstGeom prst="line">
            <a:avLst/>
          </a:prstGeom>
          <a:noFill/>
          <a:ln w="9525">
            <a:solidFill>
              <a:srgbClr val="D4AF37"/>
            </a:solidFill>
            <a:prstDash val="solid"/>
          </a:ln>
        </p:spPr>
      </p:sp>
      <p:sp>
        <p:nvSpPr>
          <p:cNvPr id="6" name="Shape 4"/>
          <p:cNvSpPr/>
          <p:nvPr/>
        </p:nvSpPr>
        <p:spPr>
          <a:xfrm>
            <a:off x="731520" y="1353312"/>
            <a:ext cx="4069080" cy="3218688"/>
          </a:xfrm>
          <a:prstGeom prst="rect">
            <a:avLst/>
          </a:prstGeom>
          <a:solidFill>
            <a:srgbClr val="101C38"/>
          </a:solidFill>
          <a:ln w="9525">
            <a:solidFill>
              <a:srgbClr val="1E335E"/>
            </a:solidFill>
            <a:prstDash val="solid"/>
          </a:ln>
        </p:spPr>
      </p:sp>
      <p:sp>
        <p:nvSpPr>
          <p:cNvPr id="7" name="Shape 5"/>
          <p:cNvSpPr/>
          <p:nvPr/>
        </p:nvSpPr>
        <p:spPr>
          <a:xfrm>
            <a:off x="731520" y="1353312"/>
            <a:ext cx="4069080" cy="0"/>
          </a:xfrm>
          <a:prstGeom prst="line">
            <a:avLst/>
          </a:prstGeom>
          <a:noFill/>
          <a:ln w="19050">
            <a:solidFill>
              <a:srgbClr val="D4AF37"/>
            </a:solidFill>
            <a:prstDash val="solid"/>
          </a:ln>
        </p:spPr>
      </p:sp>
      <p:sp>
        <p:nvSpPr>
          <p:cNvPr id="8" name="Text 6"/>
          <p:cNvSpPr/>
          <p:nvPr/>
        </p:nvSpPr>
        <p:spPr>
          <a:xfrm>
            <a:off x="868680" y="1444752"/>
            <a:ext cx="3794760" cy="182880"/>
          </a:xfrm>
          <a:prstGeom prst="rect">
            <a:avLst/>
          </a:prstGeom>
          <a:noFill/>
          <a:ln/>
        </p:spPr>
        <p:txBody>
          <a:bodyPr wrap="square" rtlCol="0" anchor="ctr"/>
          <a:lstStyle/>
          <a:p>
            <a:pPr indent="0" marL="0">
              <a:buNone/>
            </a:pPr>
            <a:r>
              <a:rPr lang="en-US" sz="700" b="1" spc="100" kern="0" dirty="0">
                <a:solidFill>
                  <a:srgbClr val="D4AF37"/>
                </a:solidFill>
                <a:latin typeface="Consolas" pitchFamily="34" charset="0"/>
                <a:ea typeface="Consolas" pitchFamily="34" charset="-122"/>
                <a:cs typeface="Consolas" pitchFamily="34" charset="-120"/>
              </a:rPr>
              <a:t>KENDALL’S W CONCORDANCE ANALYSIS</a:t>
            </a:r>
            <a:endParaRPr lang="en-US" sz="700" dirty="0"/>
          </a:p>
        </p:txBody>
      </p:sp>
      <p:sp>
        <p:nvSpPr>
          <p:cNvPr id="9" name="Text 7"/>
          <p:cNvSpPr/>
          <p:nvPr/>
        </p:nvSpPr>
        <p:spPr>
          <a:xfrm>
            <a:off x="868680" y="1645920"/>
            <a:ext cx="1325880" cy="164592"/>
          </a:xfrm>
          <a:prstGeom prst="rect">
            <a:avLst/>
          </a:prstGeom>
          <a:noFill/>
          <a:ln/>
        </p:spPr>
        <p:txBody>
          <a:bodyPr wrap="square" rtlCol="0" anchor="ctr"/>
          <a:lstStyle/>
          <a:p>
            <a:pPr indent="0" marL="0">
              <a:buNone/>
            </a:pPr>
            <a:r>
              <a:rPr lang="en-US" sz="650" b="1" dirty="0">
                <a:solidFill>
                  <a:srgbClr val="94A3B8"/>
                </a:solidFill>
                <a:latin typeface="Consolas" pitchFamily="34" charset="0"/>
                <a:ea typeface="Consolas" pitchFamily="34" charset="-122"/>
                <a:cs typeface="Consolas" pitchFamily="34" charset="-120"/>
              </a:rPr>
              <a:t>DISEASE FAMILY</a:t>
            </a:r>
            <a:endParaRPr lang="en-US" sz="650" dirty="0"/>
          </a:p>
        </p:txBody>
      </p:sp>
      <p:sp>
        <p:nvSpPr>
          <p:cNvPr id="10" name="Text 8"/>
          <p:cNvSpPr/>
          <p:nvPr/>
        </p:nvSpPr>
        <p:spPr>
          <a:xfrm>
            <a:off x="2240280" y="1645920"/>
            <a:ext cx="914400" cy="164592"/>
          </a:xfrm>
          <a:prstGeom prst="rect">
            <a:avLst/>
          </a:prstGeom>
          <a:noFill/>
          <a:ln/>
        </p:spPr>
        <p:txBody>
          <a:bodyPr wrap="square" rtlCol="0" anchor="ctr"/>
          <a:lstStyle/>
          <a:p>
            <a:pPr indent="0" marL="0">
              <a:buNone/>
            </a:pPr>
            <a:r>
              <a:rPr lang="en-US" sz="650" b="1" dirty="0">
                <a:solidFill>
                  <a:srgbClr val="94A3B8"/>
                </a:solidFill>
                <a:latin typeface="Consolas" pitchFamily="34" charset="0"/>
                <a:ea typeface="Consolas" pitchFamily="34" charset="-122"/>
                <a:cs typeface="Consolas" pitchFamily="34" charset="-120"/>
              </a:rPr>
              <a:t>CR3 (TOP 3 MO)</a:t>
            </a:r>
            <a:endParaRPr lang="en-US" sz="650" dirty="0"/>
          </a:p>
        </p:txBody>
      </p:sp>
      <p:sp>
        <p:nvSpPr>
          <p:cNvPr id="11" name="Text 9"/>
          <p:cNvSpPr/>
          <p:nvPr/>
        </p:nvSpPr>
        <p:spPr>
          <a:xfrm>
            <a:off x="3200400" y="1645920"/>
            <a:ext cx="594360" cy="164592"/>
          </a:xfrm>
          <a:prstGeom prst="rect">
            <a:avLst/>
          </a:prstGeom>
          <a:noFill/>
          <a:ln/>
        </p:spPr>
        <p:txBody>
          <a:bodyPr wrap="square" rtlCol="0" anchor="ctr"/>
          <a:lstStyle/>
          <a:p>
            <a:pPr indent="0" marL="0">
              <a:buNone/>
            </a:pPr>
            <a:r>
              <a:rPr lang="en-US" sz="650" b="1" dirty="0">
                <a:solidFill>
                  <a:srgbClr val="94A3B8"/>
                </a:solidFill>
                <a:latin typeface="Consolas" pitchFamily="34" charset="0"/>
                <a:ea typeface="Consolas" pitchFamily="34" charset="-122"/>
                <a:cs typeface="Consolas" pitchFamily="34" charset="-120"/>
              </a:rPr>
              <a:t>W-STAT</a:t>
            </a:r>
            <a:endParaRPr lang="en-US" sz="650" dirty="0"/>
          </a:p>
        </p:txBody>
      </p:sp>
      <p:sp>
        <p:nvSpPr>
          <p:cNvPr id="12" name="Text 10"/>
          <p:cNvSpPr/>
          <p:nvPr/>
        </p:nvSpPr>
        <p:spPr>
          <a:xfrm>
            <a:off x="3840480" y="1645920"/>
            <a:ext cx="594360" cy="164592"/>
          </a:xfrm>
          <a:prstGeom prst="rect">
            <a:avLst/>
          </a:prstGeom>
          <a:noFill/>
          <a:ln/>
        </p:spPr>
        <p:txBody>
          <a:bodyPr wrap="square" rtlCol="0" anchor="ctr"/>
          <a:lstStyle/>
          <a:p>
            <a:pPr indent="0" marL="0">
              <a:buNone/>
            </a:pPr>
            <a:r>
              <a:rPr lang="en-US" sz="650" b="1" dirty="0">
                <a:solidFill>
                  <a:srgbClr val="94A3B8"/>
                </a:solidFill>
                <a:latin typeface="Consolas" pitchFamily="34" charset="0"/>
                <a:ea typeface="Consolas" pitchFamily="34" charset="-122"/>
                <a:cs typeface="Consolas" pitchFamily="34" charset="-120"/>
              </a:rPr>
              <a:t>p-VALUE</a:t>
            </a:r>
            <a:endParaRPr lang="en-US" sz="650" dirty="0"/>
          </a:p>
        </p:txBody>
      </p:sp>
      <p:sp>
        <p:nvSpPr>
          <p:cNvPr id="13" name="Shape 11"/>
          <p:cNvSpPr/>
          <p:nvPr/>
        </p:nvSpPr>
        <p:spPr>
          <a:xfrm>
            <a:off x="868680" y="1828800"/>
            <a:ext cx="3794760" cy="0"/>
          </a:xfrm>
          <a:prstGeom prst="line">
            <a:avLst/>
          </a:prstGeom>
          <a:noFill/>
          <a:ln w="6350">
            <a:solidFill>
              <a:srgbClr val="1E2D4A"/>
            </a:solidFill>
            <a:prstDash val="solid"/>
          </a:ln>
        </p:spPr>
      </p:sp>
      <p:sp>
        <p:nvSpPr>
          <p:cNvPr id="14" name="Shape 12"/>
          <p:cNvSpPr/>
          <p:nvPr/>
        </p:nvSpPr>
        <p:spPr>
          <a:xfrm>
            <a:off x="822960" y="1883664"/>
            <a:ext cx="3886200" cy="438912"/>
          </a:xfrm>
          <a:prstGeom prst="rect">
            <a:avLst/>
          </a:prstGeom>
          <a:solidFill>
            <a:srgbClr val="132845"/>
          </a:solidFill>
          <a:ln w="9525">
            <a:solidFill>
              <a:srgbClr val="10B981"/>
            </a:solidFill>
            <a:prstDash val="solid"/>
          </a:ln>
        </p:spPr>
      </p:sp>
      <p:sp>
        <p:nvSpPr>
          <p:cNvPr id="15" name="Text 13"/>
          <p:cNvSpPr/>
          <p:nvPr/>
        </p:nvSpPr>
        <p:spPr>
          <a:xfrm>
            <a:off x="868680" y="1920240"/>
            <a:ext cx="1325880" cy="201168"/>
          </a:xfrm>
          <a:prstGeom prst="rect">
            <a:avLst/>
          </a:prstGeom>
          <a:noFill/>
          <a:ln/>
        </p:spPr>
        <p:txBody>
          <a:bodyPr wrap="square" rtlCol="0" anchor="ctr"/>
          <a:lstStyle/>
          <a:p>
            <a:pPr indent="0" marL="0">
              <a:buNone/>
            </a:pPr>
            <a:r>
              <a:rPr lang="en-US" sz="850" b="1" dirty="0">
                <a:solidFill>
                  <a:srgbClr val="34D399"/>
                </a:solidFill>
                <a:latin typeface="Calibri" pitchFamily="34" charset="0"/>
                <a:ea typeface="Calibri" pitchFamily="34" charset="-122"/>
                <a:cs typeface="Calibri" pitchFamily="34" charset="-120"/>
              </a:rPr>
              <a:t>Acute Diarrheal Dis.</a:t>
            </a:r>
            <a:endParaRPr lang="en-US" sz="850" dirty="0"/>
          </a:p>
        </p:txBody>
      </p:sp>
      <p:sp>
        <p:nvSpPr>
          <p:cNvPr id="16" name="Text 14"/>
          <p:cNvSpPr/>
          <p:nvPr/>
        </p:nvSpPr>
        <p:spPr>
          <a:xfrm>
            <a:off x="2240280" y="1920240"/>
            <a:ext cx="914400" cy="201168"/>
          </a:xfrm>
          <a:prstGeom prst="rect">
            <a:avLst/>
          </a:prstGeom>
          <a:noFill/>
          <a:ln/>
        </p:spPr>
        <p:txBody>
          <a:bodyPr wrap="square" rtlCol="0" anchor="ctr"/>
          <a:lstStyle/>
          <a:p>
            <a:pPr indent="0" marL="0">
              <a:buNone/>
            </a:pPr>
            <a:r>
              <a:rPr lang="en-US" sz="700" dirty="0">
                <a:solidFill>
                  <a:srgbClr val="E2E8F0"/>
                </a:solidFill>
                <a:latin typeface="Consolas" pitchFamily="34" charset="0"/>
                <a:ea typeface="Consolas" pitchFamily="34" charset="-122"/>
                <a:cs typeface="Consolas" pitchFamily="34" charset="-120"/>
              </a:rPr>
              <a:t>43.1% (Jun–Aug)</a:t>
            </a:r>
            <a:endParaRPr lang="en-US" sz="700" dirty="0"/>
          </a:p>
        </p:txBody>
      </p:sp>
      <p:sp>
        <p:nvSpPr>
          <p:cNvPr id="17" name="Text 15"/>
          <p:cNvSpPr/>
          <p:nvPr/>
        </p:nvSpPr>
        <p:spPr>
          <a:xfrm>
            <a:off x="3200400" y="1920240"/>
            <a:ext cx="594360" cy="201168"/>
          </a:xfrm>
          <a:prstGeom prst="rect">
            <a:avLst/>
          </a:prstGeom>
          <a:noFill/>
          <a:ln/>
        </p:spPr>
        <p:txBody>
          <a:bodyPr wrap="square" rtlCol="0" anchor="ctr"/>
          <a:lstStyle/>
          <a:p>
            <a:pPr indent="0" marL="0">
              <a:buNone/>
            </a:pPr>
            <a:r>
              <a:rPr lang="en-US" sz="800" b="1" dirty="0">
                <a:solidFill>
                  <a:srgbClr val="34D399"/>
                </a:solidFill>
                <a:latin typeface="Consolas" pitchFamily="34" charset="0"/>
                <a:ea typeface="Consolas" pitchFamily="34" charset="-122"/>
                <a:cs typeface="Consolas" pitchFamily="34" charset="-120"/>
              </a:rPr>
              <a:t>0.530</a:t>
            </a:r>
            <a:endParaRPr lang="en-US" sz="800" dirty="0"/>
          </a:p>
        </p:txBody>
      </p:sp>
      <p:sp>
        <p:nvSpPr>
          <p:cNvPr id="18" name="Text 16"/>
          <p:cNvSpPr/>
          <p:nvPr/>
        </p:nvSpPr>
        <p:spPr>
          <a:xfrm>
            <a:off x="3840480" y="1920240"/>
            <a:ext cx="594360" cy="201168"/>
          </a:xfrm>
          <a:prstGeom prst="rect">
            <a:avLst/>
          </a:prstGeom>
          <a:noFill/>
          <a:ln/>
        </p:spPr>
        <p:txBody>
          <a:bodyPr wrap="square" rtlCol="0" anchor="ctr"/>
          <a:lstStyle/>
          <a:p>
            <a:pPr indent="0" marL="0">
              <a:buNone/>
            </a:pPr>
            <a:r>
              <a:rPr lang="en-US" sz="800" b="1" dirty="0">
                <a:solidFill>
                  <a:srgbClr val="34D399"/>
                </a:solidFill>
                <a:latin typeface="Consolas" pitchFamily="34" charset="0"/>
                <a:ea typeface="Consolas" pitchFamily="34" charset="-122"/>
                <a:cs typeface="Consolas" pitchFamily="34" charset="-120"/>
              </a:rPr>
              <a:t>0.016*</a:t>
            </a:r>
            <a:endParaRPr lang="en-US" sz="800" dirty="0"/>
          </a:p>
        </p:txBody>
      </p:sp>
      <p:sp>
        <p:nvSpPr>
          <p:cNvPr id="19" name="Text 17"/>
          <p:cNvSpPr/>
          <p:nvPr/>
        </p:nvSpPr>
        <p:spPr>
          <a:xfrm>
            <a:off x="868680" y="2121408"/>
            <a:ext cx="3703320" cy="182880"/>
          </a:xfrm>
          <a:prstGeom prst="rect">
            <a:avLst/>
          </a:prstGeom>
          <a:noFill/>
          <a:ln/>
        </p:spPr>
        <p:txBody>
          <a:bodyPr wrap="square" rtlCol="0" anchor="ctr"/>
          <a:lstStyle/>
          <a:p>
            <a:pPr indent="0" marL="0">
              <a:buNone/>
            </a:pPr>
            <a:r>
              <a:rPr lang="en-US" sz="700" i="1" dirty="0">
                <a:solidFill>
                  <a:srgbClr val="F3E5AB"/>
                </a:solidFill>
                <a:latin typeface="Calibri" pitchFamily="34" charset="0"/>
                <a:ea typeface="Calibri" pitchFamily="34" charset="-122"/>
                <a:cs typeface="Calibri" pitchFamily="34" charset="-120"/>
              </a:rPr>
              <a:t>Statistically significant inter-annual concordance (p &lt; 0.05)</a:t>
            </a:r>
            <a:endParaRPr lang="en-US" sz="700" dirty="0"/>
          </a:p>
        </p:txBody>
      </p:sp>
      <p:sp>
        <p:nvSpPr>
          <p:cNvPr id="20" name="Text 18"/>
          <p:cNvSpPr/>
          <p:nvPr/>
        </p:nvSpPr>
        <p:spPr>
          <a:xfrm>
            <a:off x="868680" y="2395728"/>
            <a:ext cx="1325880" cy="201168"/>
          </a:xfrm>
          <a:prstGeom prst="rect">
            <a:avLst/>
          </a:prstGeom>
          <a:noFill/>
          <a:ln/>
        </p:spPr>
        <p:txBody>
          <a:bodyPr wrap="square" rtlCol="0" anchor="ctr"/>
          <a:lstStyle/>
          <a:p>
            <a:pPr indent="0" marL="0">
              <a:buNone/>
            </a:pPr>
            <a:r>
              <a:rPr lang="en-US" sz="850" b="1" dirty="0">
                <a:solidFill>
                  <a:srgbClr val="FFFFFF"/>
                </a:solidFill>
                <a:latin typeface="Calibri" pitchFamily="34" charset="0"/>
                <a:ea typeface="Calibri" pitchFamily="34" charset="-122"/>
                <a:cs typeface="Calibri" pitchFamily="34" charset="-120"/>
              </a:rPr>
              <a:t>Dengue</a:t>
            </a:r>
            <a:endParaRPr lang="en-US" sz="850" dirty="0"/>
          </a:p>
        </p:txBody>
      </p:sp>
      <p:sp>
        <p:nvSpPr>
          <p:cNvPr id="21" name="Text 19"/>
          <p:cNvSpPr/>
          <p:nvPr/>
        </p:nvSpPr>
        <p:spPr>
          <a:xfrm>
            <a:off x="2240280" y="2395728"/>
            <a:ext cx="914400" cy="201168"/>
          </a:xfrm>
          <a:prstGeom prst="rect">
            <a:avLst/>
          </a:prstGeom>
          <a:noFill/>
          <a:ln/>
        </p:spPr>
        <p:txBody>
          <a:bodyPr wrap="square" rtlCol="0" anchor="ctr"/>
          <a:lstStyle/>
          <a:p>
            <a:pPr indent="0" marL="0">
              <a:buNone/>
            </a:pPr>
            <a:r>
              <a:rPr lang="en-US" sz="700" dirty="0">
                <a:solidFill>
                  <a:srgbClr val="E2E8F0"/>
                </a:solidFill>
                <a:latin typeface="Consolas" pitchFamily="34" charset="0"/>
                <a:ea typeface="Consolas" pitchFamily="34" charset="-122"/>
                <a:cs typeface="Consolas" pitchFamily="34" charset="-120"/>
              </a:rPr>
              <a:t>50.5% (Aug–Oct)</a:t>
            </a:r>
            <a:endParaRPr lang="en-US" sz="700" dirty="0"/>
          </a:p>
        </p:txBody>
      </p:sp>
      <p:sp>
        <p:nvSpPr>
          <p:cNvPr id="22" name="Text 20"/>
          <p:cNvSpPr/>
          <p:nvPr/>
        </p:nvSpPr>
        <p:spPr>
          <a:xfrm>
            <a:off x="3200400" y="2395728"/>
            <a:ext cx="594360" cy="201168"/>
          </a:xfrm>
          <a:prstGeom prst="rect">
            <a:avLst/>
          </a:prstGeom>
          <a:noFill/>
          <a:ln/>
        </p:spPr>
        <p:txBody>
          <a:bodyPr wrap="square" rtlCol="0" anchor="ctr"/>
          <a:lstStyle/>
          <a:p>
            <a:pPr indent="0" marL="0">
              <a:buNone/>
            </a:pPr>
            <a:r>
              <a:rPr lang="en-US" sz="800" dirty="0">
                <a:solidFill>
                  <a:srgbClr val="F3E5AB"/>
                </a:solidFill>
                <a:latin typeface="Consolas" pitchFamily="34" charset="0"/>
                <a:ea typeface="Consolas" pitchFamily="34" charset="-122"/>
                <a:cs typeface="Consolas" pitchFamily="34" charset="-120"/>
              </a:rPr>
              <a:t>0.405</a:t>
            </a:r>
            <a:endParaRPr lang="en-US" sz="800" dirty="0"/>
          </a:p>
        </p:txBody>
      </p:sp>
      <p:sp>
        <p:nvSpPr>
          <p:cNvPr id="23" name="Text 21"/>
          <p:cNvSpPr/>
          <p:nvPr/>
        </p:nvSpPr>
        <p:spPr>
          <a:xfrm>
            <a:off x="3840480" y="2395728"/>
            <a:ext cx="594360" cy="201168"/>
          </a:xfrm>
          <a:prstGeom prst="rect">
            <a:avLst/>
          </a:prstGeom>
          <a:noFill/>
          <a:ln/>
        </p:spPr>
        <p:txBody>
          <a:bodyPr wrap="square" rtlCol="0" anchor="ctr"/>
          <a:lstStyle/>
          <a:p>
            <a:pPr indent="0" marL="0">
              <a:buNone/>
            </a:pPr>
            <a:r>
              <a:rPr lang="en-US" sz="800" dirty="0">
                <a:solidFill>
                  <a:srgbClr val="94A3B8"/>
                </a:solidFill>
                <a:latin typeface="Consolas" pitchFamily="34" charset="0"/>
                <a:ea typeface="Consolas" pitchFamily="34" charset="-122"/>
                <a:cs typeface="Consolas" pitchFamily="34" charset="-120"/>
              </a:rPr>
              <a:t>0.086</a:t>
            </a:r>
            <a:endParaRPr lang="en-US" sz="800" dirty="0"/>
          </a:p>
        </p:txBody>
      </p:sp>
      <p:sp>
        <p:nvSpPr>
          <p:cNvPr id="24" name="Text 22"/>
          <p:cNvSpPr/>
          <p:nvPr/>
        </p:nvSpPr>
        <p:spPr>
          <a:xfrm>
            <a:off x="868680" y="2596896"/>
            <a:ext cx="3703320" cy="182880"/>
          </a:xfrm>
          <a:prstGeom prst="rect">
            <a:avLst/>
          </a:prstGeom>
          <a:noFill/>
          <a:ln/>
        </p:spPr>
        <p:txBody>
          <a:bodyPr wrap="square" rtlCol="0" anchor="ctr"/>
          <a:lstStyle/>
          <a:p>
            <a:pPr indent="0" marL="0">
              <a:buNone/>
            </a:pPr>
            <a:r>
              <a:rPr lang="en-US" sz="700" i="1" dirty="0">
                <a:solidFill>
                  <a:srgbClr val="94A3B8"/>
                </a:solidFill>
                <a:latin typeface="Calibri" pitchFamily="34" charset="0"/>
                <a:ea typeface="Calibri" pitchFamily="34" charset="-122"/>
                <a:cs typeface="Calibri" pitchFamily="34" charset="-120"/>
              </a:rPr>
              <a:t>Non-significant (annual peak shifts between Sep and Oct)</a:t>
            </a:r>
            <a:endParaRPr lang="en-US" sz="700" dirty="0"/>
          </a:p>
        </p:txBody>
      </p:sp>
      <p:sp>
        <p:nvSpPr>
          <p:cNvPr id="25" name="Text 23"/>
          <p:cNvSpPr/>
          <p:nvPr/>
        </p:nvSpPr>
        <p:spPr>
          <a:xfrm>
            <a:off x="868680" y="2871216"/>
            <a:ext cx="1325880" cy="201168"/>
          </a:xfrm>
          <a:prstGeom prst="rect">
            <a:avLst/>
          </a:prstGeom>
          <a:noFill/>
          <a:ln/>
        </p:spPr>
        <p:txBody>
          <a:bodyPr wrap="square" rtlCol="0" anchor="ctr"/>
          <a:lstStyle/>
          <a:p>
            <a:pPr indent="0" marL="0">
              <a:buNone/>
            </a:pPr>
            <a:r>
              <a:rPr lang="en-US" sz="850" b="1" dirty="0">
                <a:solidFill>
                  <a:srgbClr val="FFFFFF"/>
                </a:solidFill>
                <a:latin typeface="Calibri" pitchFamily="34" charset="0"/>
                <a:ea typeface="Calibri" pitchFamily="34" charset="-122"/>
                <a:cs typeface="Calibri" pitchFamily="34" charset="-120"/>
              </a:rPr>
              <a:t>Malaria</a:t>
            </a:r>
            <a:endParaRPr lang="en-US" sz="850" dirty="0"/>
          </a:p>
        </p:txBody>
      </p:sp>
      <p:sp>
        <p:nvSpPr>
          <p:cNvPr id="26" name="Text 24"/>
          <p:cNvSpPr/>
          <p:nvPr/>
        </p:nvSpPr>
        <p:spPr>
          <a:xfrm>
            <a:off x="2240280" y="2871216"/>
            <a:ext cx="914400" cy="201168"/>
          </a:xfrm>
          <a:prstGeom prst="rect">
            <a:avLst/>
          </a:prstGeom>
          <a:noFill/>
          <a:ln/>
        </p:spPr>
        <p:txBody>
          <a:bodyPr wrap="square" rtlCol="0" anchor="ctr"/>
          <a:lstStyle/>
          <a:p>
            <a:pPr indent="0" marL="0">
              <a:buNone/>
            </a:pPr>
            <a:r>
              <a:rPr lang="en-US" sz="700" dirty="0">
                <a:solidFill>
                  <a:srgbClr val="E2E8F0"/>
                </a:solidFill>
                <a:latin typeface="Consolas" pitchFamily="34" charset="0"/>
                <a:ea typeface="Consolas" pitchFamily="34" charset="-122"/>
                <a:cs typeface="Consolas" pitchFamily="34" charset="-120"/>
              </a:rPr>
              <a:t>51.4% (May–Jul)</a:t>
            </a:r>
            <a:endParaRPr lang="en-US" sz="700" dirty="0"/>
          </a:p>
        </p:txBody>
      </p:sp>
      <p:sp>
        <p:nvSpPr>
          <p:cNvPr id="27" name="Text 25"/>
          <p:cNvSpPr/>
          <p:nvPr/>
        </p:nvSpPr>
        <p:spPr>
          <a:xfrm>
            <a:off x="3200400" y="2871216"/>
            <a:ext cx="594360" cy="201168"/>
          </a:xfrm>
          <a:prstGeom prst="rect">
            <a:avLst/>
          </a:prstGeom>
          <a:noFill/>
          <a:ln/>
        </p:spPr>
        <p:txBody>
          <a:bodyPr wrap="square" rtlCol="0" anchor="ctr"/>
          <a:lstStyle/>
          <a:p>
            <a:pPr indent="0" marL="0">
              <a:buNone/>
            </a:pPr>
            <a:r>
              <a:rPr lang="en-US" sz="800" dirty="0">
                <a:solidFill>
                  <a:srgbClr val="F3E5AB"/>
                </a:solidFill>
                <a:latin typeface="Consolas" pitchFamily="34" charset="0"/>
                <a:ea typeface="Consolas" pitchFamily="34" charset="-122"/>
                <a:cs typeface="Consolas" pitchFamily="34" charset="-120"/>
              </a:rPr>
              <a:t>0.319</a:t>
            </a:r>
            <a:endParaRPr lang="en-US" sz="800" dirty="0"/>
          </a:p>
        </p:txBody>
      </p:sp>
      <p:sp>
        <p:nvSpPr>
          <p:cNvPr id="28" name="Text 26"/>
          <p:cNvSpPr/>
          <p:nvPr/>
        </p:nvSpPr>
        <p:spPr>
          <a:xfrm>
            <a:off x="3840480" y="2871216"/>
            <a:ext cx="594360" cy="201168"/>
          </a:xfrm>
          <a:prstGeom prst="rect">
            <a:avLst/>
          </a:prstGeom>
          <a:noFill/>
          <a:ln/>
        </p:spPr>
        <p:txBody>
          <a:bodyPr wrap="square" rtlCol="0" anchor="ctr"/>
          <a:lstStyle/>
          <a:p>
            <a:pPr indent="0" marL="0">
              <a:buNone/>
            </a:pPr>
            <a:r>
              <a:rPr lang="en-US" sz="800" dirty="0">
                <a:solidFill>
                  <a:srgbClr val="94A3B8"/>
                </a:solidFill>
                <a:latin typeface="Consolas" pitchFamily="34" charset="0"/>
                <a:ea typeface="Consolas" pitchFamily="34" charset="-122"/>
                <a:cs typeface="Consolas" pitchFamily="34" charset="-120"/>
              </a:rPr>
              <a:t>0.229</a:t>
            </a:r>
            <a:endParaRPr lang="en-US" sz="800" dirty="0"/>
          </a:p>
        </p:txBody>
      </p:sp>
      <p:sp>
        <p:nvSpPr>
          <p:cNvPr id="29" name="Text 27"/>
          <p:cNvSpPr/>
          <p:nvPr/>
        </p:nvSpPr>
        <p:spPr>
          <a:xfrm>
            <a:off x="868680" y="3072384"/>
            <a:ext cx="3703320" cy="182880"/>
          </a:xfrm>
          <a:prstGeom prst="rect">
            <a:avLst/>
          </a:prstGeom>
          <a:noFill/>
          <a:ln/>
        </p:spPr>
        <p:txBody>
          <a:bodyPr wrap="square" rtlCol="0" anchor="ctr"/>
          <a:lstStyle/>
          <a:p>
            <a:pPr indent="0" marL="0">
              <a:buNone/>
            </a:pPr>
            <a:r>
              <a:rPr lang="en-US" sz="700" i="1" dirty="0">
                <a:solidFill>
                  <a:srgbClr val="94A3B8"/>
                </a:solidFill>
                <a:latin typeface="Calibri" pitchFamily="34" charset="0"/>
                <a:ea typeface="Calibri" pitchFamily="34" charset="-122"/>
                <a:cs typeface="Calibri" pitchFamily="34" charset="-120"/>
              </a:rPr>
              <a:t>Non-significant (early-monsoon elevation with variable timing)</a:t>
            </a:r>
            <a:endParaRPr lang="en-US" sz="700" dirty="0"/>
          </a:p>
        </p:txBody>
      </p:sp>
      <p:sp>
        <p:nvSpPr>
          <p:cNvPr id="30" name="Text 28"/>
          <p:cNvSpPr/>
          <p:nvPr/>
        </p:nvSpPr>
        <p:spPr>
          <a:xfrm>
            <a:off x="868680" y="3346704"/>
            <a:ext cx="1325880" cy="201168"/>
          </a:xfrm>
          <a:prstGeom prst="rect">
            <a:avLst/>
          </a:prstGeom>
          <a:noFill/>
          <a:ln/>
        </p:spPr>
        <p:txBody>
          <a:bodyPr wrap="square" rtlCol="0" anchor="ctr"/>
          <a:lstStyle/>
          <a:p>
            <a:pPr indent="0" marL="0">
              <a:buNone/>
            </a:pPr>
            <a:r>
              <a:rPr lang="en-US" sz="850" b="1" dirty="0">
                <a:solidFill>
                  <a:srgbClr val="FFFFFF"/>
                </a:solidFill>
                <a:latin typeface="Calibri" pitchFamily="34" charset="0"/>
                <a:ea typeface="Calibri" pitchFamily="34" charset="-122"/>
                <a:cs typeface="Calibri" pitchFamily="34" charset="-120"/>
              </a:rPr>
              <a:t>Food Poisoning</a:t>
            </a:r>
            <a:endParaRPr lang="en-US" sz="850" dirty="0"/>
          </a:p>
        </p:txBody>
      </p:sp>
      <p:sp>
        <p:nvSpPr>
          <p:cNvPr id="31" name="Text 29"/>
          <p:cNvSpPr/>
          <p:nvPr/>
        </p:nvSpPr>
        <p:spPr>
          <a:xfrm>
            <a:off x="2240280" y="3346704"/>
            <a:ext cx="914400" cy="201168"/>
          </a:xfrm>
          <a:prstGeom prst="rect">
            <a:avLst/>
          </a:prstGeom>
          <a:noFill/>
          <a:ln/>
        </p:spPr>
        <p:txBody>
          <a:bodyPr wrap="square" rtlCol="0" anchor="ctr"/>
          <a:lstStyle/>
          <a:p>
            <a:pPr indent="0" marL="0">
              <a:buNone/>
            </a:pPr>
            <a:r>
              <a:rPr lang="en-US" sz="700" dirty="0">
                <a:solidFill>
                  <a:srgbClr val="E2E8F0"/>
                </a:solidFill>
                <a:latin typeface="Consolas" pitchFamily="34" charset="0"/>
                <a:ea typeface="Consolas" pitchFamily="34" charset="-122"/>
                <a:cs typeface="Consolas" pitchFamily="34" charset="-120"/>
              </a:rPr>
              <a:t>44.9% (Apr/May/Feb)</a:t>
            </a:r>
            <a:endParaRPr lang="en-US" sz="700" dirty="0"/>
          </a:p>
        </p:txBody>
      </p:sp>
      <p:sp>
        <p:nvSpPr>
          <p:cNvPr id="32" name="Text 30"/>
          <p:cNvSpPr/>
          <p:nvPr/>
        </p:nvSpPr>
        <p:spPr>
          <a:xfrm>
            <a:off x="3200400" y="3346704"/>
            <a:ext cx="594360" cy="201168"/>
          </a:xfrm>
          <a:prstGeom prst="rect">
            <a:avLst/>
          </a:prstGeom>
          <a:noFill/>
          <a:ln/>
        </p:spPr>
        <p:txBody>
          <a:bodyPr wrap="square" rtlCol="0" anchor="ctr"/>
          <a:lstStyle/>
          <a:p>
            <a:pPr indent="0" marL="0">
              <a:buNone/>
            </a:pPr>
            <a:r>
              <a:rPr lang="en-US" sz="800" dirty="0">
                <a:solidFill>
                  <a:srgbClr val="F3E5AB"/>
                </a:solidFill>
                <a:latin typeface="Consolas" pitchFamily="34" charset="0"/>
                <a:ea typeface="Consolas" pitchFamily="34" charset="-122"/>
                <a:cs typeface="Consolas" pitchFamily="34" charset="-120"/>
              </a:rPr>
              <a:t>0.260</a:t>
            </a:r>
            <a:endParaRPr lang="en-US" sz="800" dirty="0"/>
          </a:p>
        </p:txBody>
      </p:sp>
      <p:sp>
        <p:nvSpPr>
          <p:cNvPr id="33" name="Text 31"/>
          <p:cNvSpPr/>
          <p:nvPr/>
        </p:nvSpPr>
        <p:spPr>
          <a:xfrm>
            <a:off x="3840480" y="3346704"/>
            <a:ext cx="594360" cy="201168"/>
          </a:xfrm>
          <a:prstGeom prst="rect">
            <a:avLst/>
          </a:prstGeom>
          <a:noFill/>
          <a:ln/>
        </p:spPr>
        <p:txBody>
          <a:bodyPr wrap="square" rtlCol="0" anchor="ctr"/>
          <a:lstStyle/>
          <a:p>
            <a:pPr indent="0" marL="0">
              <a:buNone/>
            </a:pPr>
            <a:r>
              <a:rPr lang="en-US" sz="800" dirty="0">
                <a:solidFill>
                  <a:srgbClr val="94A3B8"/>
                </a:solidFill>
                <a:latin typeface="Consolas" pitchFamily="34" charset="0"/>
                <a:ea typeface="Consolas" pitchFamily="34" charset="-122"/>
                <a:cs typeface="Consolas" pitchFamily="34" charset="-120"/>
              </a:rPr>
              <a:t>0.380</a:t>
            </a:r>
            <a:endParaRPr lang="en-US" sz="800" dirty="0"/>
          </a:p>
        </p:txBody>
      </p:sp>
      <p:sp>
        <p:nvSpPr>
          <p:cNvPr id="34" name="Text 32"/>
          <p:cNvSpPr/>
          <p:nvPr/>
        </p:nvSpPr>
        <p:spPr>
          <a:xfrm>
            <a:off x="868680" y="3547872"/>
            <a:ext cx="3703320" cy="182880"/>
          </a:xfrm>
          <a:prstGeom prst="rect">
            <a:avLst/>
          </a:prstGeom>
          <a:noFill/>
          <a:ln/>
        </p:spPr>
        <p:txBody>
          <a:bodyPr wrap="square" rtlCol="0" anchor="ctr"/>
          <a:lstStyle/>
          <a:p>
            <a:pPr indent="0" marL="0">
              <a:buNone/>
            </a:pPr>
            <a:r>
              <a:rPr lang="en-US" sz="700" i="1" dirty="0">
                <a:solidFill>
                  <a:srgbClr val="94A3B8"/>
                </a:solidFill>
                <a:latin typeface="Calibri" pitchFamily="34" charset="0"/>
                <a:ea typeface="Calibri" pitchFamily="34" charset="-122"/>
                <a:cs typeface="Calibri" pitchFamily="34" charset="-120"/>
              </a:rPr>
              <a:t>Non-significant (bimodal, sensitive to mass-case events)</a:t>
            </a:r>
            <a:endParaRPr lang="en-US" sz="700" dirty="0"/>
          </a:p>
        </p:txBody>
      </p:sp>
      <p:sp>
        <p:nvSpPr>
          <p:cNvPr id="35" name="Text 33"/>
          <p:cNvSpPr/>
          <p:nvPr/>
        </p:nvSpPr>
        <p:spPr>
          <a:xfrm>
            <a:off x="868680" y="3822192"/>
            <a:ext cx="1325880" cy="201168"/>
          </a:xfrm>
          <a:prstGeom prst="rect">
            <a:avLst/>
          </a:prstGeom>
          <a:noFill/>
          <a:ln/>
        </p:spPr>
        <p:txBody>
          <a:bodyPr wrap="square" rtlCol="0" anchor="ctr"/>
          <a:lstStyle/>
          <a:p>
            <a:pPr indent="0" marL="0">
              <a:buNone/>
            </a:pPr>
            <a:r>
              <a:rPr lang="en-US" sz="850" b="1" dirty="0">
                <a:solidFill>
                  <a:srgbClr val="FFFFFF"/>
                </a:solidFill>
                <a:latin typeface="Calibri" pitchFamily="34" charset="0"/>
                <a:ea typeface="Calibri" pitchFamily="34" charset="-122"/>
                <a:cs typeface="Calibri" pitchFamily="34" charset="-120"/>
              </a:rPr>
              <a:t>Chikungunya</a:t>
            </a:r>
            <a:endParaRPr lang="en-US" sz="850" dirty="0"/>
          </a:p>
        </p:txBody>
      </p:sp>
      <p:sp>
        <p:nvSpPr>
          <p:cNvPr id="36" name="Text 34"/>
          <p:cNvSpPr/>
          <p:nvPr/>
        </p:nvSpPr>
        <p:spPr>
          <a:xfrm>
            <a:off x="2240280" y="3822192"/>
            <a:ext cx="914400" cy="201168"/>
          </a:xfrm>
          <a:prstGeom prst="rect">
            <a:avLst/>
          </a:prstGeom>
          <a:noFill/>
          <a:ln/>
        </p:spPr>
        <p:txBody>
          <a:bodyPr wrap="square" rtlCol="0" anchor="ctr"/>
          <a:lstStyle/>
          <a:p>
            <a:pPr indent="0" marL="0">
              <a:buNone/>
            </a:pPr>
            <a:r>
              <a:rPr lang="en-US" sz="700" dirty="0">
                <a:solidFill>
                  <a:srgbClr val="E2E8F0"/>
                </a:solidFill>
                <a:latin typeface="Consolas" pitchFamily="34" charset="0"/>
                <a:ea typeface="Consolas" pitchFamily="34" charset="-122"/>
                <a:cs typeface="Consolas" pitchFamily="34" charset="-120"/>
              </a:rPr>
              <a:t>41.9% (May/Jun/Sep)</a:t>
            </a:r>
            <a:endParaRPr lang="en-US" sz="700" dirty="0"/>
          </a:p>
        </p:txBody>
      </p:sp>
      <p:sp>
        <p:nvSpPr>
          <p:cNvPr id="37" name="Text 35"/>
          <p:cNvSpPr/>
          <p:nvPr/>
        </p:nvSpPr>
        <p:spPr>
          <a:xfrm>
            <a:off x="3200400" y="3822192"/>
            <a:ext cx="594360" cy="201168"/>
          </a:xfrm>
          <a:prstGeom prst="rect">
            <a:avLst/>
          </a:prstGeom>
          <a:noFill/>
          <a:ln/>
        </p:spPr>
        <p:txBody>
          <a:bodyPr wrap="square" rtlCol="0" anchor="ctr"/>
          <a:lstStyle/>
          <a:p>
            <a:pPr indent="0" marL="0">
              <a:buNone/>
            </a:pPr>
            <a:r>
              <a:rPr lang="en-US" sz="800" dirty="0">
                <a:solidFill>
                  <a:srgbClr val="F3E5AB"/>
                </a:solidFill>
                <a:latin typeface="Consolas" pitchFamily="34" charset="0"/>
                <a:ea typeface="Consolas" pitchFamily="34" charset="-122"/>
                <a:cs typeface="Consolas" pitchFamily="34" charset="-120"/>
              </a:rPr>
              <a:t>0.221</a:t>
            </a:r>
            <a:endParaRPr lang="en-US" sz="800" dirty="0"/>
          </a:p>
        </p:txBody>
      </p:sp>
      <p:sp>
        <p:nvSpPr>
          <p:cNvPr id="38" name="Text 36"/>
          <p:cNvSpPr/>
          <p:nvPr/>
        </p:nvSpPr>
        <p:spPr>
          <a:xfrm>
            <a:off x="3840480" y="3822192"/>
            <a:ext cx="594360" cy="201168"/>
          </a:xfrm>
          <a:prstGeom prst="rect">
            <a:avLst/>
          </a:prstGeom>
          <a:noFill/>
          <a:ln/>
        </p:spPr>
        <p:txBody>
          <a:bodyPr wrap="square" rtlCol="0" anchor="ctr"/>
          <a:lstStyle/>
          <a:p>
            <a:pPr indent="0" marL="0">
              <a:buNone/>
            </a:pPr>
            <a:r>
              <a:rPr lang="en-US" sz="800" dirty="0">
                <a:solidFill>
                  <a:srgbClr val="94A3B8"/>
                </a:solidFill>
                <a:latin typeface="Consolas" pitchFamily="34" charset="0"/>
                <a:ea typeface="Consolas" pitchFamily="34" charset="-122"/>
                <a:cs typeface="Consolas" pitchFamily="34" charset="-120"/>
              </a:rPr>
              <a:t>0.490</a:t>
            </a:r>
            <a:endParaRPr lang="en-US" sz="800" dirty="0"/>
          </a:p>
        </p:txBody>
      </p:sp>
      <p:sp>
        <p:nvSpPr>
          <p:cNvPr id="39" name="Text 37"/>
          <p:cNvSpPr/>
          <p:nvPr/>
        </p:nvSpPr>
        <p:spPr>
          <a:xfrm>
            <a:off x="868680" y="4023360"/>
            <a:ext cx="3703320" cy="182880"/>
          </a:xfrm>
          <a:prstGeom prst="rect">
            <a:avLst/>
          </a:prstGeom>
          <a:noFill/>
          <a:ln/>
        </p:spPr>
        <p:txBody>
          <a:bodyPr wrap="square" rtlCol="0" anchor="ctr"/>
          <a:lstStyle/>
          <a:p>
            <a:pPr indent="0" marL="0">
              <a:buNone/>
            </a:pPr>
            <a:r>
              <a:rPr lang="en-US" sz="700" i="1" dirty="0">
                <a:solidFill>
                  <a:srgbClr val="94A3B8"/>
                </a:solidFill>
                <a:latin typeface="Calibri" pitchFamily="34" charset="0"/>
                <a:ea typeface="Calibri" pitchFamily="34" charset="-122"/>
                <a:cs typeface="Calibri" pitchFamily="34" charset="-120"/>
              </a:rPr>
              <a:t>Non-significant (low baseline frequency across the year)</a:t>
            </a:r>
            <a:endParaRPr lang="en-US" sz="700" dirty="0"/>
          </a:p>
        </p:txBody>
      </p:sp>
      <p:sp>
        <p:nvSpPr>
          <p:cNvPr id="40" name="Text 38"/>
          <p:cNvSpPr/>
          <p:nvPr/>
        </p:nvSpPr>
        <p:spPr>
          <a:xfrm>
            <a:off x="868680" y="4279392"/>
            <a:ext cx="3794760" cy="237744"/>
          </a:xfrm>
          <a:prstGeom prst="rect">
            <a:avLst/>
          </a:prstGeom>
          <a:noFill/>
          <a:ln/>
        </p:spPr>
        <p:txBody>
          <a:bodyPr wrap="square" rtlCol="0" anchor="ctr"/>
          <a:lstStyle/>
          <a:p>
            <a:pPr indent="0" marL="0">
              <a:buNone/>
            </a:pPr>
            <a:r>
              <a:rPr lang="en-US" sz="650" i="1" dirty="0">
                <a:solidFill>
                  <a:srgbClr val="94A3B8"/>
                </a:solidFill>
                <a:latin typeface="Calibri" pitchFamily="34" charset="0"/>
                <a:ea typeface="Calibri" pitchFamily="34" charset="-122"/>
                <a:cs typeface="Calibri" pitchFamily="34" charset="-120"/>
              </a:rPr>
              <a:t>* Kendall’s W measures rank concordance (0 = no agreement, 1 = complete concordance). Tested at α = 0.05 across 4 completed years.</a:t>
            </a:r>
            <a:endParaRPr lang="en-US" sz="650" dirty="0"/>
          </a:p>
        </p:txBody>
      </p:sp>
      <p:sp>
        <p:nvSpPr>
          <p:cNvPr id="41" name="Shape 39"/>
          <p:cNvSpPr/>
          <p:nvPr/>
        </p:nvSpPr>
        <p:spPr>
          <a:xfrm>
            <a:off x="4937760" y="1353312"/>
            <a:ext cx="3474720" cy="3218688"/>
          </a:xfrm>
          <a:prstGeom prst="rect">
            <a:avLst/>
          </a:prstGeom>
          <a:solidFill>
            <a:srgbClr val="0C162E"/>
          </a:solidFill>
          <a:ln w="9525">
            <a:solidFill>
              <a:srgbClr val="D4AF37"/>
            </a:solidFill>
            <a:prstDash val="solid"/>
          </a:ln>
        </p:spPr>
      </p:sp>
      <p:sp>
        <p:nvSpPr>
          <p:cNvPr id="42" name="Text 40"/>
          <p:cNvSpPr/>
          <p:nvPr/>
        </p:nvSpPr>
        <p:spPr>
          <a:xfrm>
            <a:off x="5074920" y="1426464"/>
            <a:ext cx="3200400" cy="201168"/>
          </a:xfrm>
          <a:prstGeom prst="rect">
            <a:avLst/>
          </a:prstGeom>
          <a:noFill/>
          <a:ln/>
        </p:spPr>
        <p:txBody>
          <a:bodyPr wrap="square" rtlCol="0" anchor="ctr"/>
          <a:lstStyle/>
          <a:p>
            <a:pPr indent="0" marL="0">
              <a:buNone/>
            </a:pPr>
            <a:r>
              <a:rPr lang="en-US" sz="700" b="1" spc="100" kern="0" dirty="0">
                <a:solidFill>
                  <a:srgbClr val="D4AF37"/>
                </a:solidFill>
                <a:latin typeface="Consolas" pitchFamily="34" charset="0"/>
                <a:ea typeface="Consolas" pitchFamily="34" charset="-122"/>
                <a:cs typeface="Consolas" pitchFamily="34" charset="-120"/>
              </a:rPr>
              <a:t>EXHIBIT: INTER-ANNUAL STABILITY HEATMAP</a:t>
            </a:r>
            <a:endParaRPr lang="en-US" sz="700" dirty="0"/>
          </a:p>
        </p:txBody>
      </p:sp>
      <p:sp>
        <p:nvSpPr>
          <p:cNvPr id="43" name="Shape 41"/>
          <p:cNvSpPr/>
          <p:nvPr/>
        </p:nvSpPr>
        <p:spPr>
          <a:xfrm>
            <a:off x="5074920" y="1645920"/>
            <a:ext cx="3200400" cy="2542032"/>
          </a:xfrm>
          <a:prstGeom prst="rect">
            <a:avLst/>
          </a:prstGeom>
          <a:solidFill>
            <a:srgbClr val="FFFFFF"/>
          </a:solidFill>
          <a:ln w="6350">
            <a:solidFill>
              <a:srgbClr val="1E2D4A"/>
            </a:solidFill>
            <a:prstDash val="solid"/>
          </a:ln>
        </p:spPr>
      </p:sp>
      <p:pic>
        <p:nvPicPr>
          <p:cNvPr id="44" name="Image 0" descr="C:\Users\ADMIN\OneDrive\Desktop\Field Project\data_pipeline\phase5C_advanced_analysis\chart_seasonal_stability_heatmap.png">    </p:cNvPr>
          <p:cNvPicPr>
            <a:picLocks noChangeAspect="1"/>
          </p:cNvPicPr>
          <p:nvPr/>
        </p:nvPicPr>
        <p:blipFill>
          <a:blip r:embed="rId1"/>
          <a:stretch>
            <a:fillRect/>
          </a:stretch>
        </p:blipFill>
        <p:spPr>
          <a:xfrm>
            <a:off x="5102352" y="1682496"/>
            <a:ext cx="3145536" cy="2468880"/>
          </a:xfrm>
          <a:prstGeom prst="rect">
            <a:avLst/>
          </a:prstGeom>
        </p:spPr>
      </p:pic>
      <p:sp>
        <p:nvSpPr>
          <p:cNvPr id="45" name="Text 42"/>
          <p:cNvSpPr/>
          <p:nvPr/>
        </p:nvSpPr>
        <p:spPr>
          <a:xfrm>
            <a:off x="5074920" y="4242816"/>
            <a:ext cx="3200400" cy="292608"/>
          </a:xfrm>
          <a:prstGeom prst="rect">
            <a:avLst/>
          </a:prstGeom>
          <a:noFill/>
          <a:ln/>
        </p:spPr>
        <p:txBody>
          <a:bodyPr wrap="square" rtlCol="0" anchor="ctr"/>
          <a:lstStyle/>
          <a:p>
            <a:pPr indent="0" marL="0">
              <a:buNone/>
            </a:pPr>
            <a:r>
              <a:rPr lang="en-US" sz="750" i="1" dirty="0">
                <a:solidFill>
                  <a:srgbClr val="94A3B8"/>
                </a:solidFill>
                <a:latin typeface="Calibri" pitchFamily="34" charset="0"/>
                <a:ea typeface="Calibri" pitchFamily="34" charset="-122"/>
                <a:cs typeface="Calibri" pitchFamily="34" charset="-120"/>
              </a:rPr>
              <a:t>Figure: Kendall's W Rank Concordance across 2022–2025 (Phase 5C Analysis).</a:t>
            </a:r>
            <a:endParaRPr lang="en-US" sz="750" dirty="0"/>
          </a:p>
        </p:txBody>
      </p:sp>
      <p:sp>
        <p:nvSpPr>
          <p:cNvPr id="46" name="Shape 43"/>
          <p:cNvSpPr/>
          <p:nvPr/>
        </p:nvSpPr>
        <p:spPr>
          <a:xfrm>
            <a:off x="731520" y="4773168"/>
            <a:ext cx="7680960" cy="0"/>
          </a:xfrm>
          <a:prstGeom prst="line">
            <a:avLst/>
          </a:prstGeom>
          <a:noFill/>
          <a:ln w="9525">
            <a:solidFill>
              <a:srgbClr val="1E2D4A"/>
            </a:solidFill>
            <a:prstDash val="solid"/>
          </a:ln>
        </p:spPr>
      </p:sp>
      <p:sp>
        <p:nvSpPr>
          <p:cNvPr id="47" name="Text 44"/>
          <p:cNvSpPr/>
          <p:nvPr/>
        </p:nvSpPr>
        <p:spPr>
          <a:xfrm>
            <a:off x="731520" y="4846320"/>
            <a:ext cx="6583680" cy="201168"/>
          </a:xfrm>
          <a:prstGeom prst="rect">
            <a:avLst/>
          </a:prstGeom>
          <a:noFill/>
          <a:ln/>
        </p:spPr>
        <p:txBody>
          <a:bodyPr wrap="square" rtlCol="0" anchor="ctr"/>
          <a:lstStyle/>
          <a:p>
            <a:pPr indent="0" marL="0">
              <a:buNone/>
            </a:pPr>
            <a:r>
              <a:rPr lang="en-US" sz="650" dirty="0">
                <a:solidFill>
                  <a:srgbClr val="94A3B8"/>
                </a:solidFill>
                <a:latin typeface="Consolas" pitchFamily="34" charset="0"/>
                <a:ea typeface="Consolas" pitchFamily="34" charset="-122"/>
                <a:cs typeface="Consolas" pitchFamily="34" charset="-120"/>
              </a:rPr>
              <a:t>SOURCE: PHASE 5C ADVANCED STATISTICAL ANALYSIS | KENDALL'S W TESTING</a:t>
            </a:r>
            <a:endParaRPr lang="en-US" sz="650" dirty="0"/>
          </a:p>
        </p:txBody>
      </p:sp>
      <p:sp>
        <p:nvSpPr>
          <p:cNvPr id="48" name="Text 45"/>
          <p:cNvSpPr/>
          <p:nvPr/>
        </p:nvSpPr>
        <p:spPr>
          <a:xfrm>
            <a:off x="7498080" y="4846320"/>
            <a:ext cx="914400" cy="201168"/>
          </a:xfrm>
          <a:prstGeom prst="rect">
            <a:avLst/>
          </a:prstGeom>
          <a:noFill/>
          <a:ln/>
        </p:spPr>
        <p:txBody>
          <a:bodyPr wrap="square" rtlCol="0" anchor="ctr"/>
          <a:lstStyle/>
          <a:p>
            <a:pPr algn="r" indent="0" marL="0">
              <a:buNone/>
            </a:pPr>
            <a:r>
              <a:rPr lang="en-US" sz="750" b="1" dirty="0">
                <a:solidFill>
                  <a:srgbClr val="D4AF37"/>
                </a:solidFill>
                <a:latin typeface="Consolas" pitchFamily="34" charset="0"/>
                <a:ea typeface="Consolas" pitchFamily="34" charset="-122"/>
                <a:cs typeface="Consolas" pitchFamily="34" charset="-120"/>
              </a:rPr>
              <a:t>06 / 10</a:t>
            </a:r>
            <a:endParaRPr lang="en-US" sz="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2026-10-02T17:47:56Z</dcterms:created>
  <dcterms:modified xsi:type="dcterms:W3CDTF">2026-10-02T17:47:56Z</dcterms:modified>
</cp:coreProperties>
</file>