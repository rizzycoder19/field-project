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2022 to 2025, our primary analytical cohort comprises exactly 539 outbreak records, 21,955 reported cases, and 266 reported deaths.
A key observation is the divergence between event frequency and case enumeration:
- Dengue leads in event frequency with 204 records, but resulted in 3,144 cases.
- Acute Diarrheal Disease had 153 events but generated 9,050 cases.
- Food Poisoning caused 5,927 cases from just 69 events.
WHAT NOT TO OVERCLAIM: Do not refer to 21,955 as 'disease incidence'. These are patients enumerated within investigated outbreak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our core empirical visualization: five disease families exhibit five fundamentally distinct temporal signatures across Maharashtra.
As shown in the official analytical chart on the right:
1. Dengue concentrates heavily in late monsoon and post-monsoon (August to October), peaking in October with 40 recorded events. 82.8% of all Dengue events fall between June and October.
2. Acute Diarrheal Disease maintains sustained elevation across June to August (18–20 events monthly) with an October secondary peak.
3. Malaria concentrates earlier, in May to July.
4. Food Poisoning exhibits a bimodal profile in non-monsoon months (Jan–Feb and Apr–May).
5. Chikungunya is dispersed at low event counts throughout the year.
ONE SENTENCE YOU MUST NOT SAY: Do not say 'Monsoon rainfall caused the Dengue outbreak.' Meteorological data was not co-modeled. We report observed calendar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EMPIRICAL BASELINE  //  2022–2025 COMPLETED YEARS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Four-Year Outbreak Surveillance Baseline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2450592" cy="1572768"/>
          </a:xfrm>
          <a:prstGeom prst="rect">
            <a:avLst/>
          </a:prstGeom>
          <a:solidFill>
            <a:srgbClr val="101C38"/>
          </a:solidFill>
          <a:ln w="9525">
            <a:solidFill>
              <a:srgbClr val="1E335E"/>
            </a:solidFill>
            <a:prstDash val="solid"/>
          </a:ln>
        </p:spPr>
      </p:sp>
      <p:sp>
        <p:nvSpPr>
          <p:cNvPr id="6" name="Shape 4"/>
          <p:cNvSpPr/>
          <p:nvPr/>
        </p:nvSpPr>
        <p:spPr>
          <a:xfrm>
            <a:off x="731520" y="1207008"/>
            <a:ext cx="2450592" cy="0"/>
          </a:xfrm>
          <a:prstGeom prst="line">
            <a:avLst/>
          </a:prstGeom>
          <a:noFill/>
          <a:ln w="12700">
            <a:solidFill>
              <a:srgbClr val="38BDF8"/>
            </a:solidFill>
            <a:prstDash val="solid"/>
          </a:ln>
        </p:spPr>
      </p:sp>
      <p:sp>
        <p:nvSpPr>
          <p:cNvPr id="7" name="Text 5"/>
          <p:cNvSpPr/>
          <p:nvPr/>
        </p:nvSpPr>
        <p:spPr>
          <a:xfrm>
            <a:off x="868680" y="1298448"/>
            <a:ext cx="2176272" cy="640080"/>
          </a:xfrm>
          <a:prstGeom prst="rect">
            <a:avLst/>
          </a:prstGeom>
          <a:noFill/>
          <a:ln/>
        </p:spPr>
        <p:txBody>
          <a:bodyPr wrap="square" rtlCol="0" anchor="ctr"/>
          <a:lstStyle/>
          <a:p>
            <a:pPr indent="0" marL="0">
              <a:buNone/>
            </a:pPr>
            <a:r>
              <a:rPr lang="en-US" sz="3200" b="1" dirty="0">
                <a:solidFill>
                  <a:srgbClr val="38BDF8"/>
                </a:solidFill>
                <a:latin typeface="Georgia" pitchFamily="34" charset="0"/>
                <a:ea typeface="Georgia" pitchFamily="34" charset="-122"/>
                <a:cs typeface="Georgia" pitchFamily="34" charset="-120"/>
              </a:rPr>
              <a:t>539</a:t>
            </a:r>
            <a:endParaRPr lang="en-US" sz="3200" dirty="0"/>
          </a:p>
        </p:txBody>
      </p:sp>
      <p:sp>
        <p:nvSpPr>
          <p:cNvPr id="8" name="Text 6"/>
          <p:cNvSpPr/>
          <p:nvPr/>
        </p:nvSpPr>
        <p:spPr>
          <a:xfrm>
            <a:off x="868680"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OUTBREAK RECORDS</a:t>
            </a:r>
            <a:endParaRPr lang="en-US" sz="750" dirty="0"/>
          </a:p>
        </p:txBody>
      </p:sp>
      <p:sp>
        <p:nvSpPr>
          <p:cNvPr id="9" name="Text 7"/>
          <p:cNvSpPr/>
          <p:nvPr/>
        </p:nvSpPr>
        <p:spPr>
          <a:xfrm>
            <a:off x="868680"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Investigated Clusters (2022–2025)</a:t>
            </a:r>
            <a:endParaRPr lang="en-US" sz="900" dirty="0"/>
          </a:p>
        </p:txBody>
      </p:sp>
      <p:sp>
        <p:nvSpPr>
          <p:cNvPr id="10" name="Text 8"/>
          <p:cNvSpPr/>
          <p:nvPr/>
        </p:nvSpPr>
        <p:spPr>
          <a:xfrm>
            <a:off x="868680"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District surveillance investigations across Maharashtra</a:t>
            </a:r>
            <a:endParaRPr lang="en-US" sz="800" dirty="0"/>
          </a:p>
        </p:txBody>
      </p:sp>
      <p:sp>
        <p:nvSpPr>
          <p:cNvPr id="11" name="Shape 9"/>
          <p:cNvSpPr/>
          <p:nvPr/>
        </p:nvSpPr>
        <p:spPr>
          <a:xfrm>
            <a:off x="3346704" y="1207008"/>
            <a:ext cx="2450592" cy="1572768"/>
          </a:xfrm>
          <a:prstGeom prst="rect">
            <a:avLst/>
          </a:prstGeom>
          <a:solidFill>
            <a:srgbClr val="16274D"/>
          </a:solidFill>
          <a:ln w="15875">
            <a:solidFill>
              <a:srgbClr val="D4AF37"/>
            </a:solidFill>
            <a:prstDash val="solid"/>
          </a:ln>
        </p:spPr>
      </p:sp>
      <p:sp>
        <p:nvSpPr>
          <p:cNvPr id="12" name="Shape 10"/>
          <p:cNvSpPr/>
          <p:nvPr/>
        </p:nvSpPr>
        <p:spPr>
          <a:xfrm>
            <a:off x="3346704" y="1207008"/>
            <a:ext cx="2450592" cy="0"/>
          </a:xfrm>
          <a:prstGeom prst="line">
            <a:avLst/>
          </a:prstGeom>
          <a:noFill/>
          <a:ln w="25400">
            <a:solidFill>
              <a:srgbClr val="D4AF37"/>
            </a:solidFill>
            <a:prstDash val="solid"/>
          </a:ln>
        </p:spPr>
      </p:sp>
      <p:sp>
        <p:nvSpPr>
          <p:cNvPr id="13" name="Text 11"/>
          <p:cNvSpPr/>
          <p:nvPr/>
        </p:nvSpPr>
        <p:spPr>
          <a:xfrm>
            <a:off x="3483864" y="1298448"/>
            <a:ext cx="2176272" cy="640080"/>
          </a:xfrm>
          <a:prstGeom prst="rect">
            <a:avLst/>
          </a:prstGeom>
          <a:noFill/>
          <a:ln/>
        </p:spPr>
        <p:txBody>
          <a:bodyPr wrap="square" rtlCol="0" anchor="ctr"/>
          <a:lstStyle/>
          <a:p>
            <a:pPr indent="0" marL="0">
              <a:buNone/>
            </a:pPr>
            <a:r>
              <a:rPr lang="en-US" sz="3600" b="1" dirty="0">
                <a:solidFill>
                  <a:srgbClr val="D4AF37"/>
                </a:solidFill>
                <a:latin typeface="Georgia" pitchFamily="34" charset="0"/>
                <a:ea typeface="Georgia" pitchFamily="34" charset="-122"/>
                <a:cs typeface="Georgia" pitchFamily="34" charset="-120"/>
              </a:rPr>
              <a:t>21,955</a:t>
            </a:r>
            <a:endParaRPr lang="en-US" sz="3600" dirty="0"/>
          </a:p>
        </p:txBody>
      </p:sp>
      <p:sp>
        <p:nvSpPr>
          <p:cNvPr id="14" name="Text 12"/>
          <p:cNvSpPr/>
          <p:nvPr/>
        </p:nvSpPr>
        <p:spPr>
          <a:xfrm>
            <a:off x="3483864" y="1938528"/>
            <a:ext cx="2176272" cy="201168"/>
          </a:xfrm>
          <a:prstGeom prst="rect">
            <a:avLst/>
          </a:prstGeom>
          <a:noFill/>
          <a:ln/>
        </p:spPr>
        <p:txBody>
          <a:bodyPr wrap="square" rtlCol="0" anchor="ctr"/>
          <a:lstStyle/>
          <a:p>
            <a:pPr indent="0" marL="0">
              <a:buNone/>
            </a:pPr>
            <a:r>
              <a:rPr lang="en-US" sz="750" b="1" spc="100" kern="0" dirty="0">
                <a:solidFill>
                  <a:srgbClr val="F3E5AB"/>
                </a:solidFill>
                <a:latin typeface="Consolas" pitchFamily="34" charset="0"/>
                <a:ea typeface="Consolas" pitchFamily="34" charset="-122"/>
                <a:cs typeface="Consolas" pitchFamily="34" charset="-120"/>
              </a:rPr>
              <a:t>REPORTED CASES</a:t>
            </a:r>
            <a:endParaRPr lang="en-US" sz="750" dirty="0"/>
          </a:p>
        </p:txBody>
      </p:sp>
      <p:sp>
        <p:nvSpPr>
          <p:cNvPr id="15" name="Text 13"/>
          <p:cNvSpPr/>
          <p:nvPr/>
        </p:nvSpPr>
        <p:spPr>
          <a:xfrm>
            <a:off x="3483864"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Enumerated Outbreak Patients</a:t>
            </a:r>
            <a:endParaRPr lang="en-US" sz="900" dirty="0"/>
          </a:p>
        </p:txBody>
      </p:sp>
      <p:sp>
        <p:nvSpPr>
          <p:cNvPr id="16" name="Text 14"/>
          <p:cNvSpPr/>
          <p:nvPr/>
        </p:nvSpPr>
        <p:spPr>
          <a:xfrm>
            <a:off x="3483864"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Aggregated across official cluster reports (5 primary families)</a:t>
            </a:r>
            <a:endParaRPr lang="en-US" sz="800" dirty="0"/>
          </a:p>
        </p:txBody>
      </p:sp>
      <p:sp>
        <p:nvSpPr>
          <p:cNvPr id="17" name="Shape 15"/>
          <p:cNvSpPr/>
          <p:nvPr/>
        </p:nvSpPr>
        <p:spPr>
          <a:xfrm>
            <a:off x="5961888" y="1207008"/>
            <a:ext cx="2450592" cy="1572768"/>
          </a:xfrm>
          <a:prstGeom prst="rect">
            <a:avLst/>
          </a:prstGeom>
          <a:solidFill>
            <a:srgbClr val="101C38"/>
          </a:solidFill>
          <a:ln w="9525">
            <a:solidFill>
              <a:srgbClr val="1E335E"/>
            </a:solidFill>
            <a:prstDash val="solid"/>
          </a:ln>
        </p:spPr>
      </p:sp>
      <p:sp>
        <p:nvSpPr>
          <p:cNvPr id="18" name="Shape 16"/>
          <p:cNvSpPr/>
          <p:nvPr/>
        </p:nvSpPr>
        <p:spPr>
          <a:xfrm>
            <a:off x="5961888" y="1207008"/>
            <a:ext cx="2450592" cy="0"/>
          </a:xfrm>
          <a:prstGeom prst="line">
            <a:avLst/>
          </a:prstGeom>
          <a:noFill/>
          <a:ln w="12700">
            <a:solidFill>
              <a:srgbClr val="F87171"/>
            </a:solidFill>
            <a:prstDash val="solid"/>
          </a:ln>
        </p:spPr>
      </p:sp>
      <p:sp>
        <p:nvSpPr>
          <p:cNvPr id="19" name="Text 17"/>
          <p:cNvSpPr/>
          <p:nvPr/>
        </p:nvSpPr>
        <p:spPr>
          <a:xfrm>
            <a:off x="6099048" y="1298448"/>
            <a:ext cx="2176272" cy="640080"/>
          </a:xfrm>
          <a:prstGeom prst="rect">
            <a:avLst/>
          </a:prstGeom>
          <a:noFill/>
          <a:ln/>
        </p:spPr>
        <p:txBody>
          <a:bodyPr wrap="square" rtlCol="0" anchor="ctr"/>
          <a:lstStyle/>
          <a:p>
            <a:pPr indent="0" marL="0">
              <a:buNone/>
            </a:pPr>
            <a:r>
              <a:rPr lang="en-US" sz="3200" b="1" dirty="0">
                <a:solidFill>
                  <a:srgbClr val="F87171"/>
                </a:solidFill>
                <a:latin typeface="Georgia" pitchFamily="34" charset="0"/>
                <a:ea typeface="Georgia" pitchFamily="34" charset="-122"/>
                <a:cs typeface="Georgia" pitchFamily="34" charset="-120"/>
              </a:rPr>
              <a:t>266</a:t>
            </a:r>
            <a:endParaRPr lang="en-US" sz="3200" dirty="0"/>
          </a:p>
        </p:txBody>
      </p:sp>
      <p:sp>
        <p:nvSpPr>
          <p:cNvPr id="20" name="Text 18"/>
          <p:cNvSpPr/>
          <p:nvPr/>
        </p:nvSpPr>
        <p:spPr>
          <a:xfrm>
            <a:off x="6099048"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REPORTED FATALITIES</a:t>
            </a:r>
            <a:endParaRPr lang="en-US" sz="750" dirty="0"/>
          </a:p>
        </p:txBody>
      </p:sp>
      <p:sp>
        <p:nvSpPr>
          <p:cNvPr id="21" name="Text 19"/>
          <p:cNvSpPr/>
          <p:nvPr/>
        </p:nvSpPr>
        <p:spPr>
          <a:xfrm>
            <a:off x="6099048"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Surveillance Outbreak Deaths</a:t>
            </a:r>
            <a:endParaRPr lang="en-US" sz="900" dirty="0"/>
          </a:p>
        </p:txBody>
      </p:sp>
      <p:sp>
        <p:nvSpPr>
          <p:cNvPr id="22" name="Text 20"/>
          <p:cNvSpPr/>
          <p:nvPr/>
        </p:nvSpPr>
        <p:spPr>
          <a:xfrm>
            <a:off x="6099048"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Case fatality ratio: 1.21% across primary cohort</a:t>
            </a:r>
            <a:endParaRPr lang="en-US" sz="800" dirty="0"/>
          </a:p>
        </p:txBody>
      </p:sp>
      <p:sp>
        <p:nvSpPr>
          <p:cNvPr id="23" name="Shape 21"/>
          <p:cNvSpPr/>
          <p:nvPr/>
        </p:nvSpPr>
        <p:spPr>
          <a:xfrm>
            <a:off x="731520" y="2962656"/>
            <a:ext cx="1481328" cy="1353312"/>
          </a:xfrm>
          <a:prstGeom prst="rect">
            <a:avLst/>
          </a:prstGeom>
          <a:solidFill>
            <a:srgbClr val="101C38"/>
          </a:solidFill>
          <a:ln w="9525">
            <a:solidFill>
              <a:srgbClr val="1E335E"/>
            </a:solidFill>
            <a:prstDash val="solid"/>
          </a:ln>
        </p:spPr>
      </p:sp>
      <p:sp>
        <p:nvSpPr>
          <p:cNvPr id="24" name="Shape 22"/>
          <p:cNvSpPr/>
          <p:nvPr/>
        </p:nvSpPr>
        <p:spPr>
          <a:xfrm>
            <a:off x="731520" y="2962656"/>
            <a:ext cx="1481328" cy="0"/>
          </a:xfrm>
          <a:prstGeom prst="line">
            <a:avLst/>
          </a:prstGeom>
          <a:noFill/>
          <a:ln w="19050">
            <a:solidFill>
              <a:srgbClr val="38BDF8"/>
            </a:solidFill>
            <a:prstDash val="solid"/>
          </a:ln>
        </p:spPr>
      </p:sp>
      <p:sp>
        <p:nvSpPr>
          <p:cNvPr id="25" name="Text 23"/>
          <p:cNvSpPr/>
          <p:nvPr/>
        </p:nvSpPr>
        <p:spPr>
          <a:xfrm>
            <a:off x="804672"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DENGUE</a:t>
            </a:r>
            <a:endParaRPr lang="en-US" sz="650" dirty="0"/>
          </a:p>
        </p:txBody>
      </p:sp>
      <p:sp>
        <p:nvSpPr>
          <p:cNvPr id="26" name="Text 24"/>
          <p:cNvSpPr/>
          <p:nvPr/>
        </p:nvSpPr>
        <p:spPr>
          <a:xfrm>
            <a:off x="804672"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204 records</a:t>
            </a:r>
            <a:endParaRPr lang="en-US" sz="1200" dirty="0"/>
          </a:p>
        </p:txBody>
      </p:sp>
      <p:sp>
        <p:nvSpPr>
          <p:cNvPr id="27" name="Text 25"/>
          <p:cNvSpPr/>
          <p:nvPr/>
        </p:nvSpPr>
        <p:spPr>
          <a:xfrm>
            <a:off x="804672"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3,144 cases  ·  93 deaths</a:t>
            </a:r>
            <a:endParaRPr lang="en-US" sz="700" dirty="0"/>
          </a:p>
        </p:txBody>
      </p:sp>
      <p:sp>
        <p:nvSpPr>
          <p:cNvPr id="28" name="Shape 26"/>
          <p:cNvSpPr/>
          <p:nvPr/>
        </p:nvSpPr>
        <p:spPr>
          <a:xfrm>
            <a:off x="804672" y="3730752"/>
            <a:ext cx="1335024" cy="0"/>
          </a:xfrm>
          <a:prstGeom prst="line">
            <a:avLst/>
          </a:prstGeom>
          <a:noFill/>
          <a:ln w="6350">
            <a:solidFill>
              <a:srgbClr val="1E2D4A"/>
            </a:solidFill>
            <a:prstDash val="solid"/>
          </a:ln>
        </p:spPr>
      </p:sp>
      <p:sp>
        <p:nvSpPr>
          <p:cNvPr id="29" name="Text 27"/>
          <p:cNvSpPr/>
          <p:nvPr/>
        </p:nvSpPr>
        <p:spPr>
          <a:xfrm>
            <a:off x="804672"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Oct (Aug–Oct CR3 50.5%)</a:t>
            </a:r>
            <a:endParaRPr lang="en-US" sz="750" dirty="0"/>
          </a:p>
        </p:txBody>
      </p:sp>
      <p:sp>
        <p:nvSpPr>
          <p:cNvPr id="30" name="Shape 28"/>
          <p:cNvSpPr/>
          <p:nvPr/>
        </p:nvSpPr>
        <p:spPr>
          <a:xfrm>
            <a:off x="2281428" y="2962656"/>
            <a:ext cx="1481328" cy="1353312"/>
          </a:xfrm>
          <a:prstGeom prst="rect">
            <a:avLst/>
          </a:prstGeom>
          <a:solidFill>
            <a:srgbClr val="101C38"/>
          </a:solidFill>
          <a:ln w="9525">
            <a:solidFill>
              <a:srgbClr val="1E335E"/>
            </a:solidFill>
            <a:prstDash val="solid"/>
          </a:ln>
        </p:spPr>
      </p:sp>
      <p:sp>
        <p:nvSpPr>
          <p:cNvPr id="31" name="Shape 29"/>
          <p:cNvSpPr/>
          <p:nvPr/>
        </p:nvSpPr>
        <p:spPr>
          <a:xfrm>
            <a:off x="2281428" y="2962656"/>
            <a:ext cx="1481328" cy="0"/>
          </a:xfrm>
          <a:prstGeom prst="line">
            <a:avLst/>
          </a:prstGeom>
          <a:noFill/>
          <a:ln w="19050">
            <a:solidFill>
              <a:srgbClr val="10B981"/>
            </a:solidFill>
            <a:prstDash val="solid"/>
          </a:ln>
        </p:spPr>
      </p:sp>
      <p:sp>
        <p:nvSpPr>
          <p:cNvPr id="32" name="Text 30"/>
          <p:cNvSpPr/>
          <p:nvPr/>
        </p:nvSpPr>
        <p:spPr>
          <a:xfrm>
            <a:off x="2354580" y="3054096"/>
            <a:ext cx="1335024" cy="201168"/>
          </a:xfrm>
          <a:prstGeom prst="rect">
            <a:avLst/>
          </a:prstGeom>
          <a:noFill/>
          <a:ln/>
        </p:spPr>
        <p:txBody>
          <a:bodyPr wrap="square" rtlCol="0" anchor="ctr"/>
          <a:lstStyle/>
          <a:p>
            <a:pPr indent="0" marL="0">
              <a:buNone/>
            </a:pPr>
            <a:r>
              <a:rPr lang="en-US" sz="650" b="1" spc="50" kern="0" dirty="0">
                <a:solidFill>
                  <a:srgbClr val="10B981"/>
                </a:solidFill>
                <a:latin typeface="Consolas" pitchFamily="34" charset="0"/>
                <a:ea typeface="Consolas" pitchFamily="34" charset="-122"/>
                <a:cs typeface="Consolas" pitchFamily="34" charset="-120"/>
              </a:rPr>
              <a:t>ACUTE DIARRHEAL DISEASE</a:t>
            </a:r>
            <a:endParaRPr lang="en-US" sz="650" dirty="0"/>
          </a:p>
        </p:txBody>
      </p:sp>
      <p:sp>
        <p:nvSpPr>
          <p:cNvPr id="33" name="Text 31"/>
          <p:cNvSpPr/>
          <p:nvPr/>
        </p:nvSpPr>
        <p:spPr>
          <a:xfrm>
            <a:off x="2354580"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153 records</a:t>
            </a:r>
            <a:endParaRPr lang="en-US" sz="1200" dirty="0"/>
          </a:p>
        </p:txBody>
      </p:sp>
      <p:sp>
        <p:nvSpPr>
          <p:cNvPr id="34" name="Text 32"/>
          <p:cNvSpPr/>
          <p:nvPr/>
        </p:nvSpPr>
        <p:spPr>
          <a:xfrm>
            <a:off x="2354580"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9,050 cases  ·  93 deaths</a:t>
            </a:r>
            <a:endParaRPr lang="en-US" sz="700" dirty="0"/>
          </a:p>
        </p:txBody>
      </p:sp>
      <p:sp>
        <p:nvSpPr>
          <p:cNvPr id="35" name="Shape 33"/>
          <p:cNvSpPr/>
          <p:nvPr/>
        </p:nvSpPr>
        <p:spPr>
          <a:xfrm>
            <a:off x="2354580" y="3730752"/>
            <a:ext cx="1335024" cy="0"/>
          </a:xfrm>
          <a:prstGeom prst="line">
            <a:avLst/>
          </a:prstGeom>
          <a:noFill/>
          <a:ln w="6350">
            <a:solidFill>
              <a:srgbClr val="1E2D4A"/>
            </a:solidFill>
            <a:prstDash val="solid"/>
          </a:ln>
        </p:spPr>
      </p:sp>
      <p:sp>
        <p:nvSpPr>
          <p:cNvPr id="36" name="Text 34"/>
          <p:cNvSpPr/>
          <p:nvPr/>
        </p:nvSpPr>
        <p:spPr>
          <a:xfrm>
            <a:off x="2354580"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Jun–Aug (CR3 43.1%)</a:t>
            </a:r>
            <a:endParaRPr lang="en-US" sz="750" dirty="0"/>
          </a:p>
        </p:txBody>
      </p:sp>
      <p:sp>
        <p:nvSpPr>
          <p:cNvPr id="37" name="Shape 35"/>
          <p:cNvSpPr/>
          <p:nvPr/>
        </p:nvSpPr>
        <p:spPr>
          <a:xfrm>
            <a:off x="3831336" y="2962656"/>
            <a:ext cx="1481328" cy="1353312"/>
          </a:xfrm>
          <a:prstGeom prst="rect">
            <a:avLst/>
          </a:prstGeom>
          <a:solidFill>
            <a:srgbClr val="101C38"/>
          </a:solidFill>
          <a:ln w="9525">
            <a:solidFill>
              <a:srgbClr val="1E335E"/>
            </a:solidFill>
            <a:prstDash val="solid"/>
          </a:ln>
        </p:spPr>
      </p:sp>
      <p:sp>
        <p:nvSpPr>
          <p:cNvPr id="38" name="Shape 36"/>
          <p:cNvSpPr/>
          <p:nvPr/>
        </p:nvSpPr>
        <p:spPr>
          <a:xfrm>
            <a:off x="3831336" y="2962656"/>
            <a:ext cx="1481328" cy="0"/>
          </a:xfrm>
          <a:prstGeom prst="line">
            <a:avLst/>
          </a:prstGeom>
          <a:noFill/>
          <a:ln w="19050">
            <a:solidFill>
              <a:srgbClr val="38BDF8"/>
            </a:solidFill>
            <a:prstDash val="solid"/>
          </a:ln>
        </p:spPr>
      </p:sp>
      <p:sp>
        <p:nvSpPr>
          <p:cNvPr id="39" name="Text 37"/>
          <p:cNvSpPr/>
          <p:nvPr/>
        </p:nvSpPr>
        <p:spPr>
          <a:xfrm>
            <a:off x="3904488"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MALARIA</a:t>
            </a:r>
            <a:endParaRPr lang="en-US" sz="650" dirty="0"/>
          </a:p>
        </p:txBody>
      </p:sp>
      <p:sp>
        <p:nvSpPr>
          <p:cNvPr id="40" name="Text 38"/>
          <p:cNvSpPr/>
          <p:nvPr/>
        </p:nvSpPr>
        <p:spPr>
          <a:xfrm>
            <a:off x="3904488"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70 records</a:t>
            </a:r>
            <a:endParaRPr lang="en-US" sz="1200" dirty="0"/>
          </a:p>
        </p:txBody>
      </p:sp>
      <p:sp>
        <p:nvSpPr>
          <p:cNvPr id="41" name="Text 39"/>
          <p:cNvSpPr/>
          <p:nvPr/>
        </p:nvSpPr>
        <p:spPr>
          <a:xfrm>
            <a:off x="3904488"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2,133 cases  ·  51 deaths</a:t>
            </a:r>
            <a:endParaRPr lang="en-US" sz="700" dirty="0"/>
          </a:p>
        </p:txBody>
      </p:sp>
      <p:sp>
        <p:nvSpPr>
          <p:cNvPr id="42" name="Shape 40"/>
          <p:cNvSpPr/>
          <p:nvPr/>
        </p:nvSpPr>
        <p:spPr>
          <a:xfrm>
            <a:off x="3904488" y="3730752"/>
            <a:ext cx="1335024" cy="0"/>
          </a:xfrm>
          <a:prstGeom prst="line">
            <a:avLst/>
          </a:prstGeom>
          <a:noFill/>
          <a:ln w="6350">
            <a:solidFill>
              <a:srgbClr val="1E2D4A"/>
            </a:solidFill>
            <a:prstDash val="solid"/>
          </a:ln>
        </p:spPr>
      </p:sp>
      <p:sp>
        <p:nvSpPr>
          <p:cNvPr id="43" name="Text 41"/>
          <p:cNvSpPr/>
          <p:nvPr/>
        </p:nvSpPr>
        <p:spPr>
          <a:xfrm>
            <a:off x="3904488"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May–Jul (CR3 51.4%)</a:t>
            </a:r>
            <a:endParaRPr lang="en-US" sz="750" dirty="0"/>
          </a:p>
        </p:txBody>
      </p:sp>
      <p:sp>
        <p:nvSpPr>
          <p:cNvPr id="44" name="Shape 42"/>
          <p:cNvSpPr/>
          <p:nvPr/>
        </p:nvSpPr>
        <p:spPr>
          <a:xfrm>
            <a:off x="5381244" y="2962656"/>
            <a:ext cx="1481328" cy="1353312"/>
          </a:xfrm>
          <a:prstGeom prst="rect">
            <a:avLst/>
          </a:prstGeom>
          <a:solidFill>
            <a:srgbClr val="101C38"/>
          </a:solidFill>
          <a:ln w="9525">
            <a:solidFill>
              <a:srgbClr val="1E335E"/>
            </a:solidFill>
            <a:prstDash val="solid"/>
          </a:ln>
        </p:spPr>
      </p:sp>
      <p:sp>
        <p:nvSpPr>
          <p:cNvPr id="45" name="Shape 43"/>
          <p:cNvSpPr/>
          <p:nvPr/>
        </p:nvSpPr>
        <p:spPr>
          <a:xfrm>
            <a:off x="5381244" y="2962656"/>
            <a:ext cx="1481328" cy="0"/>
          </a:xfrm>
          <a:prstGeom prst="line">
            <a:avLst/>
          </a:prstGeom>
          <a:noFill/>
          <a:ln w="19050">
            <a:solidFill>
              <a:srgbClr val="D4AF37"/>
            </a:solidFill>
            <a:prstDash val="solid"/>
          </a:ln>
        </p:spPr>
      </p:sp>
      <p:sp>
        <p:nvSpPr>
          <p:cNvPr id="46" name="Text 44"/>
          <p:cNvSpPr/>
          <p:nvPr/>
        </p:nvSpPr>
        <p:spPr>
          <a:xfrm>
            <a:off x="5454396" y="3054096"/>
            <a:ext cx="1335024" cy="201168"/>
          </a:xfrm>
          <a:prstGeom prst="rect">
            <a:avLst/>
          </a:prstGeom>
          <a:noFill/>
          <a:ln/>
        </p:spPr>
        <p:txBody>
          <a:bodyPr wrap="square" rtlCol="0" anchor="ctr"/>
          <a:lstStyle/>
          <a:p>
            <a:pPr indent="0" marL="0">
              <a:buNone/>
            </a:pPr>
            <a:r>
              <a:rPr lang="en-US" sz="650" b="1" spc="50" kern="0" dirty="0">
                <a:solidFill>
                  <a:srgbClr val="D4AF37"/>
                </a:solidFill>
                <a:latin typeface="Consolas" pitchFamily="34" charset="0"/>
                <a:ea typeface="Consolas" pitchFamily="34" charset="-122"/>
                <a:cs typeface="Consolas" pitchFamily="34" charset="-120"/>
              </a:rPr>
              <a:t>FOOD POISONING</a:t>
            </a:r>
            <a:endParaRPr lang="en-US" sz="650" dirty="0"/>
          </a:p>
        </p:txBody>
      </p:sp>
      <p:sp>
        <p:nvSpPr>
          <p:cNvPr id="47" name="Text 45"/>
          <p:cNvSpPr/>
          <p:nvPr/>
        </p:nvSpPr>
        <p:spPr>
          <a:xfrm>
            <a:off x="5454396"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69 records</a:t>
            </a:r>
            <a:endParaRPr lang="en-US" sz="1200" dirty="0"/>
          </a:p>
        </p:txBody>
      </p:sp>
      <p:sp>
        <p:nvSpPr>
          <p:cNvPr id="48" name="Text 46"/>
          <p:cNvSpPr/>
          <p:nvPr/>
        </p:nvSpPr>
        <p:spPr>
          <a:xfrm>
            <a:off x="5454396"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5,927 cases  ·  29 deaths</a:t>
            </a:r>
            <a:endParaRPr lang="en-US" sz="700" dirty="0"/>
          </a:p>
        </p:txBody>
      </p:sp>
      <p:sp>
        <p:nvSpPr>
          <p:cNvPr id="49" name="Shape 47"/>
          <p:cNvSpPr/>
          <p:nvPr/>
        </p:nvSpPr>
        <p:spPr>
          <a:xfrm>
            <a:off x="5454396" y="3730752"/>
            <a:ext cx="1335024" cy="0"/>
          </a:xfrm>
          <a:prstGeom prst="line">
            <a:avLst/>
          </a:prstGeom>
          <a:noFill/>
          <a:ln w="6350">
            <a:solidFill>
              <a:srgbClr val="1E2D4A"/>
            </a:solidFill>
            <a:prstDash val="solid"/>
          </a:ln>
        </p:spPr>
      </p:sp>
      <p:sp>
        <p:nvSpPr>
          <p:cNvPr id="50" name="Text 48"/>
          <p:cNvSpPr/>
          <p:nvPr/>
        </p:nvSpPr>
        <p:spPr>
          <a:xfrm>
            <a:off x="5454396"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Bimodal: Jan–Feb &amp; Apr–May</a:t>
            </a:r>
            <a:endParaRPr lang="en-US" sz="750" dirty="0"/>
          </a:p>
        </p:txBody>
      </p:sp>
      <p:sp>
        <p:nvSpPr>
          <p:cNvPr id="51" name="Shape 49"/>
          <p:cNvSpPr/>
          <p:nvPr/>
        </p:nvSpPr>
        <p:spPr>
          <a:xfrm>
            <a:off x="6931152" y="2962656"/>
            <a:ext cx="1481328" cy="1353312"/>
          </a:xfrm>
          <a:prstGeom prst="rect">
            <a:avLst/>
          </a:prstGeom>
          <a:solidFill>
            <a:srgbClr val="101C38"/>
          </a:solidFill>
          <a:ln w="9525">
            <a:solidFill>
              <a:srgbClr val="1E335E"/>
            </a:solidFill>
            <a:prstDash val="solid"/>
          </a:ln>
        </p:spPr>
      </p:sp>
      <p:sp>
        <p:nvSpPr>
          <p:cNvPr id="52" name="Shape 50"/>
          <p:cNvSpPr/>
          <p:nvPr/>
        </p:nvSpPr>
        <p:spPr>
          <a:xfrm>
            <a:off x="6931152" y="2962656"/>
            <a:ext cx="1481328" cy="0"/>
          </a:xfrm>
          <a:prstGeom prst="line">
            <a:avLst/>
          </a:prstGeom>
          <a:noFill/>
          <a:ln w="19050">
            <a:solidFill>
              <a:srgbClr val="F87171"/>
            </a:solidFill>
            <a:prstDash val="solid"/>
          </a:ln>
        </p:spPr>
      </p:sp>
      <p:sp>
        <p:nvSpPr>
          <p:cNvPr id="53" name="Text 51"/>
          <p:cNvSpPr/>
          <p:nvPr/>
        </p:nvSpPr>
        <p:spPr>
          <a:xfrm>
            <a:off x="7004304" y="3054096"/>
            <a:ext cx="1335024" cy="201168"/>
          </a:xfrm>
          <a:prstGeom prst="rect">
            <a:avLst/>
          </a:prstGeom>
          <a:noFill/>
          <a:ln/>
        </p:spPr>
        <p:txBody>
          <a:bodyPr wrap="square" rtlCol="0" anchor="ctr"/>
          <a:lstStyle/>
          <a:p>
            <a:pPr indent="0" marL="0">
              <a:buNone/>
            </a:pPr>
            <a:r>
              <a:rPr lang="en-US" sz="650" b="1" spc="50" kern="0" dirty="0">
                <a:solidFill>
                  <a:srgbClr val="F87171"/>
                </a:solidFill>
                <a:latin typeface="Consolas" pitchFamily="34" charset="0"/>
                <a:ea typeface="Consolas" pitchFamily="34" charset="-122"/>
                <a:cs typeface="Consolas" pitchFamily="34" charset="-120"/>
              </a:rPr>
              <a:t>CHIKUNGUNYA</a:t>
            </a:r>
            <a:endParaRPr lang="en-US" sz="650" dirty="0"/>
          </a:p>
        </p:txBody>
      </p:sp>
      <p:sp>
        <p:nvSpPr>
          <p:cNvPr id="54" name="Text 52"/>
          <p:cNvSpPr/>
          <p:nvPr/>
        </p:nvSpPr>
        <p:spPr>
          <a:xfrm>
            <a:off x="7004304"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43 records</a:t>
            </a:r>
            <a:endParaRPr lang="en-US" sz="1200" dirty="0"/>
          </a:p>
        </p:txBody>
      </p:sp>
      <p:sp>
        <p:nvSpPr>
          <p:cNvPr id="55" name="Text 53"/>
          <p:cNvSpPr/>
          <p:nvPr/>
        </p:nvSpPr>
        <p:spPr>
          <a:xfrm>
            <a:off x="7004304"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701 cases  ·  0 deaths</a:t>
            </a:r>
            <a:endParaRPr lang="en-US" sz="700" dirty="0"/>
          </a:p>
        </p:txBody>
      </p:sp>
      <p:sp>
        <p:nvSpPr>
          <p:cNvPr id="56" name="Shape 54"/>
          <p:cNvSpPr/>
          <p:nvPr/>
        </p:nvSpPr>
        <p:spPr>
          <a:xfrm>
            <a:off x="7004304" y="3730752"/>
            <a:ext cx="1335024" cy="0"/>
          </a:xfrm>
          <a:prstGeom prst="line">
            <a:avLst/>
          </a:prstGeom>
          <a:noFill/>
          <a:ln w="6350">
            <a:solidFill>
              <a:srgbClr val="1E2D4A"/>
            </a:solidFill>
            <a:prstDash val="solid"/>
          </a:ln>
        </p:spPr>
      </p:sp>
      <p:sp>
        <p:nvSpPr>
          <p:cNvPr id="57" name="Text 55"/>
          <p:cNvSpPr/>
          <p:nvPr/>
        </p:nvSpPr>
        <p:spPr>
          <a:xfrm>
            <a:off x="7004304"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Dispersed: May, Jun, Sep</a:t>
            </a:r>
            <a:endParaRPr lang="en-US" sz="750" dirty="0"/>
          </a:p>
        </p:txBody>
      </p:sp>
      <p:sp>
        <p:nvSpPr>
          <p:cNvPr id="58" name="Text 56"/>
          <p:cNvSpPr/>
          <p:nvPr/>
        </p:nvSpPr>
        <p:spPr>
          <a:xfrm>
            <a:off x="731520" y="4462272"/>
            <a:ext cx="7680960" cy="219456"/>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NOTE: Reported cases represent patients in investigated outbreak clusters. These figures do not measure population disease incidence or community prevalence.</a:t>
            </a:r>
            <a:endParaRPr lang="en-US" sz="750" dirty="0"/>
          </a:p>
        </p:txBody>
      </p:sp>
      <p:sp>
        <p:nvSpPr>
          <p:cNvPr id="59" name="Shape 57"/>
          <p:cNvSpPr/>
          <p:nvPr/>
        </p:nvSpPr>
        <p:spPr>
          <a:xfrm>
            <a:off x="731520" y="4773168"/>
            <a:ext cx="7680960" cy="0"/>
          </a:xfrm>
          <a:prstGeom prst="line">
            <a:avLst/>
          </a:prstGeom>
          <a:noFill/>
          <a:ln w="9525">
            <a:solidFill>
              <a:srgbClr val="1E2D4A"/>
            </a:solidFill>
            <a:prstDash val="solid"/>
          </a:ln>
        </p:spPr>
      </p:sp>
      <p:sp>
        <p:nvSpPr>
          <p:cNvPr id="60" name="Text 5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NCDC / IDSP WEEKLY OUTBREAK REPORTS (2022–2025 ANALYTICAL BASELINE)</a:t>
            </a:r>
            <a:endParaRPr lang="en-US" sz="650" dirty="0"/>
          </a:p>
        </p:txBody>
      </p:sp>
      <p:sp>
        <p:nvSpPr>
          <p:cNvPr id="61" name="Text 5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SEASONAL PATTERN ANALYSIS  //  EMPIRICAL BASELINE 2022–2025</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Diseases.  Five Distinct Temporal Signatures.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Calendar-month concentration curves derived from 539 investigated outbreak events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3383280" cy="3218688"/>
          </a:xfrm>
          <a:prstGeom prst="rect">
            <a:avLst/>
          </a:prstGeom>
          <a:solidFill>
            <a:srgbClr val="101C38"/>
          </a:solidFill>
          <a:ln w="9525">
            <a:solidFill>
              <a:srgbClr val="1E335E"/>
            </a:solidFill>
            <a:prstDash val="solid"/>
          </a:ln>
        </p:spPr>
      </p:sp>
      <p:sp>
        <p:nvSpPr>
          <p:cNvPr id="7" name="Shape 5"/>
          <p:cNvSpPr/>
          <p:nvPr/>
        </p:nvSpPr>
        <p:spPr>
          <a:xfrm>
            <a:off x="731520" y="1353312"/>
            <a:ext cx="3383280" cy="0"/>
          </a:xfrm>
          <a:prstGeom prst="line">
            <a:avLst/>
          </a:prstGeom>
          <a:noFill/>
          <a:ln w="19050">
            <a:solidFill>
              <a:srgbClr val="D4AF37"/>
            </a:solidFill>
            <a:prstDash val="solid"/>
          </a:ln>
        </p:spPr>
      </p:sp>
      <p:sp>
        <p:nvSpPr>
          <p:cNvPr id="8" name="Text 6"/>
          <p:cNvSpPr/>
          <p:nvPr/>
        </p:nvSpPr>
        <p:spPr>
          <a:xfrm>
            <a:off x="877824" y="1463040"/>
            <a:ext cx="30906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OBSERVED TEMPORAL CONCENTRATIONS</a:t>
            </a:r>
            <a:endParaRPr lang="en-US" sz="700" dirty="0"/>
          </a:p>
        </p:txBody>
      </p:sp>
      <p:sp>
        <p:nvSpPr>
          <p:cNvPr id="9" name="Text 7"/>
          <p:cNvSpPr/>
          <p:nvPr/>
        </p:nvSpPr>
        <p:spPr>
          <a:xfrm>
            <a:off x="877824" y="1664208"/>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1. DENGUE</a:t>
            </a:r>
            <a:endParaRPr lang="en-US" sz="750" dirty="0"/>
          </a:p>
        </p:txBody>
      </p:sp>
      <p:sp>
        <p:nvSpPr>
          <p:cNvPr id="10" name="Text 8"/>
          <p:cNvSpPr/>
          <p:nvPr/>
        </p:nvSpPr>
        <p:spPr>
          <a:xfrm>
            <a:off x="2148840" y="1664208"/>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Late-Monsoon / Post-Monsoon Peak</a:t>
            </a:r>
            <a:endParaRPr lang="en-US" sz="700" dirty="0"/>
          </a:p>
        </p:txBody>
      </p:sp>
      <p:sp>
        <p:nvSpPr>
          <p:cNvPr id="11" name="Text 9"/>
          <p:cNvSpPr/>
          <p:nvPr/>
        </p:nvSpPr>
        <p:spPr>
          <a:xfrm>
            <a:off x="877824" y="1828800"/>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October peak (40 events). 82.8% of all events occur Jun–Oct. Aug–Oct CR3 = 50.5%.</a:t>
            </a:r>
            <a:endParaRPr lang="en-US" sz="750" dirty="0"/>
          </a:p>
        </p:txBody>
      </p:sp>
      <p:sp>
        <p:nvSpPr>
          <p:cNvPr id="12" name="Text 10"/>
          <p:cNvSpPr/>
          <p:nvPr/>
        </p:nvSpPr>
        <p:spPr>
          <a:xfrm>
            <a:off x="877824" y="2157984"/>
            <a:ext cx="1371600" cy="164592"/>
          </a:xfrm>
          <a:prstGeom prst="rect">
            <a:avLst/>
          </a:prstGeom>
          <a:noFill/>
          <a:ln/>
        </p:spPr>
        <p:txBody>
          <a:bodyPr wrap="square" rtlCol="0" anchor="ctr"/>
          <a:lstStyle/>
          <a:p>
            <a:pPr indent="0" marL="0">
              <a:buNone/>
            </a:pPr>
            <a:r>
              <a:rPr lang="en-US" sz="750" b="1" dirty="0">
                <a:solidFill>
                  <a:srgbClr val="10B981"/>
                </a:solidFill>
                <a:latin typeface="Consolas" pitchFamily="34" charset="0"/>
                <a:ea typeface="Consolas" pitchFamily="34" charset="-122"/>
                <a:cs typeface="Consolas" pitchFamily="34" charset="-120"/>
              </a:rPr>
              <a:t>2. ACUTE DIARRHEAL DISEASE</a:t>
            </a:r>
            <a:endParaRPr lang="en-US" sz="750" dirty="0"/>
          </a:p>
        </p:txBody>
      </p:sp>
      <p:sp>
        <p:nvSpPr>
          <p:cNvPr id="13" name="Text 11"/>
          <p:cNvSpPr/>
          <p:nvPr/>
        </p:nvSpPr>
        <p:spPr>
          <a:xfrm>
            <a:off x="2148840" y="2157984"/>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Early Monsoon Plateau + Oct Rise</a:t>
            </a:r>
            <a:endParaRPr lang="en-US" sz="700" dirty="0"/>
          </a:p>
        </p:txBody>
      </p:sp>
      <p:sp>
        <p:nvSpPr>
          <p:cNvPr id="14" name="Text 12"/>
          <p:cNvSpPr/>
          <p:nvPr/>
        </p:nvSpPr>
        <p:spPr>
          <a:xfrm>
            <a:off x="877824" y="2322576"/>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Sustained elevation Jun–Aug (18-20 events/mo) with secondary Oct rise. CR3 = 43.1%.</a:t>
            </a:r>
            <a:endParaRPr lang="en-US" sz="750" dirty="0"/>
          </a:p>
        </p:txBody>
      </p:sp>
      <p:sp>
        <p:nvSpPr>
          <p:cNvPr id="15" name="Text 13"/>
          <p:cNvSpPr/>
          <p:nvPr/>
        </p:nvSpPr>
        <p:spPr>
          <a:xfrm>
            <a:off x="877824" y="2651760"/>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3. MALARIA</a:t>
            </a:r>
            <a:endParaRPr lang="en-US" sz="750" dirty="0"/>
          </a:p>
        </p:txBody>
      </p:sp>
      <p:sp>
        <p:nvSpPr>
          <p:cNvPr id="16" name="Text 14"/>
          <p:cNvSpPr/>
          <p:nvPr/>
        </p:nvSpPr>
        <p:spPr>
          <a:xfrm>
            <a:off x="2148840" y="2651760"/>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Pre-Monsoon &amp; Early Monsoon</a:t>
            </a:r>
            <a:endParaRPr lang="en-US" sz="700" dirty="0"/>
          </a:p>
        </p:txBody>
      </p:sp>
      <p:sp>
        <p:nvSpPr>
          <p:cNvPr id="17" name="Text 15"/>
          <p:cNvSpPr/>
          <p:nvPr/>
        </p:nvSpPr>
        <p:spPr>
          <a:xfrm>
            <a:off x="877824" y="2816352"/>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Concentrates earlier in May–July (12–14 events/mo). May–Jul CR3 = 51.4%.</a:t>
            </a:r>
            <a:endParaRPr lang="en-US" sz="750" dirty="0"/>
          </a:p>
        </p:txBody>
      </p:sp>
      <p:sp>
        <p:nvSpPr>
          <p:cNvPr id="18" name="Text 16"/>
          <p:cNvSpPr/>
          <p:nvPr/>
        </p:nvSpPr>
        <p:spPr>
          <a:xfrm>
            <a:off x="877824" y="3145536"/>
            <a:ext cx="1371600" cy="164592"/>
          </a:xfrm>
          <a:prstGeom prst="rect">
            <a:avLst/>
          </a:prstGeom>
          <a:noFill/>
          <a:ln/>
        </p:spPr>
        <p:txBody>
          <a:bodyPr wrap="square" rtlCol="0" anchor="ctr"/>
          <a:lstStyle/>
          <a:p>
            <a:pPr indent="0" marL="0">
              <a:buNone/>
            </a:pPr>
            <a:r>
              <a:rPr lang="en-US" sz="750" b="1" dirty="0">
                <a:solidFill>
                  <a:srgbClr val="D4AF37"/>
                </a:solidFill>
                <a:latin typeface="Consolas" pitchFamily="34" charset="0"/>
                <a:ea typeface="Consolas" pitchFamily="34" charset="-122"/>
                <a:cs typeface="Consolas" pitchFamily="34" charset="-120"/>
              </a:rPr>
              <a:t>4. FOOD POISONING</a:t>
            </a:r>
            <a:endParaRPr lang="en-US" sz="750" dirty="0"/>
          </a:p>
        </p:txBody>
      </p:sp>
      <p:sp>
        <p:nvSpPr>
          <p:cNvPr id="19" name="Text 17"/>
          <p:cNvSpPr/>
          <p:nvPr/>
        </p:nvSpPr>
        <p:spPr>
          <a:xfrm>
            <a:off x="2148840" y="3145536"/>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Bimodal Non-Monsoon Windows</a:t>
            </a:r>
            <a:endParaRPr lang="en-US" sz="700" dirty="0"/>
          </a:p>
        </p:txBody>
      </p:sp>
      <p:sp>
        <p:nvSpPr>
          <p:cNvPr id="20" name="Text 18"/>
          <p:cNvSpPr/>
          <p:nvPr/>
        </p:nvSpPr>
        <p:spPr>
          <a:xfrm>
            <a:off x="877824" y="3310128"/>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Two distinct peaks: Jan–Feb and Apr–May. Demonstrates no monsoon concentration.</a:t>
            </a:r>
            <a:endParaRPr lang="en-US" sz="750" dirty="0"/>
          </a:p>
        </p:txBody>
      </p:sp>
      <p:sp>
        <p:nvSpPr>
          <p:cNvPr id="21" name="Text 19"/>
          <p:cNvSpPr/>
          <p:nvPr/>
        </p:nvSpPr>
        <p:spPr>
          <a:xfrm>
            <a:off x="877824" y="3639312"/>
            <a:ext cx="1371600" cy="164592"/>
          </a:xfrm>
          <a:prstGeom prst="rect">
            <a:avLst/>
          </a:prstGeom>
          <a:noFill/>
          <a:ln/>
        </p:spPr>
        <p:txBody>
          <a:bodyPr wrap="square" rtlCol="0" anchor="ctr"/>
          <a:lstStyle/>
          <a:p>
            <a:pPr indent="0" marL="0">
              <a:buNone/>
            </a:pPr>
            <a:r>
              <a:rPr lang="en-US" sz="750" b="1" dirty="0">
                <a:solidFill>
                  <a:srgbClr val="F87171"/>
                </a:solidFill>
                <a:latin typeface="Consolas" pitchFamily="34" charset="0"/>
                <a:ea typeface="Consolas" pitchFamily="34" charset="-122"/>
                <a:cs typeface="Consolas" pitchFamily="34" charset="-120"/>
              </a:rPr>
              <a:t>5. CHIKUNGUNYA</a:t>
            </a:r>
            <a:endParaRPr lang="en-US" sz="750" dirty="0"/>
          </a:p>
        </p:txBody>
      </p:sp>
      <p:sp>
        <p:nvSpPr>
          <p:cNvPr id="22" name="Text 20"/>
          <p:cNvSpPr/>
          <p:nvPr/>
        </p:nvSpPr>
        <p:spPr>
          <a:xfrm>
            <a:off x="2148840" y="3639312"/>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Low-Count Dispersed Distribution</a:t>
            </a:r>
            <a:endParaRPr lang="en-US" sz="700" dirty="0"/>
          </a:p>
        </p:txBody>
      </p:sp>
      <p:sp>
        <p:nvSpPr>
          <p:cNvPr id="23" name="Text 21"/>
          <p:cNvSpPr/>
          <p:nvPr/>
        </p:nvSpPr>
        <p:spPr>
          <a:xfrm>
            <a:off x="877824" y="3803904"/>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Low baseline frequency without a single dominant month (CR3 = 41.9%).</a:t>
            </a:r>
            <a:endParaRPr lang="en-US" sz="750" dirty="0"/>
          </a:p>
        </p:txBody>
      </p:sp>
      <p:sp>
        <p:nvSpPr>
          <p:cNvPr id="24" name="Shape 22"/>
          <p:cNvSpPr/>
          <p:nvPr/>
        </p:nvSpPr>
        <p:spPr>
          <a:xfrm>
            <a:off x="877824" y="4096512"/>
            <a:ext cx="3090672" cy="0"/>
          </a:xfrm>
          <a:prstGeom prst="line">
            <a:avLst/>
          </a:prstGeom>
          <a:noFill/>
          <a:ln w="6350">
            <a:solidFill>
              <a:srgbClr val="1E2D4A"/>
            </a:solidFill>
            <a:prstDash val="solid"/>
          </a:ln>
        </p:spPr>
      </p:sp>
      <p:sp>
        <p:nvSpPr>
          <p:cNvPr id="25" name="Text 23"/>
          <p:cNvSpPr/>
          <p:nvPr/>
        </p:nvSpPr>
        <p:spPr>
          <a:xfrm>
            <a:off x="877824" y="4151376"/>
            <a:ext cx="3090672" cy="365760"/>
          </a:xfrm>
          <a:prstGeom prst="rect">
            <a:avLst/>
          </a:prstGeom>
          <a:noFill/>
          <a:ln/>
        </p:spPr>
        <p:txBody>
          <a:bodyPr wrap="square" rtlCol="0" anchor="ctr"/>
          <a:lstStyle/>
          <a:p>
            <a:pPr indent="0" marL="0">
              <a:lnSpc>
                <a:spcPct val="110000"/>
              </a:lnSpc>
              <a:buNone/>
            </a:pPr>
            <a:r>
              <a:rPr lang="en-US" sz="700" i="1" dirty="0">
                <a:solidFill>
                  <a:srgbClr val="94A3B8"/>
                </a:solidFill>
                <a:latin typeface="Calibri" pitchFamily="34" charset="0"/>
                <a:ea typeface="Calibri" pitchFamily="34" charset="-122"/>
                <a:cs typeface="Calibri" pitchFamily="34" charset="-120"/>
              </a:rPr>
              <a:t>BOUNDARY: Calendar concentrations reflect surveillance reporting; no climate/rainfall causality is inferred.</a:t>
            </a:r>
            <a:endParaRPr lang="en-US" sz="700" dirty="0"/>
          </a:p>
        </p:txBody>
      </p:sp>
      <p:sp>
        <p:nvSpPr>
          <p:cNvPr id="26" name="Shape 24"/>
          <p:cNvSpPr/>
          <p:nvPr/>
        </p:nvSpPr>
        <p:spPr>
          <a:xfrm>
            <a:off x="4251960" y="1353312"/>
            <a:ext cx="4160520" cy="3218688"/>
          </a:xfrm>
          <a:prstGeom prst="rect">
            <a:avLst/>
          </a:prstGeom>
          <a:solidFill>
            <a:srgbClr val="0C162E"/>
          </a:solidFill>
          <a:ln w="9525">
            <a:solidFill>
              <a:srgbClr val="D4AF37"/>
            </a:solidFill>
            <a:prstDash val="solid"/>
          </a:ln>
        </p:spPr>
      </p:sp>
      <p:sp>
        <p:nvSpPr>
          <p:cNvPr id="27" name="Text 25"/>
          <p:cNvSpPr/>
          <p:nvPr/>
        </p:nvSpPr>
        <p:spPr>
          <a:xfrm>
            <a:off x="4389120" y="1426464"/>
            <a:ext cx="38862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4-YEAR MONTHLY EVENT DISTRIBUTIONS</a:t>
            </a:r>
            <a:endParaRPr lang="en-US" sz="700" dirty="0"/>
          </a:p>
        </p:txBody>
      </p:sp>
      <p:sp>
        <p:nvSpPr>
          <p:cNvPr id="28" name="Shape 26"/>
          <p:cNvSpPr/>
          <p:nvPr/>
        </p:nvSpPr>
        <p:spPr>
          <a:xfrm>
            <a:off x="4389120" y="1645920"/>
            <a:ext cx="38862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B_seasonal_analysis\chart_monthly_outbreak_events.png">    </p:cNvPr>
          <p:cNvPicPr>
            <a:picLocks noChangeAspect="1"/>
          </p:cNvPicPr>
          <p:nvPr/>
        </p:nvPicPr>
        <p:blipFill>
          <a:blip r:embed="rId1"/>
          <a:stretch>
            <a:fillRect/>
          </a:stretch>
        </p:blipFill>
        <p:spPr>
          <a:xfrm>
            <a:off x="4416552" y="1682496"/>
            <a:ext cx="3831336" cy="2468880"/>
          </a:xfrm>
          <a:prstGeom prst="rect">
            <a:avLst/>
          </a:prstGeom>
        </p:spPr>
      </p:pic>
      <p:sp>
        <p:nvSpPr>
          <p:cNvPr id="30" name="Text 27"/>
          <p:cNvSpPr/>
          <p:nvPr/>
        </p:nvSpPr>
        <p:spPr>
          <a:xfrm>
            <a:off x="4389120" y="4242816"/>
            <a:ext cx="38862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outbreak event counts aggregated across 2022–2025 (Phase 5B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5B MONTHLY AGGREGATION MATRIX | NCDC OUTBREAK RECORDS</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2026-10-02T17:47:56Z</dcterms:created>
  <dcterms:modified xsi:type="dcterms:W3CDTF">2026-10-02T17:47:56Z</dcterms:modified>
</cp:coreProperties>
</file>