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SCRIPT (35s):
This slide presents the results of our non-parametric Kendall's W concordance test across the four baseline years.
The critical empirical finding:
Only Acute Diarrheal Disease demonstrates statistically significant inter-annual concordance (W = 0.530, p = 0.016). This means ADD's monthly ranking is the most reliably repeated year after year.
Dengue (W = 0.405, p = 0.086), Malaria (W = 0.319, p = 0.229), and Food Poisoning (W = 0.260, p = 0.380) did not meet the α = 0.05 significance threshold.
DEFENSE POINT: Why did Dengue not achieve statistical significance despite high seasonal concentration? Because its exact peak month oscillates between September and October in different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COMPARATIVE PROFILES  //  INTER-ANNUAL CONCORDANCE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Calendar Concentration &amp; Kendall’s W Stability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four-year monthly ranking consistency across 2022–2025 (tested at α = 0.05)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25296"/>
            <a:ext cx="7680960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4069080" cy="321868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53312"/>
            <a:ext cx="406908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44752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KENDALL’S W CONCORDANCE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 FAMILY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240280" y="16459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CR3 (TOP 3 MO)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W-STAT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840480" y="164592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68680" y="1828800"/>
            <a:ext cx="379476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883664"/>
            <a:ext cx="3886200" cy="438912"/>
          </a:xfrm>
          <a:prstGeom prst="rect">
            <a:avLst/>
          </a:prstGeom>
          <a:solidFill>
            <a:srgbClr val="13284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9202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Diarrheal Dis.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40280" y="1920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43.1% (Jun–Aug)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0" y="1920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1920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0.016*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212140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inter-annual concordance (p &lt; 0.05)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68680" y="239572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Dengue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40280" y="23957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50.5% (Aug–Oct)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400" y="23957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23957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8680" y="2596896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(annual peak shifts between Sep and Oct)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68680" y="287121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40280" y="28712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51.4% (May–Jul)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00400" y="287121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0.319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287121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" y="3072384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(early-monsoon elevation with variable timing)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68680" y="334670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Poisoning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40280" y="33467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44.9% (Apr/May/Feb)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0" y="33467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0.260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0" y="33467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0.380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8680" y="3547872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(bimodal, sensitive to mass-case events)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68680" y="3822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Chikungunya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40280" y="38221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41.9% (May/Jun/Sep)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00400" y="38221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40480" y="38221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" y="402336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(low baseline frequency across the year)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68680" y="42793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Kendall’s W measures rank concordance (0 = no agreement, 1 = complete concordance). Tested at α = 0.05 across 4 completed years.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937760" y="1353312"/>
            <a:ext cx="3474720" cy="3218688"/>
          </a:xfrm>
          <a:prstGeom prst="rect">
            <a:avLst/>
          </a:prstGeom>
          <a:solidFill>
            <a:srgbClr val="0C162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14264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EXHIBIT: INTER-ANNUAL STABILITY HEATMAP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74920" y="1645920"/>
            <a:ext cx="32004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1E2D4A"/>
            </a:solidFill>
            <a:prstDash val="solid"/>
          </a:ln>
        </p:spPr>
      </p:sp>
      <p:pic>
        <p:nvPicPr>
          <p:cNvPr id="44" name="Image 0" descr="C:\Users\ADMIN\OneDrive\Desktop\Field Project\data_pipeline\phase5C_advanced_analysis\chart_seasonal_stabilit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1682496"/>
            <a:ext cx="3145536" cy="24688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5074920" y="42428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Kendall's W Rank Concordance across 2022–2025 (Phase 5C Analysis).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152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PHASE 5C ADVANCED STATISTICAL ANALYSIS | KENDALL'S W TESTING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749808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2026-10-02T17:40:29Z</dcterms:created>
  <dcterms:modified xsi:type="dcterms:W3CDTF">2026-10-02T17:40:29Z</dcterms:modified>
</cp:coreProperties>
</file>