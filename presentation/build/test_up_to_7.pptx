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precise scientific inquiry: What seasonal patterns are evident in selected disease outbreak reports in Maharashtra?
To answer this with data-scientific rigor, we evaluate three analytical lenses:
1. Temporal concentration — calculating exact calendar-month clustering via 3-month concentration ratios (CR3).
2. Inter-annual stability — determining whether seasonal profiles repeat across years using Kendall's W concordance.
3. Event frequency versus case volume divergence — isolating how single mass-case events can distort monthly totals.
DEFENSE NOTE: This is framed as an administrative surveillance study. We do not hypothesize or claim biological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foundational contribution of this project is our reproducible data harmonization pipeline.
We processed 237 weekly government PDF bulletins from the NCDC, extracting 809 raw outbreak rows for Maharashtra.
Because official reports lack standardized spelling, we encountered 116 unique disease strings. We harmonized these into 56 clean labels and 30 syndromic families, selecting five primary families that account for 93.9% of all baseline outbreak records.
CRITICAL VIVA POINT: Every transformation is additive. The original disease_raw string was never overwritten, and each record maintains forensic provenance back to its specific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Across the four completed calendar years 2022 to 2025, our primary analytical cohort comprises exactly 539 outbreak records, 21,955 reported cases, and 266 reported deaths.
A key observation is the divergence between event frequency and case enumeration:
- Dengue leads in event frequency with 204 records, but resulted in 3,144 cases.
- Acute Diarrheal Disease had 153 events but generated 9,050 cases.
- Food Poisoning caused 5,927 cases from just 69 events.
WHAT NOT TO OVERCLAIM: Do not refer to 21,955 as 'disease incidence'. These are patients enumerated within investigated outbreak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(40s):
This is our core empirical visualization: five disease families exhibit five fundamentally distinct temporal signatures across Maharashtra.
As shown in the official analytical chart on the right:
1. Dengue concentrates heavily in late monsoon and post-monsoon (August to October), peaking in October with 40 recorded events. 82.8% of all Dengue events fall between June and October.
2. Acute Diarrheal Disease maintains sustained elevation across June to August (18–20 events monthly) with an October secondary peak.
3. Malaria concentrates earlier, in May to July.
4. Food Poisoning exhibits a bimodal profile in non-monsoon months (Jan–Feb and Apr–May).
5. Chikungunya is dispersed at low event counts throughout the year.
ONE SENTENCE YOU MUST NOT SAY: Do not say 'Monsoon rainfall caused the Dengue outbreak.' Meteorological data was not co-modeled. We report observed calendar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presents the results of our non-parametric Kendall's W concordance test across the four baseline years.
The critical empirical finding:
Only Acute Diarrheal Disease demonstrates statistically significant inter-annual concordance (W = 0.530, p = 0.016). This means ADD's monthly ranking is the most reliably repeated year after year.
Dengue (W = 0.405, p = 0.086), Malaria (W = 0.319, p = 0.229), and Food Poisoning (W = 0.260, p = 0.380) did not meet the α = 0.05 significance threshold.
DEFENSE POINT: Why did Dengue not achieve statistical significance despite high seasonal concentration? Because its exact peak month oscillates between September and October in different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demonstrates a core data science lesson: event frequency and case volume must never be conflated.
In Food Poisoning, February appears to have a huge spike in case volume. However, sensitivity analysis reveals that 1,615 of the 2,162 February cases came from just three records: Kolhapur (651), Parbhani (629), and Solapur (335).
These three records account for 74.7% of all February cases, and 27.3% of the four-year total across Maharashtra.
As shown in the exhibit on the right, removing these three events flattens the February peak completely.
ONE SENTENCE YOU MUST NOT SAY: Do not speculate about causes (weddings, hostels, street food). We have no source data for food types or gathering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CENTRAL RESEARCH QUESTION  //  ANALYTICAL FRAMEWORK</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Investigating Outbreak Seasonality in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143000"/>
            <a:ext cx="7680960" cy="1783080"/>
          </a:xfrm>
          <a:prstGeom prst="rect">
            <a:avLst/>
          </a:prstGeom>
          <a:solidFill>
            <a:srgbClr val="16274D"/>
          </a:solidFill>
          <a:ln w="12700">
            <a:solidFill>
              <a:srgbClr val="D4AF37"/>
            </a:solidFill>
            <a:prstDash val="solid"/>
          </a:ln>
        </p:spPr>
      </p:sp>
      <p:sp>
        <p:nvSpPr>
          <p:cNvPr id="6" name="Text 4"/>
          <p:cNvSpPr/>
          <p:nvPr/>
        </p:nvSpPr>
        <p:spPr>
          <a:xfrm>
            <a:off x="1005840" y="1289304"/>
            <a:ext cx="7132320" cy="201168"/>
          </a:xfrm>
          <a:prstGeom prst="rect">
            <a:avLst/>
          </a:prstGeom>
          <a:noFill/>
          <a:ln/>
        </p:spPr>
        <p:txBody>
          <a:bodyPr wrap="square" rtlCol="0" anchor="ctr"/>
          <a:lstStyle/>
          <a:p>
            <a:pPr indent="0" marL="0">
              <a:buNone/>
            </a:pPr>
            <a:r>
              <a:rPr lang="en-US" sz="750" b="1" spc="150" kern="0" dirty="0">
                <a:solidFill>
                  <a:srgbClr val="D4AF37"/>
                </a:solidFill>
                <a:latin typeface="Consolas" pitchFamily="34" charset="0"/>
                <a:ea typeface="Consolas" pitchFamily="34" charset="-122"/>
                <a:cs typeface="Consolas" pitchFamily="34" charset="-120"/>
              </a:rPr>
              <a:t>PRIMARY RESEARCH INQUIRY</a:t>
            </a:r>
            <a:endParaRPr lang="en-US" sz="750" dirty="0"/>
          </a:p>
        </p:txBody>
      </p:sp>
      <p:sp>
        <p:nvSpPr>
          <p:cNvPr id="7" name="Text 5"/>
          <p:cNvSpPr/>
          <p:nvPr/>
        </p:nvSpPr>
        <p:spPr>
          <a:xfrm>
            <a:off x="1005840" y="1527048"/>
            <a:ext cx="7132320" cy="1234440"/>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2200" dirty="0"/>
          </a:p>
        </p:txBody>
      </p:sp>
      <p:sp>
        <p:nvSpPr>
          <p:cNvPr id="8" name="Shape 6"/>
          <p:cNvSpPr/>
          <p:nvPr/>
        </p:nvSpPr>
        <p:spPr>
          <a:xfrm>
            <a:off x="731520" y="3090672"/>
            <a:ext cx="2450592" cy="1481328"/>
          </a:xfrm>
          <a:prstGeom prst="rect">
            <a:avLst/>
          </a:prstGeom>
          <a:solidFill>
            <a:srgbClr val="101C38"/>
          </a:solidFill>
          <a:ln w="9525">
            <a:solidFill>
              <a:srgbClr val="1E335E"/>
            </a:solidFill>
            <a:prstDash val="solid"/>
          </a:ln>
        </p:spPr>
      </p:sp>
      <p:sp>
        <p:nvSpPr>
          <p:cNvPr id="9" name="Shape 7"/>
          <p:cNvSpPr/>
          <p:nvPr/>
        </p:nvSpPr>
        <p:spPr>
          <a:xfrm>
            <a:off x="731520" y="3090672"/>
            <a:ext cx="2450592" cy="0"/>
          </a:xfrm>
          <a:prstGeom prst="line">
            <a:avLst/>
          </a:prstGeom>
          <a:noFill/>
          <a:ln w="19050">
            <a:solidFill>
              <a:srgbClr val="D4AF37"/>
            </a:solidFill>
            <a:prstDash val="solid"/>
          </a:ln>
        </p:spPr>
      </p:sp>
      <p:sp>
        <p:nvSpPr>
          <p:cNvPr id="10" name="Text 8"/>
          <p:cNvSpPr/>
          <p:nvPr/>
        </p:nvSpPr>
        <p:spPr>
          <a:xfrm>
            <a:off x="868680"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01</a:t>
            </a:r>
            <a:endParaRPr lang="en-US" sz="2400" dirty="0"/>
          </a:p>
        </p:txBody>
      </p:sp>
      <p:sp>
        <p:nvSpPr>
          <p:cNvPr id="11" name="Text 9"/>
          <p:cNvSpPr/>
          <p:nvPr/>
        </p:nvSpPr>
        <p:spPr>
          <a:xfrm>
            <a:off x="1417320"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CONCENTRATION</a:t>
            </a:r>
            <a:endParaRPr lang="en-US" sz="750" dirty="0"/>
          </a:p>
        </p:txBody>
      </p:sp>
      <p:sp>
        <p:nvSpPr>
          <p:cNvPr id="12" name="Text 10"/>
          <p:cNvSpPr/>
          <p:nvPr/>
        </p:nvSpPr>
        <p:spPr>
          <a:xfrm>
            <a:off x="1417320"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3-Month Concentration Ratio (CR3)</a:t>
            </a:r>
            <a:endParaRPr lang="en-US" sz="750" dirty="0"/>
          </a:p>
        </p:txBody>
      </p:sp>
      <p:sp>
        <p:nvSpPr>
          <p:cNvPr id="13" name="Shape 11"/>
          <p:cNvSpPr/>
          <p:nvPr/>
        </p:nvSpPr>
        <p:spPr>
          <a:xfrm>
            <a:off x="868680" y="3657600"/>
            <a:ext cx="2176272" cy="0"/>
          </a:xfrm>
          <a:prstGeom prst="line">
            <a:avLst/>
          </a:prstGeom>
          <a:noFill/>
          <a:ln w="6350">
            <a:solidFill>
              <a:srgbClr val="1E2D4A"/>
            </a:solidFill>
            <a:prstDash val="solid"/>
          </a:ln>
        </p:spPr>
      </p:sp>
      <p:sp>
        <p:nvSpPr>
          <p:cNvPr id="14" name="Text 12"/>
          <p:cNvSpPr/>
          <p:nvPr/>
        </p:nvSpPr>
        <p:spPr>
          <a:xfrm>
            <a:off x="868680"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Determines whether outbreak events cluster within specific calendar months or disperse uniformly across the surveillance year.</a:t>
            </a:r>
            <a:endParaRPr lang="en-US" sz="850" dirty="0"/>
          </a:p>
        </p:txBody>
      </p:sp>
      <p:sp>
        <p:nvSpPr>
          <p:cNvPr id="15" name="Shape 13"/>
          <p:cNvSpPr/>
          <p:nvPr/>
        </p:nvSpPr>
        <p:spPr>
          <a:xfrm>
            <a:off x="3346704" y="3090672"/>
            <a:ext cx="2450592" cy="1481328"/>
          </a:xfrm>
          <a:prstGeom prst="rect">
            <a:avLst/>
          </a:prstGeom>
          <a:solidFill>
            <a:srgbClr val="101C38"/>
          </a:solidFill>
          <a:ln w="9525">
            <a:solidFill>
              <a:srgbClr val="1E335E"/>
            </a:solidFill>
            <a:prstDash val="solid"/>
          </a:ln>
        </p:spPr>
      </p:sp>
      <p:sp>
        <p:nvSpPr>
          <p:cNvPr id="16" name="Shape 14"/>
          <p:cNvSpPr/>
          <p:nvPr/>
        </p:nvSpPr>
        <p:spPr>
          <a:xfrm>
            <a:off x="3346704" y="3090672"/>
            <a:ext cx="2450592" cy="0"/>
          </a:xfrm>
          <a:prstGeom prst="line">
            <a:avLst/>
          </a:prstGeom>
          <a:noFill/>
          <a:ln w="19050">
            <a:solidFill>
              <a:srgbClr val="D4AF37"/>
            </a:solidFill>
            <a:prstDash val="solid"/>
          </a:ln>
        </p:spPr>
      </p:sp>
      <p:sp>
        <p:nvSpPr>
          <p:cNvPr id="17" name="Text 15"/>
          <p:cNvSpPr/>
          <p:nvPr/>
        </p:nvSpPr>
        <p:spPr>
          <a:xfrm>
            <a:off x="3483864"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02</a:t>
            </a:r>
            <a:endParaRPr lang="en-US" sz="2400" dirty="0"/>
          </a:p>
        </p:txBody>
      </p:sp>
      <p:sp>
        <p:nvSpPr>
          <p:cNvPr id="18" name="Text 16"/>
          <p:cNvSpPr/>
          <p:nvPr/>
        </p:nvSpPr>
        <p:spPr>
          <a:xfrm>
            <a:off x="4032504"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INTER-ANNUAL STABILITY</a:t>
            </a:r>
            <a:endParaRPr lang="en-US" sz="750" dirty="0"/>
          </a:p>
        </p:txBody>
      </p:sp>
      <p:sp>
        <p:nvSpPr>
          <p:cNvPr id="19" name="Text 17"/>
          <p:cNvSpPr/>
          <p:nvPr/>
        </p:nvSpPr>
        <p:spPr>
          <a:xfrm>
            <a:off x="4032504"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Kendall’s W Coefficient of Concordance</a:t>
            </a:r>
            <a:endParaRPr lang="en-US" sz="750" dirty="0"/>
          </a:p>
        </p:txBody>
      </p:sp>
      <p:sp>
        <p:nvSpPr>
          <p:cNvPr id="20" name="Shape 18"/>
          <p:cNvSpPr/>
          <p:nvPr/>
        </p:nvSpPr>
        <p:spPr>
          <a:xfrm>
            <a:off x="3483864" y="3657600"/>
            <a:ext cx="2176272" cy="0"/>
          </a:xfrm>
          <a:prstGeom prst="line">
            <a:avLst/>
          </a:prstGeom>
          <a:noFill/>
          <a:ln w="6350">
            <a:solidFill>
              <a:srgbClr val="1E2D4A"/>
            </a:solidFill>
            <a:prstDash val="solid"/>
          </a:ln>
        </p:spPr>
      </p:sp>
      <p:sp>
        <p:nvSpPr>
          <p:cNvPr id="21" name="Text 19"/>
          <p:cNvSpPr/>
          <p:nvPr/>
        </p:nvSpPr>
        <p:spPr>
          <a:xfrm>
            <a:off x="3483864"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Tests whether monthly disease ranking repeats reliably across four completed years (2022–2025) or exhibits volatile, random shifts.</a:t>
            </a:r>
            <a:endParaRPr lang="en-US" sz="850" dirty="0"/>
          </a:p>
        </p:txBody>
      </p:sp>
      <p:sp>
        <p:nvSpPr>
          <p:cNvPr id="22" name="Shape 20"/>
          <p:cNvSpPr/>
          <p:nvPr/>
        </p:nvSpPr>
        <p:spPr>
          <a:xfrm>
            <a:off x="5961888" y="3090672"/>
            <a:ext cx="2450592" cy="1481328"/>
          </a:xfrm>
          <a:prstGeom prst="rect">
            <a:avLst/>
          </a:prstGeom>
          <a:solidFill>
            <a:srgbClr val="101C38"/>
          </a:solidFill>
          <a:ln w="9525">
            <a:solidFill>
              <a:srgbClr val="1E335E"/>
            </a:solidFill>
            <a:prstDash val="solid"/>
          </a:ln>
        </p:spPr>
      </p:sp>
      <p:sp>
        <p:nvSpPr>
          <p:cNvPr id="23" name="Shape 21"/>
          <p:cNvSpPr/>
          <p:nvPr/>
        </p:nvSpPr>
        <p:spPr>
          <a:xfrm>
            <a:off x="5961888" y="3090672"/>
            <a:ext cx="2450592" cy="0"/>
          </a:xfrm>
          <a:prstGeom prst="line">
            <a:avLst/>
          </a:prstGeom>
          <a:noFill/>
          <a:ln w="19050">
            <a:solidFill>
              <a:srgbClr val="D4AF37"/>
            </a:solidFill>
            <a:prstDash val="solid"/>
          </a:ln>
        </p:spPr>
      </p:sp>
      <p:sp>
        <p:nvSpPr>
          <p:cNvPr id="24" name="Text 22"/>
          <p:cNvSpPr/>
          <p:nvPr/>
        </p:nvSpPr>
        <p:spPr>
          <a:xfrm>
            <a:off x="6099048"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647688"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EVENT / VOLUME DIVERGENCE</a:t>
            </a:r>
            <a:endParaRPr lang="en-US" sz="750" dirty="0"/>
          </a:p>
        </p:txBody>
      </p:sp>
      <p:sp>
        <p:nvSpPr>
          <p:cNvPr id="26" name="Text 24"/>
          <p:cNvSpPr/>
          <p:nvPr/>
        </p:nvSpPr>
        <p:spPr>
          <a:xfrm>
            <a:off x="6647688"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Sensitivity &amp; Outlier Decomposition</a:t>
            </a:r>
            <a:endParaRPr lang="en-US" sz="750" dirty="0"/>
          </a:p>
        </p:txBody>
      </p:sp>
      <p:sp>
        <p:nvSpPr>
          <p:cNvPr id="27" name="Shape 25"/>
          <p:cNvSpPr/>
          <p:nvPr/>
        </p:nvSpPr>
        <p:spPr>
          <a:xfrm>
            <a:off x="6099048" y="3657600"/>
            <a:ext cx="2176272" cy="0"/>
          </a:xfrm>
          <a:prstGeom prst="line">
            <a:avLst/>
          </a:prstGeom>
          <a:noFill/>
          <a:ln w="6350">
            <a:solidFill>
              <a:srgbClr val="1E2D4A"/>
            </a:solidFill>
            <a:prstDash val="solid"/>
          </a:ln>
        </p:spPr>
      </p:sp>
      <p:sp>
        <p:nvSpPr>
          <p:cNvPr id="28" name="Text 26"/>
          <p:cNvSpPr/>
          <p:nvPr/>
        </p:nvSpPr>
        <p:spPr>
          <a:xfrm>
            <a:off x="6099048"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Evaluates how isolated mass-exposure outbreaks distort aggregate case volumes without altering underlying event frequency distributions.</a:t>
            </a:r>
            <a:endParaRPr lang="en-US" sz="850" dirty="0"/>
          </a:p>
        </p:txBody>
      </p:sp>
      <p:sp>
        <p:nvSpPr>
          <p:cNvPr id="29" name="Shape 27"/>
          <p:cNvSpPr/>
          <p:nvPr/>
        </p:nvSpPr>
        <p:spPr>
          <a:xfrm>
            <a:off x="731520" y="4773168"/>
            <a:ext cx="7680960" cy="0"/>
          </a:xfrm>
          <a:prstGeom prst="line">
            <a:avLst/>
          </a:prstGeom>
          <a:noFill/>
          <a:ln w="9525">
            <a:solidFill>
              <a:srgbClr val="1E2D4A"/>
            </a:solidFill>
            <a:prstDash val="solid"/>
          </a:ln>
        </p:spPr>
      </p:sp>
      <p:sp>
        <p:nvSpPr>
          <p:cNvPr id="30" name="Text 2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METHODOLOGY // RP INSTITUTE // B.SC. DATA SCIENCE VIVA DEFENSE</a:t>
            </a:r>
            <a:endParaRPr lang="en-US" sz="650" dirty="0"/>
          </a:p>
        </p:txBody>
      </p:sp>
      <p:sp>
        <p:nvSpPr>
          <p:cNvPr id="31" name="Text 2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DATA ENGINEERING PIPELINE  //  PROVENANCE &amp; HARMONIZATION</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From Weekly Government Reports to Structured Data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1170432" cy="1664208"/>
          </a:xfrm>
          <a:prstGeom prst="rect">
            <a:avLst/>
          </a:prstGeom>
          <a:solidFill>
            <a:srgbClr val="101C38"/>
          </a:solidFill>
          <a:ln w="9525">
            <a:solidFill>
              <a:srgbClr val="1E335E"/>
            </a:solidFill>
            <a:prstDash val="solid"/>
          </a:ln>
        </p:spPr>
      </p:sp>
      <p:sp>
        <p:nvSpPr>
          <p:cNvPr id="6" name="Shape 4"/>
          <p:cNvSpPr/>
          <p:nvPr/>
        </p:nvSpPr>
        <p:spPr>
          <a:xfrm>
            <a:off x="731520" y="1207008"/>
            <a:ext cx="1170432" cy="0"/>
          </a:xfrm>
          <a:prstGeom prst="line">
            <a:avLst/>
          </a:prstGeom>
          <a:noFill/>
          <a:ln w="12700">
            <a:solidFill>
              <a:srgbClr val="38BDF8"/>
            </a:solidFill>
            <a:prstDash val="solid"/>
          </a:ln>
        </p:spPr>
      </p:sp>
      <p:sp>
        <p:nvSpPr>
          <p:cNvPr id="7" name="Text 5"/>
          <p:cNvSpPr/>
          <p:nvPr/>
        </p:nvSpPr>
        <p:spPr>
          <a:xfrm>
            <a:off x="777240"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237</a:t>
            </a:r>
            <a:endParaRPr lang="en-US" sz="2800" dirty="0"/>
          </a:p>
        </p:txBody>
      </p:sp>
      <p:sp>
        <p:nvSpPr>
          <p:cNvPr id="8" name="Text 6"/>
          <p:cNvSpPr/>
          <p:nvPr/>
        </p:nvSpPr>
        <p:spPr>
          <a:xfrm>
            <a:off x="777240"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PDF BULLETINS</a:t>
            </a:r>
            <a:endParaRPr lang="en-US" sz="650" dirty="0"/>
          </a:p>
        </p:txBody>
      </p:sp>
      <p:sp>
        <p:nvSpPr>
          <p:cNvPr id="9" name="Shape 7"/>
          <p:cNvSpPr/>
          <p:nvPr/>
        </p:nvSpPr>
        <p:spPr>
          <a:xfrm>
            <a:off x="841248" y="2157984"/>
            <a:ext cx="950976" cy="0"/>
          </a:xfrm>
          <a:prstGeom prst="line">
            <a:avLst/>
          </a:prstGeom>
          <a:noFill/>
          <a:ln w="6350">
            <a:solidFill>
              <a:srgbClr val="1E2D4A"/>
            </a:solidFill>
            <a:prstDash val="solid"/>
          </a:ln>
        </p:spPr>
      </p:sp>
      <p:sp>
        <p:nvSpPr>
          <p:cNvPr id="10" name="Text 8"/>
          <p:cNvSpPr/>
          <p:nvPr/>
        </p:nvSpPr>
        <p:spPr>
          <a:xfrm>
            <a:off x="786384"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NCDC weekly surveillance archives</a:t>
            </a:r>
            <a:endParaRPr lang="en-US" sz="750" dirty="0"/>
          </a:p>
        </p:txBody>
      </p:sp>
      <p:sp>
        <p:nvSpPr>
          <p:cNvPr id="11" name="Text 9"/>
          <p:cNvSpPr/>
          <p:nvPr/>
        </p:nvSpPr>
        <p:spPr>
          <a:xfrm>
            <a:off x="1901952"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033626" y="1207008"/>
            <a:ext cx="1170432" cy="1664208"/>
          </a:xfrm>
          <a:prstGeom prst="rect">
            <a:avLst/>
          </a:prstGeom>
          <a:solidFill>
            <a:srgbClr val="101C38"/>
          </a:solidFill>
          <a:ln w="9525">
            <a:solidFill>
              <a:srgbClr val="1E335E"/>
            </a:solidFill>
            <a:prstDash val="solid"/>
          </a:ln>
        </p:spPr>
      </p:sp>
      <p:sp>
        <p:nvSpPr>
          <p:cNvPr id="13" name="Shape 11"/>
          <p:cNvSpPr/>
          <p:nvPr/>
        </p:nvSpPr>
        <p:spPr>
          <a:xfrm>
            <a:off x="2033626" y="1207008"/>
            <a:ext cx="1170432" cy="0"/>
          </a:xfrm>
          <a:prstGeom prst="line">
            <a:avLst/>
          </a:prstGeom>
          <a:noFill/>
          <a:ln w="12700">
            <a:solidFill>
              <a:srgbClr val="38BDF8"/>
            </a:solidFill>
            <a:prstDash val="solid"/>
          </a:ln>
        </p:spPr>
      </p:sp>
      <p:sp>
        <p:nvSpPr>
          <p:cNvPr id="14" name="Text 12"/>
          <p:cNvSpPr/>
          <p:nvPr/>
        </p:nvSpPr>
        <p:spPr>
          <a:xfrm>
            <a:off x="2079346"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809</a:t>
            </a:r>
            <a:endParaRPr lang="en-US" sz="2800" dirty="0"/>
          </a:p>
        </p:txBody>
      </p:sp>
      <p:sp>
        <p:nvSpPr>
          <p:cNvPr id="15" name="Text 13"/>
          <p:cNvSpPr/>
          <p:nvPr/>
        </p:nvSpPr>
        <p:spPr>
          <a:xfrm>
            <a:off x="2079346"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RAW RECORDS</a:t>
            </a:r>
            <a:endParaRPr lang="en-US" sz="650" dirty="0"/>
          </a:p>
        </p:txBody>
      </p:sp>
      <p:sp>
        <p:nvSpPr>
          <p:cNvPr id="16" name="Shape 14"/>
          <p:cNvSpPr/>
          <p:nvPr/>
        </p:nvSpPr>
        <p:spPr>
          <a:xfrm>
            <a:off x="2143354" y="2157984"/>
            <a:ext cx="950976" cy="0"/>
          </a:xfrm>
          <a:prstGeom prst="line">
            <a:avLst/>
          </a:prstGeom>
          <a:noFill/>
          <a:ln w="6350">
            <a:solidFill>
              <a:srgbClr val="1E2D4A"/>
            </a:solidFill>
            <a:prstDash val="solid"/>
          </a:ln>
        </p:spPr>
      </p:sp>
      <p:sp>
        <p:nvSpPr>
          <p:cNvPr id="17" name="Text 15"/>
          <p:cNvSpPr/>
          <p:nvPr/>
        </p:nvSpPr>
        <p:spPr>
          <a:xfrm>
            <a:off x="2088490"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Maharashtra outbreak rows extracted</a:t>
            </a:r>
            <a:endParaRPr lang="en-US" sz="750" dirty="0"/>
          </a:p>
        </p:txBody>
      </p:sp>
      <p:sp>
        <p:nvSpPr>
          <p:cNvPr id="18" name="Text 16"/>
          <p:cNvSpPr/>
          <p:nvPr/>
        </p:nvSpPr>
        <p:spPr>
          <a:xfrm>
            <a:off x="3204058"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3335731" y="1207008"/>
            <a:ext cx="1170432" cy="1664208"/>
          </a:xfrm>
          <a:prstGeom prst="rect">
            <a:avLst/>
          </a:prstGeom>
          <a:solidFill>
            <a:srgbClr val="101C38"/>
          </a:solidFill>
          <a:ln w="9525">
            <a:solidFill>
              <a:srgbClr val="1E335E"/>
            </a:solidFill>
            <a:prstDash val="solid"/>
          </a:ln>
        </p:spPr>
      </p:sp>
      <p:sp>
        <p:nvSpPr>
          <p:cNvPr id="20" name="Shape 18"/>
          <p:cNvSpPr/>
          <p:nvPr/>
        </p:nvSpPr>
        <p:spPr>
          <a:xfrm>
            <a:off x="3335731" y="1207008"/>
            <a:ext cx="1170432" cy="0"/>
          </a:xfrm>
          <a:prstGeom prst="line">
            <a:avLst/>
          </a:prstGeom>
          <a:noFill/>
          <a:ln w="12700">
            <a:solidFill>
              <a:srgbClr val="38BDF8"/>
            </a:solidFill>
            <a:prstDash val="solid"/>
          </a:ln>
        </p:spPr>
      </p:sp>
      <p:sp>
        <p:nvSpPr>
          <p:cNvPr id="21" name="Text 19"/>
          <p:cNvSpPr/>
          <p:nvPr/>
        </p:nvSpPr>
        <p:spPr>
          <a:xfrm>
            <a:off x="3381451"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116</a:t>
            </a:r>
            <a:endParaRPr lang="en-US" sz="2800" dirty="0"/>
          </a:p>
        </p:txBody>
      </p:sp>
      <p:sp>
        <p:nvSpPr>
          <p:cNvPr id="22" name="Text 20"/>
          <p:cNvSpPr/>
          <p:nvPr/>
        </p:nvSpPr>
        <p:spPr>
          <a:xfrm>
            <a:off x="3381451"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DISEASE STRINGS</a:t>
            </a:r>
            <a:endParaRPr lang="en-US" sz="650" dirty="0"/>
          </a:p>
        </p:txBody>
      </p:sp>
      <p:sp>
        <p:nvSpPr>
          <p:cNvPr id="23" name="Shape 21"/>
          <p:cNvSpPr/>
          <p:nvPr/>
        </p:nvSpPr>
        <p:spPr>
          <a:xfrm>
            <a:off x="3445459" y="2157984"/>
            <a:ext cx="950976" cy="0"/>
          </a:xfrm>
          <a:prstGeom prst="line">
            <a:avLst/>
          </a:prstGeom>
          <a:noFill/>
          <a:ln w="6350">
            <a:solidFill>
              <a:srgbClr val="1E2D4A"/>
            </a:solidFill>
            <a:prstDash val="solid"/>
          </a:ln>
        </p:spPr>
      </p:sp>
      <p:sp>
        <p:nvSpPr>
          <p:cNvPr id="24" name="Text 22"/>
          <p:cNvSpPr/>
          <p:nvPr/>
        </p:nvSpPr>
        <p:spPr>
          <a:xfrm>
            <a:off x="3390595"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Spelling &amp; formatting variants</a:t>
            </a:r>
            <a:endParaRPr lang="en-US" sz="750" dirty="0"/>
          </a:p>
        </p:txBody>
      </p:sp>
      <p:sp>
        <p:nvSpPr>
          <p:cNvPr id="25" name="Text 23"/>
          <p:cNvSpPr/>
          <p:nvPr/>
        </p:nvSpPr>
        <p:spPr>
          <a:xfrm>
            <a:off x="4506163"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637837" y="1207008"/>
            <a:ext cx="1170432" cy="1664208"/>
          </a:xfrm>
          <a:prstGeom prst="rect">
            <a:avLst/>
          </a:prstGeom>
          <a:solidFill>
            <a:srgbClr val="101C38"/>
          </a:solidFill>
          <a:ln w="9525">
            <a:solidFill>
              <a:srgbClr val="1E335E"/>
            </a:solidFill>
            <a:prstDash val="solid"/>
          </a:ln>
        </p:spPr>
      </p:sp>
      <p:sp>
        <p:nvSpPr>
          <p:cNvPr id="27" name="Shape 25"/>
          <p:cNvSpPr/>
          <p:nvPr/>
        </p:nvSpPr>
        <p:spPr>
          <a:xfrm>
            <a:off x="4637837" y="1207008"/>
            <a:ext cx="1170432" cy="0"/>
          </a:xfrm>
          <a:prstGeom prst="line">
            <a:avLst/>
          </a:prstGeom>
          <a:noFill/>
          <a:ln w="12700">
            <a:solidFill>
              <a:srgbClr val="38BDF8"/>
            </a:solidFill>
            <a:prstDash val="solid"/>
          </a:ln>
        </p:spPr>
      </p:sp>
      <p:sp>
        <p:nvSpPr>
          <p:cNvPr id="28" name="Text 26"/>
          <p:cNvSpPr/>
          <p:nvPr/>
        </p:nvSpPr>
        <p:spPr>
          <a:xfrm>
            <a:off x="4683557"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56</a:t>
            </a:r>
            <a:endParaRPr lang="en-US" sz="2800" dirty="0"/>
          </a:p>
        </p:txBody>
      </p:sp>
      <p:sp>
        <p:nvSpPr>
          <p:cNvPr id="29" name="Text 27"/>
          <p:cNvSpPr/>
          <p:nvPr/>
        </p:nvSpPr>
        <p:spPr>
          <a:xfrm>
            <a:off x="4683557"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CLEAN LABELS</a:t>
            </a:r>
            <a:endParaRPr lang="en-US" sz="650" dirty="0"/>
          </a:p>
        </p:txBody>
      </p:sp>
      <p:sp>
        <p:nvSpPr>
          <p:cNvPr id="30" name="Shape 28"/>
          <p:cNvSpPr/>
          <p:nvPr/>
        </p:nvSpPr>
        <p:spPr>
          <a:xfrm>
            <a:off x="4747565" y="2157984"/>
            <a:ext cx="950976" cy="0"/>
          </a:xfrm>
          <a:prstGeom prst="line">
            <a:avLst/>
          </a:prstGeom>
          <a:noFill/>
          <a:ln w="6350">
            <a:solidFill>
              <a:srgbClr val="1E2D4A"/>
            </a:solidFill>
            <a:prstDash val="solid"/>
          </a:ln>
        </p:spPr>
      </p:sp>
      <p:sp>
        <p:nvSpPr>
          <p:cNvPr id="31" name="Text 29"/>
          <p:cNvSpPr/>
          <p:nvPr/>
        </p:nvSpPr>
        <p:spPr>
          <a:xfrm>
            <a:off x="4692701"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Normalized nomenclature</a:t>
            </a:r>
            <a:endParaRPr lang="en-US" sz="750" dirty="0"/>
          </a:p>
        </p:txBody>
      </p:sp>
      <p:sp>
        <p:nvSpPr>
          <p:cNvPr id="32" name="Text 30"/>
          <p:cNvSpPr/>
          <p:nvPr/>
        </p:nvSpPr>
        <p:spPr>
          <a:xfrm>
            <a:off x="5808269"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39942" y="1207008"/>
            <a:ext cx="1170432" cy="1664208"/>
          </a:xfrm>
          <a:prstGeom prst="rect">
            <a:avLst/>
          </a:prstGeom>
          <a:solidFill>
            <a:srgbClr val="101C38"/>
          </a:solidFill>
          <a:ln w="9525">
            <a:solidFill>
              <a:srgbClr val="1E335E"/>
            </a:solidFill>
            <a:prstDash val="solid"/>
          </a:ln>
        </p:spPr>
      </p:sp>
      <p:sp>
        <p:nvSpPr>
          <p:cNvPr id="34" name="Shape 32"/>
          <p:cNvSpPr/>
          <p:nvPr/>
        </p:nvSpPr>
        <p:spPr>
          <a:xfrm>
            <a:off x="5939942" y="1207008"/>
            <a:ext cx="1170432" cy="0"/>
          </a:xfrm>
          <a:prstGeom prst="line">
            <a:avLst/>
          </a:prstGeom>
          <a:noFill/>
          <a:ln w="12700">
            <a:solidFill>
              <a:srgbClr val="38BDF8"/>
            </a:solidFill>
            <a:prstDash val="solid"/>
          </a:ln>
        </p:spPr>
      </p:sp>
      <p:sp>
        <p:nvSpPr>
          <p:cNvPr id="35" name="Text 33"/>
          <p:cNvSpPr/>
          <p:nvPr/>
        </p:nvSpPr>
        <p:spPr>
          <a:xfrm>
            <a:off x="5985662"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30</a:t>
            </a:r>
            <a:endParaRPr lang="en-US" sz="2800" dirty="0"/>
          </a:p>
        </p:txBody>
      </p:sp>
      <p:sp>
        <p:nvSpPr>
          <p:cNvPr id="36" name="Text 34"/>
          <p:cNvSpPr/>
          <p:nvPr/>
        </p:nvSpPr>
        <p:spPr>
          <a:xfrm>
            <a:off x="5985662"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SYNDROMIC FAMILIES</a:t>
            </a:r>
            <a:endParaRPr lang="en-US" sz="650" dirty="0"/>
          </a:p>
        </p:txBody>
      </p:sp>
      <p:sp>
        <p:nvSpPr>
          <p:cNvPr id="37" name="Shape 35"/>
          <p:cNvSpPr/>
          <p:nvPr/>
        </p:nvSpPr>
        <p:spPr>
          <a:xfrm>
            <a:off x="6049670" y="2157984"/>
            <a:ext cx="950976" cy="0"/>
          </a:xfrm>
          <a:prstGeom prst="line">
            <a:avLst/>
          </a:prstGeom>
          <a:noFill/>
          <a:ln w="6350">
            <a:solidFill>
              <a:srgbClr val="1E2D4A"/>
            </a:solidFill>
            <a:prstDash val="solid"/>
          </a:ln>
        </p:spPr>
      </p:sp>
      <p:sp>
        <p:nvSpPr>
          <p:cNvPr id="38" name="Text 36"/>
          <p:cNvSpPr/>
          <p:nvPr/>
        </p:nvSpPr>
        <p:spPr>
          <a:xfrm>
            <a:off x="5994806"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Consolidated disease groups</a:t>
            </a:r>
            <a:endParaRPr lang="en-US" sz="750" dirty="0"/>
          </a:p>
        </p:txBody>
      </p:sp>
      <p:sp>
        <p:nvSpPr>
          <p:cNvPr id="39" name="Text 37"/>
          <p:cNvSpPr/>
          <p:nvPr/>
        </p:nvSpPr>
        <p:spPr>
          <a:xfrm>
            <a:off x="7110374"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7242048" y="1207008"/>
            <a:ext cx="1170432" cy="1664208"/>
          </a:xfrm>
          <a:prstGeom prst="rect">
            <a:avLst/>
          </a:prstGeom>
          <a:solidFill>
            <a:srgbClr val="16274D"/>
          </a:solidFill>
          <a:ln w="15875">
            <a:solidFill>
              <a:srgbClr val="D4AF37"/>
            </a:solidFill>
            <a:prstDash val="solid"/>
          </a:ln>
        </p:spPr>
      </p:sp>
      <p:sp>
        <p:nvSpPr>
          <p:cNvPr id="41" name="Shape 39"/>
          <p:cNvSpPr/>
          <p:nvPr/>
        </p:nvSpPr>
        <p:spPr>
          <a:xfrm>
            <a:off x="7242048" y="1207008"/>
            <a:ext cx="1170432" cy="0"/>
          </a:xfrm>
          <a:prstGeom prst="line">
            <a:avLst/>
          </a:prstGeom>
          <a:noFill/>
          <a:ln w="25400">
            <a:solidFill>
              <a:srgbClr val="D4AF37"/>
            </a:solidFill>
            <a:prstDash val="solid"/>
          </a:ln>
        </p:spPr>
      </p:sp>
      <p:sp>
        <p:nvSpPr>
          <p:cNvPr id="42" name="Text 40"/>
          <p:cNvSpPr/>
          <p:nvPr/>
        </p:nvSpPr>
        <p:spPr>
          <a:xfrm>
            <a:off x="7287768" y="1316736"/>
            <a:ext cx="1078992" cy="566928"/>
          </a:xfrm>
          <a:prstGeom prst="rect">
            <a:avLst/>
          </a:prstGeom>
          <a:noFill/>
          <a:ln/>
        </p:spPr>
        <p:txBody>
          <a:bodyPr wrap="square" rtlCol="0" anchor="ctr"/>
          <a:lstStyle/>
          <a:p>
            <a:pPr algn="ctr" indent="0" marL="0">
              <a:buNone/>
            </a:pPr>
            <a:r>
              <a:rPr lang="en-US" sz="2800" b="1" dirty="0">
                <a:solidFill>
                  <a:srgbClr val="D4AF37"/>
                </a:solidFill>
                <a:latin typeface="Georgia" pitchFamily="34" charset="0"/>
                <a:ea typeface="Georgia" pitchFamily="34" charset="-122"/>
                <a:cs typeface="Georgia" pitchFamily="34" charset="-120"/>
              </a:rPr>
              <a:t>5</a:t>
            </a:r>
            <a:endParaRPr lang="en-US" sz="2800" dirty="0"/>
          </a:p>
        </p:txBody>
      </p:sp>
      <p:sp>
        <p:nvSpPr>
          <p:cNvPr id="43" name="Text 41"/>
          <p:cNvSpPr/>
          <p:nvPr/>
        </p:nvSpPr>
        <p:spPr>
          <a:xfrm>
            <a:off x="7287768" y="1883664"/>
            <a:ext cx="1078992" cy="256032"/>
          </a:xfrm>
          <a:prstGeom prst="rect">
            <a:avLst/>
          </a:prstGeom>
          <a:noFill/>
          <a:ln/>
        </p:spPr>
        <p:txBody>
          <a:bodyPr wrap="square" rtlCol="0" anchor="ctr"/>
          <a:lstStyle/>
          <a:p>
            <a:pPr algn="ctr" indent="0" marL="0">
              <a:buNone/>
            </a:pPr>
            <a:r>
              <a:rPr lang="en-US" sz="650" b="1" spc="50" kern="0" dirty="0">
                <a:solidFill>
                  <a:srgbClr val="F3E5AB"/>
                </a:solidFill>
                <a:latin typeface="Consolas" pitchFamily="34" charset="0"/>
                <a:ea typeface="Consolas" pitchFamily="34" charset="-122"/>
                <a:cs typeface="Consolas" pitchFamily="34" charset="-120"/>
              </a:rPr>
              <a:t>PRIMARY COHORT</a:t>
            </a:r>
            <a:endParaRPr lang="en-US" sz="650" dirty="0"/>
          </a:p>
        </p:txBody>
      </p:sp>
      <p:sp>
        <p:nvSpPr>
          <p:cNvPr id="44" name="Shape 42"/>
          <p:cNvSpPr/>
          <p:nvPr/>
        </p:nvSpPr>
        <p:spPr>
          <a:xfrm>
            <a:off x="7351776" y="2157984"/>
            <a:ext cx="950976" cy="0"/>
          </a:xfrm>
          <a:prstGeom prst="line">
            <a:avLst/>
          </a:prstGeom>
          <a:noFill/>
          <a:ln w="6350">
            <a:solidFill>
              <a:srgbClr val="1E2D4A"/>
            </a:solidFill>
            <a:prstDash val="solid"/>
          </a:ln>
        </p:spPr>
      </p:sp>
      <p:sp>
        <p:nvSpPr>
          <p:cNvPr id="45" name="Text 43"/>
          <p:cNvSpPr/>
          <p:nvPr/>
        </p:nvSpPr>
        <p:spPr>
          <a:xfrm>
            <a:off x="7296912"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93.9% of all baseline records</a:t>
            </a:r>
            <a:endParaRPr lang="en-US" sz="750" dirty="0"/>
          </a:p>
        </p:txBody>
      </p:sp>
      <p:sp>
        <p:nvSpPr>
          <p:cNvPr id="46" name="Shape 44"/>
          <p:cNvSpPr/>
          <p:nvPr/>
        </p:nvSpPr>
        <p:spPr>
          <a:xfrm>
            <a:off x="731520" y="3090672"/>
            <a:ext cx="3730752" cy="1481328"/>
          </a:xfrm>
          <a:prstGeom prst="rect">
            <a:avLst/>
          </a:prstGeom>
          <a:solidFill>
            <a:srgbClr val="101C38"/>
          </a:solidFill>
          <a:ln w="9525">
            <a:solidFill>
              <a:srgbClr val="1E335E"/>
            </a:solidFill>
            <a:prstDash val="solid"/>
          </a:ln>
        </p:spPr>
      </p:sp>
      <p:sp>
        <p:nvSpPr>
          <p:cNvPr id="47" name="Shape 45"/>
          <p:cNvSpPr/>
          <p:nvPr/>
        </p:nvSpPr>
        <p:spPr>
          <a:xfrm>
            <a:off x="731520" y="3090672"/>
            <a:ext cx="3730752" cy="0"/>
          </a:xfrm>
          <a:prstGeom prst="line">
            <a:avLst/>
          </a:prstGeom>
          <a:noFill/>
          <a:ln w="19050">
            <a:solidFill>
              <a:srgbClr val="D4AF37"/>
            </a:solidFill>
            <a:prstDash val="solid"/>
          </a:ln>
        </p:spPr>
      </p:sp>
      <p:sp>
        <p:nvSpPr>
          <p:cNvPr id="48" name="Text 46"/>
          <p:cNvSpPr/>
          <p:nvPr/>
        </p:nvSpPr>
        <p:spPr>
          <a:xfrm>
            <a:off x="896112"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ADDITIVE NORMALIZATION // RAW STRINGS PRESERVED</a:t>
            </a:r>
            <a:endParaRPr lang="en-US" sz="700" dirty="0"/>
          </a:p>
        </p:txBody>
      </p:sp>
      <p:sp>
        <p:nvSpPr>
          <p:cNvPr id="49" name="Text 47"/>
          <p:cNvSpPr/>
          <p:nvPr/>
        </p:nvSpPr>
        <p:spPr>
          <a:xfrm>
            <a:off x="896112"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Source Disease Nomenclature Never Overwritten</a:t>
            </a:r>
            <a:endParaRPr lang="en-US" sz="850" dirty="0"/>
          </a:p>
        </p:txBody>
      </p:sp>
      <p:sp>
        <p:nvSpPr>
          <p:cNvPr id="50" name="Shape 48"/>
          <p:cNvSpPr/>
          <p:nvPr/>
        </p:nvSpPr>
        <p:spPr>
          <a:xfrm>
            <a:off x="896112" y="3602736"/>
            <a:ext cx="3401568" cy="0"/>
          </a:xfrm>
          <a:prstGeom prst="line">
            <a:avLst/>
          </a:prstGeom>
          <a:noFill/>
          <a:ln w="6350">
            <a:solidFill>
              <a:srgbClr val="1E2D4A"/>
            </a:solidFill>
            <a:prstDash val="solid"/>
          </a:ln>
        </p:spPr>
      </p:sp>
      <p:sp>
        <p:nvSpPr>
          <p:cNvPr id="51" name="Text 49"/>
          <p:cNvSpPr/>
          <p:nvPr/>
        </p:nvSpPr>
        <p:spPr>
          <a:xfrm>
            <a:off x="896112"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116 unique raw strings (e.g. 'Dengue?', 'Dengue fever', 'Dengue Shock') mapped to canonical labels.</a:t>
            </a:r>
            <a:endParaRPr lang="en-US" sz="800" dirty="0"/>
          </a:p>
        </p:txBody>
      </p:sp>
      <p:sp>
        <p:nvSpPr>
          <p:cNvPr id="52" name="Text 50"/>
          <p:cNvSpPr/>
          <p:nvPr/>
        </p:nvSpPr>
        <p:spPr>
          <a:xfrm>
            <a:off x="896112"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Original source string preserved in every record under 'disease_raw' for total reproducibility.</a:t>
            </a:r>
            <a:endParaRPr lang="en-US" sz="800" dirty="0"/>
          </a:p>
        </p:txBody>
      </p:sp>
      <p:sp>
        <p:nvSpPr>
          <p:cNvPr id="53" name="Text 51"/>
          <p:cNvSpPr/>
          <p:nvPr/>
        </p:nvSpPr>
        <p:spPr>
          <a:xfrm>
            <a:off x="896112"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Zero arbitrary alterations: ambiguous labels retained with full transformation audit rules.</a:t>
            </a:r>
            <a:endParaRPr lang="en-US" sz="800" dirty="0"/>
          </a:p>
        </p:txBody>
      </p:sp>
      <p:sp>
        <p:nvSpPr>
          <p:cNvPr id="54" name="Shape 52"/>
          <p:cNvSpPr/>
          <p:nvPr/>
        </p:nvSpPr>
        <p:spPr>
          <a:xfrm>
            <a:off x="4681728" y="3090672"/>
            <a:ext cx="3730752" cy="1481328"/>
          </a:xfrm>
          <a:prstGeom prst="rect">
            <a:avLst/>
          </a:prstGeom>
          <a:solidFill>
            <a:srgbClr val="101C38"/>
          </a:solidFill>
          <a:ln w="9525">
            <a:solidFill>
              <a:srgbClr val="1E335E"/>
            </a:solidFill>
            <a:prstDash val="solid"/>
          </a:ln>
        </p:spPr>
      </p:sp>
      <p:sp>
        <p:nvSpPr>
          <p:cNvPr id="55" name="Shape 53"/>
          <p:cNvSpPr/>
          <p:nvPr/>
        </p:nvSpPr>
        <p:spPr>
          <a:xfrm>
            <a:off x="4681728" y="3090672"/>
            <a:ext cx="3730752" cy="0"/>
          </a:xfrm>
          <a:prstGeom prst="line">
            <a:avLst/>
          </a:prstGeom>
          <a:noFill/>
          <a:ln w="19050">
            <a:solidFill>
              <a:srgbClr val="D4AF37"/>
            </a:solidFill>
            <a:prstDash val="solid"/>
          </a:ln>
        </p:spPr>
      </p:sp>
      <p:sp>
        <p:nvSpPr>
          <p:cNvPr id="56" name="Text 54"/>
          <p:cNvSpPr/>
          <p:nvPr/>
        </p:nvSpPr>
        <p:spPr>
          <a:xfrm>
            <a:off x="4846320"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FORENSIC AUDITABILITY // PDF PROVENANCE RETAINED</a:t>
            </a:r>
            <a:endParaRPr lang="en-US" sz="700" dirty="0"/>
          </a:p>
        </p:txBody>
      </p:sp>
      <p:sp>
        <p:nvSpPr>
          <p:cNvPr id="57" name="Text 55"/>
          <p:cNvSpPr/>
          <p:nvPr/>
        </p:nvSpPr>
        <p:spPr>
          <a:xfrm>
            <a:off x="4846320"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Every Tabular Record Linked to Source Bulletin</a:t>
            </a:r>
            <a:endParaRPr lang="en-US" sz="850" dirty="0"/>
          </a:p>
        </p:txBody>
      </p:sp>
      <p:sp>
        <p:nvSpPr>
          <p:cNvPr id="58" name="Shape 56"/>
          <p:cNvSpPr/>
          <p:nvPr/>
        </p:nvSpPr>
        <p:spPr>
          <a:xfrm>
            <a:off x="4846320" y="3602736"/>
            <a:ext cx="3401568" cy="0"/>
          </a:xfrm>
          <a:prstGeom prst="line">
            <a:avLst/>
          </a:prstGeom>
          <a:noFill/>
          <a:ln w="6350">
            <a:solidFill>
              <a:srgbClr val="1E2D4A"/>
            </a:solidFill>
            <a:prstDash val="solid"/>
          </a:ln>
        </p:spPr>
      </p:sp>
      <p:sp>
        <p:nvSpPr>
          <p:cNvPr id="59" name="Text 57"/>
          <p:cNvSpPr/>
          <p:nvPr/>
        </p:nvSpPr>
        <p:spPr>
          <a:xfrm>
            <a:off x="4846320"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Direct hyperlinkage to specific NCDC PDF filename and publication week number.</a:t>
            </a:r>
            <a:endParaRPr lang="en-US" sz="800" dirty="0"/>
          </a:p>
        </p:txBody>
      </p:sp>
      <p:sp>
        <p:nvSpPr>
          <p:cNvPr id="60" name="Text 58"/>
          <p:cNvSpPr/>
          <p:nvPr/>
        </p:nvSpPr>
        <p:spPr>
          <a:xfrm>
            <a:off x="4846320"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Table page number and reporting district cross-verified against official archives.</a:t>
            </a:r>
            <a:endParaRPr lang="en-US" sz="800" dirty="0"/>
          </a:p>
        </p:txBody>
      </p:sp>
      <p:sp>
        <p:nvSpPr>
          <p:cNvPr id="61" name="Text 59"/>
          <p:cNvSpPr/>
          <p:nvPr/>
        </p:nvSpPr>
        <p:spPr>
          <a:xfrm>
            <a:off x="4846320"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Automated integrity checks flag missing weeks, non-standard tables, and reporting anomalies.</a:t>
            </a:r>
            <a:endParaRPr lang="en-US" sz="800" dirty="0"/>
          </a:p>
        </p:txBody>
      </p:sp>
      <p:sp>
        <p:nvSpPr>
          <p:cNvPr id="62" name="Shape 60"/>
          <p:cNvSpPr/>
          <p:nvPr/>
        </p:nvSpPr>
        <p:spPr>
          <a:xfrm>
            <a:off x="731520" y="4773168"/>
            <a:ext cx="7680960" cy="0"/>
          </a:xfrm>
          <a:prstGeom prst="line">
            <a:avLst/>
          </a:prstGeom>
          <a:noFill/>
          <a:ln w="9525">
            <a:solidFill>
              <a:srgbClr val="1E2D4A"/>
            </a:solidFill>
            <a:prstDash val="solid"/>
          </a:ln>
        </p:spPr>
      </p:sp>
      <p:sp>
        <p:nvSpPr>
          <p:cNvPr id="63" name="Text 61"/>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DATA PIPELINE PROVENANCE // PHASE 5A DISEASE AUDIT &amp; HARMONIZATION</a:t>
            </a:r>
            <a:endParaRPr lang="en-US" sz="650" dirty="0"/>
          </a:p>
        </p:txBody>
      </p:sp>
      <p:sp>
        <p:nvSpPr>
          <p:cNvPr id="64" name="Text 62"/>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EMPIRICAL BASELINE  //  2022–2025 COMPLETED YEARS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Four-Year Outbreak Surveillance Baseline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2450592" cy="1572768"/>
          </a:xfrm>
          <a:prstGeom prst="rect">
            <a:avLst/>
          </a:prstGeom>
          <a:solidFill>
            <a:srgbClr val="101C38"/>
          </a:solidFill>
          <a:ln w="9525">
            <a:solidFill>
              <a:srgbClr val="1E335E"/>
            </a:solidFill>
            <a:prstDash val="solid"/>
          </a:ln>
        </p:spPr>
      </p:sp>
      <p:sp>
        <p:nvSpPr>
          <p:cNvPr id="6" name="Shape 4"/>
          <p:cNvSpPr/>
          <p:nvPr/>
        </p:nvSpPr>
        <p:spPr>
          <a:xfrm>
            <a:off x="731520" y="1207008"/>
            <a:ext cx="2450592" cy="0"/>
          </a:xfrm>
          <a:prstGeom prst="line">
            <a:avLst/>
          </a:prstGeom>
          <a:noFill/>
          <a:ln w="12700">
            <a:solidFill>
              <a:srgbClr val="38BDF8"/>
            </a:solidFill>
            <a:prstDash val="solid"/>
          </a:ln>
        </p:spPr>
      </p:sp>
      <p:sp>
        <p:nvSpPr>
          <p:cNvPr id="7" name="Text 5"/>
          <p:cNvSpPr/>
          <p:nvPr/>
        </p:nvSpPr>
        <p:spPr>
          <a:xfrm>
            <a:off x="868680" y="1298448"/>
            <a:ext cx="2176272" cy="640080"/>
          </a:xfrm>
          <a:prstGeom prst="rect">
            <a:avLst/>
          </a:prstGeom>
          <a:noFill/>
          <a:ln/>
        </p:spPr>
        <p:txBody>
          <a:bodyPr wrap="square" rtlCol="0" anchor="ctr"/>
          <a:lstStyle/>
          <a:p>
            <a:pPr indent="0" marL="0">
              <a:buNone/>
            </a:pPr>
            <a:r>
              <a:rPr lang="en-US" sz="3200" b="1" dirty="0">
                <a:solidFill>
                  <a:srgbClr val="38BDF8"/>
                </a:solidFill>
                <a:latin typeface="Georgia" pitchFamily="34" charset="0"/>
                <a:ea typeface="Georgia" pitchFamily="34" charset="-122"/>
                <a:cs typeface="Georgia" pitchFamily="34" charset="-120"/>
              </a:rPr>
              <a:t>539</a:t>
            </a:r>
            <a:endParaRPr lang="en-US" sz="3200" dirty="0"/>
          </a:p>
        </p:txBody>
      </p:sp>
      <p:sp>
        <p:nvSpPr>
          <p:cNvPr id="8" name="Text 6"/>
          <p:cNvSpPr/>
          <p:nvPr/>
        </p:nvSpPr>
        <p:spPr>
          <a:xfrm>
            <a:off x="868680"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OUTBREAK RECORDS</a:t>
            </a:r>
            <a:endParaRPr lang="en-US" sz="750" dirty="0"/>
          </a:p>
        </p:txBody>
      </p:sp>
      <p:sp>
        <p:nvSpPr>
          <p:cNvPr id="9" name="Text 7"/>
          <p:cNvSpPr/>
          <p:nvPr/>
        </p:nvSpPr>
        <p:spPr>
          <a:xfrm>
            <a:off x="868680"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Investigated Clusters (2022–2025)</a:t>
            </a:r>
            <a:endParaRPr lang="en-US" sz="900" dirty="0"/>
          </a:p>
        </p:txBody>
      </p:sp>
      <p:sp>
        <p:nvSpPr>
          <p:cNvPr id="10" name="Text 8"/>
          <p:cNvSpPr/>
          <p:nvPr/>
        </p:nvSpPr>
        <p:spPr>
          <a:xfrm>
            <a:off x="868680"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District surveillance investigations across Maharashtra</a:t>
            </a:r>
            <a:endParaRPr lang="en-US" sz="800" dirty="0"/>
          </a:p>
        </p:txBody>
      </p:sp>
      <p:sp>
        <p:nvSpPr>
          <p:cNvPr id="11" name="Shape 9"/>
          <p:cNvSpPr/>
          <p:nvPr/>
        </p:nvSpPr>
        <p:spPr>
          <a:xfrm>
            <a:off x="3346704" y="1207008"/>
            <a:ext cx="2450592" cy="1572768"/>
          </a:xfrm>
          <a:prstGeom prst="rect">
            <a:avLst/>
          </a:prstGeom>
          <a:solidFill>
            <a:srgbClr val="16274D"/>
          </a:solidFill>
          <a:ln w="15875">
            <a:solidFill>
              <a:srgbClr val="D4AF37"/>
            </a:solidFill>
            <a:prstDash val="solid"/>
          </a:ln>
        </p:spPr>
      </p:sp>
      <p:sp>
        <p:nvSpPr>
          <p:cNvPr id="12" name="Shape 10"/>
          <p:cNvSpPr/>
          <p:nvPr/>
        </p:nvSpPr>
        <p:spPr>
          <a:xfrm>
            <a:off x="3346704" y="1207008"/>
            <a:ext cx="2450592" cy="0"/>
          </a:xfrm>
          <a:prstGeom prst="line">
            <a:avLst/>
          </a:prstGeom>
          <a:noFill/>
          <a:ln w="25400">
            <a:solidFill>
              <a:srgbClr val="D4AF37"/>
            </a:solidFill>
            <a:prstDash val="solid"/>
          </a:ln>
        </p:spPr>
      </p:sp>
      <p:sp>
        <p:nvSpPr>
          <p:cNvPr id="13" name="Text 11"/>
          <p:cNvSpPr/>
          <p:nvPr/>
        </p:nvSpPr>
        <p:spPr>
          <a:xfrm>
            <a:off x="3483864" y="1298448"/>
            <a:ext cx="2176272" cy="640080"/>
          </a:xfrm>
          <a:prstGeom prst="rect">
            <a:avLst/>
          </a:prstGeom>
          <a:noFill/>
          <a:ln/>
        </p:spPr>
        <p:txBody>
          <a:bodyPr wrap="square" rtlCol="0" anchor="ctr"/>
          <a:lstStyle/>
          <a:p>
            <a:pPr indent="0" marL="0">
              <a:buNone/>
            </a:pPr>
            <a:r>
              <a:rPr lang="en-US" sz="3600" b="1" dirty="0">
                <a:solidFill>
                  <a:srgbClr val="D4AF37"/>
                </a:solidFill>
                <a:latin typeface="Georgia" pitchFamily="34" charset="0"/>
                <a:ea typeface="Georgia" pitchFamily="34" charset="-122"/>
                <a:cs typeface="Georgia" pitchFamily="34" charset="-120"/>
              </a:rPr>
              <a:t>21,955</a:t>
            </a:r>
            <a:endParaRPr lang="en-US" sz="3600" dirty="0"/>
          </a:p>
        </p:txBody>
      </p:sp>
      <p:sp>
        <p:nvSpPr>
          <p:cNvPr id="14" name="Text 12"/>
          <p:cNvSpPr/>
          <p:nvPr/>
        </p:nvSpPr>
        <p:spPr>
          <a:xfrm>
            <a:off x="3483864" y="1938528"/>
            <a:ext cx="2176272" cy="201168"/>
          </a:xfrm>
          <a:prstGeom prst="rect">
            <a:avLst/>
          </a:prstGeom>
          <a:noFill/>
          <a:ln/>
        </p:spPr>
        <p:txBody>
          <a:bodyPr wrap="square" rtlCol="0" anchor="ctr"/>
          <a:lstStyle/>
          <a:p>
            <a:pPr indent="0" marL="0">
              <a:buNone/>
            </a:pPr>
            <a:r>
              <a:rPr lang="en-US" sz="750" b="1" spc="100" kern="0" dirty="0">
                <a:solidFill>
                  <a:srgbClr val="F3E5AB"/>
                </a:solidFill>
                <a:latin typeface="Consolas" pitchFamily="34" charset="0"/>
                <a:ea typeface="Consolas" pitchFamily="34" charset="-122"/>
                <a:cs typeface="Consolas" pitchFamily="34" charset="-120"/>
              </a:rPr>
              <a:t>REPORTED CASES</a:t>
            </a:r>
            <a:endParaRPr lang="en-US" sz="750" dirty="0"/>
          </a:p>
        </p:txBody>
      </p:sp>
      <p:sp>
        <p:nvSpPr>
          <p:cNvPr id="15" name="Text 13"/>
          <p:cNvSpPr/>
          <p:nvPr/>
        </p:nvSpPr>
        <p:spPr>
          <a:xfrm>
            <a:off x="3483864"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Enumerated Outbreak Patients</a:t>
            </a:r>
            <a:endParaRPr lang="en-US" sz="900" dirty="0"/>
          </a:p>
        </p:txBody>
      </p:sp>
      <p:sp>
        <p:nvSpPr>
          <p:cNvPr id="16" name="Text 14"/>
          <p:cNvSpPr/>
          <p:nvPr/>
        </p:nvSpPr>
        <p:spPr>
          <a:xfrm>
            <a:off x="3483864"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Aggregated across official cluster reports (5 primary families)</a:t>
            </a:r>
            <a:endParaRPr lang="en-US" sz="800" dirty="0"/>
          </a:p>
        </p:txBody>
      </p:sp>
      <p:sp>
        <p:nvSpPr>
          <p:cNvPr id="17" name="Shape 15"/>
          <p:cNvSpPr/>
          <p:nvPr/>
        </p:nvSpPr>
        <p:spPr>
          <a:xfrm>
            <a:off x="5961888" y="1207008"/>
            <a:ext cx="2450592" cy="1572768"/>
          </a:xfrm>
          <a:prstGeom prst="rect">
            <a:avLst/>
          </a:prstGeom>
          <a:solidFill>
            <a:srgbClr val="101C38"/>
          </a:solidFill>
          <a:ln w="9525">
            <a:solidFill>
              <a:srgbClr val="1E335E"/>
            </a:solidFill>
            <a:prstDash val="solid"/>
          </a:ln>
        </p:spPr>
      </p:sp>
      <p:sp>
        <p:nvSpPr>
          <p:cNvPr id="18" name="Shape 16"/>
          <p:cNvSpPr/>
          <p:nvPr/>
        </p:nvSpPr>
        <p:spPr>
          <a:xfrm>
            <a:off x="5961888" y="1207008"/>
            <a:ext cx="2450592" cy="0"/>
          </a:xfrm>
          <a:prstGeom prst="line">
            <a:avLst/>
          </a:prstGeom>
          <a:noFill/>
          <a:ln w="12700">
            <a:solidFill>
              <a:srgbClr val="F87171"/>
            </a:solidFill>
            <a:prstDash val="solid"/>
          </a:ln>
        </p:spPr>
      </p:sp>
      <p:sp>
        <p:nvSpPr>
          <p:cNvPr id="19" name="Text 17"/>
          <p:cNvSpPr/>
          <p:nvPr/>
        </p:nvSpPr>
        <p:spPr>
          <a:xfrm>
            <a:off x="6099048" y="1298448"/>
            <a:ext cx="2176272" cy="640080"/>
          </a:xfrm>
          <a:prstGeom prst="rect">
            <a:avLst/>
          </a:prstGeom>
          <a:noFill/>
          <a:ln/>
        </p:spPr>
        <p:txBody>
          <a:bodyPr wrap="square" rtlCol="0" anchor="ctr"/>
          <a:lstStyle/>
          <a:p>
            <a:pPr indent="0" marL="0">
              <a:buNone/>
            </a:pPr>
            <a:r>
              <a:rPr lang="en-US" sz="3200" b="1" dirty="0">
                <a:solidFill>
                  <a:srgbClr val="F87171"/>
                </a:solidFill>
                <a:latin typeface="Georgia" pitchFamily="34" charset="0"/>
                <a:ea typeface="Georgia" pitchFamily="34" charset="-122"/>
                <a:cs typeface="Georgia" pitchFamily="34" charset="-120"/>
              </a:rPr>
              <a:t>266</a:t>
            </a:r>
            <a:endParaRPr lang="en-US" sz="3200" dirty="0"/>
          </a:p>
        </p:txBody>
      </p:sp>
      <p:sp>
        <p:nvSpPr>
          <p:cNvPr id="20" name="Text 18"/>
          <p:cNvSpPr/>
          <p:nvPr/>
        </p:nvSpPr>
        <p:spPr>
          <a:xfrm>
            <a:off x="6099048"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REPORTED FATALITIES</a:t>
            </a:r>
            <a:endParaRPr lang="en-US" sz="750" dirty="0"/>
          </a:p>
        </p:txBody>
      </p:sp>
      <p:sp>
        <p:nvSpPr>
          <p:cNvPr id="21" name="Text 19"/>
          <p:cNvSpPr/>
          <p:nvPr/>
        </p:nvSpPr>
        <p:spPr>
          <a:xfrm>
            <a:off x="6099048"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Surveillance Outbreak Deaths</a:t>
            </a:r>
            <a:endParaRPr lang="en-US" sz="900" dirty="0"/>
          </a:p>
        </p:txBody>
      </p:sp>
      <p:sp>
        <p:nvSpPr>
          <p:cNvPr id="22" name="Text 20"/>
          <p:cNvSpPr/>
          <p:nvPr/>
        </p:nvSpPr>
        <p:spPr>
          <a:xfrm>
            <a:off x="6099048"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Case fatality ratio: 1.21% across primary cohort</a:t>
            </a:r>
            <a:endParaRPr lang="en-US" sz="800" dirty="0"/>
          </a:p>
        </p:txBody>
      </p:sp>
      <p:sp>
        <p:nvSpPr>
          <p:cNvPr id="23" name="Shape 21"/>
          <p:cNvSpPr/>
          <p:nvPr/>
        </p:nvSpPr>
        <p:spPr>
          <a:xfrm>
            <a:off x="731520" y="2962656"/>
            <a:ext cx="1481328" cy="1353312"/>
          </a:xfrm>
          <a:prstGeom prst="rect">
            <a:avLst/>
          </a:prstGeom>
          <a:solidFill>
            <a:srgbClr val="101C38"/>
          </a:solidFill>
          <a:ln w="9525">
            <a:solidFill>
              <a:srgbClr val="1E335E"/>
            </a:solidFill>
            <a:prstDash val="solid"/>
          </a:ln>
        </p:spPr>
      </p:sp>
      <p:sp>
        <p:nvSpPr>
          <p:cNvPr id="24" name="Shape 22"/>
          <p:cNvSpPr/>
          <p:nvPr/>
        </p:nvSpPr>
        <p:spPr>
          <a:xfrm>
            <a:off x="731520" y="2962656"/>
            <a:ext cx="1481328" cy="0"/>
          </a:xfrm>
          <a:prstGeom prst="line">
            <a:avLst/>
          </a:prstGeom>
          <a:noFill/>
          <a:ln w="19050">
            <a:solidFill>
              <a:srgbClr val="38BDF8"/>
            </a:solidFill>
            <a:prstDash val="solid"/>
          </a:ln>
        </p:spPr>
      </p:sp>
      <p:sp>
        <p:nvSpPr>
          <p:cNvPr id="25" name="Text 23"/>
          <p:cNvSpPr/>
          <p:nvPr/>
        </p:nvSpPr>
        <p:spPr>
          <a:xfrm>
            <a:off x="804672"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DENGUE</a:t>
            </a:r>
            <a:endParaRPr lang="en-US" sz="650" dirty="0"/>
          </a:p>
        </p:txBody>
      </p:sp>
      <p:sp>
        <p:nvSpPr>
          <p:cNvPr id="26" name="Text 24"/>
          <p:cNvSpPr/>
          <p:nvPr/>
        </p:nvSpPr>
        <p:spPr>
          <a:xfrm>
            <a:off x="804672"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204 records</a:t>
            </a:r>
            <a:endParaRPr lang="en-US" sz="1200" dirty="0"/>
          </a:p>
        </p:txBody>
      </p:sp>
      <p:sp>
        <p:nvSpPr>
          <p:cNvPr id="27" name="Text 25"/>
          <p:cNvSpPr/>
          <p:nvPr/>
        </p:nvSpPr>
        <p:spPr>
          <a:xfrm>
            <a:off x="804672"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3,144 cases  ·  93 deaths</a:t>
            </a:r>
            <a:endParaRPr lang="en-US" sz="700" dirty="0"/>
          </a:p>
        </p:txBody>
      </p:sp>
      <p:sp>
        <p:nvSpPr>
          <p:cNvPr id="28" name="Shape 26"/>
          <p:cNvSpPr/>
          <p:nvPr/>
        </p:nvSpPr>
        <p:spPr>
          <a:xfrm>
            <a:off x="804672" y="3730752"/>
            <a:ext cx="1335024" cy="0"/>
          </a:xfrm>
          <a:prstGeom prst="line">
            <a:avLst/>
          </a:prstGeom>
          <a:noFill/>
          <a:ln w="6350">
            <a:solidFill>
              <a:srgbClr val="1E2D4A"/>
            </a:solidFill>
            <a:prstDash val="solid"/>
          </a:ln>
        </p:spPr>
      </p:sp>
      <p:sp>
        <p:nvSpPr>
          <p:cNvPr id="29" name="Text 27"/>
          <p:cNvSpPr/>
          <p:nvPr/>
        </p:nvSpPr>
        <p:spPr>
          <a:xfrm>
            <a:off x="804672"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Oct (Aug–Oct CR3 50.5%)</a:t>
            </a:r>
            <a:endParaRPr lang="en-US" sz="750" dirty="0"/>
          </a:p>
        </p:txBody>
      </p:sp>
      <p:sp>
        <p:nvSpPr>
          <p:cNvPr id="30" name="Shape 28"/>
          <p:cNvSpPr/>
          <p:nvPr/>
        </p:nvSpPr>
        <p:spPr>
          <a:xfrm>
            <a:off x="2281428" y="2962656"/>
            <a:ext cx="1481328" cy="1353312"/>
          </a:xfrm>
          <a:prstGeom prst="rect">
            <a:avLst/>
          </a:prstGeom>
          <a:solidFill>
            <a:srgbClr val="101C38"/>
          </a:solidFill>
          <a:ln w="9525">
            <a:solidFill>
              <a:srgbClr val="1E335E"/>
            </a:solidFill>
            <a:prstDash val="solid"/>
          </a:ln>
        </p:spPr>
      </p:sp>
      <p:sp>
        <p:nvSpPr>
          <p:cNvPr id="31" name="Shape 29"/>
          <p:cNvSpPr/>
          <p:nvPr/>
        </p:nvSpPr>
        <p:spPr>
          <a:xfrm>
            <a:off x="2281428" y="2962656"/>
            <a:ext cx="1481328" cy="0"/>
          </a:xfrm>
          <a:prstGeom prst="line">
            <a:avLst/>
          </a:prstGeom>
          <a:noFill/>
          <a:ln w="19050">
            <a:solidFill>
              <a:srgbClr val="10B981"/>
            </a:solidFill>
            <a:prstDash val="solid"/>
          </a:ln>
        </p:spPr>
      </p:sp>
      <p:sp>
        <p:nvSpPr>
          <p:cNvPr id="32" name="Text 30"/>
          <p:cNvSpPr/>
          <p:nvPr/>
        </p:nvSpPr>
        <p:spPr>
          <a:xfrm>
            <a:off x="2354580" y="3054096"/>
            <a:ext cx="1335024" cy="201168"/>
          </a:xfrm>
          <a:prstGeom prst="rect">
            <a:avLst/>
          </a:prstGeom>
          <a:noFill/>
          <a:ln/>
        </p:spPr>
        <p:txBody>
          <a:bodyPr wrap="square" rtlCol="0" anchor="ctr"/>
          <a:lstStyle/>
          <a:p>
            <a:pPr indent="0" marL="0">
              <a:buNone/>
            </a:pPr>
            <a:r>
              <a:rPr lang="en-US" sz="650" b="1" spc="50" kern="0" dirty="0">
                <a:solidFill>
                  <a:srgbClr val="10B981"/>
                </a:solidFill>
                <a:latin typeface="Consolas" pitchFamily="34" charset="0"/>
                <a:ea typeface="Consolas" pitchFamily="34" charset="-122"/>
                <a:cs typeface="Consolas" pitchFamily="34" charset="-120"/>
              </a:rPr>
              <a:t>ACUTE DIARRHEAL DISEASE</a:t>
            </a:r>
            <a:endParaRPr lang="en-US" sz="650" dirty="0"/>
          </a:p>
        </p:txBody>
      </p:sp>
      <p:sp>
        <p:nvSpPr>
          <p:cNvPr id="33" name="Text 31"/>
          <p:cNvSpPr/>
          <p:nvPr/>
        </p:nvSpPr>
        <p:spPr>
          <a:xfrm>
            <a:off x="2354580"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153 records</a:t>
            </a:r>
            <a:endParaRPr lang="en-US" sz="1200" dirty="0"/>
          </a:p>
        </p:txBody>
      </p:sp>
      <p:sp>
        <p:nvSpPr>
          <p:cNvPr id="34" name="Text 32"/>
          <p:cNvSpPr/>
          <p:nvPr/>
        </p:nvSpPr>
        <p:spPr>
          <a:xfrm>
            <a:off x="2354580"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9,050 cases  ·  93 deaths</a:t>
            </a:r>
            <a:endParaRPr lang="en-US" sz="700" dirty="0"/>
          </a:p>
        </p:txBody>
      </p:sp>
      <p:sp>
        <p:nvSpPr>
          <p:cNvPr id="35" name="Shape 33"/>
          <p:cNvSpPr/>
          <p:nvPr/>
        </p:nvSpPr>
        <p:spPr>
          <a:xfrm>
            <a:off x="2354580" y="3730752"/>
            <a:ext cx="1335024" cy="0"/>
          </a:xfrm>
          <a:prstGeom prst="line">
            <a:avLst/>
          </a:prstGeom>
          <a:noFill/>
          <a:ln w="6350">
            <a:solidFill>
              <a:srgbClr val="1E2D4A"/>
            </a:solidFill>
            <a:prstDash val="solid"/>
          </a:ln>
        </p:spPr>
      </p:sp>
      <p:sp>
        <p:nvSpPr>
          <p:cNvPr id="36" name="Text 34"/>
          <p:cNvSpPr/>
          <p:nvPr/>
        </p:nvSpPr>
        <p:spPr>
          <a:xfrm>
            <a:off x="2354580"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Jun–Aug (CR3 43.1%)</a:t>
            </a:r>
            <a:endParaRPr lang="en-US" sz="750" dirty="0"/>
          </a:p>
        </p:txBody>
      </p:sp>
      <p:sp>
        <p:nvSpPr>
          <p:cNvPr id="37" name="Shape 35"/>
          <p:cNvSpPr/>
          <p:nvPr/>
        </p:nvSpPr>
        <p:spPr>
          <a:xfrm>
            <a:off x="3831336" y="2962656"/>
            <a:ext cx="1481328" cy="1353312"/>
          </a:xfrm>
          <a:prstGeom prst="rect">
            <a:avLst/>
          </a:prstGeom>
          <a:solidFill>
            <a:srgbClr val="101C38"/>
          </a:solidFill>
          <a:ln w="9525">
            <a:solidFill>
              <a:srgbClr val="1E335E"/>
            </a:solidFill>
            <a:prstDash val="solid"/>
          </a:ln>
        </p:spPr>
      </p:sp>
      <p:sp>
        <p:nvSpPr>
          <p:cNvPr id="38" name="Shape 36"/>
          <p:cNvSpPr/>
          <p:nvPr/>
        </p:nvSpPr>
        <p:spPr>
          <a:xfrm>
            <a:off x="3831336" y="2962656"/>
            <a:ext cx="1481328" cy="0"/>
          </a:xfrm>
          <a:prstGeom prst="line">
            <a:avLst/>
          </a:prstGeom>
          <a:noFill/>
          <a:ln w="19050">
            <a:solidFill>
              <a:srgbClr val="38BDF8"/>
            </a:solidFill>
            <a:prstDash val="solid"/>
          </a:ln>
        </p:spPr>
      </p:sp>
      <p:sp>
        <p:nvSpPr>
          <p:cNvPr id="39" name="Text 37"/>
          <p:cNvSpPr/>
          <p:nvPr/>
        </p:nvSpPr>
        <p:spPr>
          <a:xfrm>
            <a:off x="3904488"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MALARIA</a:t>
            </a:r>
            <a:endParaRPr lang="en-US" sz="650" dirty="0"/>
          </a:p>
        </p:txBody>
      </p:sp>
      <p:sp>
        <p:nvSpPr>
          <p:cNvPr id="40" name="Text 38"/>
          <p:cNvSpPr/>
          <p:nvPr/>
        </p:nvSpPr>
        <p:spPr>
          <a:xfrm>
            <a:off x="3904488"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70 records</a:t>
            </a:r>
            <a:endParaRPr lang="en-US" sz="1200" dirty="0"/>
          </a:p>
        </p:txBody>
      </p:sp>
      <p:sp>
        <p:nvSpPr>
          <p:cNvPr id="41" name="Text 39"/>
          <p:cNvSpPr/>
          <p:nvPr/>
        </p:nvSpPr>
        <p:spPr>
          <a:xfrm>
            <a:off x="3904488"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2,133 cases  ·  51 deaths</a:t>
            </a:r>
            <a:endParaRPr lang="en-US" sz="700" dirty="0"/>
          </a:p>
        </p:txBody>
      </p:sp>
      <p:sp>
        <p:nvSpPr>
          <p:cNvPr id="42" name="Shape 40"/>
          <p:cNvSpPr/>
          <p:nvPr/>
        </p:nvSpPr>
        <p:spPr>
          <a:xfrm>
            <a:off x="3904488" y="3730752"/>
            <a:ext cx="1335024" cy="0"/>
          </a:xfrm>
          <a:prstGeom prst="line">
            <a:avLst/>
          </a:prstGeom>
          <a:noFill/>
          <a:ln w="6350">
            <a:solidFill>
              <a:srgbClr val="1E2D4A"/>
            </a:solidFill>
            <a:prstDash val="solid"/>
          </a:ln>
        </p:spPr>
      </p:sp>
      <p:sp>
        <p:nvSpPr>
          <p:cNvPr id="43" name="Text 41"/>
          <p:cNvSpPr/>
          <p:nvPr/>
        </p:nvSpPr>
        <p:spPr>
          <a:xfrm>
            <a:off x="3904488"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May–Jul (CR3 51.4%)</a:t>
            </a:r>
            <a:endParaRPr lang="en-US" sz="750" dirty="0"/>
          </a:p>
        </p:txBody>
      </p:sp>
      <p:sp>
        <p:nvSpPr>
          <p:cNvPr id="44" name="Shape 42"/>
          <p:cNvSpPr/>
          <p:nvPr/>
        </p:nvSpPr>
        <p:spPr>
          <a:xfrm>
            <a:off x="5381244" y="2962656"/>
            <a:ext cx="1481328" cy="1353312"/>
          </a:xfrm>
          <a:prstGeom prst="rect">
            <a:avLst/>
          </a:prstGeom>
          <a:solidFill>
            <a:srgbClr val="101C38"/>
          </a:solidFill>
          <a:ln w="9525">
            <a:solidFill>
              <a:srgbClr val="1E335E"/>
            </a:solidFill>
            <a:prstDash val="solid"/>
          </a:ln>
        </p:spPr>
      </p:sp>
      <p:sp>
        <p:nvSpPr>
          <p:cNvPr id="45" name="Shape 43"/>
          <p:cNvSpPr/>
          <p:nvPr/>
        </p:nvSpPr>
        <p:spPr>
          <a:xfrm>
            <a:off x="5381244" y="2962656"/>
            <a:ext cx="1481328" cy="0"/>
          </a:xfrm>
          <a:prstGeom prst="line">
            <a:avLst/>
          </a:prstGeom>
          <a:noFill/>
          <a:ln w="19050">
            <a:solidFill>
              <a:srgbClr val="D4AF37"/>
            </a:solidFill>
            <a:prstDash val="solid"/>
          </a:ln>
        </p:spPr>
      </p:sp>
      <p:sp>
        <p:nvSpPr>
          <p:cNvPr id="46" name="Text 44"/>
          <p:cNvSpPr/>
          <p:nvPr/>
        </p:nvSpPr>
        <p:spPr>
          <a:xfrm>
            <a:off x="5454396" y="3054096"/>
            <a:ext cx="1335024" cy="201168"/>
          </a:xfrm>
          <a:prstGeom prst="rect">
            <a:avLst/>
          </a:prstGeom>
          <a:noFill/>
          <a:ln/>
        </p:spPr>
        <p:txBody>
          <a:bodyPr wrap="square" rtlCol="0" anchor="ctr"/>
          <a:lstStyle/>
          <a:p>
            <a:pPr indent="0" marL="0">
              <a:buNone/>
            </a:pPr>
            <a:r>
              <a:rPr lang="en-US" sz="650" b="1" spc="50" kern="0" dirty="0">
                <a:solidFill>
                  <a:srgbClr val="D4AF37"/>
                </a:solidFill>
                <a:latin typeface="Consolas" pitchFamily="34" charset="0"/>
                <a:ea typeface="Consolas" pitchFamily="34" charset="-122"/>
                <a:cs typeface="Consolas" pitchFamily="34" charset="-120"/>
              </a:rPr>
              <a:t>FOOD POISONING</a:t>
            </a:r>
            <a:endParaRPr lang="en-US" sz="650" dirty="0"/>
          </a:p>
        </p:txBody>
      </p:sp>
      <p:sp>
        <p:nvSpPr>
          <p:cNvPr id="47" name="Text 45"/>
          <p:cNvSpPr/>
          <p:nvPr/>
        </p:nvSpPr>
        <p:spPr>
          <a:xfrm>
            <a:off x="5454396"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69 records</a:t>
            </a:r>
            <a:endParaRPr lang="en-US" sz="1200" dirty="0"/>
          </a:p>
        </p:txBody>
      </p:sp>
      <p:sp>
        <p:nvSpPr>
          <p:cNvPr id="48" name="Text 46"/>
          <p:cNvSpPr/>
          <p:nvPr/>
        </p:nvSpPr>
        <p:spPr>
          <a:xfrm>
            <a:off x="5454396"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5,927 cases  ·  29 deaths</a:t>
            </a:r>
            <a:endParaRPr lang="en-US" sz="700" dirty="0"/>
          </a:p>
        </p:txBody>
      </p:sp>
      <p:sp>
        <p:nvSpPr>
          <p:cNvPr id="49" name="Shape 47"/>
          <p:cNvSpPr/>
          <p:nvPr/>
        </p:nvSpPr>
        <p:spPr>
          <a:xfrm>
            <a:off x="5454396" y="3730752"/>
            <a:ext cx="1335024" cy="0"/>
          </a:xfrm>
          <a:prstGeom prst="line">
            <a:avLst/>
          </a:prstGeom>
          <a:noFill/>
          <a:ln w="6350">
            <a:solidFill>
              <a:srgbClr val="1E2D4A"/>
            </a:solidFill>
            <a:prstDash val="solid"/>
          </a:ln>
        </p:spPr>
      </p:sp>
      <p:sp>
        <p:nvSpPr>
          <p:cNvPr id="50" name="Text 48"/>
          <p:cNvSpPr/>
          <p:nvPr/>
        </p:nvSpPr>
        <p:spPr>
          <a:xfrm>
            <a:off x="5454396"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Bimodal: Jan–Feb &amp; Apr–May</a:t>
            </a:r>
            <a:endParaRPr lang="en-US" sz="750" dirty="0"/>
          </a:p>
        </p:txBody>
      </p:sp>
      <p:sp>
        <p:nvSpPr>
          <p:cNvPr id="51" name="Shape 49"/>
          <p:cNvSpPr/>
          <p:nvPr/>
        </p:nvSpPr>
        <p:spPr>
          <a:xfrm>
            <a:off x="6931152" y="2962656"/>
            <a:ext cx="1481328" cy="1353312"/>
          </a:xfrm>
          <a:prstGeom prst="rect">
            <a:avLst/>
          </a:prstGeom>
          <a:solidFill>
            <a:srgbClr val="101C38"/>
          </a:solidFill>
          <a:ln w="9525">
            <a:solidFill>
              <a:srgbClr val="1E335E"/>
            </a:solidFill>
            <a:prstDash val="solid"/>
          </a:ln>
        </p:spPr>
      </p:sp>
      <p:sp>
        <p:nvSpPr>
          <p:cNvPr id="52" name="Shape 50"/>
          <p:cNvSpPr/>
          <p:nvPr/>
        </p:nvSpPr>
        <p:spPr>
          <a:xfrm>
            <a:off x="6931152" y="2962656"/>
            <a:ext cx="1481328" cy="0"/>
          </a:xfrm>
          <a:prstGeom prst="line">
            <a:avLst/>
          </a:prstGeom>
          <a:noFill/>
          <a:ln w="19050">
            <a:solidFill>
              <a:srgbClr val="F87171"/>
            </a:solidFill>
            <a:prstDash val="solid"/>
          </a:ln>
        </p:spPr>
      </p:sp>
      <p:sp>
        <p:nvSpPr>
          <p:cNvPr id="53" name="Text 51"/>
          <p:cNvSpPr/>
          <p:nvPr/>
        </p:nvSpPr>
        <p:spPr>
          <a:xfrm>
            <a:off x="7004304" y="3054096"/>
            <a:ext cx="1335024" cy="201168"/>
          </a:xfrm>
          <a:prstGeom prst="rect">
            <a:avLst/>
          </a:prstGeom>
          <a:noFill/>
          <a:ln/>
        </p:spPr>
        <p:txBody>
          <a:bodyPr wrap="square" rtlCol="0" anchor="ctr"/>
          <a:lstStyle/>
          <a:p>
            <a:pPr indent="0" marL="0">
              <a:buNone/>
            </a:pPr>
            <a:r>
              <a:rPr lang="en-US" sz="650" b="1" spc="50" kern="0" dirty="0">
                <a:solidFill>
                  <a:srgbClr val="F87171"/>
                </a:solidFill>
                <a:latin typeface="Consolas" pitchFamily="34" charset="0"/>
                <a:ea typeface="Consolas" pitchFamily="34" charset="-122"/>
                <a:cs typeface="Consolas" pitchFamily="34" charset="-120"/>
              </a:rPr>
              <a:t>CHIKUNGUNYA</a:t>
            </a:r>
            <a:endParaRPr lang="en-US" sz="650" dirty="0"/>
          </a:p>
        </p:txBody>
      </p:sp>
      <p:sp>
        <p:nvSpPr>
          <p:cNvPr id="54" name="Text 52"/>
          <p:cNvSpPr/>
          <p:nvPr/>
        </p:nvSpPr>
        <p:spPr>
          <a:xfrm>
            <a:off x="7004304"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43 records</a:t>
            </a:r>
            <a:endParaRPr lang="en-US" sz="1200" dirty="0"/>
          </a:p>
        </p:txBody>
      </p:sp>
      <p:sp>
        <p:nvSpPr>
          <p:cNvPr id="55" name="Text 53"/>
          <p:cNvSpPr/>
          <p:nvPr/>
        </p:nvSpPr>
        <p:spPr>
          <a:xfrm>
            <a:off x="7004304"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701 cases  ·  0 deaths</a:t>
            </a:r>
            <a:endParaRPr lang="en-US" sz="700" dirty="0"/>
          </a:p>
        </p:txBody>
      </p:sp>
      <p:sp>
        <p:nvSpPr>
          <p:cNvPr id="56" name="Shape 54"/>
          <p:cNvSpPr/>
          <p:nvPr/>
        </p:nvSpPr>
        <p:spPr>
          <a:xfrm>
            <a:off x="7004304" y="3730752"/>
            <a:ext cx="1335024" cy="0"/>
          </a:xfrm>
          <a:prstGeom prst="line">
            <a:avLst/>
          </a:prstGeom>
          <a:noFill/>
          <a:ln w="6350">
            <a:solidFill>
              <a:srgbClr val="1E2D4A"/>
            </a:solidFill>
            <a:prstDash val="solid"/>
          </a:ln>
        </p:spPr>
      </p:sp>
      <p:sp>
        <p:nvSpPr>
          <p:cNvPr id="57" name="Text 55"/>
          <p:cNvSpPr/>
          <p:nvPr/>
        </p:nvSpPr>
        <p:spPr>
          <a:xfrm>
            <a:off x="7004304"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Dispersed: May, Jun, Sep</a:t>
            </a:r>
            <a:endParaRPr lang="en-US" sz="750" dirty="0"/>
          </a:p>
        </p:txBody>
      </p:sp>
      <p:sp>
        <p:nvSpPr>
          <p:cNvPr id="58" name="Text 56"/>
          <p:cNvSpPr/>
          <p:nvPr/>
        </p:nvSpPr>
        <p:spPr>
          <a:xfrm>
            <a:off x="731520" y="4462272"/>
            <a:ext cx="7680960" cy="219456"/>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NOTE: Reported cases represent patients in investigated outbreak clusters. These figures do not measure population disease incidence or community prevalence.</a:t>
            </a:r>
            <a:endParaRPr lang="en-US" sz="750" dirty="0"/>
          </a:p>
        </p:txBody>
      </p:sp>
      <p:sp>
        <p:nvSpPr>
          <p:cNvPr id="59" name="Shape 57"/>
          <p:cNvSpPr/>
          <p:nvPr/>
        </p:nvSpPr>
        <p:spPr>
          <a:xfrm>
            <a:off x="731520" y="4773168"/>
            <a:ext cx="7680960" cy="0"/>
          </a:xfrm>
          <a:prstGeom prst="line">
            <a:avLst/>
          </a:prstGeom>
          <a:noFill/>
          <a:ln w="9525">
            <a:solidFill>
              <a:srgbClr val="1E2D4A"/>
            </a:solidFill>
            <a:prstDash val="solid"/>
          </a:ln>
        </p:spPr>
      </p:sp>
      <p:sp>
        <p:nvSpPr>
          <p:cNvPr id="60" name="Text 5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NCDC / IDSP WEEKLY OUTBREAK REPORTS (2022–2025 ANALYTICAL BASELINE)</a:t>
            </a:r>
            <a:endParaRPr lang="en-US" sz="650" dirty="0"/>
          </a:p>
        </p:txBody>
      </p:sp>
      <p:sp>
        <p:nvSpPr>
          <p:cNvPr id="61" name="Text 5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04 / 10</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SEASONAL PATTERN ANALYSIS  //  EMPIRICAL BASELINE 2022–2025</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Five Diseases.  Five Distinct Temporal Signatures.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Calendar-month concentration curves derived from 539 investigated outbreak events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3383280" cy="3218688"/>
          </a:xfrm>
          <a:prstGeom prst="rect">
            <a:avLst/>
          </a:prstGeom>
          <a:solidFill>
            <a:srgbClr val="101C38"/>
          </a:solidFill>
          <a:ln w="9525">
            <a:solidFill>
              <a:srgbClr val="1E335E"/>
            </a:solidFill>
            <a:prstDash val="solid"/>
          </a:ln>
        </p:spPr>
      </p:sp>
      <p:sp>
        <p:nvSpPr>
          <p:cNvPr id="7" name="Shape 5"/>
          <p:cNvSpPr/>
          <p:nvPr/>
        </p:nvSpPr>
        <p:spPr>
          <a:xfrm>
            <a:off x="731520" y="1353312"/>
            <a:ext cx="3383280" cy="0"/>
          </a:xfrm>
          <a:prstGeom prst="line">
            <a:avLst/>
          </a:prstGeom>
          <a:noFill/>
          <a:ln w="19050">
            <a:solidFill>
              <a:srgbClr val="D4AF37"/>
            </a:solidFill>
            <a:prstDash val="solid"/>
          </a:ln>
        </p:spPr>
      </p:sp>
      <p:sp>
        <p:nvSpPr>
          <p:cNvPr id="8" name="Text 6"/>
          <p:cNvSpPr/>
          <p:nvPr/>
        </p:nvSpPr>
        <p:spPr>
          <a:xfrm>
            <a:off x="877824" y="1463040"/>
            <a:ext cx="30906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OBSERVED TEMPORAL CONCENTRATIONS</a:t>
            </a:r>
            <a:endParaRPr lang="en-US" sz="700" dirty="0"/>
          </a:p>
        </p:txBody>
      </p:sp>
      <p:sp>
        <p:nvSpPr>
          <p:cNvPr id="9" name="Text 7"/>
          <p:cNvSpPr/>
          <p:nvPr/>
        </p:nvSpPr>
        <p:spPr>
          <a:xfrm>
            <a:off x="877824" y="1664208"/>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1. DENGUE</a:t>
            </a:r>
            <a:endParaRPr lang="en-US" sz="750" dirty="0"/>
          </a:p>
        </p:txBody>
      </p:sp>
      <p:sp>
        <p:nvSpPr>
          <p:cNvPr id="10" name="Text 8"/>
          <p:cNvSpPr/>
          <p:nvPr/>
        </p:nvSpPr>
        <p:spPr>
          <a:xfrm>
            <a:off x="2148840" y="1664208"/>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Late-Monsoon / Post-Monsoon Peak</a:t>
            </a:r>
            <a:endParaRPr lang="en-US" sz="700" dirty="0"/>
          </a:p>
        </p:txBody>
      </p:sp>
      <p:sp>
        <p:nvSpPr>
          <p:cNvPr id="11" name="Text 9"/>
          <p:cNvSpPr/>
          <p:nvPr/>
        </p:nvSpPr>
        <p:spPr>
          <a:xfrm>
            <a:off x="877824" y="1828800"/>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October peak (40 events). 82.8% of all events occur Jun–Oct. Aug–Oct CR3 = 50.5%.</a:t>
            </a:r>
            <a:endParaRPr lang="en-US" sz="750" dirty="0"/>
          </a:p>
        </p:txBody>
      </p:sp>
      <p:sp>
        <p:nvSpPr>
          <p:cNvPr id="12" name="Text 10"/>
          <p:cNvSpPr/>
          <p:nvPr/>
        </p:nvSpPr>
        <p:spPr>
          <a:xfrm>
            <a:off x="877824" y="2157984"/>
            <a:ext cx="1371600" cy="164592"/>
          </a:xfrm>
          <a:prstGeom prst="rect">
            <a:avLst/>
          </a:prstGeom>
          <a:noFill/>
          <a:ln/>
        </p:spPr>
        <p:txBody>
          <a:bodyPr wrap="square" rtlCol="0" anchor="ctr"/>
          <a:lstStyle/>
          <a:p>
            <a:pPr indent="0" marL="0">
              <a:buNone/>
            </a:pPr>
            <a:r>
              <a:rPr lang="en-US" sz="750" b="1" dirty="0">
                <a:solidFill>
                  <a:srgbClr val="10B981"/>
                </a:solidFill>
                <a:latin typeface="Consolas" pitchFamily="34" charset="0"/>
                <a:ea typeface="Consolas" pitchFamily="34" charset="-122"/>
                <a:cs typeface="Consolas" pitchFamily="34" charset="-120"/>
              </a:rPr>
              <a:t>2. ACUTE DIARRHEAL DISEASE</a:t>
            </a:r>
            <a:endParaRPr lang="en-US" sz="750" dirty="0"/>
          </a:p>
        </p:txBody>
      </p:sp>
      <p:sp>
        <p:nvSpPr>
          <p:cNvPr id="13" name="Text 11"/>
          <p:cNvSpPr/>
          <p:nvPr/>
        </p:nvSpPr>
        <p:spPr>
          <a:xfrm>
            <a:off x="2148840" y="2157984"/>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Early Monsoon Plateau + Oct Rise</a:t>
            </a:r>
            <a:endParaRPr lang="en-US" sz="700" dirty="0"/>
          </a:p>
        </p:txBody>
      </p:sp>
      <p:sp>
        <p:nvSpPr>
          <p:cNvPr id="14" name="Text 12"/>
          <p:cNvSpPr/>
          <p:nvPr/>
        </p:nvSpPr>
        <p:spPr>
          <a:xfrm>
            <a:off x="877824" y="2322576"/>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Sustained elevation Jun–Aug (18-20 events/mo) with secondary Oct rise. CR3 = 43.1%.</a:t>
            </a:r>
            <a:endParaRPr lang="en-US" sz="750" dirty="0"/>
          </a:p>
        </p:txBody>
      </p:sp>
      <p:sp>
        <p:nvSpPr>
          <p:cNvPr id="15" name="Text 13"/>
          <p:cNvSpPr/>
          <p:nvPr/>
        </p:nvSpPr>
        <p:spPr>
          <a:xfrm>
            <a:off x="877824" y="2651760"/>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3. MALARIA</a:t>
            </a:r>
            <a:endParaRPr lang="en-US" sz="750" dirty="0"/>
          </a:p>
        </p:txBody>
      </p:sp>
      <p:sp>
        <p:nvSpPr>
          <p:cNvPr id="16" name="Text 14"/>
          <p:cNvSpPr/>
          <p:nvPr/>
        </p:nvSpPr>
        <p:spPr>
          <a:xfrm>
            <a:off x="2148840" y="2651760"/>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Pre-Monsoon &amp; Early Monsoon</a:t>
            </a:r>
            <a:endParaRPr lang="en-US" sz="700" dirty="0"/>
          </a:p>
        </p:txBody>
      </p:sp>
      <p:sp>
        <p:nvSpPr>
          <p:cNvPr id="17" name="Text 15"/>
          <p:cNvSpPr/>
          <p:nvPr/>
        </p:nvSpPr>
        <p:spPr>
          <a:xfrm>
            <a:off x="877824" y="2816352"/>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Concentrates earlier in May–July (12–14 events/mo). May–Jul CR3 = 51.4%.</a:t>
            </a:r>
            <a:endParaRPr lang="en-US" sz="750" dirty="0"/>
          </a:p>
        </p:txBody>
      </p:sp>
      <p:sp>
        <p:nvSpPr>
          <p:cNvPr id="18" name="Text 16"/>
          <p:cNvSpPr/>
          <p:nvPr/>
        </p:nvSpPr>
        <p:spPr>
          <a:xfrm>
            <a:off x="877824" y="3145536"/>
            <a:ext cx="1371600" cy="164592"/>
          </a:xfrm>
          <a:prstGeom prst="rect">
            <a:avLst/>
          </a:prstGeom>
          <a:noFill/>
          <a:ln/>
        </p:spPr>
        <p:txBody>
          <a:bodyPr wrap="square" rtlCol="0" anchor="ctr"/>
          <a:lstStyle/>
          <a:p>
            <a:pPr indent="0" marL="0">
              <a:buNone/>
            </a:pPr>
            <a:r>
              <a:rPr lang="en-US" sz="750" b="1" dirty="0">
                <a:solidFill>
                  <a:srgbClr val="D4AF37"/>
                </a:solidFill>
                <a:latin typeface="Consolas" pitchFamily="34" charset="0"/>
                <a:ea typeface="Consolas" pitchFamily="34" charset="-122"/>
                <a:cs typeface="Consolas" pitchFamily="34" charset="-120"/>
              </a:rPr>
              <a:t>4. FOOD POISONING</a:t>
            </a:r>
            <a:endParaRPr lang="en-US" sz="750" dirty="0"/>
          </a:p>
        </p:txBody>
      </p:sp>
      <p:sp>
        <p:nvSpPr>
          <p:cNvPr id="19" name="Text 17"/>
          <p:cNvSpPr/>
          <p:nvPr/>
        </p:nvSpPr>
        <p:spPr>
          <a:xfrm>
            <a:off x="2148840" y="3145536"/>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Bimodal Non-Monsoon Windows</a:t>
            </a:r>
            <a:endParaRPr lang="en-US" sz="700" dirty="0"/>
          </a:p>
        </p:txBody>
      </p:sp>
      <p:sp>
        <p:nvSpPr>
          <p:cNvPr id="20" name="Text 18"/>
          <p:cNvSpPr/>
          <p:nvPr/>
        </p:nvSpPr>
        <p:spPr>
          <a:xfrm>
            <a:off x="877824" y="3310128"/>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Two distinct peaks: Jan–Feb and Apr–May. Demonstrates no monsoon concentration.</a:t>
            </a:r>
            <a:endParaRPr lang="en-US" sz="750" dirty="0"/>
          </a:p>
        </p:txBody>
      </p:sp>
      <p:sp>
        <p:nvSpPr>
          <p:cNvPr id="21" name="Text 19"/>
          <p:cNvSpPr/>
          <p:nvPr/>
        </p:nvSpPr>
        <p:spPr>
          <a:xfrm>
            <a:off x="877824" y="3639312"/>
            <a:ext cx="1371600" cy="164592"/>
          </a:xfrm>
          <a:prstGeom prst="rect">
            <a:avLst/>
          </a:prstGeom>
          <a:noFill/>
          <a:ln/>
        </p:spPr>
        <p:txBody>
          <a:bodyPr wrap="square" rtlCol="0" anchor="ctr"/>
          <a:lstStyle/>
          <a:p>
            <a:pPr indent="0" marL="0">
              <a:buNone/>
            </a:pPr>
            <a:r>
              <a:rPr lang="en-US" sz="750" b="1" dirty="0">
                <a:solidFill>
                  <a:srgbClr val="F87171"/>
                </a:solidFill>
                <a:latin typeface="Consolas" pitchFamily="34" charset="0"/>
                <a:ea typeface="Consolas" pitchFamily="34" charset="-122"/>
                <a:cs typeface="Consolas" pitchFamily="34" charset="-120"/>
              </a:rPr>
              <a:t>5. CHIKUNGUNYA</a:t>
            </a:r>
            <a:endParaRPr lang="en-US" sz="750" dirty="0"/>
          </a:p>
        </p:txBody>
      </p:sp>
      <p:sp>
        <p:nvSpPr>
          <p:cNvPr id="22" name="Text 20"/>
          <p:cNvSpPr/>
          <p:nvPr/>
        </p:nvSpPr>
        <p:spPr>
          <a:xfrm>
            <a:off x="2148840" y="3639312"/>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Low-Count Dispersed Distribution</a:t>
            </a:r>
            <a:endParaRPr lang="en-US" sz="700" dirty="0"/>
          </a:p>
        </p:txBody>
      </p:sp>
      <p:sp>
        <p:nvSpPr>
          <p:cNvPr id="23" name="Text 21"/>
          <p:cNvSpPr/>
          <p:nvPr/>
        </p:nvSpPr>
        <p:spPr>
          <a:xfrm>
            <a:off x="877824" y="3803904"/>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Low baseline frequency without a single dominant month (CR3 = 41.9%).</a:t>
            </a:r>
            <a:endParaRPr lang="en-US" sz="750" dirty="0"/>
          </a:p>
        </p:txBody>
      </p:sp>
      <p:sp>
        <p:nvSpPr>
          <p:cNvPr id="24" name="Shape 22"/>
          <p:cNvSpPr/>
          <p:nvPr/>
        </p:nvSpPr>
        <p:spPr>
          <a:xfrm>
            <a:off x="877824" y="4096512"/>
            <a:ext cx="3090672" cy="0"/>
          </a:xfrm>
          <a:prstGeom prst="line">
            <a:avLst/>
          </a:prstGeom>
          <a:noFill/>
          <a:ln w="6350">
            <a:solidFill>
              <a:srgbClr val="1E2D4A"/>
            </a:solidFill>
            <a:prstDash val="solid"/>
          </a:ln>
        </p:spPr>
      </p:sp>
      <p:sp>
        <p:nvSpPr>
          <p:cNvPr id="25" name="Text 23"/>
          <p:cNvSpPr/>
          <p:nvPr/>
        </p:nvSpPr>
        <p:spPr>
          <a:xfrm>
            <a:off x="877824" y="4151376"/>
            <a:ext cx="3090672" cy="365760"/>
          </a:xfrm>
          <a:prstGeom prst="rect">
            <a:avLst/>
          </a:prstGeom>
          <a:noFill/>
          <a:ln/>
        </p:spPr>
        <p:txBody>
          <a:bodyPr wrap="square" rtlCol="0" anchor="ctr"/>
          <a:lstStyle/>
          <a:p>
            <a:pPr indent="0" marL="0">
              <a:lnSpc>
                <a:spcPct val="110000"/>
              </a:lnSpc>
              <a:buNone/>
            </a:pPr>
            <a:r>
              <a:rPr lang="en-US" sz="700" i="1" dirty="0">
                <a:solidFill>
                  <a:srgbClr val="94A3B8"/>
                </a:solidFill>
                <a:latin typeface="Calibri" pitchFamily="34" charset="0"/>
                <a:ea typeface="Calibri" pitchFamily="34" charset="-122"/>
                <a:cs typeface="Calibri" pitchFamily="34" charset="-120"/>
              </a:rPr>
              <a:t>BOUNDARY: Calendar concentrations reflect surveillance reporting; no climate/rainfall causality is inferred.</a:t>
            </a:r>
            <a:endParaRPr lang="en-US" sz="700" dirty="0"/>
          </a:p>
        </p:txBody>
      </p:sp>
      <p:sp>
        <p:nvSpPr>
          <p:cNvPr id="26" name="Shape 24"/>
          <p:cNvSpPr/>
          <p:nvPr/>
        </p:nvSpPr>
        <p:spPr>
          <a:xfrm>
            <a:off x="4251960" y="1353312"/>
            <a:ext cx="4160520" cy="3218688"/>
          </a:xfrm>
          <a:prstGeom prst="rect">
            <a:avLst/>
          </a:prstGeom>
          <a:solidFill>
            <a:srgbClr val="0C162E"/>
          </a:solidFill>
          <a:ln w="9525">
            <a:solidFill>
              <a:srgbClr val="D4AF37"/>
            </a:solidFill>
            <a:prstDash val="solid"/>
          </a:ln>
        </p:spPr>
      </p:sp>
      <p:sp>
        <p:nvSpPr>
          <p:cNvPr id="27" name="Text 25"/>
          <p:cNvSpPr/>
          <p:nvPr/>
        </p:nvSpPr>
        <p:spPr>
          <a:xfrm>
            <a:off x="4389120" y="1426464"/>
            <a:ext cx="38862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4-YEAR MONTHLY EVENT DISTRIBUTIONS</a:t>
            </a:r>
            <a:endParaRPr lang="en-US" sz="700" dirty="0"/>
          </a:p>
        </p:txBody>
      </p:sp>
      <p:sp>
        <p:nvSpPr>
          <p:cNvPr id="28" name="Shape 26"/>
          <p:cNvSpPr/>
          <p:nvPr/>
        </p:nvSpPr>
        <p:spPr>
          <a:xfrm>
            <a:off x="4389120" y="1645920"/>
            <a:ext cx="38862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B_seasonal_analysis\chart_monthly_outbreak_events.png">    </p:cNvPr>
          <p:cNvPicPr>
            <a:picLocks noChangeAspect="1"/>
          </p:cNvPicPr>
          <p:nvPr/>
        </p:nvPicPr>
        <p:blipFill>
          <a:blip r:embed="rId1"/>
          <a:stretch>
            <a:fillRect/>
          </a:stretch>
        </p:blipFill>
        <p:spPr>
          <a:xfrm>
            <a:off x="4416552" y="1682496"/>
            <a:ext cx="3831336" cy="2468880"/>
          </a:xfrm>
          <a:prstGeom prst="rect">
            <a:avLst/>
          </a:prstGeom>
        </p:spPr>
      </p:pic>
      <p:sp>
        <p:nvSpPr>
          <p:cNvPr id="30" name="Text 27"/>
          <p:cNvSpPr/>
          <p:nvPr/>
        </p:nvSpPr>
        <p:spPr>
          <a:xfrm>
            <a:off x="4389120" y="4242816"/>
            <a:ext cx="38862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outbreak event counts aggregated across 2022–2025 (Phase 5B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5B MONTHLY AGGREGATION MATRIX | NCDC OUTBREAK RECORDS</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05 / 10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COMPARATIVE PROFILES  //  INTER-ANNUAL CONCORDANCE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Observed Calendar Concentration &amp; Kendall’s W Stability</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Measuring four-year monthly ranking consistency across 2022–2025 (tested at α = 0.05)</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D4AF37"/>
            </a:solidFill>
            <a:prstDash val="solid"/>
          </a:ln>
        </p:spPr>
      </p:sp>
      <p:sp>
        <p:nvSpPr>
          <p:cNvPr id="8" name="Text 6"/>
          <p:cNvSpPr/>
          <p:nvPr/>
        </p:nvSpPr>
        <p:spPr>
          <a:xfrm>
            <a:off x="868680" y="1444752"/>
            <a:ext cx="3794760"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KENDALL’S W CONCORDANCE ANALYSIS</a:t>
            </a:r>
            <a:endParaRPr lang="en-US" sz="700" dirty="0"/>
          </a:p>
        </p:txBody>
      </p:sp>
      <p:sp>
        <p:nvSpPr>
          <p:cNvPr id="9" name="Text 7"/>
          <p:cNvSpPr/>
          <p:nvPr/>
        </p:nvSpPr>
        <p:spPr>
          <a:xfrm>
            <a:off x="868680" y="1645920"/>
            <a:ext cx="132588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DISEASE FAMILY</a:t>
            </a:r>
            <a:endParaRPr lang="en-US" sz="650" dirty="0"/>
          </a:p>
        </p:txBody>
      </p:sp>
      <p:sp>
        <p:nvSpPr>
          <p:cNvPr id="10" name="Text 8"/>
          <p:cNvSpPr/>
          <p:nvPr/>
        </p:nvSpPr>
        <p:spPr>
          <a:xfrm>
            <a:off x="2240280" y="1645920"/>
            <a:ext cx="91440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CR3 (TOP 3 MO)</a:t>
            </a:r>
            <a:endParaRPr lang="en-US" sz="650" dirty="0"/>
          </a:p>
        </p:txBody>
      </p:sp>
      <p:sp>
        <p:nvSpPr>
          <p:cNvPr id="11" name="Text 9"/>
          <p:cNvSpPr/>
          <p:nvPr/>
        </p:nvSpPr>
        <p:spPr>
          <a:xfrm>
            <a:off x="320040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W-STAT</a:t>
            </a:r>
            <a:endParaRPr lang="en-US" sz="650" dirty="0"/>
          </a:p>
        </p:txBody>
      </p:sp>
      <p:sp>
        <p:nvSpPr>
          <p:cNvPr id="12" name="Text 10"/>
          <p:cNvSpPr/>
          <p:nvPr/>
        </p:nvSpPr>
        <p:spPr>
          <a:xfrm>
            <a:off x="384048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p-VALUE</a:t>
            </a:r>
            <a:endParaRPr lang="en-US" sz="650" dirty="0"/>
          </a:p>
        </p:txBody>
      </p:sp>
      <p:sp>
        <p:nvSpPr>
          <p:cNvPr id="13" name="Shape 11"/>
          <p:cNvSpPr/>
          <p:nvPr/>
        </p:nvSpPr>
        <p:spPr>
          <a:xfrm>
            <a:off x="868680" y="1828800"/>
            <a:ext cx="3794760" cy="0"/>
          </a:xfrm>
          <a:prstGeom prst="line">
            <a:avLst/>
          </a:prstGeom>
          <a:noFill/>
          <a:ln w="6350">
            <a:solidFill>
              <a:srgbClr val="1E2D4A"/>
            </a:solidFill>
            <a:prstDash val="solid"/>
          </a:ln>
        </p:spPr>
      </p:sp>
      <p:sp>
        <p:nvSpPr>
          <p:cNvPr id="14" name="Shape 12"/>
          <p:cNvSpPr/>
          <p:nvPr/>
        </p:nvSpPr>
        <p:spPr>
          <a:xfrm>
            <a:off x="822960" y="1883664"/>
            <a:ext cx="3886200" cy="438912"/>
          </a:xfrm>
          <a:prstGeom prst="rect">
            <a:avLst/>
          </a:prstGeom>
          <a:solidFill>
            <a:srgbClr val="132845"/>
          </a:solidFill>
          <a:ln w="9525">
            <a:solidFill>
              <a:srgbClr val="10B981"/>
            </a:solidFill>
            <a:prstDash val="solid"/>
          </a:ln>
        </p:spPr>
      </p:sp>
      <p:sp>
        <p:nvSpPr>
          <p:cNvPr id="15" name="Text 13"/>
          <p:cNvSpPr/>
          <p:nvPr/>
        </p:nvSpPr>
        <p:spPr>
          <a:xfrm>
            <a:off x="868680" y="1920240"/>
            <a:ext cx="1325880" cy="201168"/>
          </a:xfrm>
          <a:prstGeom prst="rect">
            <a:avLst/>
          </a:prstGeom>
          <a:noFill/>
          <a:ln/>
        </p:spPr>
        <p:txBody>
          <a:bodyPr wrap="square" rtlCol="0" anchor="ctr"/>
          <a:lstStyle/>
          <a:p>
            <a:pPr indent="0" marL="0">
              <a:buNone/>
            </a:pPr>
            <a:r>
              <a:rPr lang="en-US" sz="850" b="1" dirty="0">
                <a:solidFill>
                  <a:srgbClr val="34D399"/>
                </a:solidFill>
                <a:latin typeface="Calibri" pitchFamily="34" charset="0"/>
                <a:ea typeface="Calibri" pitchFamily="34" charset="-122"/>
                <a:cs typeface="Calibri" pitchFamily="34" charset="-120"/>
              </a:rPr>
              <a:t>Acute Diarrheal Dis.</a:t>
            </a:r>
            <a:endParaRPr lang="en-US" sz="850" dirty="0"/>
          </a:p>
        </p:txBody>
      </p:sp>
      <p:sp>
        <p:nvSpPr>
          <p:cNvPr id="16" name="Text 14"/>
          <p:cNvSpPr/>
          <p:nvPr/>
        </p:nvSpPr>
        <p:spPr>
          <a:xfrm>
            <a:off x="2240280" y="1920240"/>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43.1% (Jun–Aug)</a:t>
            </a:r>
            <a:endParaRPr lang="en-US" sz="700" dirty="0"/>
          </a:p>
        </p:txBody>
      </p:sp>
      <p:sp>
        <p:nvSpPr>
          <p:cNvPr id="17" name="Text 15"/>
          <p:cNvSpPr/>
          <p:nvPr/>
        </p:nvSpPr>
        <p:spPr>
          <a:xfrm>
            <a:off x="320040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0.530</a:t>
            </a:r>
            <a:endParaRPr lang="en-US" sz="800" dirty="0"/>
          </a:p>
        </p:txBody>
      </p:sp>
      <p:sp>
        <p:nvSpPr>
          <p:cNvPr id="18" name="Text 16"/>
          <p:cNvSpPr/>
          <p:nvPr/>
        </p:nvSpPr>
        <p:spPr>
          <a:xfrm>
            <a:off x="384048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0.016*</a:t>
            </a:r>
            <a:endParaRPr lang="en-US" sz="800" dirty="0"/>
          </a:p>
        </p:txBody>
      </p:sp>
      <p:sp>
        <p:nvSpPr>
          <p:cNvPr id="19" name="Text 17"/>
          <p:cNvSpPr/>
          <p:nvPr/>
        </p:nvSpPr>
        <p:spPr>
          <a:xfrm>
            <a:off x="868680" y="2121408"/>
            <a:ext cx="3703320" cy="182880"/>
          </a:xfrm>
          <a:prstGeom prst="rect">
            <a:avLst/>
          </a:prstGeom>
          <a:noFill/>
          <a:ln/>
        </p:spPr>
        <p:txBody>
          <a:bodyPr wrap="square" rtlCol="0" anchor="ctr"/>
          <a:lstStyle/>
          <a:p>
            <a:pPr indent="0" marL="0">
              <a:buNone/>
            </a:pPr>
            <a:r>
              <a:rPr lang="en-US" sz="700" i="1" dirty="0">
                <a:solidFill>
                  <a:srgbClr val="F3E5AB"/>
                </a:solidFill>
                <a:latin typeface="Calibri" pitchFamily="34" charset="0"/>
                <a:ea typeface="Calibri" pitchFamily="34" charset="-122"/>
                <a:cs typeface="Calibri" pitchFamily="34" charset="-120"/>
              </a:rPr>
              <a:t>Statistically significant inter-annual concordance (p &lt; 0.05)</a:t>
            </a:r>
            <a:endParaRPr lang="en-US" sz="700" dirty="0"/>
          </a:p>
        </p:txBody>
      </p:sp>
      <p:sp>
        <p:nvSpPr>
          <p:cNvPr id="20" name="Text 18"/>
          <p:cNvSpPr/>
          <p:nvPr/>
        </p:nvSpPr>
        <p:spPr>
          <a:xfrm>
            <a:off x="868680" y="2395728"/>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Dengue</a:t>
            </a:r>
            <a:endParaRPr lang="en-US" sz="850" dirty="0"/>
          </a:p>
        </p:txBody>
      </p:sp>
      <p:sp>
        <p:nvSpPr>
          <p:cNvPr id="21" name="Text 19"/>
          <p:cNvSpPr/>
          <p:nvPr/>
        </p:nvSpPr>
        <p:spPr>
          <a:xfrm>
            <a:off x="2240280" y="2395728"/>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50.5% (Aug–Oct)</a:t>
            </a:r>
            <a:endParaRPr lang="en-US" sz="700" dirty="0"/>
          </a:p>
        </p:txBody>
      </p:sp>
      <p:sp>
        <p:nvSpPr>
          <p:cNvPr id="22" name="Text 20"/>
          <p:cNvSpPr/>
          <p:nvPr/>
        </p:nvSpPr>
        <p:spPr>
          <a:xfrm>
            <a:off x="3200400" y="2395728"/>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0.405</a:t>
            </a:r>
            <a:endParaRPr lang="en-US" sz="800" dirty="0"/>
          </a:p>
        </p:txBody>
      </p:sp>
      <p:sp>
        <p:nvSpPr>
          <p:cNvPr id="23" name="Text 21"/>
          <p:cNvSpPr/>
          <p:nvPr/>
        </p:nvSpPr>
        <p:spPr>
          <a:xfrm>
            <a:off x="3840480" y="2395728"/>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0.086</a:t>
            </a:r>
            <a:endParaRPr lang="en-US" sz="800" dirty="0"/>
          </a:p>
        </p:txBody>
      </p:sp>
      <p:sp>
        <p:nvSpPr>
          <p:cNvPr id="24" name="Text 22"/>
          <p:cNvSpPr/>
          <p:nvPr/>
        </p:nvSpPr>
        <p:spPr>
          <a:xfrm>
            <a:off x="868680" y="2596896"/>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(annual peak shifts between Sep and Oct)</a:t>
            </a:r>
            <a:endParaRPr lang="en-US" sz="700" dirty="0"/>
          </a:p>
        </p:txBody>
      </p:sp>
      <p:sp>
        <p:nvSpPr>
          <p:cNvPr id="25" name="Text 23"/>
          <p:cNvSpPr/>
          <p:nvPr/>
        </p:nvSpPr>
        <p:spPr>
          <a:xfrm>
            <a:off x="868680" y="2871216"/>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Malaria</a:t>
            </a:r>
            <a:endParaRPr lang="en-US" sz="850" dirty="0"/>
          </a:p>
        </p:txBody>
      </p:sp>
      <p:sp>
        <p:nvSpPr>
          <p:cNvPr id="26" name="Text 24"/>
          <p:cNvSpPr/>
          <p:nvPr/>
        </p:nvSpPr>
        <p:spPr>
          <a:xfrm>
            <a:off x="2240280" y="2871216"/>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51.4% (May–Jul)</a:t>
            </a:r>
            <a:endParaRPr lang="en-US" sz="700" dirty="0"/>
          </a:p>
        </p:txBody>
      </p:sp>
      <p:sp>
        <p:nvSpPr>
          <p:cNvPr id="27" name="Text 25"/>
          <p:cNvSpPr/>
          <p:nvPr/>
        </p:nvSpPr>
        <p:spPr>
          <a:xfrm>
            <a:off x="3200400" y="2871216"/>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0.319</a:t>
            </a:r>
            <a:endParaRPr lang="en-US" sz="800" dirty="0"/>
          </a:p>
        </p:txBody>
      </p:sp>
      <p:sp>
        <p:nvSpPr>
          <p:cNvPr id="28" name="Text 26"/>
          <p:cNvSpPr/>
          <p:nvPr/>
        </p:nvSpPr>
        <p:spPr>
          <a:xfrm>
            <a:off x="3840480" y="2871216"/>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0.229</a:t>
            </a:r>
            <a:endParaRPr lang="en-US" sz="800" dirty="0"/>
          </a:p>
        </p:txBody>
      </p:sp>
      <p:sp>
        <p:nvSpPr>
          <p:cNvPr id="29" name="Text 27"/>
          <p:cNvSpPr/>
          <p:nvPr/>
        </p:nvSpPr>
        <p:spPr>
          <a:xfrm>
            <a:off x="868680" y="3072384"/>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(early-monsoon elevation with variable timing)</a:t>
            </a:r>
            <a:endParaRPr lang="en-US" sz="700" dirty="0"/>
          </a:p>
        </p:txBody>
      </p:sp>
      <p:sp>
        <p:nvSpPr>
          <p:cNvPr id="30" name="Text 28"/>
          <p:cNvSpPr/>
          <p:nvPr/>
        </p:nvSpPr>
        <p:spPr>
          <a:xfrm>
            <a:off x="868680" y="3346704"/>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Food Poisoning</a:t>
            </a:r>
            <a:endParaRPr lang="en-US" sz="850" dirty="0"/>
          </a:p>
        </p:txBody>
      </p:sp>
      <p:sp>
        <p:nvSpPr>
          <p:cNvPr id="31" name="Text 29"/>
          <p:cNvSpPr/>
          <p:nvPr/>
        </p:nvSpPr>
        <p:spPr>
          <a:xfrm>
            <a:off x="2240280" y="3346704"/>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44.9% (Apr/May/Feb)</a:t>
            </a:r>
            <a:endParaRPr lang="en-US" sz="700" dirty="0"/>
          </a:p>
        </p:txBody>
      </p:sp>
      <p:sp>
        <p:nvSpPr>
          <p:cNvPr id="32" name="Text 30"/>
          <p:cNvSpPr/>
          <p:nvPr/>
        </p:nvSpPr>
        <p:spPr>
          <a:xfrm>
            <a:off x="3200400" y="3346704"/>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0.260</a:t>
            </a:r>
            <a:endParaRPr lang="en-US" sz="800" dirty="0"/>
          </a:p>
        </p:txBody>
      </p:sp>
      <p:sp>
        <p:nvSpPr>
          <p:cNvPr id="33" name="Text 31"/>
          <p:cNvSpPr/>
          <p:nvPr/>
        </p:nvSpPr>
        <p:spPr>
          <a:xfrm>
            <a:off x="3840480" y="3346704"/>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0.380</a:t>
            </a:r>
            <a:endParaRPr lang="en-US" sz="800" dirty="0"/>
          </a:p>
        </p:txBody>
      </p:sp>
      <p:sp>
        <p:nvSpPr>
          <p:cNvPr id="34" name="Text 32"/>
          <p:cNvSpPr/>
          <p:nvPr/>
        </p:nvSpPr>
        <p:spPr>
          <a:xfrm>
            <a:off x="868680" y="3547872"/>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(bimodal, sensitive to mass-case events)</a:t>
            </a:r>
            <a:endParaRPr lang="en-US" sz="700" dirty="0"/>
          </a:p>
        </p:txBody>
      </p:sp>
      <p:sp>
        <p:nvSpPr>
          <p:cNvPr id="35" name="Text 33"/>
          <p:cNvSpPr/>
          <p:nvPr/>
        </p:nvSpPr>
        <p:spPr>
          <a:xfrm>
            <a:off x="868680" y="3822192"/>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Chikungunya</a:t>
            </a:r>
            <a:endParaRPr lang="en-US" sz="850" dirty="0"/>
          </a:p>
        </p:txBody>
      </p:sp>
      <p:sp>
        <p:nvSpPr>
          <p:cNvPr id="36" name="Text 34"/>
          <p:cNvSpPr/>
          <p:nvPr/>
        </p:nvSpPr>
        <p:spPr>
          <a:xfrm>
            <a:off x="2240280" y="3822192"/>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41.9% (May/Jun/Sep)</a:t>
            </a:r>
            <a:endParaRPr lang="en-US" sz="700" dirty="0"/>
          </a:p>
        </p:txBody>
      </p:sp>
      <p:sp>
        <p:nvSpPr>
          <p:cNvPr id="37" name="Text 35"/>
          <p:cNvSpPr/>
          <p:nvPr/>
        </p:nvSpPr>
        <p:spPr>
          <a:xfrm>
            <a:off x="3200400" y="3822192"/>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0.221</a:t>
            </a:r>
            <a:endParaRPr lang="en-US" sz="800" dirty="0"/>
          </a:p>
        </p:txBody>
      </p:sp>
      <p:sp>
        <p:nvSpPr>
          <p:cNvPr id="38" name="Text 36"/>
          <p:cNvSpPr/>
          <p:nvPr/>
        </p:nvSpPr>
        <p:spPr>
          <a:xfrm>
            <a:off x="3840480" y="3822192"/>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0.490</a:t>
            </a:r>
            <a:endParaRPr lang="en-US" sz="800" dirty="0"/>
          </a:p>
        </p:txBody>
      </p:sp>
      <p:sp>
        <p:nvSpPr>
          <p:cNvPr id="39" name="Text 37"/>
          <p:cNvSpPr/>
          <p:nvPr/>
        </p:nvSpPr>
        <p:spPr>
          <a:xfrm>
            <a:off x="868680" y="4023360"/>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(low baseline frequency across the year)</a:t>
            </a:r>
            <a:endParaRPr lang="en-US" sz="700" dirty="0"/>
          </a:p>
        </p:txBody>
      </p:sp>
      <p:sp>
        <p:nvSpPr>
          <p:cNvPr id="40" name="Text 38"/>
          <p:cNvSpPr/>
          <p:nvPr/>
        </p:nvSpPr>
        <p:spPr>
          <a:xfrm>
            <a:off x="868680" y="4279392"/>
            <a:ext cx="3794760" cy="237744"/>
          </a:xfrm>
          <a:prstGeom prst="rect">
            <a:avLst/>
          </a:prstGeom>
          <a:noFill/>
          <a:ln/>
        </p:spPr>
        <p:txBody>
          <a:bodyPr wrap="square" rtlCol="0" anchor="ctr"/>
          <a:lstStyle/>
          <a:p>
            <a:pPr indent="0" marL="0">
              <a:buNone/>
            </a:pPr>
            <a:r>
              <a:rPr lang="en-US" sz="650" i="1" dirty="0">
                <a:solidFill>
                  <a:srgbClr val="94A3B8"/>
                </a:solidFill>
                <a:latin typeface="Calibri" pitchFamily="34" charset="0"/>
                <a:ea typeface="Calibri" pitchFamily="34" charset="-122"/>
                <a:cs typeface="Calibri" pitchFamily="34" charset="-120"/>
              </a:rPr>
              <a:t>* Kendall’s W measures rank concordance (0 = no agreement, 1 = complete concordance). Tested at α = 0.05 across 4 completed years.</a:t>
            </a:r>
            <a:endParaRPr lang="en-US" sz="650" dirty="0"/>
          </a:p>
        </p:txBody>
      </p:sp>
      <p:sp>
        <p:nvSpPr>
          <p:cNvPr id="41" name="Shape 39"/>
          <p:cNvSpPr/>
          <p:nvPr/>
        </p:nvSpPr>
        <p:spPr>
          <a:xfrm>
            <a:off x="4937760" y="1353312"/>
            <a:ext cx="3474720" cy="3218688"/>
          </a:xfrm>
          <a:prstGeom prst="rect">
            <a:avLst/>
          </a:prstGeom>
          <a:solidFill>
            <a:srgbClr val="0C162E"/>
          </a:solidFill>
          <a:ln w="9525">
            <a:solidFill>
              <a:srgbClr val="D4AF37"/>
            </a:solidFill>
            <a:prstDash val="solid"/>
          </a:ln>
        </p:spPr>
      </p:sp>
      <p:sp>
        <p:nvSpPr>
          <p:cNvPr id="42" name="Text 40"/>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INTER-ANNUAL STABILITY HEATMAP</a:t>
            </a:r>
            <a:endParaRPr lang="en-US" sz="700" dirty="0"/>
          </a:p>
        </p:txBody>
      </p:sp>
      <p:sp>
        <p:nvSpPr>
          <p:cNvPr id="43" name="Shape 41"/>
          <p:cNvSpPr/>
          <p:nvPr/>
        </p:nvSpPr>
        <p:spPr>
          <a:xfrm>
            <a:off x="5074920" y="1645920"/>
            <a:ext cx="3200400" cy="2542032"/>
          </a:xfrm>
          <a:prstGeom prst="rect">
            <a:avLst/>
          </a:prstGeom>
          <a:solidFill>
            <a:srgbClr val="FFFFFF"/>
          </a:solidFill>
          <a:ln w="6350">
            <a:solidFill>
              <a:srgbClr val="1E2D4A"/>
            </a:solidFill>
            <a:prstDash val="solid"/>
          </a:ln>
        </p:spPr>
      </p:sp>
      <p:pic>
        <p:nvPicPr>
          <p:cNvPr id="44" name="Image 0" descr="C:\Users\ADMIN\OneDrive\Desktop\Field Project\data_pipeline\phase5C_advanced_analysis\chart_seasonal_stability_heatmap.png">    </p:cNvPr>
          <p:cNvPicPr>
            <a:picLocks noChangeAspect="1"/>
          </p:cNvPicPr>
          <p:nvPr/>
        </p:nvPicPr>
        <p:blipFill>
          <a:blip r:embed="rId1"/>
          <a:stretch>
            <a:fillRect/>
          </a:stretch>
        </p:blipFill>
        <p:spPr>
          <a:xfrm>
            <a:off x="5102352" y="1682496"/>
            <a:ext cx="3145536" cy="2468880"/>
          </a:xfrm>
          <a:prstGeom prst="rect">
            <a:avLst/>
          </a:prstGeom>
        </p:spPr>
      </p:pic>
      <p:sp>
        <p:nvSpPr>
          <p:cNvPr id="45" name="Text 42"/>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Kendall's W Rank Concordance across 2022–2025 (Phase 5C Analysis).</a:t>
            </a:r>
            <a:endParaRPr lang="en-US" sz="750" dirty="0"/>
          </a:p>
        </p:txBody>
      </p:sp>
      <p:sp>
        <p:nvSpPr>
          <p:cNvPr id="46" name="Shape 43"/>
          <p:cNvSpPr/>
          <p:nvPr/>
        </p:nvSpPr>
        <p:spPr>
          <a:xfrm>
            <a:off x="731520" y="4773168"/>
            <a:ext cx="7680960" cy="0"/>
          </a:xfrm>
          <a:prstGeom prst="line">
            <a:avLst/>
          </a:prstGeom>
          <a:noFill/>
          <a:ln w="9525">
            <a:solidFill>
              <a:srgbClr val="1E2D4A"/>
            </a:solidFill>
            <a:prstDash val="solid"/>
          </a:ln>
        </p:spPr>
      </p:sp>
      <p:sp>
        <p:nvSpPr>
          <p:cNvPr id="47" name="Text 44"/>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ADVANCED STATISTICAL ANALYSIS | KENDALL'S W TESTING</a:t>
            </a:r>
            <a:endParaRPr lang="en-US" sz="650" dirty="0"/>
          </a:p>
        </p:txBody>
      </p:sp>
      <p:sp>
        <p:nvSpPr>
          <p:cNvPr id="48" name="Text 45"/>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06 / 10</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SENSITIVITY ANALYSIS  //  EVENT VS. CASE-VOLUME DIVERGENCE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How Three Records Shape Four-Year Case Totals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Demonstrating the critical separation between outbreak frequency and patient enumeration</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EF4444"/>
            </a:solidFill>
            <a:prstDash val="solid"/>
          </a:ln>
        </p:spPr>
      </p:sp>
      <p:sp>
        <p:nvSpPr>
          <p:cNvPr id="8" name="Text 6"/>
          <p:cNvSpPr/>
          <p:nvPr/>
        </p:nvSpPr>
        <p:spPr>
          <a:xfrm>
            <a:off x="877824" y="1444752"/>
            <a:ext cx="3776472" cy="182880"/>
          </a:xfrm>
          <a:prstGeom prst="rect">
            <a:avLst/>
          </a:prstGeom>
          <a:noFill/>
          <a:ln/>
        </p:spPr>
        <p:txBody>
          <a:bodyPr wrap="square" rtlCol="0" anchor="ctr"/>
          <a:lstStyle/>
          <a:p>
            <a:pPr indent="0" marL="0">
              <a:buNone/>
            </a:pPr>
            <a:r>
              <a:rPr lang="en-US" sz="700" b="1" spc="100" kern="0" dirty="0">
                <a:solidFill>
                  <a:srgbClr val="F87171"/>
                </a:solidFill>
                <a:latin typeface="Consolas" pitchFamily="34" charset="0"/>
                <a:ea typeface="Consolas" pitchFamily="34" charset="-122"/>
                <a:cs typeface="Consolas" pitchFamily="34" charset="-120"/>
              </a:rPr>
              <a:t>THREE MASS-EXPOSURE OUTBREAK RECORDS</a:t>
            </a:r>
            <a:endParaRPr lang="en-US" sz="700" dirty="0"/>
          </a:p>
        </p:txBody>
      </p:sp>
      <p:sp>
        <p:nvSpPr>
          <p:cNvPr id="9" name="Text 7"/>
          <p:cNvSpPr/>
          <p:nvPr/>
        </p:nvSpPr>
        <p:spPr>
          <a:xfrm>
            <a:off x="877824"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651</a:t>
            </a:r>
            <a:endParaRPr lang="en-US" sz="2400" dirty="0"/>
          </a:p>
        </p:txBody>
      </p:sp>
      <p:sp>
        <p:nvSpPr>
          <p:cNvPr id="10" name="Text 8"/>
          <p:cNvSpPr/>
          <p:nvPr/>
        </p:nvSpPr>
        <p:spPr>
          <a:xfrm>
            <a:off x="877824"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KOLHAPUR DISTRICT</a:t>
            </a:r>
            <a:endParaRPr lang="en-US" sz="650" dirty="0"/>
          </a:p>
        </p:txBody>
      </p:sp>
      <p:sp>
        <p:nvSpPr>
          <p:cNvPr id="11" name="Text 9"/>
          <p:cNvSpPr/>
          <p:nvPr/>
        </p:nvSpPr>
        <p:spPr>
          <a:xfrm>
            <a:off x="877824"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2024 Week 07</a:t>
            </a:r>
            <a:endParaRPr lang="en-US" sz="750" dirty="0"/>
          </a:p>
        </p:txBody>
      </p:sp>
      <p:sp>
        <p:nvSpPr>
          <p:cNvPr id="12" name="Text 10"/>
          <p:cNvSpPr/>
          <p:nvPr/>
        </p:nvSpPr>
        <p:spPr>
          <a:xfrm>
            <a:off x="2139696"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629</a:t>
            </a:r>
            <a:endParaRPr lang="en-US" sz="2400" dirty="0"/>
          </a:p>
        </p:txBody>
      </p:sp>
      <p:sp>
        <p:nvSpPr>
          <p:cNvPr id="13" name="Text 11"/>
          <p:cNvSpPr/>
          <p:nvPr/>
        </p:nvSpPr>
        <p:spPr>
          <a:xfrm>
            <a:off x="2139696"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PARBHANI DISTRICT</a:t>
            </a:r>
            <a:endParaRPr lang="en-US" sz="650" dirty="0"/>
          </a:p>
        </p:txBody>
      </p:sp>
      <p:sp>
        <p:nvSpPr>
          <p:cNvPr id="14" name="Text 12"/>
          <p:cNvSpPr/>
          <p:nvPr/>
        </p:nvSpPr>
        <p:spPr>
          <a:xfrm>
            <a:off x="2139696"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2025 Week 06</a:t>
            </a:r>
            <a:endParaRPr lang="en-US" sz="750" dirty="0"/>
          </a:p>
        </p:txBody>
      </p:sp>
      <p:sp>
        <p:nvSpPr>
          <p:cNvPr id="15" name="Text 13"/>
          <p:cNvSpPr/>
          <p:nvPr/>
        </p:nvSpPr>
        <p:spPr>
          <a:xfrm>
            <a:off x="3401568"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335</a:t>
            </a:r>
            <a:endParaRPr lang="en-US" sz="2400" dirty="0"/>
          </a:p>
        </p:txBody>
      </p:sp>
      <p:sp>
        <p:nvSpPr>
          <p:cNvPr id="16" name="Text 14"/>
          <p:cNvSpPr/>
          <p:nvPr/>
        </p:nvSpPr>
        <p:spPr>
          <a:xfrm>
            <a:off x="3401568"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SOLAPUR DISTRICT</a:t>
            </a:r>
            <a:endParaRPr lang="en-US" sz="650" dirty="0"/>
          </a:p>
        </p:txBody>
      </p:sp>
      <p:sp>
        <p:nvSpPr>
          <p:cNvPr id="17" name="Text 15"/>
          <p:cNvSpPr/>
          <p:nvPr/>
        </p:nvSpPr>
        <p:spPr>
          <a:xfrm>
            <a:off x="3401568"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2023 Week 06</a:t>
            </a:r>
            <a:endParaRPr lang="en-US" sz="750" dirty="0"/>
          </a:p>
        </p:txBody>
      </p:sp>
      <p:sp>
        <p:nvSpPr>
          <p:cNvPr id="18" name="Shape 16"/>
          <p:cNvSpPr/>
          <p:nvPr/>
        </p:nvSpPr>
        <p:spPr>
          <a:xfrm>
            <a:off x="877824" y="2450592"/>
            <a:ext cx="3776472" cy="0"/>
          </a:xfrm>
          <a:prstGeom prst="line">
            <a:avLst/>
          </a:prstGeom>
          <a:noFill/>
          <a:ln w="6350">
            <a:solidFill>
              <a:srgbClr val="1E2D4A"/>
            </a:solidFill>
            <a:prstDash val="solid"/>
          </a:ln>
        </p:spPr>
      </p:sp>
      <p:sp>
        <p:nvSpPr>
          <p:cNvPr id="19" name="Text 17"/>
          <p:cNvSpPr/>
          <p:nvPr/>
        </p:nvSpPr>
        <p:spPr>
          <a:xfrm>
            <a:off x="877824" y="2523744"/>
            <a:ext cx="3776472" cy="182880"/>
          </a:xfrm>
          <a:prstGeom prst="rect">
            <a:avLst/>
          </a:prstGeom>
          <a:noFill/>
          <a:ln/>
        </p:spPr>
        <p:txBody>
          <a:bodyPr wrap="square" rtlCol="0" anchor="ctr"/>
          <a:lstStyle/>
          <a:p>
            <a:pPr indent="0" marL="0">
              <a:buNone/>
            </a:pPr>
            <a:r>
              <a:rPr lang="en-US" sz="750" b="1" spc="50" kern="0" dirty="0">
                <a:solidFill>
                  <a:srgbClr val="D4AF37"/>
                </a:solidFill>
                <a:latin typeface="Consolas" pitchFamily="34" charset="0"/>
                <a:ea typeface="Consolas" pitchFamily="34" charset="-122"/>
                <a:cs typeface="Consolas" pitchFamily="34" charset="-120"/>
              </a:rPr>
              <a:t>COMBINED IMPACT: 1,615 CASES FROM 3 OUTBREAKS</a:t>
            </a:r>
            <a:endParaRPr lang="en-US" sz="750" dirty="0"/>
          </a:p>
        </p:txBody>
      </p:sp>
      <p:sp>
        <p:nvSpPr>
          <p:cNvPr id="20" name="Text 18"/>
          <p:cNvSpPr/>
          <p:nvPr/>
        </p:nvSpPr>
        <p:spPr>
          <a:xfrm>
            <a:off x="877824" y="2724912"/>
            <a:ext cx="1188720" cy="402336"/>
          </a:xfrm>
          <a:prstGeom prst="rect">
            <a:avLst/>
          </a:prstGeom>
          <a:noFill/>
          <a:ln/>
        </p:spPr>
        <p:txBody>
          <a:bodyPr wrap="square" rtlCol="0" anchor="ctr"/>
          <a:lstStyle/>
          <a:p>
            <a:pPr indent="0" marL="0">
              <a:buNone/>
            </a:pPr>
            <a:r>
              <a:rPr lang="en-US" sz="2200" b="1" dirty="0">
                <a:solidFill>
                  <a:srgbClr val="F3E5AB"/>
                </a:solidFill>
                <a:latin typeface="Georgia" pitchFamily="34" charset="0"/>
                <a:ea typeface="Georgia" pitchFamily="34" charset="-122"/>
                <a:cs typeface="Georgia" pitchFamily="34" charset="-120"/>
              </a:rPr>
              <a:t>74.7%</a:t>
            </a:r>
            <a:endParaRPr lang="en-US" sz="2200" dirty="0"/>
          </a:p>
        </p:txBody>
      </p:sp>
      <p:sp>
        <p:nvSpPr>
          <p:cNvPr id="21" name="Text 19"/>
          <p:cNvSpPr/>
          <p:nvPr/>
        </p:nvSpPr>
        <p:spPr>
          <a:xfrm>
            <a:off x="877824"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SHARE OF FEBRUARY CASES</a:t>
            </a:r>
            <a:endParaRPr lang="en-US" sz="650" dirty="0"/>
          </a:p>
        </p:txBody>
      </p:sp>
      <p:sp>
        <p:nvSpPr>
          <p:cNvPr id="22" name="Text 20"/>
          <p:cNvSpPr/>
          <p:nvPr/>
        </p:nvSpPr>
        <p:spPr>
          <a:xfrm>
            <a:off x="877824"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1,615 of 2,162 Feb cases</a:t>
            </a:r>
            <a:endParaRPr lang="en-US" sz="700" dirty="0"/>
          </a:p>
        </p:txBody>
      </p:sp>
      <p:sp>
        <p:nvSpPr>
          <p:cNvPr id="23" name="Text 21"/>
          <p:cNvSpPr/>
          <p:nvPr/>
        </p:nvSpPr>
        <p:spPr>
          <a:xfrm>
            <a:off x="2139696" y="2724912"/>
            <a:ext cx="1188720" cy="402336"/>
          </a:xfrm>
          <a:prstGeom prst="rect">
            <a:avLst/>
          </a:prstGeom>
          <a:noFill/>
          <a:ln/>
        </p:spPr>
        <p:txBody>
          <a:bodyPr wrap="square" rtlCol="0" anchor="ctr"/>
          <a:lstStyle/>
          <a:p>
            <a:pPr indent="0" marL="0">
              <a:buNone/>
            </a:pPr>
            <a:r>
              <a:rPr lang="en-US" sz="2200" b="1" dirty="0">
                <a:solidFill>
                  <a:srgbClr val="F3E5AB"/>
                </a:solidFill>
                <a:latin typeface="Georgia" pitchFamily="34" charset="0"/>
                <a:ea typeface="Georgia" pitchFamily="34" charset="-122"/>
                <a:cs typeface="Georgia" pitchFamily="34" charset="-120"/>
              </a:rPr>
              <a:t>27.3%</a:t>
            </a:r>
            <a:endParaRPr lang="en-US" sz="2200" dirty="0"/>
          </a:p>
        </p:txBody>
      </p:sp>
      <p:sp>
        <p:nvSpPr>
          <p:cNvPr id="24" name="Text 22"/>
          <p:cNvSpPr/>
          <p:nvPr/>
        </p:nvSpPr>
        <p:spPr>
          <a:xfrm>
            <a:off x="2139696"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SHARE OF 4-YEAR TOTAL</a:t>
            </a:r>
            <a:endParaRPr lang="en-US" sz="650" dirty="0"/>
          </a:p>
        </p:txBody>
      </p:sp>
      <p:sp>
        <p:nvSpPr>
          <p:cNvPr id="25" name="Text 23"/>
          <p:cNvSpPr/>
          <p:nvPr/>
        </p:nvSpPr>
        <p:spPr>
          <a:xfrm>
            <a:off x="2139696"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1,615 of 5,927 total cases</a:t>
            </a:r>
            <a:endParaRPr lang="en-US" sz="700" dirty="0"/>
          </a:p>
        </p:txBody>
      </p:sp>
      <p:sp>
        <p:nvSpPr>
          <p:cNvPr id="26" name="Text 24"/>
          <p:cNvSpPr/>
          <p:nvPr/>
        </p:nvSpPr>
        <p:spPr>
          <a:xfrm>
            <a:off x="3401568" y="2724912"/>
            <a:ext cx="1188720" cy="402336"/>
          </a:xfrm>
          <a:prstGeom prst="rect">
            <a:avLst/>
          </a:prstGeom>
          <a:noFill/>
          <a:ln/>
        </p:spPr>
        <p:txBody>
          <a:bodyPr wrap="square" rtlCol="0" anchor="ctr"/>
          <a:lstStyle/>
          <a:p>
            <a:pPr indent="0" marL="0">
              <a:buNone/>
            </a:pPr>
            <a:r>
              <a:rPr lang="en-US" sz="2200" b="1" dirty="0">
                <a:solidFill>
                  <a:srgbClr val="38BDF8"/>
                </a:solidFill>
                <a:latin typeface="Georgia" pitchFamily="34" charset="0"/>
                <a:ea typeface="Georgia" pitchFamily="34" charset="-122"/>
                <a:cs typeface="Georgia" pitchFamily="34" charset="-120"/>
              </a:rPr>
              <a:t>15.9%</a:t>
            </a:r>
            <a:endParaRPr lang="en-US" sz="2200" dirty="0"/>
          </a:p>
        </p:txBody>
      </p:sp>
      <p:sp>
        <p:nvSpPr>
          <p:cNvPr id="27" name="Text 25"/>
          <p:cNvSpPr/>
          <p:nvPr/>
        </p:nvSpPr>
        <p:spPr>
          <a:xfrm>
            <a:off x="3401568"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FEBRUARY EVENT RATIO</a:t>
            </a:r>
            <a:endParaRPr lang="en-US" sz="650" dirty="0"/>
          </a:p>
        </p:txBody>
      </p:sp>
      <p:sp>
        <p:nvSpPr>
          <p:cNvPr id="28" name="Text 26"/>
          <p:cNvSpPr/>
          <p:nvPr/>
        </p:nvSpPr>
        <p:spPr>
          <a:xfrm>
            <a:off x="3401568"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Only 11 of 69 events</a:t>
            </a:r>
            <a:endParaRPr lang="en-US" sz="700" dirty="0"/>
          </a:p>
        </p:txBody>
      </p:sp>
      <p:sp>
        <p:nvSpPr>
          <p:cNvPr id="29" name="Shape 27"/>
          <p:cNvSpPr/>
          <p:nvPr/>
        </p:nvSpPr>
        <p:spPr>
          <a:xfrm>
            <a:off x="877824" y="3657600"/>
            <a:ext cx="3776472" cy="0"/>
          </a:xfrm>
          <a:prstGeom prst="line">
            <a:avLst/>
          </a:prstGeom>
          <a:noFill/>
          <a:ln w="6350">
            <a:solidFill>
              <a:srgbClr val="1E2D4A"/>
            </a:solidFill>
            <a:prstDash val="solid"/>
          </a:ln>
        </p:spPr>
      </p:sp>
      <p:sp>
        <p:nvSpPr>
          <p:cNvPr id="30" name="Text 28"/>
          <p:cNvSpPr/>
          <p:nvPr/>
        </p:nvSpPr>
        <p:spPr>
          <a:xfrm>
            <a:off x="877824" y="3730752"/>
            <a:ext cx="3776472" cy="164592"/>
          </a:xfrm>
          <a:prstGeom prst="rect">
            <a:avLst/>
          </a:prstGeom>
          <a:noFill/>
          <a:ln/>
        </p:spPr>
        <p:txBody>
          <a:bodyPr wrap="square" rtlCol="0" anchor="ctr"/>
          <a:lstStyle/>
          <a:p>
            <a:pPr indent="0" marL="0">
              <a:buNone/>
            </a:pPr>
            <a:r>
              <a:rPr lang="en-US" sz="700" b="1" dirty="0">
                <a:solidFill>
                  <a:srgbClr val="F3E5AB"/>
                </a:solidFill>
                <a:latin typeface="Consolas" pitchFamily="34" charset="0"/>
                <a:ea typeface="Consolas" pitchFamily="34" charset="-122"/>
                <a:cs typeface="Consolas" pitchFamily="34" charset="-120"/>
              </a:rPr>
              <a:t>CRITICAL METHODOLOGICAL TAKEAWAY:</a:t>
            </a:r>
            <a:endParaRPr lang="en-US" sz="700" dirty="0"/>
          </a:p>
        </p:txBody>
      </p:sp>
      <p:sp>
        <p:nvSpPr>
          <p:cNvPr id="31" name="Text 29"/>
          <p:cNvSpPr/>
          <p:nvPr/>
        </p:nvSpPr>
        <p:spPr>
          <a:xfrm>
            <a:off x="877824" y="3913632"/>
            <a:ext cx="3776472" cy="566928"/>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Event frequency and patient case volumes measure fundamentally distinct phenomena. Without sensitivity testing, February would appear to be a massive seasonal transmission peak, when it is actually driven by 3 localized high-volume cluster reports. No causal assumptions (e.g. catering) are made.</a:t>
            </a:r>
            <a:endParaRPr lang="en-US" sz="750" dirty="0"/>
          </a:p>
        </p:txBody>
      </p:sp>
      <p:sp>
        <p:nvSpPr>
          <p:cNvPr id="32" name="Shape 30"/>
          <p:cNvSpPr/>
          <p:nvPr/>
        </p:nvSpPr>
        <p:spPr>
          <a:xfrm>
            <a:off x="4937760" y="1353312"/>
            <a:ext cx="3474720" cy="3218688"/>
          </a:xfrm>
          <a:prstGeom prst="rect">
            <a:avLst/>
          </a:prstGeom>
          <a:solidFill>
            <a:srgbClr val="0C162E"/>
          </a:solidFill>
          <a:ln w="9525">
            <a:solidFill>
              <a:srgbClr val="D4AF37"/>
            </a:solidFill>
            <a:prstDash val="solid"/>
          </a:ln>
        </p:spPr>
      </p:sp>
      <p:sp>
        <p:nvSpPr>
          <p:cNvPr id="33" name="Text 31"/>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SENSITIVITY DECOMPOSITION</a:t>
            </a:r>
            <a:endParaRPr lang="en-US" sz="700" dirty="0"/>
          </a:p>
        </p:txBody>
      </p:sp>
      <p:sp>
        <p:nvSpPr>
          <p:cNvPr id="34" name="Shape 32"/>
          <p:cNvSpPr/>
          <p:nvPr/>
        </p:nvSpPr>
        <p:spPr>
          <a:xfrm>
            <a:off x="5074920" y="1645920"/>
            <a:ext cx="3200400" cy="2542032"/>
          </a:xfrm>
          <a:prstGeom prst="rect">
            <a:avLst/>
          </a:prstGeom>
          <a:solidFill>
            <a:srgbClr val="FFFFFF"/>
          </a:solidFill>
          <a:ln w="6350">
            <a:solidFill>
              <a:srgbClr val="1E2D4A"/>
            </a:solidFill>
            <a:prstDash val="solid"/>
          </a:ln>
        </p:spPr>
      </p:sp>
      <p:pic>
        <p:nvPicPr>
          <p:cNvPr id="35" name="Image 0" descr="C:\Users\ADMIN\OneDrive\Desktop\Field Project\data_pipeline\phase5C_advanced_analysis\chart_outlier_sensitivity.png">    </p:cNvPr>
          <p:cNvPicPr>
            <a:picLocks noChangeAspect="1"/>
          </p:cNvPicPr>
          <p:nvPr/>
        </p:nvPicPr>
        <p:blipFill>
          <a:blip r:embed="rId1"/>
          <a:stretch>
            <a:fillRect/>
          </a:stretch>
        </p:blipFill>
        <p:spPr>
          <a:xfrm>
            <a:off x="5102352" y="1682496"/>
            <a:ext cx="3145536" cy="2468880"/>
          </a:xfrm>
          <a:prstGeom prst="rect">
            <a:avLst/>
          </a:prstGeom>
        </p:spPr>
      </p:pic>
      <p:sp>
        <p:nvSpPr>
          <p:cNvPr id="36" name="Text 33"/>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Food Poisoning cases with vs. without 3 outlier events (Phase 5C Analysis).</a:t>
            </a:r>
            <a:endParaRPr lang="en-US" sz="750" dirty="0"/>
          </a:p>
        </p:txBody>
      </p:sp>
      <p:sp>
        <p:nvSpPr>
          <p:cNvPr id="37" name="Shape 34"/>
          <p:cNvSpPr/>
          <p:nvPr/>
        </p:nvSpPr>
        <p:spPr>
          <a:xfrm>
            <a:off x="731520" y="4773168"/>
            <a:ext cx="7680960" cy="0"/>
          </a:xfrm>
          <a:prstGeom prst="line">
            <a:avLst/>
          </a:prstGeom>
          <a:noFill/>
          <a:ln w="9525">
            <a:solidFill>
              <a:srgbClr val="1E2D4A"/>
            </a:solidFill>
            <a:prstDash val="solid"/>
          </a:ln>
        </p:spPr>
      </p:sp>
      <p:sp>
        <p:nvSpPr>
          <p:cNvPr id="38" name="Text 35"/>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OUTLIER SENSITIVITY ANALYSIS | NCDC IDSP SURVEILLANCE RECORDS</a:t>
            </a:r>
            <a:endParaRPr lang="en-US" sz="650" dirty="0"/>
          </a:p>
        </p:txBody>
      </p:sp>
      <p:sp>
        <p:nvSpPr>
          <p:cNvPr id="39" name="Text 36"/>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07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2026-10-02T17:47:56Z</dcterms:created>
  <dcterms:modified xsi:type="dcterms:W3CDTF">2026-10-02T17:47:56Z</dcterms:modified>
</cp:coreProperties>
</file>