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0f44c541a4dad" /><Relationship Type="http://schemas.openxmlformats.org/officeDocument/2006/relationships/extended-properties" Target="/docProps/app.xml" Id="Rdb0383db583a458e" /><Relationship Type="http://schemas.openxmlformats.org/officeDocument/2006/relationships/officeDocument" Target="/ppt/presentation.xml" Id="Re168c14d753d43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da5b062754d67"/>
  </p:sldMasterIdLst>
  <p:notesMasterIdLst>
    <p:notesMasterId xmlns:r="http://schemas.openxmlformats.org/officeDocument/2006/relationships" r:id="R1fd4c806d74d40eb"/>
  </p:notesMasterIdLst>
  <p:sldIdLst>
    <p:sldId xmlns:r="http://schemas.openxmlformats.org/officeDocument/2006/relationships" id="256" r:id="R9afa646ec087471d"/>
    <p:sldId xmlns:r="http://schemas.openxmlformats.org/officeDocument/2006/relationships" id="257" r:id="R46fac3d0ac174e58"/>
    <p:sldId xmlns:r="http://schemas.openxmlformats.org/officeDocument/2006/relationships" id="258" r:id="Re9415d0ee8f64104"/>
    <p:sldId xmlns:r="http://schemas.openxmlformats.org/officeDocument/2006/relationships" id="259" r:id="R6fa79616ea944511"/>
    <p:sldId xmlns:r="http://schemas.openxmlformats.org/officeDocument/2006/relationships" id="260" r:id="R124b50bd7b174b22"/>
    <p:sldId xmlns:r="http://schemas.openxmlformats.org/officeDocument/2006/relationships" id="261" r:id="R23fe0e2578674527"/>
    <p:sldId xmlns:r="http://schemas.openxmlformats.org/officeDocument/2006/relationships" id="262" r:id="Rb3b4a5d9c40e4b3e"/>
    <p:sldId xmlns:r="http://schemas.openxmlformats.org/officeDocument/2006/relationships" id="263" r:id="R8d001485b0064e26"/>
    <p:sldId xmlns:r="http://schemas.openxmlformats.org/officeDocument/2006/relationships" id="264" r:id="R44b2ff1e55cd4f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0e7afaad7469e" /><Relationship Type="http://schemas.openxmlformats.org/officeDocument/2006/relationships/slideMaster" Target="/ppt/slideMasters/slideMaster1.xml" Id="Rd7cda5b062754d67" /><Relationship Type="http://schemas.openxmlformats.org/officeDocument/2006/relationships/notesMaster" Target="/ppt/notesMasters/notesMaster1.xml" Id="R1fd4c806d74d40eb" /><Relationship Type="http://schemas.openxmlformats.org/officeDocument/2006/relationships/presProps" Target="/ppt/presProps.xml" Id="Rf6724bd99e8e471f" /><Relationship Type="http://schemas.openxmlformats.org/officeDocument/2006/relationships/tableStyles" Target="/ppt/tableStyles.xml" Id="R4e8620ddc3ca46e4" /><Relationship Type="http://schemas.openxmlformats.org/officeDocument/2006/relationships/slide" Target="/ppt/slides/slide1.xml" Id="R9afa646ec087471d" /><Relationship Type="http://schemas.openxmlformats.org/officeDocument/2006/relationships/slide" Target="/ppt/slides/slide2.xml" Id="R46fac3d0ac174e58" /><Relationship Type="http://schemas.openxmlformats.org/officeDocument/2006/relationships/slide" Target="/ppt/slides/slide3.xml" Id="Re9415d0ee8f64104" /><Relationship Type="http://schemas.openxmlformats.org/officeDocument/2006/relationships/slide" Target="/ppt/slides/slide4.xml" Id="R6fa79616ea944511" /><Relationship Type="http://schemas.openxmlformats.org/officeDocument/2006/relationships/slide" Target="/ppt/slides/slide5.xml" Id="R124b50bd7b174b22" /><Relationship Type="http://schemas.openxmlformats.org/officeDocument/2006/relationships/slide" Target="/ppt/slides/slide6.xml" Id="R23fe0e2578674527" /><Relationship Type="http://schemas.openxmlformats.org/officeDocument/2006/relationships/slide" Target="/ppt/slides/slide7.xml" Id="Rb3b4a5d9c40e4b3e" /><Relationship Type="http://schemas.openxmlformats.org/officeDocument/2006/relationships/slide" Target="/ppt/slides/slide8.xml" Id="R8d001485b0064e26" /><Relationship Type="http://schemas.openxmlformats.org/officeDocument/2006/relationships/slide" Target="/ppt/slides/slide9.xml" Id="R44b2ff1e55cd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79901ae22f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f32d1aa914405" /><Relationship Type="http://schemas.openxmlformats.org/officeDocument/2006/relationships/notesMaster" Target="/ppt/notesMasters/notesMaster1.xml" Id="Re29de9b2275648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4686c98c524ff7" /><Relationship Type="http://schemas.openxmlformats.org/officeDocument/2006/relationships/notesMaster" Target="/ppt/notesMasters/notesMaster1.xml" Id="R52febca12b064a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82e3bad014f7c" /><Relationship Type="http://schemas.openxmlformats.org/officeDocument/2006/relationships/notesMaster" Target="/ppt/notesMasters/notesMaster1.xml" Id="R64ff627610d048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5d7fc033fe4987" /><Relationship Type="http://schemas.openxmlformats.org/officeDocument/2006/relationships/notesMaster" Target="/ppt/notesMasters/notesMaster1.xml" Id="Rd06a1e39f6184e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2060e36bfe4fde" /><Relationship Type="http://schemas.openxmlformats.org/officeDocument/2006/relationships/notesMaster" Target="/ppt/notesMasters/notesMaster1.xml" Id="R68871a456b7e4f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6fc53ffc454157" /><Relationship Type="http://schemas.openxmlformats.org/officeDocument/2006/relationships/notesMaster" Target="/ppt/notesMasters/notesMaster1.xml" Id="Rd242caddd0f1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39d7b595e4b91" /><Relationship Type="http://schemas.openxmlformats.org/officeDocument/2006/relationships/notesMaster" Target="/ppt/notesMasters/notesMaster1.xml" Id="Rec6830ccefb446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a2ed4a582541fb" /><Relationship Type="http://schemas.openxmlformats.org/officeDocument/2006/relationships/notesMaster" Target="/ppt/notesMasters/notesMaster1.xml" Id="R767b39711cd240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5ba65a237c4819" /><Relationship Type="http://schemas.openxmlformats.org/officeDocument/2006/relationships/notesMaster" Target="/ppt/notesMasters/notesMaster1.xml" Id="R92237394165d4e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Design-only reference for the existing field project website. Direction: approachable to first-time visitors, polished and topic-related, with a calm editorial style. Existing storyboard image was used for mood only; its sample figures were not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principles: plain-language captions, progressive disclosure, accessible pacing, and a clear boundary between surveillance data and the single field visit.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order puts orientation before methods and findings; local fieldwork is contextual evidence, not a representative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wireframe: one question, clear geography and date range, primary exploration action, and a distinct report link. The seasonal motif should support—not compete with—the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Monthly bars are illustrative placeholders, not project data. Replace them with the approved series before production. The clock and bars can encode the same event series in different ways; a metric toggle may switch the bars to cases. Add clear units and cohort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rank strips are illustrative. Finalized report, Kendall’s W results table (printed p.32): ADD W=.530, p=.016; Dengue .405/.086; Food Poisoning .386/.108; Malaria .319/.229; Chikungunya .150/.832. Report describes the analysis as exploratory because only four complete baseline years are available and p-values are approximate. W is not disease burden or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Finalized report context: Gadchiroli and Chandrapur contribute 43/70 baseline malaria records (61.4%). Three food-poisoning outlier records total 1,615 cases; excluding them changes February aggregate from 2,162 to 547. The 2026 comparison is W01–W32 and contains 2,126 primary-family cases. Keep date windows and methods visible. District map is a schematic placeholder.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Finalized report fieldwork pages 36–39: 02 Oct 2026, 10:30–11:45, PHC Nallasopara West/VVMC Health Post; one observation and one Medical Officer key-informant interview; zero questionnaires and no patient data. The visit provides context, not representative evidence. Illustration is not documentary photography.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design rules. Motion should reinforce narrative sequence, never delay access to essential content. Keep reduced-motion support, keyboard-operable controls, contrast, visible chart labels and responsive stacking.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703ff60664c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5dfe4774c42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71431881e48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4e9205c9847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9b03ca53ad48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de3a056ca48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7C2F05-6114-4F2E-B4D1-95895A0F9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69F9951-429B-4EC4-82D3-6B8DD7D4CD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1086291-169D-4FEF-962B-D1D6251F5F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2475BC-337D-4CFA-84BB-B05106562C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1EAEC8-04D1-4452-8656-9F06A3D48A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E33C83-5CC1-48DF-A8EA-2859D1D8E1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D546D3-18E4-47FB-8495-F85EF0BC6D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049F51-C46B-411A-8396-4FA8113314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D4BC27-78FE-4E1F-BAC4-66C82B1CE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2D659F-77B3-4658-9AB1-81EF3743D7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f9149059a74515" /><Relationship Type="http://schemas.openxmlformats.org/officeDocument/2006/relationships/slideLayout" Target="/ppt/slideLayouts/slideLayout1.xml" Id="R46b48008663b42fa" /><Relationship Type="http://schemas.openxmlformats.org/officeDocument/2006/relationships/slideLayout" Target="/ppt/slideLayouts/slideLayout2.xml" Id="R09220c8e8d234d45" /><Relationship Type="http://schemas.openxmlformats.org/officeDocument/2006/relationships/slideLayout" Target="/ppt/slideLayouts/slideLayout3.xml" Id="Rc52191a5f94246d3" /><Relationship Type="http://schemas.openxmlformats.org/officeDocument/2006/relationships/slideLayout" Target="/ppt/slideLayouts/slideLayout4.xml" Id="R6e3a647464b247a5" /><Relationship Type="http://schemas.openxmlformats.org/officeDocument/2006/relationships/slideLayout" Target="/ppt/slideLayouts/slideLayout5.xml" Id="R6ca40b27183e45f4" /><Relationship Type="http://schemas.openxmlformats.org/officeDocument/2006/relationships/slideLayout" Target="/ppt/slideLayouts/slideLayout6.xml" Id="Re1e16296df174f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b48008663b42fa"/>
    <p:sldLayoutId xmlns:r="http://schemas.openxmlformats.org/officeDocument/2006/relationships" id="2147483650" r:id="R09220c8e8d234d45"/>
    <p:sldLayoutId xmlns:r="http://schemas.openxmlformats.org/officeDocument/2006/relationships" id="2147483651" r:id="Rc52191a5f94246d3"/>
    <p:sldLayoutId xmlns:r="http://schemas.openxmlformats.org/officeDocument/2006/relationships" id="2147483652" r:id="R6e3a647464b247a5"/>
    <p:sldLayoutId xmlns:r="http://schemas.openxmlformats.org/officeDocument/2006/relationships" id="2147483653" r:id="R6ca40b27183e45f4"/>
    <p:sldLayoutId xmlns:r="http://schemas.openxmlformats.org/officeDocument/2006/relationships" id="2147483654" r:id="Re1e16296df174f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9ba121d90488c" /><Relationship Type="http://schemas.openxmlformats.org/officeDocument/2006/relationships/notesSlide" Target="/ppt/notesSlides/notesSlide1.xml" Id="R627adb408f0b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0b2a2b31934c04" /><Relationship Type="http://schemas.openxmlformats.org/officeDocument/2006/relationships/notesSlide" Target="/ppt/notesSlides/notesSlide2.xml" Id="R20c0cab76b5f43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82730382d48e1" /><Relationship Type="http://schemas.openxmlformats.org/officeDocument/2006/relationships/notesSlide" Target="/ppt/notesSlides/notesSlide3.xml" Id="Ree103013129e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0387d95d946c6" /><Relationship Type="http://schemas.openxmlformats.org/officeDocument/2006/relationships/notesSlide" Target="/ppt/notesSlides/notesSlide4.xml" Id="R2dde0cb3cea641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c0ad1e2a648d2" /><Relationship Type="http://schemas.openxmlformats.org/officeDocument/2006/relationships/notesSlide" Target="/ppt/notesSlides/notesSlide5.xml" Id="Rc0d2f144b6c24f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573088d9445ce" /><Relationship Type="http://schemas.openxmlformats.org/officeDocument/2006/relationships/notesSlide" Target="/ppt/notesSlides/notesSlide6.xml" Id="R5db998a7922245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fe818f54664101" /><Relationship Type="http://schemas.openxmlformats.org/officeDocument/2006/relationships/notesSlide" Target="/ppt/notesSlides/notesSlide7.xml" Id="Rc89edc58ce35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eab7207734cc8" /><Relationship Type="http://schemas.openxmlformats.org/officeDocument/2006/relationships/notesSlide" Target="/ppt/notesSlides/notesSlide8.xml" Id="Ra78dc0efc95b4e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c9b4f74f4419c" /><Relationship Type="http://schemas.openxmlformats.org/officeDocument/2006/relationships/notesSlide" Target="/ppt/notesSlides/notesSlide9.xml" Id="R847a39ba6bac41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2EA2F9-2205-4FE2-B0B2-5F0EA2A1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3238500" cy="3238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F7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4519B-2A65-4611-B023-7EE4B54D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8587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8C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1DF53-4537-4224-8AE4-6C5E28CF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9505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D1F1E-DE48-4437-B82E-B8C59DBB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13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0E8FF-607F-41F4-9B8D-7B0BC17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1307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673D-0C8A-47AF-9365-807BB5D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74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33CCC-00BC-4C03-8715-165BB22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F090D-4E76-48D2-8A8E-F676AAAA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474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B8176-DECF-4966-ADDF-05CFBD8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550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43C79-9F07-4804-8F37-5271B33D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DB57E-FB5C-4770-B9BC-1545728C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5072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D53F8-06C8-4B6C-9E00-BE260F5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6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6C0E0-BB63-41CA-8739-26B44099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F5C7F-D638-4B46-8F94-486B674E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0776" y="1781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B184B-1296-4E21-BB27-CD08F573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070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3A1C8-BAE7-4FCB-AF2E-3A9E747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STORYBOARD  +  UI / UX DESIGN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C2FC9-AA73-47E7-AE00-0BF604CA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97000"/>
              </a:lnSpc>
              <a:buNone/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From data</a:t>
            </a:r>
          </a:p>
          <a:p xmlns:a="http://schemas.openxmlformats.org/drawingml/2006/main">
            <a:pPr algn="l">
              <a:lnSpc>
                <a:spcPct val="97000"/>
              </a:lnSpc>
              <a:buNone/>
              <a:def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42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to the ground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36E6E-0023-4A95-ABF0-6F1AEDF8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595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A clear, elegant first visit through Maharashtra’s seasonal outbreak research.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59ABC-9118-442A-906C-0E48F65E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DC65D-DE9D-4F14-B61E-048E86FE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THE EXPERIENCE PROMISE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2A14FE-CE56-4562-BE76-A44A0A6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86325"/>
            <a:ext cx="5476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Understand the question. See the evidence. Know what it can—and cannot—say.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0C1BBB-0465-400B-8B69-E197476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865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VISUAL DIRECTION  /  VERSION 01</a:t>
            </a:r>
          </a:p>
        </p:txBody>
      </p:sp>
    </p:spTree>
    <p:extLst>
      <p:ext uri="{BB962C8B-B14F-4D97-AF65-F5344CB8AC3E}">
        <p14:creationId xmlns:p14="http://schemas.microsoft.com/office/powerpoint/2010/main" val="1720341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3646E0-4C8F-43D8-85EC-EE5F099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THE DESIGN PROMISE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4D9C7-C852-42E4-985C-CE1BFFD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A first-time visitor should never feel lost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4D666-9339-4B15-A473-080A44F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2EAA-40ED-4224-B3C6-5B4AD0F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25443-B8DE-47F2-9333-8E5F6B3F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5F867-635A-43B7-A347-09C5CF39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Lead with meaning. Let the detail unfold after visitors understand what they are looking at.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7FE38-56FE-4542-9058-943FD69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8BA82-A0EC-48BB-A647-8418F87B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622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C3719-0A98-4EBA-A917-B1B56775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62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Start with the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0EB13-AA15-4CAA-AEE4-4B7FBE6D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What changes through the year, where, and how consistently?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A7D54-7BDE-4E23-99D4-6AC7C6D1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2C085-1B76-44F3-BA49-9F12D0E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55F5A-7B70-4FDD-B96B-793BEA93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62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Explain each visual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2F6E5-23F4-4414-9851-1E8BB9AA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Tell visitors what they see and why it matters.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6F485-80C9-455D-A129-DFB530DB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7BF98-BEF0-44DE-B6C2-5DF354D2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06FD0-F2C3-4109-9ED5-8D48DB9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Reveal complexity gradually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942E5-43CE-497E-BB8D-D60BA928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291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Show the main finding first; let visitors open methods and caveats.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D8CC7-5D0C-4F05-B8D1-37790293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518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B8C60-B121-491F-9C94-4F6AB50E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B58C4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1C14A-E6F4-4DC3-89E2-65E274EB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Keep fieldwork human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F88404-0A42-4615-8BDC-69E99BD7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29125"/>
            <a:ext cx="4048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Present the visit as local context, separate from statewide surveillance 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31426-B30C-4416-A4EC-EDDAC88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644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B3DEE4-FAA4-44EF-B29B-75EFEA8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86425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CLEAR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6FA51-80B4-4250-ACC3-4974AF80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29275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1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607F40-B541-429A-8520-61D28D1B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8642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CALM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D065A3-1333-4F00-B88D-CA9355B6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29275"/>
            <a:ext cx="13811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3D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6134A-333B-4EF6-B650-2F5BA3D3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86425"/>
            <a:ext cx="1190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EVIDENCE-LED</a:t>
            </a:r>
          </a:p>
        </p:txBody>
      </p:sp>
    </p:spTree>
    <p:extLst>
      <p:ext uri="{BB962C8B-B14F-4D97-AF65-F5344CB8AC3E}">
        <p14:creationId xmlns:p14="http://schemas.microsoft.com/office/powerpoint/2010/main" val="2117391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F2E104-4D67-4C4C-9B0A-C1930BD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STORYBOARD · VISITOR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8B9C4-32EE-488D-BC03-4AAD725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guided story, from curiosity to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E8C37-8BF5-4D77-BC65-F05A5236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87BD3-32A0-42FA-B498-5044EFBF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89547-CD58-4771-B6E0-454F3E2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4308E-069E-4217-96CF-C0A36AD6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Each scroll chapter answers one question and points naturally to the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DA087-CAF9-41F5-BE4F-AC43145B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68A02-F6B4-4C1C-8BA9-F786A57F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B9B9A-F257-49C4-BD60-8A1091E8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6E0D8-E42F-4A58-A64E-31326BC7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ARRIVE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F6A40-4CE2-4545-9A30-7A88112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is this project?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81644A-46CD-48E0-BF57-3EF35923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03F82-C0E1-4FF5-A0B6-4B9EA9C4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Purpose, place and a simple invitation.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DF2A8-46B4-4433-B805-F39C46B5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EB93A-98A7-49F3-87EF-C0023AD8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C50E7-588F-46D8-8BF6-A8B70932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B64AB-3169-40B2-8EE2-933D54C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975DC-9C9E-4275-9539-BEDA5C9E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C888A-5055-41F4-AE18-F110C25B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623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data is included?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F06FF-54E3-443A-A80C-3201660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814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CBB1E-F0FD-472A-BE9D-1519CC91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624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Sources, dates, geography and definitions.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16A94-4623-4EF8-B25B-1825A461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1A3571-29D5-492B-88FC-616778B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3C128-68B9-46C8-9AC3-D43FAEE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79360-A41A-45F6-BFFB-7A550D2B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E6E0AE-B950-49C2-B08B-8C336785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PATTERNS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C353C8-C3CB-479B-90C2-A68009FD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623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When do reports rise?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975078-B09A-4F0B-BC04-7D7500FA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F65FD9-5D89-4EF3-A211-6E8E0E86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Seasonal clock plus readable monthly chart.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E05A52-F4D0-461F-90ED-FF79DF56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AA846E-2D6B-449F-B348-4BC8E2B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277B1-276C-4327-A526-BA262EB3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A53ECC-E4BF-4B0A-8A70-52E4CEEA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6E526-90A3-40F2-B226-188E73F1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DE3AB3-AAD0-454B-961B-730BD966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Does it repeat?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E7FCD6-A118-4259-B0F0-F549E7C8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814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F5FC19-8BE0-48D4-B26F-B09770D1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624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Kendall’s W translated into everyday language.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77BBC-B4EB-4288-A724-9DDFC756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2ABDB7-DC21-42CD-9E27-4FC0A02B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D4F053-5710-4EF4-8D32-B6C6DABE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81AD41-C902-46DF-B937-27D6C04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E7C3B9-59F6-470D-B1B4-CF95246E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04C425-FFE8-4CDD-B928-C4A8D6AF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Where are reports?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1311AD-8C40-4B9E-B2BD-B9D810D1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814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273345-FE58-4C82-95E2-8C83EB9A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District map with a careful interpretation.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1A21EB-A2F0-4ADD-88A1-B3B91BF6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766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1734E1-8883-44D9-91EF-423A90D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600200" cy="28575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4987B6-2F6B-46CF-BC22-04F7500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52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CB87BF-6553-4460-93F7-22011791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384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752E11-0C61-4896-B1B9-7FE692AD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57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8D9BE5-EF5D-4F57-9FA1-2F9A3A96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What did fieldwork add?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620EBD-9C98-4176-9967-6AC46E3E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8142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BD4F4B-BAFD-482A-8680-847CC20F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62400"/>
            <a:ext cx="1257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visit and interview, clearly bounded.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E43176-987B-4C23-9D25-956521AB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DC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3BB819-3118-4DA8-BC89-016F14AB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ORIENT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4D1ED6-383B-44BC-91AA-7DA1A5A6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86375"/>
            <a:ext cx="990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5F588E-72E5-4A72-81E0-5709C5DB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43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EXPLORE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898523-B115-4871-9A95-12B21D62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1095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8E2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D80F41-CF54-4AA6-8AB7-9F24DCD6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43525"/>
            <a:ext cx="904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INTERPRET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A0E72F-F8CD-4D44-9073-B0A673F4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286375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D8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EBB0C4-368B-4812-B7AF-0AC9FBEC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343525"/>
            <a:ext cx="742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REFLECT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DE00DFD-13FE-45F5-95C2-ACB233A4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Fieldwork follows statewide patterns so it reads as context—not a representative sample.</a:t>
            </a:r>
          </a:p>
        </p:txBody>
      </p:sp>
    </p:spTree>
    <p:extLst>
      <p:ext uri="{BB962C8B-B14F-4D97-AF65-F5344CB8AC3E}">
        <p14:creationId xmlns:p14="http://schemas.microsoft.com/office/powerpoint/2010/main" val="15255238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8EB578-24CB-4047-8A8A-D2508BAF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REFERENCE · OPENING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EB167-FFB0-4B8E-873A-791BBB77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Homepage · welcome, orient, invite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F4FF5-331B-4AF0-B58A-932BF9A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A5E-E0CE-4F47-AA8F-7CF9F6BA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0F9E6-B3DC-44A7-B002-5C566D87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C2AE-5025-4083-8AF0-06353C53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9342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0CADC-1314-4927-BE85-47FAFFBE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2E0D9-2707-4743-BAC6-BA7B9CD4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7D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6E048-1A98-42EA-88BB-05B5BAB2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B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893DC-038C-4BDA-BF37-37DFF7C2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3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D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641D0-5D4B-46A4-B537-92A1A527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35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F88AE-8862-444A-B860-CF6BF583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240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8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About    Explore    Field notes   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097E8-7B43-4622-A8EB-35455330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133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DC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7FD70-3500-451B-A907-A9A30F69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1943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MAHARASHTRA  ·  2022–2026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D50F4-9EFE-4F04-9278-1870224B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38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When do reported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75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outbreaks rise?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98655-7016-4DC8-86BF-9F40EE95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1425"/>
            <a:ext cx="4191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A guided look at seasonal patterns in weekly public health bulletins—and what local fieldwork can add.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0A5D4-334A-466C-81E5-4D9BB2C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15621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604DD-FA03-41DC-878A-60A5A6BC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81525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Explore findings 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04A6FB-34BB-4CA4-95A6-79A2F397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428875"/>
            <a:ext cx="1638300" cy="2190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7E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19B39-2EA3-41FD-876E-5242367E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4795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F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604AC-BCC0-4F50-B282-B5142894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28925"/>
            <a:ext cx="876300" cy="876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58C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06BE08-792F-4AF9-AD59-9E2D6BA9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C604E-5E92-437A-BB10-F37DEF05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0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4F3E99-61BF-4775-9D36-6932E846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6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2695B-892B-46F2-A2CC-34F075F1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38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9DE2F-3E61-40F1-9DDA-7611BD69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836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CEE4C3-9FBD-4655-96B2-999CC187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16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9FA2BF-3A6A-4BE9-9EEA-7F98C71B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1A445-7167-4422-A697-2729B5B4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71693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C2083-07B0-447F-8809-BD196929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964" y="3514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E7B454-D15B-4481-8E6C-4D165F4E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38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70E868-645F-4219-8892-4ACF15E3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964" y="2962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B2A0B2-E0E0-4458-AB12-344A9F1A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6006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6975B4-A7E9-49F8-ACF4-338275B5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38600"/>
            <a:ext cx="1095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12 MONTHS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16D503-BE36-478E-93D0-AA4B2113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29100"/>
            <a:ext cx="125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ctr"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year at a glance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7DAD72-E6DB-4698-AF1F-2D80E0F2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E8FEFD-091E-4781-A589-99077245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573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CB0DCD-0698-4866-A136-172B5CB2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02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Above the fold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BAF7E4-D475-476B-9A34-4952A10A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question, one purpose, two paths: explore the story or open the report.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73A8A7-0A86-4FF2-A012-3971B0B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343711-E8C9-4372-9625-1DF2347F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2417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E481A2-E4C0-4CA4-BDA0-05C20AB1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First insight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CD93A4-F4A0-4F4D-8812-1820CFAD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Show one plain-language finding before asking visitors to interpret a chart.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3B90C5-91B1-4B85-8C40-0F0FE0E2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848BCD-5D19-4B85-8428-6F642265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08612F-1517-4EAE-9A36-3753A757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Trust cues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C3439C-EA33-4BFE-8415-95FC3A4A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57725"/>
            <a:ext cx="2952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Keep source, date range and “reported events” language beside the evidence.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F6BBFB-1BB0-4F62-A5F6-B9F3F2DC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Next scroll: scope strip, then the first clear chart.</a:t>
            </a:r>
          </a:p>
        </p:txBody>
      </p:sp>
    </p:spTree>
    <p:extLst>
      <p:ext uri="{BB962C8B-B14F-4D97-AF65-F5344CB8AC3E}">
        <p14:creationId xmlns:p14="http://schemas.microsoft.com/office/powerpoint/2010/main" val="1979093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1843B3-9CDA-4740-974B-21850F80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UI REFERENCE · UNDERSTAND THE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49026-1768-4EC4-8521-1E669FC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Seasonality · one calendar, two helpful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EE91A-DB32-4D45-AD62-83B4B86F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3D55B-17DB-438B-9794-DBD57080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AC500-46FE-486F-A989-CA68EFBA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7F824-0022-4D6A-931F-6727BD65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The clock helps people see timing. Bars make month-to-month differences easier to compare.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4A72B-BB0F-483E-9582-3D819975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23862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B67F0-9DAA-4B8D-911F-841BA8BE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SEASONAL CLOCK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AB955-DA60-41F2-95B8-5F0CC805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76525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72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456A8-C58F-4FF8-9569-EDCF44AD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D39E6-ACD4-459D-8541-C30ADCEC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4970B-50C4-4B9D-8F8E-651AE031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241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FC1D2-8328-4106-90D2-78B78302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956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D852F-87E9-422C-9F1E-26CD6068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67099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B8334-9072-4706-AEEA-FE38C6DF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01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6694A-9BB6-456E-A2E8-4E52B0EF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01" y="34575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571CC-6673-4D62-8620-A9BAC280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8CA5D-5512-46BB-8991-BF32308A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909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EAE62-9B2C-4D0D-8E94-B2EEF8B3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01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42866-2BF5-4C4E-A6B5-5D90D680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01" y="45243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MAY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FDA11-6C9F-4DF9-93FB-38A06C4B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7434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16CAE-8ACA-41BA-A6D8-452CB309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4914851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JUN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D29E6-5146-4424-8BA5-87CEA721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A0E078-3633-4B2F-AE32-CAA28D11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577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JUL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0AA99-57D4-4F97-85CD-2849273F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434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E0B1B-DAB4-441B-BA2C-A4B7D1CA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914851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AUG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AE6DA-7BE8-4808-B9EB-BCE32E12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9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5DA21-C010-42CE-B29C-6C1C9901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49" y="45243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5F1FFF-C333-4FA2-8616-8AE3DD41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2294E-433D-410E-B944-298B10D4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909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A0A6C-0448-4242-AADB-B436A048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49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74ABA6-249B-48DD-83F5-66F84EF3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49" y="3457575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DB629-877E-44CF-B521-9DB15E6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8956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2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52BA37-DA3F-4F8F-AF8B-503F3BDF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67099"/>
            <a:ext cx="342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ctr"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6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DEC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8A29D-41B7-43EC-9D66-A1ACAC67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 circle makes the year feel continuous.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213BC3-17F8-4D12-9DEB-EE33A570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047875"/>
            <a:ext cx="6162675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F3FED6-E3E8-4844-B910-8C3C19F3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257425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MONTHLY REPORTED EVENTS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A86010-1D81-4E89-82DE-7DBB06D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63867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2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822263-AFA6-4E85-B871-08DF86ED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54037"/>
            <a:ext cx="295275" cy="1846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D16666-957D-4AC4-A9B9-88AD263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3517E8-CF47-442F-A11E-ADD2998B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33521"/>
            <a:ext cx="295275" cy="205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50FBDD-C9BF-456D-A129-EBEE731C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204AC2-BC66-4884-9750-ACAE9B95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71975"/>
            <a:ext cx="295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CFE5F7-0D5A-4DA6-9105-9C45FCBF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E2440F-096F-4DD8-80D6-04F6DC08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10429"/>
            <a:ext cx="295275" cy="3282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455032-B568-44AB-91D9-B144DCF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571BB5-F07D-45C2-BAA0-EC258C0B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87337"/>
            <a:ext cx="295275" cy="451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0AB4B0-E21D-4103-B554-5EF5D348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7DE7BA-49AC-4833-95E3-24376D7D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064244"/>
            <a:ext cx="295275" cy="57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288852-D642-4919-A1FF-621B5869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A7B0D2-251F-4DE8-AFF5-9CF17B05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59090"/>
            <a:ext cx="295275" cy="7795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44A45B-7378-4398-B61C-89039146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CAA617-1820-4657-B798-60F7F09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735998"/>
            <a:ext cx="295275" cy="9026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956AD7-B3B1-4BC5-9CF0-A8C5AB59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4C61E0-BB92-4194-B269-58E772AD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92390"/>
            <a:ext cx="295275" cy="10462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765178-87C6-40F8-BF85-2F522B0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22E1F4-92E0-4CE5-98E6-A28F29DC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87237"/>
            <a:ext cx="295275" cy="1251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0130EF-802F-4054-9FB5-4781821D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5DB97D-B41F-4304-9AA4-25A0F5B3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064244"/>
            <a:ext cx="295275" cy="574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7E2921-8A74-4A8C-8DBF-DEE5F459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D10E01-5BDF-462E-A58F-8F8CBD5D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48883"/>
            <a:ext cx="295275" cy="389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795595-1D17-4EED-998D-F4179BC9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752975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15179F-F0EE-4C7A-8BC8-88AD7CED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62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AAB7B3"/>
                </a:solidFill>
                <a:latin typeface="Arial"/>
                <a:ea typeface="Arial"/>
                <a:cs typeface="Arial"/>
              </a:rPr>
              <a:t>Illustrative bars only · replace with approved series.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8C68D0-F6A2-4059-A63D-981A2FE7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84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F12E73-95ED-4136-BA5B-22F9ADAE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266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TOOLTIP: MONTH · EVENTS · CASES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249036-6082-41A9-9806-A43ECD4A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530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Use the same month order. State the unit; make metric switches explicit.</a:t>
            </a:r>
          </a:p>
        </p:txBody>
      </p:sp>
    </p:spTree>
    <p:extLst>
      <p:ext uri="{BB962C8B-B14F-4D97-AF65-F5344CB8AC3E}">
        <p14:creationId xmlns:p14="http://schemas.microsoft.com/office/powerpoint/2010/main" val="5948539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25F697-3965-4F8F-AB61-F4CFBAFE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REFERENCE · KENDALL’S W IN PLAIN LANGUAGE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76682-B090-4D2F-997A-C17C5CBF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Consistency · does the seasonal shape repeat?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E2728-E93A-4F36-8037-A3FD7CA4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15FE4-6330-4B69-882E-3B2F2493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8750B-54B9-4EAC-8FFF-D501D0D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C2123-D782-47BF-BD84-D0ADDDEE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Make the statistic supporting detail. Lead with the question visitors understand.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A7E14-7B22-420D-B988-70ACAF88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5148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CEF4D-F14E-4D8F-9AA9-D7B8E3CF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8764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D54CC-BA84-45A9-8060-D93EEA84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1685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FOUR COMPLETE YEARS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31C41-F9E9-45F7-AF11-A6C426C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55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12 months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F5888-BE47-4292-99FD-93F0A13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C5D0C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5D0CA"/>
                </a:solidFill>
                <a:latin typeface="Arial"/>
                <a:ea typeface="Arial"/>
                <a:cs typeface="Arial"/>
              </a:rPr>
              <a:t>compared across years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037F1-3AAE-49E8-8576-A1B2045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3EB34-9AD1-414A-849F-7B51B08F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93912-95B2-4BC3-8435-08EB0128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35123-A8F8-4C69-AF22-EF2DBFA4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65D13-BAA3-44B7-A5C3-3C43C7A9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671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9635B-A616-4C2C-A508-03963E9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FA25D7-1700-410D-BE50-F42BEA14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AB001-3CBD-403E-90B8-8A068EC3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19A1F4-33EF-4C7A-A874-A2630771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DF76A-9D42-4FB1-9974-E432A55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1148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29B48-6D97-45E4-9710-18A04A2E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4FBD9-9C50-45E8-8E4E-4F61A96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20FFB-6A7B-4DD1-9B01-9379ED74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099187-1768-48C9-94CF-FD6826F1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A3ADF-7D97-4575-AE30-B345893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6245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67B8E1-5046-4A56-8B90-0E43915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EF4C83-B6F2-483F-A2B7-1CD5909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5FB31-FB71-4ACD-BBF1-E9421237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476D20-B93D-4603-AE34-5A03E129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5EF7E-2817-48CE-8F86-7491542C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610100"/>
            <a:ext cx="38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72A46-DB43-41D0-B5F1-EE184CBF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3714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 i="1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1">
                <a:solidFill>
                  <a:srgbClr val="AAB7B3"/>
                </a:solidFill>
                <a:latin typeface="Arial"/>
                <a:ea typeface="Arial"/>
                <a:cs typeface="Arial"/>
              </a:rPr>
              <a:t>Rank strips are illustrative—not actual monthly values.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A0C7E7-8829-4482-A97A-6AD143B7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47875"/>
            <a:ext cx="5810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BC0356-FA67-40D7-932A-19DD1377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05050"/>
            <a:ext cx="2571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IN SIMPLE TERMS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6A4E5-62DC-4529-A7F7-A21E797D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574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Kendall’s W asks: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7E44F7-F527-4E26-A567-3DD4A0C1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18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“Do months tend to rise and fall in a similar order each year?”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A7740D-1175-4E60-AB98-EB36766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65869-4260-4286-9F57-F85EACE4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576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Higher W means yearly rankings look more alike. It is not case burden and does not prove a cause.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CD7737-748F-4DD1-9386-307FC4A1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38700"/>
            <a:ext cx="3028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2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B0C9C4-5BC7-41A7-9E4D-14C3CD4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2838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SHOW W + P VALUE AS OPTIONAL DETAIL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2A3BCD-0E97-41BD-A433-94EF42D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 i="1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125" b="0" i="1">
                <a:solidFill>
                  <a:srgbClr val="142127"/>
                </a:solidFill>
                <a:latin typeface="Arial"/>
                <a:ea typeface="Arial"/>
                <a:cs typeface="Arial"/>
              </a:rPr>
              <a:t>Caveat: only four baseline years; the report treats this test as exploratory.</a:t>
            </a:r>
          </a:p>
        </p:txBody>
      </p:sp>
    </p:spTree>
    <p:extLst>
      <p:ext uri="{BB962C8B-B14F-4D97-AF65-F5344CB8AC3E}">
        <p14:creationId xmlns:p14="http://schemas.microsoft.com/office/powerpoint/2010/main" val="495792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04BEA5-7375-42B1-AD9A-410B5C37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UI REFERENCE · GEOGRAPHY AND OUTLIERS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C8900-C979-4EF0-916C-EF1F00C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Place &amp; unusual events · add context, not alarm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DF184-22CE-482E-8263-7344A56C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50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E56B3-BC05-4E05-BD42-3CDDFE29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573D4-3BF5-4408-9C9E-E36EE58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14AAD-794A-4AD8-8450-C1952A8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FD6D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FD6D0"/>
                </a:solidFill>
                <a:latin typeface="Arial"/>
                <a:ea typeface="Arial"/>
                <a:cs typeface="Arial"/>
              </a:rPr>
              <a:t>Separate “where reports came from” from “where risk is highest.” Explain unusual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BA622-69B0-4A52-8F94-9695E82E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0062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96241-5DCF-4B21-8FC6-5FAF351E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DISTRICT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06FC3-4017-4B56-80E8-DE88825A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5050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B8644-AA42-4E25-8C09-B5D5C82F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0507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B9FBC-26F1-4227-9AC8-E0AE7B1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E8336-F839-469B-915C-4C86AC7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432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CB93F-E228-4191-9F26-E29C1AEC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62325"/>
            <a:ext cx="142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28811-8B4F-4B4A-AB1D-8723CD1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81425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1B58F-6676-4192-B4E3-21BE2D47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17195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ACC5F-89A7-4C51-A037-9100FD64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52437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E977F-3901-4106-B348-9C9CD0A1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2917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CEE79-22BC-4000-9DA4-55882220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291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0E850-6190-46C8-8E45-9B89A40C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910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2EB98-AE0E-420E-B909-3A5C7398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562475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FFAB6-8547-4656-929E-B36FC085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21005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CB4B80-D05E-4C5B-9D7E-A86A55D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200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CFBFF-FF4B-4556-A488-66DB9573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14725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70307-8984-4EAC-A578-C748726C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62300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3CC8-1679-4D09-8397-E8666C37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96227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E35FE-7A40-499C-996C-ECD908D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479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D1C2D5-21A3-4FC7-BF0D-551DE6B2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86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9A203A-CD9F-4569-A450-9CF85B4F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88" y="3576638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9F35AA-A62C-4EC2-8FB1-F38F7F72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57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E4DB5-AD80-40D2-99BF-6907ED4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F56A8-9704-41C4-A8CA-6A0E5CC7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00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3C825-ADAF-43AC-BC87-64F0A8DC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140164-6DD6-4F74-A65F-6D5F2BDF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Reported events by district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AE76EB-BE38-4184-BEE6-B69B0A23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0175"/>
            <a:ext cx="3524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 i="0">
                <a:solidFill>
                  <a:srgbClr val="AAB7B3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7B3"/>
                </a:solidFill>
                <a:latin typeface="Arial"/>
                <a:ea typeface="Arial"/>
                <a:cs typeface="Arial"/>
              </a:rPr>
              <a:t>Schematic placeholder; use the real district map.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5A5DC5-5BA4-4AF4-A1CD-E99C1103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47875"/>
            <a:ext cx="5381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CE47F3-9269-48C5-A6D4-742BDDF3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38375"/>
            <a:ext cx="119062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B3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CF3332-9E2F-43F7-BD48-8837C0A7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000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OUTLIER NOTE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A8DDB9-D8DD-4A18-8FBA-078D325E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28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A few large reports can change the scale.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3FCA0B-D87A-4403-94F6-7CEA0491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Show value, review rule, and comparison with / without records.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979945-E7A6-497C-B6DC-F97860CA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57625"/>
            <a:ext cx="5381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D3036"/>
          </a:solidFill>
          <a:ln xmlns:a="http://schemas.openxmlformats.org/drawingml/2006/main" w="9525">
            <a:solidFill>
              <a:srgbClr val="39505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A00D71-3E35-4830-B163-AF595737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48125"/>
            <a:ext cx="1828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14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D02EB-9FB3-4241-ACE5-E281DCC2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05275"/>
            <a:ext cx="1638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2026 · PARTIAL WINDOW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4C3575-0132-4A9F-83D0-0C6B417B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29125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defPPr>
            <a:lvl1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defRPr>
            </a:pPr>
            <a:r>
              <a:rPr sz="1500" b="0" i="0">
                <a:solidFill>
                  <a:srgbClr val="F4F0E7"/>
                </a:solidFill>
                <a:latin typeface="Georgia"/>
                <a:ea typeface="Georgia"/>
                <a:cs typeface="Georgia"/>
              </a:rPr>
              <a:t>Keep the cutoff beside the number.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058032-DEC0-4175-B316-D0F78D70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B8C5C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8C5C0"/>
                </a:solidFill>
                <a:latin typeface="Arial"/>
                <a:ea typeface="Arial"/>
                <a:cs typeface="Arial"/>
              </a:rPr>
              <a:t>2026 W01–W32 is not a full year. Keep that window visible in comparisons.</a:t>
            </a:r>
          </a:p>
        </p:txBody>
      </p:sp>
    </p:spTree>
    <p:extLst>
      <p:ext uri="{BB962C8B-B14F-4D97-AF65-F5344CB8AC3E}">
        <p14:creationId xmlns:p14="http://schemas.microsoft.com/office/powerpoint/2010/main" val="19401847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F3BE6-E546-4E77-8231-A34A2D5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STORYBOARD · LOCAL CONTEXT, CLEARLY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74A03-D0A7-4D5A-B059-11C409F3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Fieldwork · a human lens on the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5FB4E-20FE-495A-BABB-06E71644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8CDE9-39A9-4089-BAFB-946FFA4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2F304-CBBF-47B1-92B1-A0DEDBC0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84C83-FA55-4107-AE2E-80CD0D0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Make the project tangible while staying transparent about the visit’s scale.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42E31-4336-4BEC-90ED-056C55E0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8D7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9988A-AF54-4CDA-93C1-4586816A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076575"/>
            <a:ext cx="3810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C7C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9BDF0-A97A-46AC-9B5C-1809511D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52700"/>
            <a:ext cx="1047750" cy="24384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7C4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825F3-5C39-4AB2-9C41-13EF70FC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14625"/>
            <a:ext cx="6381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5C71D-AB8A-45DA-8E7D-3040FEB5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29025"/>
            <a:ext cx="58102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13EDF-0CBB-4A02-AF28-DA5172E0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71850"/>
            <a:ext cx="790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14351-B2AA-4BFC-BF93-8C547F9C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790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8F6AC-D68B-4CBE-90E1-4E9F3765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188C7-DBE9-457F-8578-8363D83E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90775"/>
            <a:ext cx="1066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defPPr>
            <a:lvl1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1pPr>
            <a:lvl2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2pPr>
            <a:lvl3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3pPr>
            <a:lvl4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4pPr>
            <a:lvl5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5pPr>
            <a:lvl6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6pPr>
            <a:lvl7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7pPr>
            <a:lvl8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8pPr>
            <a:lvl9pPr algn="ctr"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750" b="1" i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DF8"/>
                </a:solidFill>
                <a:latin typeface="Arial"/>
                <a:ea typeface="Arial"/>
                <a:cs typeface="Arial"/>
              </a:rPr>
              <a:t>HEALTH 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347BC-CCB0-4010-9B68-DDEF830D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95850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CDD95-A1EA-488B-910A-7B4FE7E1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81600"/>
            <a:ext cx="447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ctr"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825" b="0" i="1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0" i="1">
                <a:solidFill>
                  <a:srgbClr val="687878"/>
                </a:solidFill>
                <a:latin typeface="Arial"/>
                <a:ea typeface="Arial"/>
                <a:cs typeface="Arial"/>
              </a:rPr>
              <a:t>Illustrative scene · replace with approved field photo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855B4-4B5E-45A1-8AE9-773F0A5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5276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0DC52C-2C65-43A4-ABDE-79DF6D3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B5D84-680D-49FC-8BDE-A1895A33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17EF5-E9A8-47F7-A4DB-E0787F31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02 Oct 2026 · PHC Nallasopara West / VVMC Health Post · one observation.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A00B9-EA93-479E-B019-DC2CF2EB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5276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A20AF-9064-4B6C-84D0-9DBDC985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B040C-98AE-4A78-A83A-1720CEFF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81375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INTERVIEW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2802D-5C8A-4B0A-950E-EF111BD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05225"/>
            <a:ext cx="489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One Medical Officer key-informant interview; use approved, anonymized notes.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3C029-E343-4E81-94C8-CA132E9A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5276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F47B55-AAC8-4E13-AC81-E77D89E0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291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76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E5C11-DC3C-47CC-A30D-BE7E77BB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89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CAD993-791F-4537-9891-B8BC279A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895850"/>
            <a:ext cx="48958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Zero questionnaires. No patient data. Context only; not representative of Maharashtra.</a:t>
            </a:r>
          </a:p>
        </p:txBody>
      </p:sp>
    </p:spTree>
    <p:extLst>
      <p:ext uri="{BB962C8B-B14F-4D97-AF65-F5344CB8AC3E}">
        <p14:creationId xmlns:p14="http://schemas.microsoft.com/office/powerpoint/2010/main" val="356648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B59A8F-604D-4A03-BB51-2A4878E2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UI / UX SYSTEM · PRODUCTION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0BAEC-4E05-4DDE-9008-EE6ADD94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defPPr>
            <a:lvl1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1pPr>
            <a:lvl2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2pPr>
            <a:lvl3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3pPr>
            <a:lvl4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4pPr>
            <a:lvl5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5pPr>
            <a:lvl6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6pPr>
            <a:lvl7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7pPr>
            <a:lvl8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8pPr>
            <a:lvl9pPr algn="l"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42127"/>
                </a:solidFill>
                <a:latin typeface="Georgia"/>
                <a:ea typeface="Georgia"/>
                <a:cs typeface="Georgia"/>
              </a:rPr>
              <a:t>A calm visual system that feels 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50346-53C0-41F2-ACED-0AACA1F9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4B92D-BAA4-4860-8AF1-AC58A6BD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FIELD PROJECT  /  SEASONAL DISEASE PATTERNS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78727-2F36-4436-9A5D-58D21255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7552E-ADB3-4AD0-89FC-8E375D4B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Use motion to guide attention, and a few visual rules to build trust.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B3B83-8E1C-42CF-9D42-A95CC292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557F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57F78"/>
                </a:solidFill>
                <a:latin typeface="Arial"/>
                <a:ea typeface="Arial"/>
                <a:cs typeface="Arial"/>
              </a:rPr>
              <a:t>PALETTE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B7963-6327-41D4-9938-B51556D2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17FAD-448B-4F6F-8893-7B5D2E22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B02DE-2EDF-45A9-AF44-B383515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F0E7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39C29-61CD-47A4-B1A1-90B9BE1E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A5778-D93B-4B59-8E47-3CF91368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58C4F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60235-B6A6-44A0-BECE-80785DC7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Ochre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C097B-B8EB-482B-A6F7-909C2675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557F7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8BD6E-63E3-47EF-899B-AC6A4445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Teal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7EB8A-7DDE-458C-A2F2-57C37AEF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668A9C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AB248-1DAE-4188-92D0-C3A58D08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Blue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79434-4E27-471E-AFA0-91F4B1D6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24100"/>
            <a:ext cx="838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BE7662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021ED-F924-4962-B3EE-B5A07F19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933700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Coral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61B12-2DE8-41CA-96B8-279A63B7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991B9-501E-4C11-8CB7-AD923C4E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8C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7B3882-C6AD-4781-879B-864E8FDE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9BD61F-C6F9-4213-820F-191725E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385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Expressive serif for chapter titles; clean sans serif for navigation, body copy and labels.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B948E-8691-48DC-8ED3-CE316C17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314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56AE8-E3BD-4693-BB9B-DE76AE5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277B5-3DBA-43A0-94A8-FFAE7639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14725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CHARTS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FFCDC-D746-4D8D-BF64-503431B1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Direct labels, clear units, generous spacing, and one plain-language takeaway.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D9921D-D2CD-408B-AF4A-909D9175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3505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D6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483D3-9E85-4F4D-85C3-9DFDFAF5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7185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A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9CDD8-BD10-45EB-B12E-CFDD5BC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14725"/>
            <a:ext cx="312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1421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127"/>
                </a:solidFill>
                <a:latin typeface="Arial"/>
                <a:ea typeface="Arial"/>
                <a:cs typeface="Arial"/>
              </a:rPr>
              <a:t>MOTION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5736BD-3E35-404D-84F9-76E9CC68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38575"/>
            <a:ext cx="3124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8787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87878"/>
                </a:solidFill>
                <a:latin typeface="Arial"/>
                <a:ea typeface="Arial"/>
                <a:cs typeface="Arial"/>
              </a:rPr>
              <a:t>Slow scroll reveals. Build charts in sequence. Respect reduced-motion settings.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AC4B2B-F820-408C-B10C-6282F77B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629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21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0FA266-3132-47F6-87E0-245721D7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266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 i="0">
                <a:solidFill>
                  <a:srgbClr val="B58C4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B58C4F"/>
                </a:solidFill>
                <a:latin typeface="Arial"/>
                <a:ea typeface="Arial"/>
                <a:cs typeface="Arial"/>
              </a:rPr>
              <a:t>MOBILE + ACCESSIBILITY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3479B4-276F-4C25-A5F2-2490C6E5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995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F4F0E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4F0E7"/>
                </a:solidFill>
                <a:latin typeface="Arial"/>
                <a:ea typeface="Arial"/>
                <a:cs typeface="Arial"/>
              </a:rPr>
              <a:t>Stack panels · preserve readable text · don’t encode meaning by color alone · support keyboard focus · keep motion optional.</a:t>
            </a:r>
          </a:p>
        </p:txBody>
      </p:sp>
    </p:spTree>
    <p:extLst>
      <p:ext uri="{BB962C8B-B14F-4D97-AF65-F5344CB8AC3E}">
        <p14:creationId xmlns:p14="http://schemas.microsoft.com/office/powerpoint/2010/main" val="58287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2026-10-23T12:42:36.0640000Z</dcterms:created>
  <dcterms:modified xsi:type="dcterms:W3CDTF">2026-10-23T12:42:36.0660000Z</dcterms:modified>
</coreProperties>
</file>