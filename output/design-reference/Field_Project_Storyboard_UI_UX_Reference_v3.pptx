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c6f701c714dcf" /><Relationship Type="http://schemas.openxmlformats.org/officeDocument/2006/relationships/extended-properties" Target="/docProps/app.xml" Id="R290aeb987cc44d1e" /><Relationship Type="http://schemas.openxmlformats.org/officeDocument/2006/relationships/officeDocument" Target="/ppt/presentation.xml" Id="Re97466014d8e4a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c341f315674360"/>
  </p:sldMasterIdLst>
  <p:notesMasterIdLst>
    <p:notesMasterId xmlns:r="http://schemas.openxmlformats.org/officeDocument/2006/relationships" r:id="Rb32216bfe64940e7"/>
  </p:notesMasterIdLst>
  <p:sldIdLst>
    <p:sldId xmlns:r="http://schemas.openxmlformats.org/officeDocument/2006/relationships" id="256" r:id="Rc8efe868644e4f06"/>
    <p:sldId xmlns:r="http://schemas.openxmlformats.org/officeDocument/2006/relationships" id="257" r:id="R67339c4167b844c0"/>
    <p:sldId xmlns:r="http://schemas.openxmlformats.org/officeDocument/2006/relationships" id="258" r:id="R942ba0d57a214857"/>
    <p:sldId xmlns:r="http://schemas.openxmlformats.org/officeDocument/2006/relationships" id="259" r:id="R2fd5dff551c24bd2"/>
    <p:sldId xmlns:r="http://schemas.openxmlformats.org/officeDocument/2006/relationships" id="260" r:id="R7cc663148d244840"/>
    <p:sldId xmlns:r="http://schemas.openxmlformats.org/officeDocument/2006/relationships" id="261" r:id="R33c80988604c4cf9"/>
    <p:sldId xmlns:r="http://schemas.openxmlformats.org/officeDocument/2006/relationships" id="262" r:id="Rea0cd3f4edbf470c"/>
    <p:sldId xmlns:r="http://schemas.openxmlformats.org/officeDocument/2006/relationships" id="263" r:id="Ra3cc554296234af4"/>
    <p:sldId xmlns:r="http://schemas.openxmlformats.org/officeDocument/2006/relationships" id="264" r:id="Rce9eacef74b14e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a22f2e6a5542c2" /><Relationship Type="http://schemas.openxmlformats.org/officeDocument/2006/relationships/slideMaster" Target="/ppt/slideMasters/slideMaster1.xml" Id="R1dc341f315674360" /><Relationship Type="http://schemas.openxmlformats.org/officeDocument/2006/relationships/notesMaster" Target="/ppt/notesMasters/notesMaster1.xml" Id="Rb32216bfe64940e7" /><Relationship Type="http://schemas.openxmlformats.org/officeDocument/2006/relationships/presProps" Target="/ppt/presProps.xml" Id="R1a411b40e3544c6e" /><Relationship Type="http://schemas.openxmlformats.org/officeDocument/2006/relationships/tableStyles" Target="/ppt/tableStyles.xml" Id="R4ae259ae17594bbc" /><Relationship Type="http://schemas.openxmlformats.org/officeDocument/2006/relationships/slide" Target="/ppt/slides/slide1.xml" Id="Rc8efe868644e4f06" /><Relationship Type="http://schemas.openxmlformats.org/officeDocument/2006/relationships/slide" Target="/ppt/slides/slide2.xml" Id="R67339c4167b844c0" /><Relationship Type="http://schemas.openxmlformats.org/officeDocument/2006/relationships/slide" Target="/ppt/slides/slide3.xml" Id="R942ba0d57a214857" /><Relationship Type="http://schemas.openxmlformats.org/officeDocument/2006/relationships/slide" Target="/ppt/slides/slide4.xml" Id="R2fd5dff551c24bd2" /><Relationship Type="http://schemas.openxmlformats.org/officeDocument/2006/relationships/slide" Target="/ppt/slides/slide5.xml" Id="R7cc663148d244840" /><Relationship Type="http://schemas.openxmlformats.org/officeDocument/2006/relationships/slide" Target="/ppt/slides/slide6.xml" Id="R33c80988604c4cf9" /><Relationship Type="http://schemas.openxmlformats.org/officeDocument/2006/relationships/slide" Target="/ppt/slides/slide7.xml" Id="Rea0cd3f4edbf470c" /><Relationship Type="http://schemas.openxmlformats.org/officeDocument/2006/relationships/slide" Target="/ppt/slides/slide8.xml" Id="Ra3cc554296234af4" /><Relationship Type="http://schemas.openxmlformats.org/officeDocument/2006/relationships/slide" Target="/ppt/slides/slide9.xml" Id="Rce9eacef74b14e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c042706d5642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cee666179d4177" /><Relationship Type="http://schemas.openxmlformats.org/officeDocument/2006/relationships/notesMaster" Target="/ppt/notesMasters/notesMaster1.xml" Id="R8ffbdc377d614d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87ed108cb4295" /><Relationship Type="http://schemas.openxmlformats.org/officeDocument/2006/relationships/notesMaster" Target="/ppt/notesMasters/notesMaster1.xml" Id="R63a8111ce538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5a5660dac24342" /><Relationship Type="http://schemas.openxmlformats.org/officeDocument/2006/relationships/notesMaster" Target="/ppt/notesMasters/notesMaster1.xml" Id="Rae76e1bd193a45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c1ee0cb96e4973" /><Relationship Type="http://schemas.openxmlformats.org/officeDocument/2006/relationships/notesMaster" Target="/ppt/notesMasters/notesMaster1.xml" Id="Rde0592c770a44f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ee03623a8144ea" /><Relationship Type="http://schemas.openxmlformats.org/officeDocument/2006/relationships/notesMaster" Target="/ppt/notesMasters/notesMaster1.xml" Id="R976ade8ca3de4d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fba6fc8eb4d12" /><Relationship Type="http://schemas.openxmlformats.org/officeDocument/2006/relationships/notesMaster" Target="/ppt/notesMasters/notesMaster1.xml" Id="Rbfa341d1fd2048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29db7e0f0b4f0b" /><Relationship Type="http://schemas.openxmlformats.org/officeDocument/2006/relationships/notesMaster" Target="/ppt/notesMasters/notesMaster1.xml" Id="Re9e606d608444e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06e7940750487c" /><Relationship Type="http://schemas.openxmlformats.org/officeDocument/2006/relationships/notesMaster" Target="/ppt/notesMasters/notesMaster1.xml" Id="Rc40fb2af792f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ad31e58a8f4d66" /><Relationship Type="http://schemas.openxmlformats.org/officeDocument/2006/relationships/notesMaster" Target="/ppt/notesMasters/notesMaster1.xml" Id="R43bea6de294f45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Design-only reference for the existing field project website. Direction: approachable to first-time visitors, polished and topic-related, with a calm editorial style. Existing storyboard image was used for mood only; its sample figures were not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principles: plain-language captions, progressive disclosure, accessible pacing, and a clear boundary between surveillance data and the single field visit.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order puts orientation before methods and findings; local fieldwork is contextual evidence, not a representative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wireframe: one question, clear geography and date range, primary exploration action, and a distinct report link. The seasonal motif should support—not compete with—the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bars are illustrative placeholders, not project data. Replace them with the approved series before production. The clock and bars can encode the same event series in different ways; a metric toggle may switch the bars to cases. Add clear units and cohort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rank strips are illustrative. Finalized report, Kendall’s W results table (printed p.32): ADD W=.530, p=.016; Dengue .405/.086; Food Poisoning .386/.108; Malaria .319/.229; Chikungunya .150/.832. Report describes the analysis as exploratory because only four complete baseline years are available and p-values are approximate. W is not disease burden or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Finalized report context: Gadchiroli and Chandrapur contribute 43/70 baseline malaria records (61.4%). Three food-poisoning outlier records total 1,615 cases; excluding them changes February aggregate from 2,162 to 547. The 2026 comparison is W01–W32 and contains 2,126 primary-family cases. Keep date windows and methods visible. District map is a schematic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Finalized report fieldwork pages 36–39: 02 Oct 2026, 10:30–11:45, PHC Nallasopara West/VVMC Health Post; one observation and one Medical Officer key-informant interview; zero questionnaires and no patient data. The visit provides context, not representative evidence. Illustration is not documentary photography.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design rules. Motion should reinforce narrative sequence, never delay access to essential content. Keep reduced-motion support, keyboard-operable controls, contrast, visible chart labels and responsive stacking.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7e24750e745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2ddf89d0246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b09715a2545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c884fa6d84c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230edacd644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b0c38c4fa48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638BEE-7E01-4DEB-BC2C-F6EC780FA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26E58E-0F0D-46B0-860A-B7D305AEDF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EF7177-F851-49CD-A571-CC8951AFA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3F364-9E24-4162-9BE8-5EC875A7D0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3EC7E1-2729-4547-9C1B-82E08CCE57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D3F88D-41AF-4D10-81D9-E57FA5CF7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A8912A-963C-4E85-A94A-BD78F34ACB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B5B7CF-DE75-4A23-9C2F-7F8372728F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56F97D-4A7F-459D-AA53-F644AC2971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FE36FF-0068-4548-AA40-D12D394C4C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2ba0c06f4459a" /><Relationship Type="http://schemas.openxmlformats.org/officeDocument/2006/relationships/slideLayout" Target="/ppt/slideLayouts/slideLayout1.xml" Id="R5d17ad5165d7477c" /><Relationship Type="http://schemas.openxmlformats.org/officeDocument/2006/relationships/slideLayout" Target="/ppt/slideLayouts/slideLayout2.xml" Id="Rbe51e2951c4c44fe" /><Relationship Type="http://schemas.openxmlformats.org/officeDocument/2006/relationships/slideLayout" Target="/ppt/slideLayouts/slideLayout3.xml" Id="Rf595f72634b74b3f" /><Relationship Type="http://schemas.openxmlformats.org/officeDocument/2006/relationships/slideLayout" Target="/ppt/slideLayouts/slideLayout4.xml" Id="R989601eaa5d34f20" /><Relationship Type="http://schemas.openxmlformats.org/officeDocument/2006/relationships/slideLayout" Target="/ppt/slideLayouts/slideLayout5.xml" Id="Rdc556097a7ec465a" /><Relationship Type="http://schemas.openxmlformats.org/officeDocument/2006/relationships/slideLayout" Target="/ppt/slideLayouts/slideLayout6.xml" Id="R79200afd7b2e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17ad5165d7477c"/>
    <p:sldLayoutId xmlns:r="http://schemas.openxmlformats.org/officeDocument/2006/relationships" id="2147483650" r:id="Rbe51e2951c4c44fe"/>
    <p:sldLayoutId xmlns:r="http://schemas.openxmlformats.org/officeDocument/2006/relationships" id="2147483651" r:id="Rf595f72634b74b3f"/>
    <p:sldLayoutId xmlns:r="http://schemas.openxmlformats.org/officeDocument/2006/relationships" id="2147483652" r:id="R989601eaa5d34f20"/>
    <p:sldLayoutId xmlns:r="http://schemas.openxmlformats.org/officeDocument/2006/relationships" id="2147483653" r:id="Rdc556097a7ec465a"/>
    <p:sldLayoutId xmlns:r="http://schemas.openxmlformats.org/officeDocument/2006/relationships" id="2147483654" r:id="R79200afd7b2e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4dc684bdab4529" /><Relationship Type="http://schemas.openxmlformats.org/officeDocument/2006/relationships/notesSlide" Target="/ppt/notesSlides/notesSlide1.xml" Id="R6329e6efb78043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721d1248246f2" /><Relationship Type="http://schemas.openxmlformats.org/officeDocument/2006/relationships/notesSlide" Target="/ppt/notesSlides/notesSlide2.xml" Id="R1edce207959443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90bb7b24547cc" /><Relationship Type="http://schemas.openxmlformats.org/officeDocument/2006/relationships/notesSlide" Target="/ppt/notesSlides/notesSlide3.xml" Id="Re58ebdcff90e49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f1cf1a64f451f" /><Relationship Type="http://schemas.openxmlformats.org/officeDocument/2006/relationships/notesSlide" Target="/ppt/notesSlides/notesSlide4.xml" Id="R336206e74348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969d37a644072" /><Relationship Type="http://schemas.openxmlformats.org/officeDocument/2006/relationships/notesSlide" Target="/ppt/notesSlides/notesSlide5.xml" Id="Rfe454ce4cb534b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b97be9b2642c5" /><Relationship Type="http://schemas.openxmlformats.org/officeDocument/2006/relationships/notesSlide" Target="/ppt/notesSlides/notesSlide6.xml" Id="R84765b4935d542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1a51945dd4ed5" /><Relationship Type="http://schemas.openxmlformats.org/officeDocument/2006/relationships/notesSlide" Target="/ppt/notesSlides/notesSlide7.xml" Id="R241079a56fba41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05d078eeb4267" /><Relationship Type="http://schemas.openxmlformats.org/officeDocument/2006/relationships/notesSlide" Target="/ppt/notesSlides/notesSlide8.xml" Id="R0f63e6f1bbff4c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0325ab09f4ee6" /><Relationship Type="http://schemas.openxmlformats.org/officeDocument/2006/relationships/notesSlide" Target="/ppt/notesSlides/notesSlide9.xml" Id="R2087be97c5f842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B155E-BC16-4127-A5DA-6DBF0354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F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98895-A15E-4C18-9A8A-8A8F8651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858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8C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41800-03C5-4A83-9C73-AD2240C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5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9D889-6C7B-46B9-A8D9-838F226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13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E5C40-CD8E-4581-8B3A-5550D273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3070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ADA64-BAC9-42AD-A3F7-3E5D0A3C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474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7465B-8E8A-4748-9C48-2142F256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51BF2-404C-4B0F-9F37-2E8C496F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474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7B88A-CE41-4731-AD05-C135E5F5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507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E9C01-57AA-41ED-96F7-95E5D31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D8526-6078-48DD-9727-52F5DC7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07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68337-0826-4025-AD30-6BE837C0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76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6B9F7-676A-43C8-B57C-35A00A1B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D77F9-4031-47B9-B87E-8E4C691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76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58945-63BD-4EB2-BEAA-3F885CB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070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E395C-BE89-46AA-8B3F-7DC0F2D0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STORYBOARD  +  UI / UX DESIGN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9EB76-AF6E-4515-BA71-32A1EABF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97000"/>
              </a:lnSpc>
              <a:buNone/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From data</a:t>
            </a:r>
          </a:p>
          <a:p xmlns:a="http://schemas.openxmlformats.org/drawingml/2006/main">
            <a:pPr algn="l">
              <a:lnSpc>
                <a:spcPct val="97000"/>
              </a:lnSpc>
              <a:buNone/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to the ground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E29E6-C501-41D8-A44A-9749D7CF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A clear, elegant first visit through Maharashtra’s seasonal outbreak research.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CAFDD-0D9F-4E96-B046-04367A0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E6FC3-8B4F-4082-8064-A5EC5CC4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THE EXPERIENCE PROMISE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D0A68-43C6-4131-8FEE-9509A0F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547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Understand the question. See the evidence. Know what it can—and cannot—say.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F3DBB-453E-48CB-BCA7-D7BE412F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VISUAL DIRECTION  /  VERSION 01</a:t>
            </a:r>
          </a:p>
        </p:txBody>
      </p:sp>
    </p:spTree>
    <p:extLst>
      <p:ext uri="{BB962C8B-B14F-4D97-AF65-F5344CB8AC3E}">
        <p14:creationId xmlns:p14="http://schemas.microsoft.com/office/powerpoint/2010/main" val="2108977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CA3648-7C4D-49C3-83C9-DFF3A23F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THE DESIGN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7A7AF-7E91-41C9-B6AD-B3E8E4F9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A first-time visitor should never feel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BF694-A185-4771-B0BE-779A06BF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EF2D1-8F49-406F-BB60-B76833E3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EE47F-D4CE-42E1-A3E0-F45A4465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435E5-6F95-4DFC-8B5E-752494B5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Lead with meaning. Let the detail unfold after visitors understand what they are looking 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0FB68-BF00-476A-8A45-D9C22EF5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18218-1439-4B7F-B8B5-17B240C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9E75D-5BC8-4462-929D-745CAE13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Start with the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E1FA7-4C05-4677-A2CC-6B0F7D1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What changes through the year, where, and how consistently?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B3B58-0096-4872-9820-4321A660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B01DA-574F-4B6B-BFEA-B870B423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1A526-119D-4878-A5E4-E9D61BE7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62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Explain each visual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8753B-9D49-49B3-A7C2-DF1BBF31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Tell visitors what they see and why it matters.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4280B-9002-495F-8AD1-1D896A9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C7313-D872-41B3-9635-019DB187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EA170-1E2C-44DA-8E83-D7EDB15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Reveal complexity gradually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E87FC-5797-455A-B703-978F8DF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291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Show the main finding first; let visitors open methods and caveats.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E0B7C-026E-4438-A545-BA53C5FC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DC1D3-6C5E-40DD-BF6D-527B9034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00B73-FCD2-478A-BBAD-51C1DEA6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Keep fieldwork human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E7E27-72F4-46A0-8F5A-502AEB2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291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Present the visit as local context, separate from statewide surveillance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6FBD5-F24C-41FC-A916-A1B8B82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4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50A71-D6E1-4402-9FFF-CB81A5D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892DC-33D8-4A32-8730-6B7541B4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29275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56CBF-0564-4371-A0FB-E750B0C3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8642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CALM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129A0-F60D-4C14-A86F-BD019537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2927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A60535-0268-4546-A687-1B2C10F3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86425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EVIDENCE-LED</a:t>
            </a:r>
          </a:p>
        </p:txBody>
      </p:sp>
    </p:spTree>
    <p:extLst>
      <p:ext uri="{BB962C8B-B14F-4D97-AF65-F5344CB8AC3E}">
        <p14:creationId xmlns:p14="http://schemas.microsoft.com/office/powerpoint/2010/main" val="82692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AD91E3-6C1E-446B-BBD1-1233B96C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STORYBOARD · VISITOR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D7FB8-1E48-4746-A130-DE038420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guided story, from curiosity to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7B9D7-9FD1-490A-8374-B9DA6343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8B2F9-9E48-4AF5-B785-7CFD2965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79274-CF10-4FA1-963A-25C19969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138BE-9AE8-4747-873F-C87C3D4A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Each scroll chapter answers one question and points naturally to the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568EE-F639-45CE-B8B6-DBDB3187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EE7AF-4EC2-48B6-AD3E-29C62C8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76BCC-468A-44C8-9AAF-FDB282CA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8493-DD1F-41C9-9CEB-549E138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ARRIVE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90AF6-4002-4985-A5AC-CA89F1F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is this project?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639E1-C9BF-41F4-8E45-8B05EBD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C62E1-6D7C-42B7-95C0-3196649A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Purpose, place and a simple invitation.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65861-8F55-4DE2-BF36-F92CC126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056EB-2FFE-43F2-A4ED-DD3B8530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7DC4F-85DD-4192-8ED1-A00DBD91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0B6CD-B9F0-42A2-8526-78ACE4C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3ED69-EBC1-49F9-8480-0F65C65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5C43C-013A-4CC1-8279-480B7CB9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data is included?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8A89F-3F63-4DD7-BD29-BEA73F3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48287-56B7-4C36-AC41-8C40C986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Sources, dates, geography and definitions.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51E90-0512-4D84-977D-3FB0BA89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62E49-976E-4635-8D81-BF4D3BD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EB1C9-C06D-4A90-8307-FCA195E8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F05CE-D9D6-4C08-AD0E-09E787D9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4BE8C-04EA-4A4A-86A4-EA8B2F5C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PATTERNS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43F08-15CD-470B-B479-4AA71727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When do reports rise?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94719-34C0-41B6-878C-CA0F020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EE5C3F-1DE3-4356-933A-4587A35C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Seasonal clock plus readable monthly chart.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CE89D6-8728-4679-97F6-A90AD98C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DAFC2-A98E-40AE-94DB-F78DB5A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EA868-BA20-4483-8AAF-3EDC806B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64CE1-D447-4B11-AFE7-ADD69FE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59B638-ABAD-420C-84A8-D744FD7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A39FB9-83A5-47E4-99EA-73D68B5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Does it repeat?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DF834-2EDA-4268-A52A-A547A049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3BCE99-9D15-4E81-A1DA-8850004C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Kendall’s W translated into everyday language.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1F544C-9CFA-4862-91C2-51B01C47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4D6460-6458-4DEB-A9E2-D7FF2B93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E5293-64FB-44AC-A991-9D622782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9A383A-1F78-42F0-AC18-CC9F8870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0B6000-46BE-48A5-A5BC-71CBDDD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DD57C5-7422-4D3D-B7ED-985D9546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Where are reports?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1FE96E-391F-4846-8C2B-E27C6B7D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18BA29-BADB-4133-812F-F69539E4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District map with a careful interpretation.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11649E-6976-466E-B257-AA8481D8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E8D7BC-63F0-4776-8CCD-00751355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0BF581-2A77-4906-B2DC-928D78C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390919-DD9A-4470-99A8-609A392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9566B5-D186-4E65-ACAB-79FC23D3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27F07A-7B34-45CF-8685-E372603E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did fieldwork add?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9D87C8-2934-4C12-9026-38B3DE91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766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8EACE5-6BDC-4EF6-979B-7DDE51F4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3860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visit and interview, clearly bounded.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41D51F-4417-4302-8376-AD27E0EC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DC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DE69D1-56D8-4866-A3ED-0197F97F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CAB1C9-9EC2-4B5D-83BC-7E383CD9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86375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7F5E57-482E-4AEC-9C4F-556AB335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43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F51930-0D68-47D9-BF64-5CE84384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1095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8E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951CD8-EA1A-402B-A6A2-9159C73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07CC28-CCC0-4A31-A9F8-C373C2B8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86375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78E575-1CB0-4D4F-A212-5B36673D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34352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REFLECT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DFF9C4-EC60-422D-B098-392FE1D8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Fieldwork follows statewide patterns so it reads as context—not a representative sample.</a:t>
            </a:r>
          </a:p>
        </p:txBody>
      </p:sp>
    </p:spTree>
    <p:extLst>
      <p:ext uri="{BB962C8B-B14F-4D97-AF65-F5344CB8AC3E}">
        <p14:creationId xmlns:p14="http://schemas.microsoft.com/office/powerpoint/2010/main" val="9388386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11401E-9078-49E5-96DE-B5A8C9EF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REFERENCE · OPENING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AC116-4964-4320-86EC-8ED61EF2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Homepage · welcome, orient, invite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4D03B-A28F-4997-82B2-8FE4B009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B62D5-00EB-4EF9-90E7-F506FBBE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F8FD6-B644-43AE-803F-EBC1FDE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965FC-0086-4343-9E8A-197E0330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934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E8986-2AD7-44FE-B3D7-DEE71D32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6C0FF-F54B-43ED-8939-F484B927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D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B9B17-C46E-4755-B823-3A55C6B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0FFE4-C9A2-4EF9-B14D-8E71E9D1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DD3AE-7D73-4EDC-AFA7-7B9F7C18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35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C981A-D121-45F5-AE75-0435894C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240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About    Explore    Field notes   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3A032-EFF2-41BB-951C-EA7A8F2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133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DC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6EC0A-DE0E-49BB-816A-97806D3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MAHARASHTRA  ·  2022–2026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A6D61-E262-4023-90C3-92036245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8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When do reported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outbreaks rise?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2F0D1-2161-4937-AFE1-10EA5EB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419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A guided look at seasonal patterns in weekly public health bulletins—and what local fieldwork can add.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62587-9DAD-4DF0-8B38-0E2324D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1562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FF2A6-9AB7-443D-AA51-E463BCD9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Explore findings 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23EF7-37E7-4F15-BA8E-91987878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1638300" cy="2190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7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0F23A-4968-4C50-90D5-62A15640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F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6BFC1-3602-4243-9B71-D733152C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28925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8C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FA02F-9BD4-4030-AF82-8EB15C40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860B6-8939-49C3-8876-69D97E5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00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1BA70-8EF0-4BAB-BD1B-AE9C6215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6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ECE81-F925-4B94-8E4E-3674ADCA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ED709-4188-41B5-BF48-01A37EE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6" y="3514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0BA613-16F8-4E0E-B499-BBBD8294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169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194DA6-318D-44A7-BC9E-AC778239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52043-57D1-41C9-953F-574C0DA5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169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57043-B741-4D8E-9B16-FC3438F9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964" y="3514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1FB46-A248-4358-A43E-196694A1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F6780A-3B40-44DF-9AF0-4C8DBF5C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964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7F3F0F-97EE-4070-921C-CB467C0D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600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C58466-C160-4D6C-AAB0-50BE6CB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38600"/>
            <a:ext cx="1095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12 MONTHS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02904F-4BD6-4BB7-908E-CBD3A3D4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year at a glance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E4AA3E-F94B-4C12-B719-0E9E0FE7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08200B-196C-48F8-8499-58764124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BDFEB0-CCFE-47B7-B896-4A6B0996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Above the fold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8E050A-9997-4C43-84EC-F4416F00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question, one purpose, two paths: explore the story or open the report.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AB6ED7-DB33-4A24-B9AB-C7B965E3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9CE57E-2CCC-4222-AA47-0191073F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5530BB-9011-4254-8AC5-9E085E47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First insight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1990C8-5F3A-4FED-AC46-0BF9D33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Show one plain-language finding before asking visitors to interpret a chart.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46297F-654E-4640-BF71-40F76635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47B022-4D16-430F-A63B-0F1114C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BF36B9-124C-46D6-87B1-3AAA130B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Trust cues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9FA4A4-1790-4B11-B9C5-843232A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Keep source, date range and “reported events” language beside the evidence.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081B2E-75B3-4AF7-BB70-928F27FA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Next scroll: scope strip, then the first clear chart.</a:t>
            </a:r>
          </a:p>
        </p:txBody>
      </p:sp>
    </p:spTree>
    <p:extLst>
      <p:ext uri="{BB962C8B-B14F-4D97-AF65-F5344CB8AC3E}">
        <p14:creationId xmlns:p14="http://schemas.microsoft.com/office/powerpoint/2010/main" val="1793836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48A4BC-2B49-4006-8B47-2A8292F3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UI REFERENCE · UNDERSTAND THE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55B43-CD7B-41B9-9B09-173365E5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Seasonality · one calendar, two helpful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03F59-8702-42E2-AD78-E867F0B4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4581F-44E7-4C8F-8F6B-1FAB8AFB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47C33-9CA7-4745-8EFD-ED9C9CD7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6F57A-6182-4E3A-8050-ADDF06E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The clock helps people see timing. Bars make month-to-month differences easier to compare.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36794-23F5-4961-A2A6-83CBE874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23862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DF4E0-6E1F-4E74-9AC4-A4CDE43A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SEASONAL CLOCK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5B819-FC2B-4FD5-B0CA-3ACCE04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7652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72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404E7-71C9-437D-95E3-E9FE373C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3151D-4D87-4F43-80B9-8A96D2E4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CC4FF-150C-41A5-B900-3D34C7CF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75D9F-D371-4749-BD49-CCAE2872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956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1175F-892E-4461-949B-AF6074D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963" y="2736368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4A401-D2CE-4D82-B2E8-CFE4FF48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01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78A23-9B31-481D-AA8B-85D041D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707" y="3186113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E9935-7A94-4520-8891-37B4623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116BF-BD2F-46D1-A6B3-D1E3571F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004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FB127-2797-441A-BDE0-9591EDD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01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40740-31DA-49E9-9C9D-D743932A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707" y="4414838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9EAB5-4AB5-4D44-963F-861A7CB8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434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550B5-1BC4-471D-990A-0565EBA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963" y="4864582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0B5D4-A5EE-4C85-B828-08B3D83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86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AAA1F-55B3-404B-A2FA-D866C3CC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292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84AE4-2468-409D-9AD3-226072B4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434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8AB94-13E0-47CF-BA0C-64587B3A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4864582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4721B-65DC-4100-9F8F-3EB31FAF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9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C7A03-0765-46C7-8BFB-28D793D2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493" y="4414838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9C9C04-1F5C-428C-9CAE-2AD90D1E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D0C9B-C7D8-490E-B2FB-8119A707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004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9BFF2-1C3B-4470-A815-DF5DD472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9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22BFE-A405-4841-8246-45E9AC36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493" y="3186113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C0574-F7A5-4F25-B92A-91EDF73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956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0CF56-E30A-4F7B-AE0C-9D3A59B7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7" y="2736368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162A0-DE35-4234-AB5B-7E9FE49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004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JAN  →  DEC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0D594-ECCF-45FC-8A13-F15E64A5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47875"/>
            <a:ext cx="61626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74849-2F13-4A3E-A03E-384DFF3E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574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MONTHLY REPORTED EVENTS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B3D0B5-9E05-46A0-8006-9EAAA93A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6386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2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367072-02BB-4867-A785-07140A48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454037"/>
            <a:ext cx="295275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42E299-AA63-438F-86B9-42BF401B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21FC91-8BE5-4902-ADB5-8095F60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33521"/>
            <a:ext cx="295275" cy="205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6C7E5E-EC1D-44ED-899A-F13EFA36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9741C7-0F39-481D-B783-04BD7A3D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71975"/>
            <a:ext cx="295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FE2A00-B797-4569-AFF2-59051A8F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25D5EE-37E9-4F98-B97C-40A250F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10429"/>
            <a:ext cx="295275" cy="3282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B29EA2-199E-4731-8981-FC973172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0D6EB8-5376-4548-8FFD-44567C1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7337"/>
            <a:ext cx="295275" cy="451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954325-6A55-422E-A66C-416846F1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MAY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24A19A-605A-4DFC-8558-0AAE555E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64244"/>
            <a:ext cx="295275" cy="57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97259A-2563-4C54-85BF-85D851A1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B4F2FE-407E-4530-9194-3B9E1023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59090"/>
            <a:ext cx="295275" cy="7795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32267F-36B4-4E7D-A23C-3545B4FA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JUL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B370B-0AAA-4178-A5E5-95C24CCA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35998"/>
            <a:ext cx="295275" cy="902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DA8951-5EBB-4669-8896-13D5069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0FA032-41F6-4825-BBF2-249F5C3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92390"/>
            <a:ext cx="295275" cy="10462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155DC5-ACE5-4F5C-A47D-7E278E5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3451A7-36BA-49F1-8506-2AC637F7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7237"/>
            <a:ext cx="295275" cy="125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C6CA4F-8D97-4D71-B308-BA2491B4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OCT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1170EB-19D7-42FD-833E-9ECF301D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064244"/>
            <a:ext cx="295275" cy="57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7599BA-3370-42AB-A6E3-5C5F717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NOV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12057D-89F8-4A9F-81A4-A455F1EC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248883"/>
            <a:ext cx="295275" cy="389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B01727-6997-4D0F-9090-B109DD3E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5297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DEC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64C0CB-8334-4C35-878E-E12EAF36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62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AAB7B3"/>
                </a:solidFill>
                <a:latin typeface="Arial"/>
                <a:ea typeface="Arial"/>
                <a:cs typeface="Arial"/>
              </a:rPr>
              <a:t>Illustrative bars only · replace with approved series.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BF90B7-688E-4073-98DC-775D0D0F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B1F26B-1CEB-44FC-B478-FBD6EE96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TOOLTIP: MONTH · EVENTS · CASES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4A9FEE-0AD3-4601-BEE8-FCE6BE46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553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Use the same month order. State the unit; make metric switches explicit.</a:t>
            </a:r>
          </a:p>
        </p:txBody>
      </p:sp>
    </p:spTree>
    <p:extLst>
      <p:ext uri="{BB962C8B-B14F-4D97-AF65-F5344CB8AC3E}">
        <p14:creationId xmlns:p14="http://schemas.microsoft.com/office/powerpoint/2010/main" val="982435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BAE06A-3201-4C41-9FE1-69FEF13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REFERENCE · KENDALL’S W IN PLAIN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76410-B662-47D3-BC3A-6C40472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Consistency · does the seasonal shape repeat?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8498B-8C35-47B8-89F2-D9A36D8C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FE4AD-F97A-4A9C-876B-535C131E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D1175-D919-4728-BDB5-6009B9C7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E91BF-B33E-4099-A739-C41D803E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Make the statistic supporting detail. Lead with the question visitors understand.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E836F-5048-4C4B-9649-BC45CEFA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5148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CD2D6-6C32-498C-BD16-6BC999F8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8764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3C7BC-7FF6-4D73-8C8C-CE2981D3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685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FOUR COMPLETE YEARS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43214-64AA-4021-8199-59487F5E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12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CD841-134F-4029-9527-5967D4B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5D0CA"/>
                </a:solidFill>
                <a:latin typeface="Arial"/>
                <a:ea typeface="Arial"/>
                <a:cs typeface="Arial"/>
              </a:rPr>
              <a:t>compared across years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29CCF-8D78-49E9-AC80-800C2912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B120C-A853-4072-BBE7-7A5DD380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5C324-747B-4BDF-9C14-A6E05D55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030C4-20EA-48BF-B2D3-2AC96CDB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45539-5BBE-441C-8CA7-D4681B7F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0F01F-04FE-4F27-A3D9-B1DFE41C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AE300-186E-436A-A45A-4C5E6638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AFCB9-2EAF-4586-AE17-5BC6D549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E45D3-F51B-4A7E-B170-004CEE53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86F6D-3DD8-4B04-8237-77C14631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8807A-A89F-4843-AF3F-1DE46EE0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59EAF-9588-4AB0-8E0B-74CA69F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A4CC0-2BC0-44EF-A62B-58792B2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D6945-3CD4-49D8-AFB0-2888C80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F523D3-AA57-457A-9D33-CF4C2A89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D51E5-E721-4BE5-9014-21E6008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1497F7-411E-4673-B54B-8FA77F48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9E2CA0-9838-4361-9E66-A17EB1EE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DAC4B-CDE5-4E46-AC44-6328616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72F6F8-4BAE-4690-972E-DE077785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5163F-5C60-4947-A9DC-F3D6F3AC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3714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AAB7B3"/>
                </a:solidFill>
                <a:latin typeface="Arial"/>
                <a:ea typeface="Arial"/>
                <a:cs typeface="Arial"/>
              </a:rPr>
              <a:t>Rank strips are illustrative—not actual monthly values.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D2362-8D89-4921-A5E6-F659D5FC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47875"/>
            <a:ext cx="5810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9832CA-E7B2-4368-8C89-C01AB17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IN SIMPLE TERMS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D834D1-7C2B-444A-8EA4-92D9227E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Kendall’s W asks: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FC1A8-264E-4795-B597-C97F7527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“Do months tend to rise and fall in a similar order each year?”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7E5CD1-446F-4841-828E-9F4AA9E2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18DBC3-0F32-4D8A-9EE1-D2F8BA2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Higher W means yearly rankings look more alike. It is not case burden and does not prove a cause.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6E63E9-9C91-4791-8F12-5EAE6CAC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38700"/>
            <a:ext cx="3028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33ECC5-28C9-402D-A859-52B2C6D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SHOW W + P VALUE AS OPTIONAL DETAIL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4EF289-0381-4E3D-8C49-939A1EC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142127"/>
                </a:solidFill>
                <a:latin typeface="Arial"/>
                <a:ea typeface="Arial"/>
                <a:cs typeface="Arial"/>
              </a:rPr>
              <a:t>Caveat: only four baseline years; the report treats this test as exploratory.</a:t>
            </a:r>
          </a:p>
        </p:txBody>
      </p:sp>
    </p:spTree>
    <p:extLst>
      <p:ext uri="{BB962C8B-B14F-4D97-AF65-F5344CB8AC3E}">
        <p14:creationId xmlns:p14="http://schemas.microsoft.com/office/powerpoint/2010/main" val="1404541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836CB7-DC6D-43E5-A283-AEAA4E3B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UI REFERENCE · GEOGRAPHY AND OUTLIERS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C07AA-8DF1-4744-9176-48BD8E0C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Place &amp; unusual events · add context, not alarm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A545E-864C-4452-B6C6-5AB50A57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3A046-83D9-44E9-B858-86994D94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0A31E-2798-4547-9D35-C438594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7B70D-2A16-4DB4-978E-2B8ACD94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Separate “where reports came from” from “where risk is highest.” Explain unusual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47775-9B89-4B85-B76E-700D9586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0062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494BB-DA1C-46CC-A950-AE7A9D7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DISTRICT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A50B8-6672-4B9E-9AED-C56DDE76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908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E4547-6B11-4A39-B0AE-E8945B18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0B874-186D-423F-8778-D7040AC3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908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DB352-C1F4-4B19-9272-FF73C337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C36CF-DCF9-4AFF-9804-30288E0E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908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B59A7-B418-48B4-A2EE-7FFFE71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28647-224E-4775-8D27-B6A53028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8C422-1C46-4939-9EEF-35AFEEF0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7E84B-D825-4A84-B45B-21677D8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C58E6-72A8-4F07-A6AA-203FEE66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B3A6D-FA59-4786-B8B3-AF01D6CD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207CD-6D58-482F-9F64-67747E49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203E7-88E5-4FE8-9CD2-1B5C399F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A4775-1CF2-471A-9E59-9AC62957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A6921-1B5A-4091-9514-28EB492E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41DD4-88F2-4B34-B23D-E06217A4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52731-8C88-47CD-B724-7FED56ED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1C1D4-5ADA-4B64-8A4D-F6CD0308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5DE2F-600A-487C-B935-3A6B55B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81DD4C-DA68-4240-AA27-C9433479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1E299-2F0D-4A83-BDAA-EFE0190C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B58C4F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5970F-B1BA-4693-980F-183CC283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90925"/>
            <a:ext cx="495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GADCH.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12723F-6466-4BE5-8BD1-460CDC30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671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A5E503-7E2A-4C6A-9F54-9C14AACF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08E5F7-8033-45C4-81A2-6237580E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5BBA29-777D-47A2-8360-7167781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416A66-0635-4110-90B9-B8C04E3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8C5433-D4F7-4096-96C9-99541930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22E0C3-1305-4C55-BD35-0461A071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B58C4F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6F7D8F-016D-4F48-BA30-1D0F9C41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29075"/>
            <a:ext cx="495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CHAND.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86D7C8-8718-4208-8FE8-E8457DA5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FEFCF-6F20-4F67-A13F-E25EAAA8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1989CF-D084-4CA5-A3BF-36BA00D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434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98FB8D-B0E1-4EC4-9350-D871C90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D56210-5E30-4322-BB2E-A70952A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434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DF88D1-2520-4356-8611-F18B8CC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1AC95E-B0BF-47B2-8C39-1C74AA68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533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31474B"/>
          </a:solidFill>
          <a:ln xmlns:a="http://schemas.openxmlformats.org/drawingml/2006/main" w="9525">
            <a:solidFill>
              <a:srgbClr val="78938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229AB8-99DF-4378-A01C-FF7308A3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DECF0F-508D-4A74-A323-E2C2AC7F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Schematic district tile map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D9D955-263C-4FE1-973B-FD89BCF7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409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Gadchiroli + Chandrapur highlighted · not geographic boundaries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683E66-28AD-42AA-AEBC-43B52F2D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47875"/>
            <a:ext cx="5381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3FBADA-C001-435C-8344-A0FDC6FB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1190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B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F05E21-31FA-4B73-A931-611EDE80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OUTLIER NOTE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45893F-D865-40BF-80F2-494E3116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A few large reports can change the scale.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94B192-46C3-4594-A270-12AD3D02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Show value, review rule, and comparison with / without records.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90A1E7-4B77-485F-B364-80A4128C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57625"/>
            <a:ext cx="5381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E64F80-0A35-4791-B754-31E40496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48125"/>
            <a:ext cx="1828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591242-42FA-453E-823D-2E93E25C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0527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2026 · PARTIAL WINDOW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52F99D-540B-4517-A16B-8F1C4D8B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291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Keep the cutoff beside the number.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4813B5-0754-48B8-8DE0-A06492A0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2026 W01–W32 is not a full year. Keep that window visible in comparisons.</a:t>
            </a:r>
          </a:p>
        </p:txBody>
      </p:sp>
    </p:spTree>
    <p:extLst>
      <p:ext uri="{BB962C8B-B14F-4D97-AF65-F5344CB8AC3E}">
        <p14:creationId xmlns:p14="http://schemas.microsoft.com/office/powerpoint/2010/main" val="2066758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734C6-9E9E-4C5E-93DA-71FA5DD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STORYBOARD · LOCAL CONTEXT, CLEARLY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66D27-5D2B-40CF-B271-FFED350E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Fieldwork · a human lens on the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8814D-F892-4E23-ADD6-06E131DB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44164-DD3E-4DBC-89AA-9B7286BE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8BC13-0CA7-4A48-BDAD-E3FAE51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939B0-AC4D-4D3C-A603-8F73B721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Make the project tangible while staying transparent about the visit’s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2B7F4-460A-436A-A4BE-DDFBB7CB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8D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180C0-455E-42D3-8680-9519098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76575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C7C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413EC-40D8-41D4-A59D-83BF212F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52700"/>
            <a:ext cx="1047750" cy="24384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C4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17126-9CCA-4153-9C40-187F3186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6381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B4547-D2DD-4C22-BCD4-A8ED3429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29025"/>
            <a:ext cx="58102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A6CF9-CF5B-4792-A021-ED3B05EC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71850"/>
            <a:ext cx="790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2A96B-4EE2-407B-8D1E-6A9285C3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790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10852-A2C2-4DBE-8D89-ED5B80A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67547-0447-4335-8B64-33F5951A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90775"/>
            <a:ext cx="1066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HEALTH 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DDB94-9722-4ADE-A73B-0578252C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95850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1A169-323A-4462-8EB0-FFC16D37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816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Illustrative scene · replace with approved field photo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A2D84-6868-42CB-BE3D-C6537F8B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5276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CEB8D-6351-461D-B9FA-7B1ED81C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DFC7C-6CFA-48B0-8C17-C876DA12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91B1F-CA80-4509-A01E-FBE6B0B0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02 Oct 2026 · PHC Nallasopara West / VVMC Health Post · one observation.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CE4F5-D6AD-45DE-95AA-3012CCED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5276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2BB32-F357-49D3-9A11-3D1F2A4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794D4-1C6F-4BBB-AE67-F3F1387A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813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INTERVIEW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F6428-6F79-4155-B3D6-7E0A4804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05225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Medical Officer key-informant interview; use approved, anonymized notes.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8D9FA-3D6D-41E6-93CF-C0F34F2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29125"/>
            <a:ext cx="5276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077B9-EC26-406F-A0D4-AA7C2D21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291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23187-BD9E-4B98-9034-993D3A34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9FCD2-3504-477B-8745-9D3F9C68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489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Zero questionnaires. No patient data. Context only; not representative of Maharashtra.</a:t>
            </a:r>
          </a:p>
        </p:txBody>
      </p:sp>
    </p:spTree>
    <p:extLst>
      <p:ext uri="{BB962C8B-B14F-4D97-AF65-F5344CB8AC3E}">
        <p14:creationId xmlns:p14="http://schemas.microsoft.com/office/powerpoint/2010/main" val="269848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CA93C-2EAF-4A7E-98C5-B573DA41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/ UX SYSTEM · PRODUCTION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14709-61F6-4F92-B7B2-D0B89DE7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calm visual system that feels 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CC22B-F75A-495C-84BC-025328D3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47AD4-1382-479D-97EF-92B49735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12450-751C-412D-A6CB-61A483E3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5E3D0-C451-401C-B47E-3E76D414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Use motion to guide attention, and a few visual rules to build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A6356-2273-4C8C-8F2C-C60402E1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PALETTE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B57ED-D6E5-4D51-AB4F-78614B0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453F0-3E46-4FA7-9DDB-8BD452D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E040D-29AC-4A9E-BDB6-E71F799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D4C5-9483-4C1F-A3A1-24DB061A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EA8F7-142A-40E1-93D6-4B4F6666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58C4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D8ADE-D123-49D1-9B0B-11787AB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Ochre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CECCB-2F22-4765-9009-3CBEE15C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57F7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F1C06-F5B2-471B-A1C3-E50232E4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Teal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2A111-BFDA-43F6-B6CC-B860DD6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668A9C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C3150-9BB7-4697-91F2-A4812E96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Blue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3FE56-1BE9-4D19-BAFC-6A680785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E7662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2D6EB-3397-46F6-8224-A7E68DD6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Coral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198D7-49FF-43AC-8E57-63D7559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8228C-2888-48A4-9045-A4A24E92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D7B3B-B8ED-4226-B268-EB7BFD08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1A03A-D3D3-4B94-A80A-D6415083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Expressive serif for chapter titles; clean sans serif for navigation, body copy and labels.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90B77-541C-425C-9A5E-9936EA3E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A43F4B-2FDD-4665-B544-45C269E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3EFDD-57AB-4227-BBBE-374D27B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147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CHARTS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FBB18-1FB5-4D5E-A8AD-A1A72D5B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Direct labels, clear units, generous spacing, and one plain-language takeaway.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411D0-CD93-49C7-BDB8-B40A49D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50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952F6-E943-4862-8589-F10273AE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ECF03-B418-4F2B-911A-92FA74C1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14725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9170F6-3F0C-4071-861B-21CAFF9F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3857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Slow scroll reveals. Build charts in sequence. Respect reduced-motion settings.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9AF79-485C-47E3-B3E6-CF4E6076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629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3BD24-859A-4B9F-A12E-2C904ED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MOBILE + ACCESSIBILITY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98EA3-9742-4626-9B60-87DCBA36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995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Stack panels · preserve readable text · don’t encode meaning by color alone · support keyboard focus · keep motion optional.</a:t>
            </a:r>
          </a:p>
        </p:txBody>
      </p:sp>
    </p:spTree>
    <p:extLst>
      <p:ext uri="{BB962C8B-B14F-4D97-AF65-F5344CB8AC3E}">
        <p14:creationId xmlns:p14="http://schemas.microsoft.com/office/powerpoint/2010/main" val="643911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2026-10-23T12:46:27.2700000Z</dcterms:created>
  <dcterms:modified xsi:type="dcterms:W3CDTF">2026-10-23T12:46:27.2700000Z</dcterms:modified>
</coreProperties>
</file>