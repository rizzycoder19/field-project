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58189c1cb408f" /><Relationship Type="http://schemas.openxmlformats.org/officeDocument/2006/relationships/extended-properties" Target="/docProps/app.xml" Id="Ra49461b086fd465f" /><Relationship Type="http://schemas.openxmlformats.org/officeDocument/2006/relationships/officeDocument" Target="/ppt/presentation.xml" Id="R7766eee9f9fd43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9439a51f254ab1"/>
  </p:sldMasterIdLst>
  <p:notesMasterIdLst>
    <p:notesMasterId xmlns:r="http://schemas.openxmlformats.org/officeDocument/2006/relationships" r:id="Re8d579fe368b4057"/>
  </p:notesMasterIdLst>
  <p:sldIdLst>
    <p:sldId xmlns:r="http://schemas.openxmlformats.org/officeDocument/2006/relationships" id="256" r:id="Ra0d8d821eba74b0f"/>
    <p:sldId xmlns:r="http://schemas.openxmlformats.org/officeDocument/2006/relationships" id="257" r:id="R1b7eec9002c04efd"/>
    <p:sldId xmlns:r="http://schemas.openxmlformats.org/officeDocument/2006/relationships" id="258" r:id="R8d38187538de44b8"/>
    <p:sldId xmlns:r="http://schemas.openxmlformats.org/officeDocument/2006/relationships" id="259" r:id="Rc29b4312429e4e39"/>
    <p:sldId xmlns:r="http://schemas.openxmlformats.org/officeDocument/2006/relationships" id="260" r:id="R1fd7e98ac7964a15"/>
    <p:sldId xmlns:r="http://schemas.openxmlformats.org/officeDocument/2006/relationships" id="261" r:id="R181a38537795414b"/>
    <p:sldId xmlns:r="http://schemas.openxmlformats.org/officeDocument/2006/relationships" id="262" r:id="Rcca7940d8fe44d4d"/>
    <p:sldId xmlns:r="http://schemas.openxmlformats.org/officeDocument/2006/relationships" id="263" r:id="R372124b7cd284520"/>
    <p:sldId xmlns:r="http://schemas.openxmlformats.org/officeDocument/2006/relationships" id="264" r:id="R2c99699c85374c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988109af68420f" /><Relationship Type="http://schemas.openxmlformats.org/officeDocument/2006/relationships/slideMaster" Target="/ppt/slideMasters/slideMaster1.xml" Id="R189439a51f254ab1" /><Relationship Type="http://schemas.openxmlformats.org/officeDocument/2006/relationships/notesMaster" Target="/ppt/notesMasters/notesMaster1.xml" Id="Re8d579fe368b4057" /><Relationship Type="http://schemas.openxmlformats.org/officeDocument/2006/relationships/presProps" Target="/ppt/presProps.xml" Id="Red6828563ee641f1" /><Relationship Type="http://schemas.openxmlformats.org/officeDocument/2006/relationships/tableStyles" Target="/ppt/tableStyles.xml" Id="R4842cf5f5b5b4197" /><Relationship Type="http://schemas.openxmlformats.org/officeDocument/2006/relationships/slide" Target="/ppt/slides/slide1.xml" Id="Ra0d8d821eba74b0f" /><Relationship Type="http://schemas.openxmlformats.org/officeDocument/2006/relationships/slide" Target="/ppt/slides/slide2.xml" Id="R1b7eec9002c04efd" /><Relationship Type="http://schemas.openxmlformats.org/officeDocument/2006/relationships/slide" Target="/ppt/slides/slide3.xml" Id="R8d38187538de44b8" /><Relationship Type="http://schemas.openxmlformats.org/officeDocument/2006/relationships/slide" Target="/ppt/slides/slide4.xml" Id="Rc29b4312429e4e39" /><Relationship Type="http://schemas.openxmlformats.org/officeDocument/2006/relationships/slide" Target="/ppt/slides/slide5.xml" Id="R1fd7e98ac7964a15" /><Relationship Type="http://schemas.openxmlformats.org/officeDocument/2006/relationships/slide" Target="/ppt/slides/slide6.xml" Id="R181a38537795414b" /><Relationship Type="http://schemas.openxmlformats.org/officeDocument/2006/relationships/slide" Target="/ppt/slides/slide7.xml" Id="Rcca7940d8fe44d4d" /><Relationship Type="http://schemas.openxmlformats.org/officeDocument/2006/relationships/slide" Target="/ppt/slides/slide8.xml" Id="R372124b7cd284520" /><Relationship Type="http://schemas.openxmlformats.org/officeDocument/2006/relationships/slide" Target="/ppt/slides/slide9.xml" Id="R2c99699c85374c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bf0dbeb3840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5688e90768408c" /><Relationship Type="http://schemas.openxmlformats.org/officeDocument/2006/relationships/notesMaster" Target="/ppt/notesMasters/notesMaster1.xml" Id="Ra84ca13b0db44d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58a681fd6840c0" /><Relationship Type="http://schemas.openxmlformats.org/officeDocument/2006/relationships/notesMaster" Target="/ppt/notesMasters/notesMaster1.xml" Id="Raff0ec4b52db4e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bd6ef2eb834ff5" /><Relationship Type="http://schemas.openxmlformats.org/officeDocument/2006/relationships/notesMaster" Target="/ppt/notesMasters/notesMaster1.xml" Id="R5bc2de0043ad46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58dca2e6814d65" /><Relationship Type="http://schemas.openxmlformats.org/officeDocument/2006/relationships/notesMaster" Target="/ppt/notesMasters/notesMaster1.xml" Id="R6a4f77ef4a8244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23a8c87f4f437c" /><Relationship Type="http://schemas.openxmlformats.org/officeDocument/2006/relationships/notesMaster" Target="/ppt/notesMasters/notesMaster1.xml" Id="Rdbd039a8118341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906d3820e54a0b" /><Relationship Type="http://schemas.openxmlformats.org/officeDocument/2006/relationships/notesMaster" Target="/ppt/notesMasters/notesMaster1.xml" Id="Rd19bd9d4b4f849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9586e66b624761" /><Relationship Type="http://schemas.openxmlformats.org/officeDocument/2006/relationships/notesMaster" Target="/ppt/notesMasters/notesMaster1.xml" Id="R71b6fbb314b149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143482e3e243e8" /><Relationship Type="http://schemas.openxmlformats.org/officeDocument/2006/relationships/notesMaster" Target="/ppt/notesMasters/notesMaster1.xml" Id="Rb1cefcb952c24a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c66ca2cf4f437f" /><Relationship Type="http://schemas.openxmlformats.org/officeDocument/2006/relationships/notesMaster" Target="/ppt/notesMasters/notesMaster1.xml" Id="Rcbb1401c440442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Design-only reference for the existing field project website. Direction: approachable to first-time visitors, polished and topic-related, with a calm editorial style. Existing storyboard image was used for mood only; its sample figures were not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principles: plain-language captions, progressive disclosure, accessible pacing, and a clear boundary between surveillance data and the single field visit.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order puts orientation before methods and findings; local fieldwork is contextual evidence, not a representative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wireframe: one question, clear geography and date range, primary exploration action, and a distinct report link. The seasonal motif should support—not compete with—the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Monthly bars are illustrative placeholders, not project data. Replace them with the approved series before production. The clock and bars can encode the same event series in different ways; a metric toggle may switch the bars to cases. Add clear units and cohort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rank strips are illustrative. Finalized report, Kendall’s W results table (printed p.32): ADD W=.530, p=.016; Dengue .405/.086; Food Poisoning .386/.108; Malaria .319/.229; Chikungunya .150/.832. Report describes the analysis as exploratory because only four complete baseline years are available and p-values are approximate. W is not disease burden or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Finalized report context: Gadchiroli and Chandrapur contribute 43/70 baseline malaria records (61.4%). Three food-poisoning outlier records total 1,615 cases; excluding them changes February aggregate from 2,162 to 547. The 2026 comparison is W01–W32 and contains 2,126 primary-family cases. Keep date windows and methods visible. District map is a schematic placeholder.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Finalized report fieldwork pages 36–39: 02 Oct 2026, 10:30–11:45, PHC Nallasopara West/VVMC Health Post; one observation and one Medical Officer key-informant interview; zero questionnaires and no patient data. The visit provides context, not representative evidence. Illustration is not documentary photography.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design rules. Motion should reinforce narrative sequence, never delay access to essential content. Keep reduced-motion support, keyboard-operable controls, contrast, visible chart labels and responsive stacking.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d6a00475043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6cec1252444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e74d95ec348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e60129cfd4a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a2ecd96b74b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b043fc3a940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85A8D6-682F-403C-8595-ED3424F2B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2FBCCF-FF3F-4E17-A2B9-11673FECFB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3B04FBE-A095-44F5-B429-ABF349AC3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65589A-B0AD-47EC-899B-F90A9DC602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CEE656-7ABA-4EE3-8637-A28DC601B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344391-3296-4A7E-94C6-1169B22DA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FAD9C6-B3D1-4F1B-AC85-50BA7EC05C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4A0ED6-BBE4-4466-ADD5-D5983BB6FE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DFB177-D6FF-48F5-A6E8-F83475377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E4756E-F531-4AD7-8ACB-460F9963E5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298e86752e43c3" /><Relationship Type="http://schemas.openxmlformats.org/officeDocument/2006/relationships/slideLayout" Target="/ppt/slideLayouts/slideLayout1.xml" Id="R530ecd186a3b43de" /><Relationship Type="http://schemas.openxmlformats.org/officeDocument/2006/relationships/slideLayout" Target="/ppt/slideLayouts/slideLayout2.xml" Id="Rd59857f2ff6042e8" /><Relationship Type="http://schemas.openxmlformats.org/officeDocument/2006/relationships/slideLayout" Target="/ppt/slideLayouts/slideLayout3.xml" Id="R61135836f9cb4dbc" /><Relationship Type="http://schemas.openxmlformats.org/officeDocument/2006/relationships/slideLayout" Target="/ppt/slideLayouts/slideLayout4.xml" Id="Rc7b21432d88743fb" /><Relationship Type="http://schemas.openxmlformats.org/officeDocument/2006/relationships/slideLayout" Target="/ppt/slideLayouts/slideLayout5.xml" Id="Rc1cb226461214bc3" /><Relationship Type="http://schemas.openxmlformats.org/officeDocument/2006/relationships/slideLayout" Target="/ppt/slideLayouts/slideLayout6.xml" Id="Rabcfd109b40840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0ecd186a3b43de"/>
    <p:sldLayoutId xmlns:r="http://schemas.openxmlformats.org/officeDocument/2006/relationships" id="2147483650" r:id="Rd59857f2ff6042e8"/>
    <p:sldLayoutId xmlns:r="http://schemas.openxmlformats.org/officeDocument/2006/relationships" id="2147483651" r:id="R61135836f9cb4dbc"/>
    <p:sldLayoutId xmlns:r="http://schemas.openxmlformats.org/officeDocument/2006/relationships" id="2147483652" r:id="Rc7b21432d88743fb"/>
    <p:sldLayoutId xmlns:r="http://schemas.openxmlformats.org/officeDocument/2006/relationships" id="2147483653" r:id="Rc1cb226461214bc3"/>
    <p:sldLayoutId xmlns:r="http://schemas.openxmlformats.org/officeDocument/2006/relationships" id="2147483654" r:id="Rabcfd109b40840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c6e70d18f4cc2" /><Relationship Type="http://schemas.openxmlformats.org/officeDocument/2006/relationships/notesSlide" Target="/ppt/notesSlides/notesSlide1.xml" Id="Reccc31b5f10448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8021dc6924f3b" /><Relationship Type="http://schemas.openxmlformats.org/officeDocument/2006/relationships/notesSlide" Target="/ppt/notesSlides/notesSlide2.xml" Id="R96d6f3476cad45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306ff673c4b4e" /><Relationship Type="http://schemas.openxmlformats.org/officeDocument/2006/relationships/notesSlide" Target="/ppt/notesSlides/notesSlide3.xml" Id="R6693eccedc7641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1afacc4534717" /><Relationship Type="http://schemas.openxmlformats.org/officeDocument/2006/relationships/notesSlide" Target="/ppt/notesSlides/notesSlide4.xml" Id="R81ae726a6afb43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b757776424600" /><Relationship Type="http://schemas.openxmlformats.org/officeDocument/2006/relationships/notesSlide" Target="/ppt/notesSlides/notesSlide5.xml" Id="R111f9cd8d78c41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2a81ba4c34594" /><Relationship Type="http://schemas.openxmlformats.org/officeDocument/2006/relationships/notesSlide" Target="/ppt/notesSlides/notesSlide6.xml" Id="R39cbdb2e95aa44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6c4e571c64ccc" /><Relationship Type="http://schemas.openxmlformats.org/officeDocument/2006/relationships/notesSlide" Target="/ppt/notesSlides/notesSlide7.xml" Id="Re318f72d80d248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c2c96a8944bd7" /><Relationship Type="http://schemas.openxmlformats.org/officeDocument/2006/relationships/notesSlide" Target="/ppt/notesSlides/notesSlide8.xml" Id="Rf074977b69e343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b58b4086b4f77" /><Relationship Type="http://schemas.openxmlformats.org/officeDocument/2006/relationships/notesSlide" Target="/ppt/notesSlides/notesSlide9.xml" Id="R8d3b285df2fb43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01090-2269-487F-8DB5-49FBDA81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5725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7F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E4B0E-061E-47AD-B8C3-8A523B39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858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8C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41421-EAB3-477B-8CD7-F2767A74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5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313A4-A687-41AD-BA01-A0085F21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13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D8621-B70B-487F-8ACE-BA46E0EA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3070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20932-000B-40F2-8352-83E62736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474" y="178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75C04-735D-4F80-9CCE-2BD88ADA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0F926-C36D-48E4-BF7A-D4EF44EA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474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701CF-53A2-4B4C-99FA-19CCAC89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5507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2E8C3-310B-41CA-95F9-5148B23B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6C534-C300-4560-A275-2F4047F8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507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87B72-FF9E-44DA-921A-037182E1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76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D07FA-1710-4A11-BDAF-4016D752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9B628-CAC7-453A-86EB-5DE83F4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76" y="178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EDD9A-314D-4AB6-9FFA-D4B75C72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3070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35163-0E92-421C-8342-57FDD077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STORYBOARD  +  UI / UX DESIGN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F5F2E-B200-4C27-A9AC-8AEFA0FD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97000"/>
              </a:lnSpc>
              <a:buNone/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From data</a:t>
            </a:r>
          </a:p>
          <a:p xmlns:a="http://schemas.openxmlformats.org/drawingml/2006/main">
            <a:pPr algn="l">
              <a:lnSpc>
                <a:spcPct val="97000"/>
              </a:lnSpc>
              <a:buNone/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to the ground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3FA2A-2F96-4B3A-A753-0120A337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595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CFD6D0"/>
                </a:solidFill>
                <a:latin typeface="Arial"/>
                <a:ea typeface="Arial"/>
                <a:cs typeface="Arial"/>
              </a:rPr>
              <a:t>A clear, elegant first visit through Maharashtra’s seasonal outbreak research.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4459F-CF86-4EAE-80AE-823B5BE7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86046-F5E6-4917-8898-8F427D6C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THE EXPERIENCE PROMISE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790B3-8273-41BD-A85A-1ADB5612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547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Understand the question. See the evidence. Know what it can—and cannot—say.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17121-A4B8-46CC-B226-06E30D49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VISUAL DIRECTION  /  VERSION 01</a:t>
            </a:r>
          </a:p>
        </p:txBody>
      </p:sp>
    </p:spTree>
    <p:extLst>
      <p:ext uri="{BB962C8B-B14F-4D97-AF65-F5344CB8AC3E}">
        <p14:creationId xmlns:p14="http://schemas.microsoft.com/office/powerpoint/2010/main" val="124591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59F2C9-9EDD-4290-9250-3531DC1B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THE DESIGN PROMISE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2BFAC-3297-4718-B327-A5B319D1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A first-time visitor should never feel lost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891D6-C95F-47F5-A7C1-4C33DF0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A7EF6-9DBF-4484-A2FB-1E4E6987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E9987-D410-4287-9624-B876EAC7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EACFA-7F72-4E7A-B80F-08B3256C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Lead with meaning. Let the detail unfold after visitors understand what they are looking 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C68B0-C5D6-4B60-8A1D-ECC163BF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D554E-216C-44FB-A9F3-4458427B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4FCF0-26D6-4504-818F-7A7600A4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Start with the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A031B-EBE0-44D1-B642-F306FBEB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What changes through the year, where, and how consistently?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2E0BE-6B52-440B-8684-643F4CC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DF1A4-A713-4378-8E34-7003D1C1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25A80-6D0B-4481-B0A8-FF7EE7F9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62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Explain each visual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4B4D3-C15D-49F7-8988-3C003F3A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Tell visitors what they see and why it matters.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6F77B-6AAF-4AB9-9073-88B87437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624D5-E52A-4311-AEE3-E429771D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ED071-A48A-4892-B68E-7B2D01FE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Reveal complexity gradually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932DB-207A-47E4-A490-7E4B1614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2912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Show the main finding first; let visitors open methods and caveats.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179EC-F3A8-4BE4-8274-FBE3B7E5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A784A-F6EC-4801-8161-EF55B760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DE638-7B0E-4839-96A0-C35789A0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Keep fieldwork human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580CA-3619-45ED-A1A6-3464CC7F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2912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Present the visit as local context, separate from statewide surveillance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A61C0-5A3F-4415-993A-C38B3240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64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785C1-AA22-44D1-87E5-23592F88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FC3DC-991B-41B0-9CDC-1662861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29275"/>
            <a:ext cx="819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F4169F-E0A1-4255-B773-84326554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8642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CALM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E55AC-499B-44A9-8A0C-2D76BF2E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29275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3A2BA-6529-400F-A601-C36E877F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86425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EVIDENCE-LED</a:t>
            </a:r>
          </a:p>
        </p:txBody>
      </p:sp>
    </p:spTree>
    <p:extLst>
      <p:ext uri="{BB962C8B-B14F-4D97-AF65-F5344CB8AC3E}">
        <p14:creationId xmlns:p14="http://schemas.microsoft.com/office/powerpoint/2010/main" val="1875791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784906-C330-439D-932E-24E30234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STORYBOARD · VISITOR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6B7C0-F75E-4E8A-86CF-366A27D8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A guided story, from curiosity to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A920A-D22C-4703-B341-62DE2E38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D4271-6B07-4AB5-A734-A3C7F12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CC51F-8129-4162-AB2B-252B3F85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5182D-A0E0-415E-871C-308A8E6D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Each scroll chapter answers one question and points naturally to the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F4320-3BB5-4857-8C7C-54537BED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9EFFA-13F4-47BA-B561-32746931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8715F-CA53-4BDE-8E52-90920109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087B9-6A72-4202-8B0B-6299B852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ARRIVE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EF14E-DE95-410A-A857-7C0CC5E2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What is this project?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99C98-E32A-46DD-8A45-528D59F0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69F2D-DDBB-486C-9B8E-5D0F9A8B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Purpose, place and a simple invitation.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FC893-7C26-467A-A7BB-35425EA2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FD211-CB5B-42F0-B7AE-069AF22E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10D43-54B0-44ED-AF60-3E09846B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64489-4BCD-41DB-937C-46163B23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59ADF-8C93-4C4C-A1F3-2B30A43C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95782-7373-45FB-93C6-76514B9B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What data is included?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8F3AE-BBF7-4A2C-839C-39F9C797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01A72-A779-482F-B632-34E192B9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Sources, dates, geography and definitions.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D8948-A611-4E5A-BD35-7FBB233B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A5174-06A9-4A0B-848A-EC92C74E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65453-17F0-46BA-9A2E-F5FB3222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F7DB2-7F62-471F-BBDA-4482D8CB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A01389-C19F-4766-963C-04E52277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PATTERNS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BE7AE2-C6B1-456D-A190-D8BCE82D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When do reports rise?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BB23F4-ECC3-4B4B-8B0F-2495AA69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BEA44B-83E5-4141-BB50-1E95AD92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Seasonal clock plus readable monthly chart.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65B7EF-D13C-40FE-9BEB-9708D285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BBC124-A167-4E36-A324-910B656B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4C423-7074-4C95-8C04-C6C3E490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E78E13-4E7A-4E65-80DB-E7DA130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9A7A7D-03C4-4D5C-92BD-B3783E27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5EF637-FC21-4A85-A7D9-C1430E2C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Does it repeat?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486061-86B6-430B-BC32-4F54534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6552B2-7A70-4B71-98BA-142CE00D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Kendall’s W translated into everyday language.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D84DDA-7071-4DB5-B147-95F33A05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EBB002-EAB9-498C-AD48-5B6ACCA5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AFFA2B-0AF2-4675-A523-2B1AA4EE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35AEA3-B097-4A00-ABC5-CCBDDC4D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595AEA-0F0C-433C-AE7E-C1182237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C433AD-D3FA-4737-9E42-DB6E3C93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Where are reports?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8DB03C-0A64-4372-B090-D2E54602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784114-77BD-4782-AE1B-1FE21F36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District map with a careful interpretation.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BF9D9E-0F57-4A2C-B42F-29E6B107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ED5FB7-C284-46A0-A67A-5872BDEE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DAC624-4BF8-495B-BACD-9C8AFD9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D9999B-1FE8-4A90-BA85-68C332C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E27B6B-3137-4200-8808-F13C11F2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8F663B-935B-44AD-BCAC-6FCB7A80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What did fieldwork add?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A05860-82BA-449F-BB56-D0B64159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B38962-6C5B-4817-8C87-1F1B7AB1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One visit and interview, clearly bounded.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41D9CF-ED09-4822-85D8-7521B84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DC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DAB95A-A73E-42D1-BEFA-07A6BF64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E58003-47D2-472D-8091-BA6A399D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86375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4E4E30-CBC4-4198-9F15-D1B11AFA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43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FC0483-6876-4DAF-B9CE-E99A485F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1095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8E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B51BE1-FBC5-4735-81D6-634BACB3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43525"/>
            <a:ext cx="90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A3F423-DF54-4A55-9E6F-749AF52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86375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904144-F759-42B7-B18C-CAFE5BA5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34352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REFLECT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1B6B97-A0E3-42DD-873F-2D1F4BC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Fieldwork follows statewide patterns so it reads as context—not a representative sample.</a:t>
            </a:r>
          </a:p>
        </p:txBody>
      </p:sp>
    </p:spTree>
    <p:extLst>
      <p:ext uri="{BB962C8B-B14F-4D97-AF65-F5344CB8AC3E}">
        <p14:creationId xmlns:p14="http://schemas.microsoft.com/office/powerpoint/2010/main" val="1802247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F62316-0C2D-4218-996B-DED06161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UI REFERENCE · OPENING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A29F0-FC9E-446F-9E10-5DF216E7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Homepage · welcome, orient, invite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AE5B7-F870-4D21-AE82-F71BFF2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77321-568F-4A8B-B397-CA3EAA4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E9E11-BAA9-401C-9DCF-13726D4E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16243-E76A-4AE5-B9E5-2192043B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9342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AFE00-EA43-4E72-BC89-F9659704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39D62-B0AD-452E-B495-5962DB0D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D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D4903-9F34-4030-B83F-4F9C9DD5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F4E0B-F197-42DC-A151-0D81B1BD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6B272-88B1-43D7-ADB8-DBDE6DA3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335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2520D-9897-42E7-8D15-0945FA83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240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About    Explore    Field notes   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7FEFC-9EEB-460D-AB3D-00B37D2C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2133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DC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E1750-6FF9-412A-9AB2-3281789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5742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MAHARASHTRA  ·  2022–2026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5615A-4C70-44D0-BCEB-04D8DD03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8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When do reported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outbreaks rise?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A93D5-4DBE-4706-AFCA-FC2C7477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419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A guided look at seasonal patterns in weekly public health bulletins—and what local fieldwork can add.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D02FE-E29D-4C31-BD78-41878C6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1562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75358-99E5-42F9-AE52-6BFA840B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815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Explore findings  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B72D6-20DA-46BD-8D11-F9BA9DDD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1638300" cy="2190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7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5FB56-4AFA-4CF1-89DC-7CCF25C5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79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7F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B0327-DF65-462A-8B9E-D1615F93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28925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8C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BB174-3186-4160-9753-0A258263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C6D6B-9B3B-4FD3-A38B-09E3ADDC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00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06976-2B4A-4147-AF2E-B5F51C7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6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6D68D-E3FF-4B7B-8027-87FEEA88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A02C63-E040-491B-AC29-FE6ACFEF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6" y="3514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4BFFD-859C-49C4-B9CC-230FC693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169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A997B1-08FE-40E2-A77A-730FBCFD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8D7C5A-863A-472B-B810-C894901C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169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EA98D-18D4-465F-86C9-6D47D203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964" y="3514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BF9BBC-D89C-4666-A7CA-5448397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27A32-0D91-4179-A3E4-BBB60A87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964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B92DE0-6C63-49D1-8099-5209DAB8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600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037F2A-1207-455F-912F-4AE84B47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38600"/>
            <a:ext cx="1095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12 MONTHS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2B1481-F508-433D-8277-770D0065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A year at a glance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EF02B1-CAD5-4DCD-AEFB-01420405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E8E643-C225-4AD9-A8A2-CC70666D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B37DFE-E4F9-478D-8B8A-0768FC8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Above the fold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CEA98E-2DFF-40D0-94DF-4A7C6BDB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One question, one purpose, two paths: explore the story or open the report.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4411E4-6BDF-412F-AE65-72EC627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012620-50DF-4A98-A253-7334C1D1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34064D-5AD1-48C2-AF58-9A57E19F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First insight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04757C-99EA-4BE3-BA87-002FEC2A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Show one plain-language finding before asking visitors to interpret a chart.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228FDE-D1E0-4970-830F-8185BF4E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AE9974-F855-492A-91C2-74C4BE4B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2D0931-4855-4FA2-B1A8-62E62A6E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Trust cues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144D3C-0ED7-4761-A863-67859FA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57725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Keep source, date range and “reported events” language beside the evidence.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6D8FA1-FFCA-4520-B228-B22C7293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687878"/>
                </a:solidFill>
                <a:latin typeface="Arial"/>
                <a:ea typeface="Arial"/>
                <a:cs typeface="Arial"/>
              </a:rPr>
              <a:t>Next scroll: scope strip, then the first clear chart.</a:t>
            </a:r>
          </a:p>
        </p:txBody>
      </p:sp>
    </p:spTree>
    <p:extLst>
      <p:ext uri="{BB962C8B-B14F-4D97-AF65-F5344CB8AC3E}">
        <p14:creationId xmlns:p14="http://schemas.microsoft.com/office/powerpoint/2010/main" val="332728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0F04B9-F457-49C0-BDAD-068D8530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UI REFERENCE · UNDERSTAND THE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1F895-4060-49FB-B831-A20DD6F2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Seasonality · one calendar, two helpful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21561-4A55-41AB-903D-08B48BA7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D0D1A-75F6-44B8-B9A7-6C892311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534C8-4242-48B8-AAAA-2F237CA1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937A0-CF76-4C17-AB05-62F021AC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FD6D0"/>
                </a:solidFill>
                <a:latin typeface="Arial"/>
                <a:ea typeface="Arial"/>
                <a:cs typeface="Arial"/>
              </a:rPr>
              <a:t>The clock helps people see timing. Bars make month-to-month differences easier to compare.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60E2B-9FA7-4CFD-AA25-20AB83C1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23862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F9787-4FF0-482D-B676-2AC27DD2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SEASONAL CLOCK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85C68-B799-41F0-A428-D7B9B491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7652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72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554B8-BE6E-40DE-AF18-B9274B3F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E4A00-ECB4-4230-BF36-4457E97E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A7DFE-B382-40E4-85D2-FAD2A510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1922E-312F-42BE-B6F5-16556C4B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956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7766D-B00D-4496-B586-897F3DCF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736368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7E44A-521C-4B7F-89C0-BFD2D502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01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6AD0E-2333-40DC-ACCF-A28A3D88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857" y="3186113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4283D-8755-4575-8255-51D459A7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DC12F-A1A9-47B9-89BE-A15FC193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004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99F8C-F636-41DB-BDDD-7F2F27B9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01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512A5-7E9E-4ED1-A27F-32C11870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857" y="4414838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32925-203F-4ABF-89F2-633E3566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74340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EF49F-8AF6-4657-9007-F3088DA7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4864582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9996B-606E-4DFE-99A8-EA37E4F5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886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8C20D-CA80-4277-9D94-664341E2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867FA5-E23A-4EE2-B6A4-4DD1A5C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4340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7C6B3-FF1D-47DC-9A34-D36F2E76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4864582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EAEFB-BA1C-42E2-B8F5-0584C4D2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49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EF28A-5C2F-41AE-980F-8854A6DB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643" y="4414838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2EAE48-DA95-4E87-9259-202F8AC6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827360-80D2-4971-BCAD-8BC32818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8004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10525F-BAD1-49D1-9996-FD294B71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49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D057E6-FD42-4B05-A037-FF16714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643" y="3186113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0D27E0-9FB4-44C1-A1CC-83DCC172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8956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CA811F-27A1-4987-A592-B31C67A0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7" y="2736368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E9ABCF-D0B4-4180-BFFE-8AD8B679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004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JAN  →  DEC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8994FE-E154-4647-BD6D-4A3518FB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47875"/>
            <a:ext cx="616267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B7E049-7A66-4448-9090-1CE28216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574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MONTHLY REPORTED EVENTS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BE4F3B-5D8A-4432-99EE-29B8E003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6386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2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DF510-7C8D-49D4-BD8F-6729D0C6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454037"/>
            <a:ext cx="295275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31BBCE-5311-45BE-8EB5-383BE59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CCBD48-76D3-4A32-9AC3-55A23692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33521"/>
            <a:ext cx="295275" cy="205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926589-0DB6-4BD8-AACC-B29C8909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228CEA-7743-4F39-B82C-1D50007C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71975"/>
            <a:ext cx="295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986F28-EC21-4624-8075-34A81346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27BCE7-8096-4499-B833-8D32BAEB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10429"/>
            <a:ext cx="295275" cy="3282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5A19E4-CF78-4E6C-A326-51851332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88C64C-67F6-4455-B4A0-633E554C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87337"/>
            <a:ext cx="295275" cy="451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55479E-0132-4AC7-89CA-A64FB9B8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D25D17-2D34-43BE-B230-86B16891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64244"/>
            <a:ext cx="295275" cy="574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0ECDEA-9FB4-4D9C-9D40-5906588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FC8DAE-BE0C-45C0-BF29-3820FC33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59090"/>
            <a:ext cx="295275" cy="7795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8C81CE-F4F9-4982-8E4F-31CE62D9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07D0A7-2026-4C98-ABA4-AD3D059F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35998"/>
            <a:ext cx="295275" cy="902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9417D6-1092-4A7C-BF97-BE22E64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1853CB-F4EC-4024-8301-3232E6A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592390"/>
            <a:ext cx="295275" cy="10462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CFA5CD-1F01-41FE-80EF-249CBB80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1D560D-4904-4C7E-BCD5-E041AFD9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87237"/>
            <a:ext cx="295275" cy="125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225885-2773-4C47-A2B5-CBA5DB7D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970DA4-963C-4867-98EE-2A47E1A9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064244"/>
            <a:ext cx="295275" cy="574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8097D3-0260-45BC-8CD9-0BC667BF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933202-6297-472F-B186-FF29B5D0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248883"/>
            <a:ext cx="295275" cy="389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7533F1-6F5A-4546-9CF4-ADECCBD5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6D26305-1DF1-4783-A5F9-1FD2B35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62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AAB7B3"/>
                </a:solidFill>
                <a:latin typeface="Arial"/>
                <a:ea typeface="Arial"/>
                <a:cs typeface="Arial"/>
              </a:rPr>
              <a:t>Illustrative bars only · replace with approved series.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CBBA50-1A44-4FDE-A5EB-1A587FE0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2857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4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DEDC08-9C16-4D99-AB85-2FED8886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TOOLTIP: MONTH · EVENTS · CASES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1B461B-D41A-46D3-9705-98CBF787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5530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Use the same month order. State the unit; make metric switches explicit.</a:t>
            </a:r>
          </a:p>
        </p:txBody>
      </p:sp>
    </p:spTree>
    <p:extLst>
      <p:ext uri="{BB962C8B-B14F-4D97-AF65-F5344CB8AC3E}">
        <p14:creationId xmlns:p14="http://schemas.microsoft.com/office/powerpoint/2010/main" val="943888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2CA790-6238-4894-AAB6-FB2E72CC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UI REFERENCE · KENDALL’S W IN PLAIN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3F616-C058-489C-A667-E76FA9FD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Consistency · does the seasonal shape repeat?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4AD8D-B5E8-4867-965F-9F1D2A4A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4DD05-77CC-458A-8015-AF106897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9A64A-89E4-4998-862F-6E94F9E9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AD751-0145-410B-883C-EC15FD7D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Make the statistic supporting detail. Lead with the question visitors understand.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E82AA-EA34-4B34-80C3-7CC131A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5148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4AF7E-93D3-4BFA-99C6-50030E03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8764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4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2BF91-4141-40FB-9323-601E96D6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685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FOUR COMPLETE YEARS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8F4D9-07E3-4A07-9646-F3CC4FB8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12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EE292-8F59-47AE-8F97-1C14449B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5D0CA"/>
                </a:solidFill>
                <a:latin typeface="Arial"/>
                <a:ea typeface="Arial"/>
                <a:cs typeface="Arial"/>
              </a:rPr>
              <a:t>compared across years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B7331-93BA-4A08-ACA3-02E8126B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D9381-6425-467A-9BB7-19227C7B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1A9EF-ABF0-4569-91ED-D661BE66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5F6CA-B12C-4889-B3A8-305BD019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7D510-1D00-472A-A231-565A6149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926DF-00CB-48FA-ACD6-67EF19B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AA1A9-4814-4BAF-B3CC-18639511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3FF21-23C2-46D6-9F96-35723987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3E5B0-97FD-4B2C-9102-97C28EE9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B005C-CC5F-464E-9FF6-35657B92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5EE43-7848-46C1-9215-F81AD3E5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7B8FE-31D6-468E-827C-62734029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487AB-3295-46D9-A927-C610713E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0151C-B071-47AE-9354-837A779E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F56AD-2123-49E4-8B4E-68E2C333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7CEA0B-6AD7-49D9-824A-1CE1EED1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31531-9FB6-4C90-BAAF-AEAD4DAA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1EF0B8-B941-4E82-83CB-A5B52057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7A0DB-B337-4B03-BDE1-7A3542F1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E77640-306E-4874-8773-A8F1C6A3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0B10D2-84AE-4D59-9E0B-39C100F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3714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AAB7B3"/>
                </a:solidFill>
                <a:latin typeface="Arial"/>
                <a:ea typeface="Arial"/>
                <a:cs typeface="Arial"/>
              </a:rPr>
              <a:t>Rank strips are illustrative—not actual monthly values.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DBF9D3-B40D-4848-BFC2-015E50F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47875"/>
            <a:ext cx="5810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207A5D-4634-45A1-9F9B-6762EF3C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IN SIMPLE TERMS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A3402F-AADA-4EE0-A3FB-5AB6172D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574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Kendall’s W asks: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94B31A-B32A-4DB4-8761-43F718B3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“Do months tend to rise and fall in a similar order each year?”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3ACAEB-F3BE-4CD0-85AA-28089F58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D4E720-200F-4A9C-9962-D69F3260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576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Higher W means yearly rankings look more alike. It is not case burden and does not prove a cause.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6874F4-093E-4714-A1C5-37068D67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38700"/>
            <a:ext cx="3028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529C49-8676-43A3-8622-21C69939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SHOW W + P VALUE AS OPTIONAL DETAIL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04C2B7-8EEB-484C-8664-8E566862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142127"/>
                </a:solidFill>
                <a:latin typeface="Arial"/>
                <a:ea typeface="Arial"/>
                <a:cs typeface="Arial"/>
              </a:rPr>
              <a:t>Caveat: only four baseline years; the report treats this test as exploratory.</a:t>
            </a:r>
          </a:p>
        </p:txBody>
      </p:sp>
    </p:spTree>
    <p:extLst>
      <p:ext uri="{BB962C8B-B14F-4D97-AF65-F5344CB8AC3E}">
        <p14:creationId xmlns:p14="http://schemas.microsoft.com/office/powerpoint/2010/main" val="275245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A9C326-95F9-4EAD-9E1A-8EEEDD4C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UI REFERENCE · GEOGRAPHY AND OUTLIERS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54088-5922-4ECE-8737-688E3238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Place &amp; unusual events · add context, not alarm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92CFC-DEA4-47A8-80CD-E61E5CAB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7329D-9FD0-4F5B-9E12-5503785E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C995F-3714-4EF1-A4F2-BBD8172D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AAFFA-491C-4E17-AB20-DD3CA707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FD6D0"/>
                </a:solidFill>
                <a:latin typeface="Arial"/>
                <a:ea typeface="Arial"/>
                <a:cs typeface="Arial"/>
              </a:rPr>
              <a:t>Separate “where reports came from” from “where risk is highest.” Explain unusual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F460B-A244-4347-8460-4D45C3A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0062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08577-C194-4204-BCA5-D01FB591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DISTRICT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1F79B-3290-44E9-9034-D124354C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908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152F8-315B-47C1-BE5C-7A8B36A3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B6A08-C5B5-41B8-A39F-37FF657A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908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E0EB4-6FA2-4057-BBBD-433558F1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BE274-A406-4373-8B77-55B6786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908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1BF55-54E2-478E-BF7A-979762DE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9DC0E-5FF1-4200-BAAE-94E06CBE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289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67BA0-4E6E-4686-ABA9-36F0285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BE8EA-8D1C-43D3-A6F1-3DF8A9BC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289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8E423-C01F-4071-938C-532E8369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D833D-14AE-4816-84E3-B497FE54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289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CA9D1-AB36-4EE2-8BB7-50CABA58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F5344-AFF7-4457-9513-497135FA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101ED-EF8A-4303-9B3B-E328ACF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4BD0B4-8F46-42F7-9D3E-817C5A4C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48AC38-BAD3-46BA-8A39-2D2CFB00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DBE2F-695C-423E-AAFB-8F444436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A5171-0A7A-4350-9CC2-B0933031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8145C-2E87-45EB-8178-91552D1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06AA53-4318-462A-8C77-B0215A7F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B234A0-8207-429F-9005-06CE055C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B58C4F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C0280D-B684-4441-9B39-FD36CF4E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90925"/>
            <a:ext cx="495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60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GADCH.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92C9A-4C71-4CAD-96E6-4E0B6CC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F53E84-9327-4951-841D-C21CD345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5813B8-F7D9-4EA9-B18C-D4ED3DD0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90E001-D16B-4D48-B11B-77B6B85B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3FB43-1841-4E26-AEF9-2D54B677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052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07C7E1-6DBB-4949-93A0-B284E72D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465A75-91D6-4F48-B02E-D3AE843D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052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B58C4F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214FA6-EEAF-4B6A-94EA-E8105572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29075"/>
            <a:ext cx="495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60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CHAND.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4FC957-69C2-4140-8759-B5059257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F65EC8-A671-4360-BAD1-421A04BA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64E093-84C8-419C-BFDC-98BD4618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434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F2BCC0-8B10-4318-9233-3A5C656A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D3F326-7782-40F7-AA5B-DD04E074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3434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379DD6-B3EC-4B0B-BB4B-473A98E6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A53A54-D4BA-483C-8876-0B4C7407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51D9A0-102A-445E-BAA9-3FA58C31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F6CB12-BADF-4CB9-AE91-F56CC1F3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434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Schematic district tile map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B2F345-5A32-4707-97AE-23DD1D4F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409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Gadchiroli + Chandrapur highlighted · not geographic boundaries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266623-FC2A-41CB-8FE8-7B40DFF0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47875"/>
            <a:ext cx="5381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E67DAD-9AF9-4A55-81D6-8B5758F1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38375"/>
            <a:ext cx="1190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B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7A256B-32FA-4438-875A-BCF00371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955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OUTLIER NOTE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5DD547-4841-4573-B6D1-6B9C525F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A few large reports can change the scale.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8DA2B1-170E-4136-BEAC-FF13E9BA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Show value, review rule, and comparison with / without records.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B92A3A-BFAE-4E8D-9F7B-ECFC4E9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57625"/>
            <a:ext cx="5381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E77583-87C9-459F-8BAF-9FF58AB7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48125"/>
            <a:ext cx="1828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4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67C51E-68C7-4C45-B4AC-821C763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05275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2026 · PARTIAL WINDOW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897830-4063-4D7C-833D-4AB4D5EF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291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Keep the cutoff beside the number.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904004-9520-4EF3-926C-824B86BB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815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2026 W01–W32 is not a full year. Keep that window visible in comparisons.</a:t>
            </a:r>
          </a:p>
        </p:txBody>
      </p:sp>
    </p:spTree>
    <p:extLst>
      <p:ext uri="{BB962C8B-B14F-4D97-AF65-F5344CB8AC3E}">
        <p14:creationId xmlns:p14="http://schemas.microsoft.com/office/powerpoint/2010/main" val="1050014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2644F5-C7BA-4549-BBD0-4B0864EE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STORYBOARD · LOCAL CONTEXT, CLEARLY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B8E69-4ABB-420C-80DB-FE019F28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Fieldwork · a human lens on the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30CFC-D560-4703-84CD-375AA45E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4955-54EB-47AC-8E96-B65E4D0D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E6B66-FD53-42DE-A880-BFF499A3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E60ED-2E0F-4A51-8955-7DA9400E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Make the project tangible while staying transparent about the visit’s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4E70F-C0AA-4565-9724-F71E81BB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8D7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1AAD0-A5C8-4724-B087-F5FCEE61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76575"/>
            <a:ext cx="3810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C7C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C6BC6-2048-45A4-ABBE-E76CC16C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52700"/>
            <a:ext cx="1047750" cy="24384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C4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E2B7F-64B3-473C-92AA-213AA37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14625"/>
            <a:ext cx="6381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7DA74-4664-4E19-A581-DE38E2B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29025"/>
            <a:ext cx="58102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B52FB-E80A-4E0F-AC4F-6058C5B1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71850"/>
            <a:ext cx="790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C2867-3BF2-416B-95A4-0E4010C5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71850"/>
            <a:ext cx="790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5EAA6-C5D4-4769-98AB-AD9C068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63185-3496-4D7D-9C47-7AC453B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90775"/>
            <a:ext cx="1066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HEALTH 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3FE84-917A-48C9-A4CE-C6F470C0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95850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9D1DB-E557-4AE7-94D5-7F4EB882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816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687878"/>
                </a:solidFill>
                <a:latin typeface="Arial"/>
                <a:ea typeface="Arial"/>
                <a:cs typeface="Arial"/>
              </a:rPr>
              <a:t>Illustrative scene · replace with approved field photo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E7490-B5F1-4EC1-A216-30706E72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5276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7E378-69FE-4E7E-9521-85B686B4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24F09-4D13-4B4D-B7BE-BFD31C37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5DB82-84BE-4C27-A017-0515ED58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02 Oct 2026 · PHC Nallasopara West / VVMC Health Post · one observation.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DA5AF-ED8F-435C-A8B6-FADFD06E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38500"/>
            <a:ext cx="5276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AF8C4-CCFF-4B58-AE5E-F6F1861B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385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9D9C2-D7CF-4A4A-840D-13ED102A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81375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INTERVIEW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5DA938-B902-45D4-81A9-FD487AC0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05225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One Medical Officer key-informant interview; use approved, anonymized notes.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A868A-F715-4730-9F3A-9157DFD5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29125"/>
            <a:ext cx="52768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F63BEA-1FA4-4C78-9698-E37A3D1E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291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530DB-09B5-402F-9BE9-A118A2F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145261-436D-43C4-95DC-683FFCE0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489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Zero questionnaires. No patient data. Context only; not representative of Maharashtra.</a:t>
            </a:r>
          </a:p>
        </p:txBody>
      </p:sp>
    </p:spTree>
    <p:extLst>
      <p:ext uri="{BB962C8B-B14F-4D97-AF65-F5344CB8AC3E}">
        <p14:creationId xmlns:p14="http://schemas.microsoft.com/office/powerpoint/2010/main" val="1980607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7EB105-6492-432D-8F21-683AA29D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UI / UX SYSTEM · PRODUCTION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E2396-9B6E-45F2-B601-933EA103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A calm visual system that feels alive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AA172-5987-4AA3-93A3-3A47D66B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1CD2C-4416-4683-BD43-77278AC1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34C80-A755-4CEF-9C1A-AD7D1EF2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C79B6-0512-4B5C-AC65-1ED40142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Use motion to guide attention, and a few visual rules to build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D2660-71B8-4A28-BAFC-9D6DFC0A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PALETTE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8BEE5-DEA6-4BE3-994B-EC53B015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9D8E3-568A-46E1-80BA-20662FAA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1F6C2-DC55-4CFF-901B-68EC86D6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3411D-1C0C-484E-8CE4-3AE28744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FEDEC-4123-4A9A-86BC-F302BA42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58C4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D11A4-9278-4628-BD92-F99F53B4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Ochre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73BE7-547F-48D7-BA50-0B7B6554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557F7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D253C-3C60-4853-9C80-C4ED135B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Teal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2ABC3-3550-488E-BAC5-B8CA8385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668A9C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995CA-8C7F-4F95-99ED-9AB6A259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Blue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B6E0B-0B6E-475F-AEB5-C11A1FED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E7662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01B5B-B57B-4BB9-B22A-D14210F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Coral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6B703-8A1F-4AD9-876A-019A3565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8F485-53EB-481B-B850-26AEBAA7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8A1F1-50FC-47BF-80F1-7D4B3D27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E6B5B-0632-4256-9A9E-586BB47D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Expressive serif for chapter titles; clean sans serif for navigation, body copy and labels.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41623-2266-4EC9-BF31-4BFD43B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B430D-7C9A-41AB-A998-14A97A2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ECAB5-0A1F-4361-B88B-A7E7AAD1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1472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CHARTS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4B9DB-B830-41A4-A42A-A56F16B0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38575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Direct labels, clear units, generous spacing, and one plain-language takeaway.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CACF9B-E0BB-473B-AC27-2029248B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350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6D6F7-C2D6-41DB-96CB-6D6319EA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1C4B2-0D7E-46DF-8BF0-574A28A5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14725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MOTION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34859C-42F5-48B0-806A-492488FC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3857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Slow scroll reveals. Build charts in sequence. Respect reduced-motion settings.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890276-4425-4455-9947-FE21F7BA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629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621764-4393-4BC8-B9CE-C1CEBA81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MOBILE + ACCESSIBILITY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43643E-3ABF-471F-B15E-90EDE23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995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Stack panels · preserve readable text · don’t encode meaning by color alone · support keyboard focus · keep motion optional.</a:t>
            </a:r>
          </a:p>
        </p:txBody>
      </p:sp>
    </p:spTree>
    <p:extLst>
      <p:ext uri="{BB962C8B-B14F-4D97-AF65-F5344CB8AC3E}">
        <p14:creationId xmlns:p14="http://schemas.microsoft.com/office/powerpoint/2010/main" val="1763435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2026-10-23T12:45:46.0280000Z</dcterms:created>
  <dcterms:modified xsi:type="dcterms:W3CDTF">2026-10-23T12:45:46.0280000Z</dcterms:modified>
</coreProperties>
</file>